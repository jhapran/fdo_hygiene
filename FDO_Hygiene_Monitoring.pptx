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761695" y="4315054"/>
            <a:ext cx="914400" cy="38405"/>
          </a:xfrm>
          <a:prstGeom prst="roundRect">
            <a:avLst>
              <a:gd name="adj" fmla="val 2380940"/>
            </a:avLst>
          </a:pr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47338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86054" y="4848149"/>
            <a:ext cx="133502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67812" y="47338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3162910" y="4848149"/>
            <a:ext cx="190195" cy="1527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1695" y="1705356"/>
            <a:ext cx="2714854" cy="314554"/>
          </a:xfrm>
          <a:prstGeom prst="roundRect">
            <a:avLst>
              <a:gd name="adj" fmla="val 2906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3544" y="1772107"/>
            <a:ext cx="24908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DELIVERY ORCHESTRATOR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2171700"/>
            <a:ext cx="3991356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Hygiene Monitoring</a:t>
            </a:r>
            <a:endParaRPr lang="en-US" sz="45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3724351"/>
            <a:ext cx="48152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&amp; Resolution Confirmation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1295705" y="4733849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295705" y="4895698"/>
            <a:ext cx="1438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December 14, 2025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00907" y="4733849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3600907" y="4895698"/>
            <a:ext cx="1552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Governance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62495" y="2369210"/>
            <a:ext cx="4267505" cy="212415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601200" y="2369210"/>
            <a:ext cx="1828800" cy="1295705"/>
          </a:xfrm>
          <a:prstGeom prst="roundRect">
            <a:avLst>
              <a:gd name="adj" fmla="val 622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38944" y="2607869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/>
        </p:spPr>
      </p:sp>
      <p:sp>
        <p:nvSpPr>
          <p:cNvPr id="21" name="Shape 16"/>
          <p:cNvSpPr/>
          <p:nvPr/>
        </p:nvSpPr>
        <p:spPr>
          <a:xfrm>
            <a:off x="9838944" y="3369564"/>
            <a:ext cx="1352398" cy="57607"/>
          </a:xfrm>
          <a:prstGeom prst="roundRect">
            <a:avLst>
              <a:gd name="adj" fmla="val 1587307"/>
            </a:avLst>
          </a:prstGeom>
          <a:solidFill>
            <a:srgbClr val="E5E7EB"/>
          </a:solidFill>
          <a:ln/>
        </p:spPr>
      </p:sp>
      <p:sp>
        <p:nvSpPr>
          <p:cNvPr id="22" name="Shape 17"/>
          <p:cNvSpPr/>
          <p:nvPr/>
        </p:nvSpPr>
        <p:spPr>
          <a:xfrm>
            <a:off x="9838944" y="3369564"/>
            <a:ext cx="1019556" cy="57607"/>
          </a:xfrm>
          <a:prstGeom prst="roundRect">
            <a:avLst>
              <a:gd name="adj" fmla="val 1587307"/>
            </a:avLst>
          </a:prstGeom>
          <a:solidFill>
            <a:srgbClr val="3B82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15754" y="2722169"/>
            <a:ext cx="152705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919765" y="2722169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838944" y="3102559"/>
            <a:ext cx="6144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162495" y="3022092"/>
            <a:ext cx="1828800" cy="146669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01154" y="3259836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D1FAE5"/>
          </a:solidFill>
          <a:ln/>
        </p:spPr>
      </p:sp>
      <p:sp>
        <p:nvSpPr>
          <p:cNvPr id="28" name="Shape 22"/>
          <p:cNvSpPr/>
          <p:nvPr/>
        </p:nvSpPr>
        <p:spPr>
          <a:xfrm>
            <a:off x="7401154" y="402153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1D5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552944" y="402153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9CA3AF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77049" y="3374136"/>
            <a:ext cx="152705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468258" y="3374136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7401154" y="3755441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076895" y="2369210"/>
            <a:ext cx="2438705" cy="2124151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076895" y="2369210"/>
            <a:ext cx="243870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28"/>
          <p:cNvSpPr/>
          <p:nvPr/>
        </p:nvSpPr>
        <p:spPr>
          <a:xfrm>
            <a:off x="8382305" y="271211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15807" y="2845613"/>
            <a:ext cx="190195" cy="190195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9707270" y="2712110"/>
            <a:ext cx="504749" cy="228600"/>
          </a:xfrm>
          <a:prstGeom prst="roundRect">
            <a:avLst>
              <a:gd name="adj" fmla="val 400000"/>
            </a:avLst>
          </a:prstGeom>
          <a:solidFill>
            <a:srgbClr val="FEF2F2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9783166" y="2750515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8382305" y="3341218"/>
            <a:ext cx="110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8382305" y="3636569"/>
            <a:ext cx="176296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alerts sent to Project Managers for immediate hygiene resolution.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7701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3309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457200"/>
            <a:ext cx="17483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85800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Overview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1181405"/>
            <a:ext cx="5477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Maintaining operational excellence in Factory Delivery Orchestrator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5" y="2290572"/>
            <a:ext cx="6858000" cy="1505102"/>
          </a:xfrm>
          <a:prstGeom prst="roundRect">
            <a:avLst>
              <a:gd name="adj" fmla="val 461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5" y="2290572"/>
            <a:ext cx="38405" cy="15051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5995" y="2562149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18895" y="2538374"/>
            <a:ext cx="1834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Criticality of Hygiene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18895" y="2842870"/>
            <a:ext cx="5820156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Maintaining project hygiene in FDO is fundamental for accurate reporting, regulatory compliance, and overall delivery governance. Without clean data, strategic decision-making is compromised.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8446" y="4159606"/>
            <a:ext cx="171907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8895" y="4119372"/>
            <a:ext cx="248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Challenge: Invisible Gaps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18895" y="4424782"/>
            <a:ext cx="633496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Hygiene-related issues—such as missing data, outdated statuses, or incomplete nominations—often remain unnoticed until audit time, leading to significant governance gaps.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804672" y="5265115"/>
            <a:ext cx="219456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18895" y="5224882"/>
            <a:ext cx="2605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Automated Loop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18895" y="5529377"/>
            <a:ext cx="59628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use case enables daily automated identification of hygiene issues, immediate notification to responsible Project Managers, and automated confirmation emails when issues are resolved.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925105" y="2066544"/>
            <a:ext cx="3657600" cy="4410151"/>
          </a:xfrm>
          <a:prstGeom prst="roundRect">
            <a:avLst>
              <a:gd name="adj" fmla="val 104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47911" y="5662879"/>
            <a:ext cx="819302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9472270" y="5710428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Cycle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8229600" y="2652674"/>
            <a:ext cx="30476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91449" y="2814523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05749" y="2928823"/>
            <a:ext cx="15270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887054" y="2814523"/>
            <a:ext cx="448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887054" y="2976372"/>
            <a:ext cx="1105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Issues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581644" y="3195828"/>
            <a:ext cx="19202" cy="3813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Shape 23"/>
          <p:cNvSpPr/>
          <p:nvPr/>
        </p:nvSpPr>
        <p:spPr>
          <a:xfrm>
            <a:off x="8229600" y="3662172"/>
            <a:ext cx="30476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391449" y="382402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05749" y="3938321"/>
            <a:ext cx="152705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887054" y="3824021"/>
            <a:ext cx="448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8887054" y="3985870"/>
            <a:ext cx="896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PMs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581644" y="4205326"/>
            <a:ext cx="19202" cy="3813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5" name="Shape 28"/>
          <p:cNvSpPr/>
          <p:nvPr/>
        </p:nvSpPr>
        <p:spPr>
          <a:xfrm>
            <a:off x="8229600" y="4671670"/>
            <a:ext cx="3047695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29600" y="4671670"/>
            <a:ext cx="38405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Shape 30"/>
          <p:cNvSpPr/>
          <p:nvPr/>
        </p:nvSpPr>
        <p:spPr>
          <a:xfrm>
            <a:off x="8419795" y="482437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1FAE5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8544154" y="4938674"/>
            <a:ext cx="133502" cy="15270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915400" y="4824374"/>
            <a:ext cx="448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8915400" y="4986223"/>
            <a:ext cx="1239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&amp; Close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524305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457200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381305"/>
            <a:ext cx="18242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CHALLENGES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09905"/>
            <a:ext cx="3381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1104595"/>
            <a:ext cx="48390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friction points affecting FDO governance and efficiency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5" y="2186330"/>
            <a:ext cx="6858000" cy="1123798"/>
          </a:xfrm>
          <a:prstGeom prst="roundRect">
            <a:avLst>
              <a:gd name="adj" fmla="val 8275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5" y="2186330"/>
            <a:ext cx="38405" cy="112379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8505" y="2419502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1405" y="2395728"/>
            <a:ext cx="2147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&amp; Manual Detection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81405" y="2691079"/>
            <a:ext cx="58347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hygiene issues in FDO are often detected late or require manual intervention. This reactive approach delays data rectification and compromises real-time reporting accuracy.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804672" y="3593592"/>
            <a:ext cx="219456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8895" y="3552444"/>
            <a:ext cx="1795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Notification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18895" y="3847795"/>
            <a:ext cx="591068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Managers are not proactively notified of hygiene gaps. Without prompt alerts, stakeholders remain unaware of required corrective actions until critical milestones are at risk.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8446" y="4560113"/>
            <a:ext cx="171907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18895" y="4519879"/>
            <a:ext cx="2472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Closure Confirmation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18895" y="4815230"/>
            <a:ext cx="592988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absence of a feedback loop means no confirmation is sent when issues are resolved, leading to uncertainty and unnecessary repeated follow-ups from governance teams.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847649" y="5526634"/>
            <a:ext cx="133502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18895" y="5486400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Audit Impact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218895" y="5781751"/>
            <a:ext cx="62060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Persisting data gaps and unresolved hygiene items directly impact the organization's governance scores and readiness for internal and external compliance audits.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925105" y="1837944"/>
            <a:ext cx="3657600" cy="4714646"/>
          </a:xfrm>
          <a:prstGeom prst="roundRect">
            <a:avLst>
              <a:gd name="adj" fmla="val 104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193378" y="2076602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CHAIN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540496" y="5434279"/>
            <a:ext cx="25146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"Manual processes lead to a reactive rather than proactive governance model."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229600" y="2805379"/>
            <a:ext cx="3047695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353044" y="2928823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67344" y="3043123"/>
            <a:ext cx="152705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48649" y="2948026"/>
            <a:ext cx="881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Latency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8848649" y="3138221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Outdated information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581644" y="3271723"/>
            <a:ext cx="19202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Shape 25"/>
          <p:cNvSpPr/>
          <p:nvPr/>
        </p:nvSpPr>
        <p:spPr>
          <a:xfrm>
            <a:off x="8229600" y="3662172"/>
            <a:ext cx="3047695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8449056" y="3900830"/>
            <a:ext cx="19019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48649" y="3804818"/>
            <a:ext cx="13478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Gap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8848649" y="3995928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failures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8581644" y="4129430"/>
            <a:ext cx="19202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29"/>
          <p:cNvSpPr/>
          <p:nvPr/>
        </p:nvSpPr>
        <p:spPr>
          <a:xfrm>
            <a:off x="8229600" y="4519879"/>
            <a:ext cx="304769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229600" y="4519879"/>
            <a:ext cx="38405" cy="60990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9" name="Shape 31"/>
          <p:cNvSpPr/>
          <p:nvPr/>
        </p:nvSpPr>
        <p:spPr>
          <a:xfrm>
            <a:off x="8382305" y="463417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5E7EB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8515807" y="4748479"/>
            <a:ext cx="114300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876995" y="4653382"/>
            <a:ext cx="719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Risk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8876995" y="4843577"/>
            <a:ext cx="10771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failures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30449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228600"/>
            <a:ext cx="1043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GOALS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5720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952805"/>
            <a:ext cx="4562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outcomes for the hygiene monitoring initiative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0100" y="2671877"/>
            <a:ext cx="19202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7925105" y="1457554"/>
            <a:ext cx="3657600" cy="4943246"/>
          </a:xfrm>
          <a:prstGeom prst="roundRect">
            <a:avLst>
              <a:gd name="adj" fmla="val 104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91295" y="2404872"/>
            <a:ext cx="1524305" cy="1524305"/>
          </a:xfrm>
          <a:prstGeom prst="roundRect">
            <a:avLst>
              <a:gd name="adj" fmla="val 59988"/>
            </a:avLst>
          </a:prstGeom>
          <a:noFill/>
          <a:ln w="508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5595" y="2519172"/>
            <a:ext cx="1295705" cy="1295705"/>
          </a:xfrm>
          <a:prstGeom prst="roundRect">
            <a:avLst>
              <a:gd name="adj" fmla="val 70572"/>
            </a:avLst>
          </a:prstGeom>
          <a:noFill/>
          <a:ln w="50800">
            <a:solidFill>
              <a:srgbClr val="EE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6298" y="232897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6298" y="389077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195" y="310987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51062" y="4100170"/>
            <a:ext cx="1739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Governance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36254" y="4424782"/>
            <a:ext cx="2724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Establishing a robust framework for data quality and accountability.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62849" y="4957877"/>
            <a:ext cx="1533449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01761" y="5033772"/>
            <a:ext cx="743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770925" y="518647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10598" y="4957877"/>
            <a:ext cx="1533449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365638" y="5033772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59898" y="5186477"/>
            <a:ext cx="939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Quality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905" y="257677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4205" y="2691079"/>
            <a:ext cx="152705" cy="152705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143000" y="2576779"/>
            <a:ext cx="6324905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1228954" y="2681021"/>
            <a:ext cx="1672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Identification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228954" y="2948026"/>
            <a:ext cx="58631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hygiene-related issues in FDO on a daily recurring basis to ensure real-time data accuracy.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9905" y="328178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4205" y="3396082"/>
            <a:ext cx="152705" cy="152705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1143000" y="3281782"/>
            <a:ext cx="6324905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1228954" y="3386023"/>
            <a:ext cx="2062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Notification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228954" y="3653028"/>
            <a:ext cx="53007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Project Managers whose projects have hygiene gaps immediately upon detection.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09905" y="3985870"/>
            <a:ext cx="381305" cy="381305"/>
          </a:xfrm>
          <a:prstGeom prst="roundRect">
            <a:avLst>
              <a:gd name="adj" fmla="val 239808"/>
            </a:avLst>
          </a:prstGeom>
          <a:noFill/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4205" y="4100170"/>
            <a:ext cx="152705" cy="152705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143000" y="3985870"/>
            <a:ext cx="6324905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1228954" y="4091026"/>
            <a:ext cx="1719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Tracking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1228954" y="4358030"/>
            <a:ext cx="53675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the lifecycle of hygiene issues from identification through to successful remediation.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09905" y="469087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4205" y="4805172"/>
            <a:ext cx="152705" cy="152705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1143000" y="4690872"/>
            <a:ext cx="6324905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1228954" y="4796028"/>
            <a:ext cx="1853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Closure Confirmation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1228954" y="5062118"/>
            <a:ext cx="60057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automated confirmation emails once hygiene issues are successfully resolved to close the loop.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9448495" y="2862072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39605" y="305318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457200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381305"/>
            <a:ext cx="21671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STAKEHOLDERS &amp; SYSTEMS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09905"/>
            <a:ext cx="1295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1104595"/>
            <a:ext cx="4743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entities involved in the hygiene monitoring ecosystem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5" y="2474366"/>
            <a:ext cx="6858000" cy="886054"/>
          </a:xfrm>
          <a:prstGeom prst="roundRect">
            <a:avLst>
              <a:gd name="adj" fmla="val 1331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5" y="2474366"/>
            <a:ext cx="38405" cy="88605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761695" y="2723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875995" y="2829154"/>
            <a:ext cx="152705" cy="1719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95705" y="2607869"/>
            <a:ext cx="1548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95705" y="2873959"/>
            <a:ext cx="602498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responsible party for maintaining project data. Receives notifications and executes corrective actions in FDO.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9905" y="3431743"/>
            <a:ext cx="6858000" cy="724205"/>
          </a:xfrm>
          <a:prstGeom prst="roundRect">
            <a:avLst>
              <a:gd name="adj" fmla="val 199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3349" y="359907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EF2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505" y="3704234"/>
            <a:ext cx="171907" cy="17190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66444" y="3574390"/>
            <a:ext cx="28913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Governance / Audit Team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66444" y="3841394"/>
            <a:ext cx="6024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Oversees compliance standards, defines hygiene rules, and reviews aggregate reports and audit logs.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9905" y="4224528"/>
            <a:ext cx="6858000" cy="905256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3349" y="448421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CFDF5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847649" y="4588459"/>
            <a:ext cx="152705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66444" y="4367174"/>
            <a:ext cx="3033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FDO (Factory Delivery Orchestrator)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266444" y="4634179"/>
            <a:ext cx="572048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system of record containing project data, status updates, and nomination details to be validated.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9905" y="5201107"/>
            <a:ext cx="6858000" cy="724205"/>
          </a:xfrm>
          <a:prstGeom prst="roundRect">
            <a:avLst>
              <a:gd name="adj" fmla="val 199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3349" y="536844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F3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814730" y="5473598"/>
            <a:ext cx="219456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266444" y="5343754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Hygiene Service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266444" y="5609844"/>
            <a:ext cx="57104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background service that executes rules, triggers alerts, and monitors resolution status daily.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925105" y="1837944"/>
            <a:ext cx="3657600" cy="4714646"/>
          </a:xfrm>
          <a:prstGeom prst="roundRect">
            <a:avLst>
              <a:gd name="adj" fmla="val 104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061704" y="2557577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 MODEL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991295" y="2938882"/>
            <a:ext cx="1524305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77095" y="3023921"/>
            <a:ext cx="152705" cy="152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435694" y="3252521"/>
            <a:ext cx="724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9743846" y="3642970"/>
            <a:ext cx="19202" cy="228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6" name="Shape 29"/>
          <p:cNvSpPr/>
          <p:nvPr/>
        </p:nvSpPr>
        <p:spPr>
          <a:xfrm>
            <a:off x="9743846" y="4900270"/>
            <a:ext cx="19202" cy="228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30"/>
          <p:cNvSpPr/>
          <p:nvPr/>
        </p:nvSpPr>
        <p:spPr>
          <a:xfrm>
            <a:off x="8991295" y="5281574"/>
            <a:ext cx="1524305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9687154" y="5367528"/>
            <a:ext cx="133502" cy="15270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08592" y="5596128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229600" y="4024274"/>
            <a:ext cx="3047695" cy="724205"/>
          </a:xfrm>
          <a:prstGeom prst="roundRect">
            <a:avLst>
              <a:gd name="adj" fmla="val 13291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1" name="Text 33"/>
          <p:cNvSpPr txBox="1"/>
          <p:nvPr/>
        </p:nvSpPr>
        <p:spPr>
          <a:xfrm>
            <a:off x="8874252" y="4405579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Monitoring Service</a:t>
            </a:r>
            <a:endParaRPr lang="en-US" sz="10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0" r="0" t="-180" b="-180"/>
          <a:stretch/>
        </p:blipFill>
        <p:spPr>
          <a:xfrm>
            <a:off x="8458200" y="4176979"/>
            <a:ext cx="190195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472270" y="4176979"/>
            <a:ext cx="7150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</a:t>
            </a:r>
            <a:endParaRPr lang="en-US" sz="9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rcRect l="0" r="0" t="-43" b="-43"/>
          <a:stretch/>
        </p:blipFill>
        <p:spPr>
          <a:xfrm>
            <a:off x="10916107" y="4176979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09344"/>
            <a:ext cx="12191695" cy="5896051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1990649"/>
            <a:ext cx="5296205" cy="5134356"/>
          </a:xfrm>
          <a:prstGeom prst="roundRect">
            <a:avLst>
              <a:gd name="adj" fmla="val 5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9049" y="2000707"/>
            <a:ext cx="75895" cy="511515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230520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80821" y="2438705"/>
            <a:ext cx="142646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33449" y="2381098"/>
            <a:ext cx="16578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Preconditions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3544" y="3066898"/>
            <a:ext cx="4667098" cy="972007"/>
          </a:xfrm>
          <a:prstGeom prst="roundRect">
            <a:avLst>
              <a:gd name="adj" fmla="val 737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6307" y="32671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F2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1147572" y="3323844"/>
            <a:ext cx="105156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6698" y="3238805"/>
            <a:ext cx="1114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Defined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66698" y="3495751"/>
            <a:ext cx="371977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rules and nomination criteria must be clearly defined within the FDO system configuration.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23544" y="4267505"/>
            <a:ext cx="4667098" cy="972007"/>
          </a:xfrm>
          <a:prstGeom prst="roundRect">
            <a:avLst>
              <a:gd name="adj" fmla="val 737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86307" y="446684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F2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1147572" y="4524451"/>
            <a:ext cx="105156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6698" y="4438498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Mapping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66698" y="4695444"/>
            <a:ext cx="38624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Projects must be correctly mapped to responsible Project Managers in the database.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23544" y="5467198"/>
            <a:ext cx="4667098" cy="972007"/>
          </a:xfrm>
          <a:prstGeom prst="roundRect">
            <a:avLst>
              <a:gd name="adj" fmla="val 737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86307" y="56674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F2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1147572" y="5724144"/>
            <a:ext cx="105156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6698" y="5639105"/>
            <a:ext cx="1943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Channels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466698" y="5896051"/>
            <a:ext cx="32433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SMTP or Outlook integration must be configured and authenticated for sending notifications.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286500" y="1990649"/>
            <a:ext cx="5296205" cy="5134356"/>
          </a:xfrm>
          <a:prstGeom prst="roundRect">
            <a:avLst>
              <a:gd name="adj" fmla="val 529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362895" y="1380744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5676595" y="650778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Shape 24"/>
          <p:cNvSpPr/>
          <p:nvPr/>
        </p:nvSpPr>
        <p:spPr>
          <a:xfrm>
            <a:off x="609905" y="457200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28700" y="381305"/>
            <a:ext cx="1576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READINESS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09905" y="609905"/>
            <a:ext cx="4124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Preconditions &amp; Trigger</a:t>
            </a:r>
            <a:endParaRPr lang="en-US" sz="2700" dirty="0"/>
          </a:p>
        </p:txBody>
      </p:sp>
      <p:sp>
        <p:nvSpPr>
          <p:cNvPr id="33" name="Text 27"/>
          <p:cNvSpPr txBox="1"/>
          <p:nvPr/>
        </p:nvSpPr>
        <p:spPr>
          <a:xfrm>
            <a:off x="609905" y="1104595"/>
            <a:ext cx="50292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for automated hygiene monitoring initialization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8133588" y="2295144"/>
            <a:ext cx="17812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Trigger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7886700" y="2686507"/>
            <a:ext cx="2220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Execution Schedule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020202" y="3209544"/>
            <a:ext cx="1828800" cy="182880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E5E7EB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05088" y="3685946"/>
            <a:ext cx="457200" cy="4572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705088" y="4200754"/>
            <a:ext cx="6812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24h</a:t>
            </a:r>
            <a:endParaRPr lang="en-US" sz="2200" dirty="0"/>
          </a:p>
        </p:txBody>
      </p:sp>
      <p:sp>
        <p:nvSpPr>
          <p:cNvPr id="39" name="Shape 32"/>
          <p:cNvSpPr/>
          <p:nvPr/>
        </p:nvSpPr>
        <p:spPr>
          <a:xfrm>
            <a:off x="8382305" y="4817059"/>
            <a:ext cx="209398" cy="209398"/>
          </a:xfrm>
          <a:prstGeom prst="roundRect">
            <a:avLst>
              <a:gd name="adj" fmla="val 436680"/>
            </a:avLst>
          </a:prstGeom>
          <a:solidFill>
            <a:srgbClr val="FBBF24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105802" y="5343754"/>
            <a:ext cx="3657600" cy="1476756"/>
          </a:xfrm>
          <a:prstGeom prst="roundRect">
            <a:avLst>
              <a:gd name="adj" fmla="val 479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10398" y="5639105"/>
            <a:ext cx="152705" cy="15270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477402" y="560070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Schedule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7402982" y="5934456"/>
            <a:ext cx="316748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hygiene monitoring service is triggered automatically once every 24 hours (e.g., at 01:00 AM server time).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19149"/>
            <a:ext cx="12191695" cy="5438851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419149"/>
            <a:ext cx="12191695" cy="54388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90295" y="2257654"/>
            <a:ext cx="2286000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18995" y="2657246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74266" y="3000146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Trigger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293876" y="3305556"/>
            <a:ext cx="17721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automatically initiates the hygiene check process every 24 hours.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943100" y="20665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2700" dist="12700" dir="16200000">
              <a:srgbClr val="e0f2fe">
                <a:alpha val="10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083918" y="2124151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31997" y="2257654"/>
            <a:ext cx="2286000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0697" y="265724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83710" y="3000146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Evaluation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845052" y="3305556"/>
            <a:ext cx="19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FDO project data is scanned against predefined rules (e.g., missing fields).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84802" y="20665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2700" dist="12700" dir="16200000">
              <a:srgbClr val="e0f2fe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4725619" y="2124151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73698" y="2257654"/>
            <a:ext cx="2286000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02398" y="265724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34556" y="3000146"/>
            <a:ext cx="1485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Identification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516014" y="3305556"/>
            <a:ext cx="189555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Non-compliant projects are flagged and linked to responsible Project Managers.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226503" y="20665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2700" dist="12700" dir="16200000">
              <a:srgbClr val="e0f2fe">
                <a:alpha val="100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7367321" y="2124151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915400" y="2257654"/>
            <a:ext cx="2286000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15400" y="2257654"/>
            <a:ext cx="2286000" cy="3840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44100" y="2686507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11919" y="3029407"/>
            <a:ext cx="1410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Email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235440" y="3333902"/>
            <a:ext cx="17337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alert sent to PM with issue list, severity, and required actions.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9868205" y="20665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2700" dist="12700" dir="16200000">
              <a:srgbClr val="e0f2fe">
                <a:alpha val="100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10009022" y="2124151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419088" y="4315054"/>
            <a:ext cx="2115007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57262" y="4714646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75704" y="5057546"/>
            <a:ext cx="1515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Monitor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655918" y="5362956"/>
            <a:ext cx="172455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continuously tracks updates made in FDO by Project Managers.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281367" y="41239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2700" dist="12700" dir="16200000">
              <a:srgbClr val="e0f2fe">
                <a:alpha val="100000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7422185" y="4181551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3706063" y="4315054"/>
            <a:ext cx="2104949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3706063" y="4315054"/>
            <a:ext cx="2104949" cy="3840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43323" y="4743907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4065422" y="5086807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 Email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3988613" y="5391302"/>
            <a:ext cx="162946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Closure email sent to PM confirming that hygiene issues are fully resolved.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566514" y="41239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2700" dist="12700" dir="16200000">
              <a:srgbClr val="dcfce7">
                <a:alpha val="100000"/>
              </a:srgbClr>
            </a:outerShdw>
          </a:effectLst>
        </p:spPr>
      </p:sp>
      <p:sp>
        <p:nvSpPr>
          <p:cNvPr id="43" name="Text 34"/>
          <p:cNvSpPr txBox="1"/>
          <p:nvPr/>
        </p:nvSpPr>
        <p:spPr>
          <a:xfrm>
            <a:off x="4708246" y="4181551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990295" y="4315054"/>
            <a:ext cx="2115007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929384" y="4714646"/>
            <a:ext cx="228600" cy="22860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513332" y="5057546"/>
            <a:ext cx="1181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Postconditions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1282903" y="5362956"/>
            <a:ext cx="161025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improved, issues addressed promptly, and compliance audit trail created.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1852574" y="41239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2700" dist="12700" dir="16200000">
              <a:srgbClr val="e0f2fe">
                <a:alpha val="100000"/>
              </a:srgbClr>
            </a:outerShdw>
          </a:effectLst>
        </p:spPr>
      </p:sp>
      <p:sp>
        <p:nvSpPr>
          <p:cNvPr id="49" name="Text 39"/>
          <p:cNvSpPr txBox="1"/>
          <p:nvPr/>
        </p:nvSpPr>
        <p:spPr>
          <a:xfrm>
            <a:off x="1994306" y="4181551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Shape 40"/>
          <p:cNvSpPr/>
          <p:nvPr/>
        </p:nvSpPr>
        <p:spPr>
          <a:xfrm>
            <a:off x="0" y="0"/>
            <a:ext cx="12191695" cy="1419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1"/>
          <p:cNvSpPr/>
          <p:nvPr/>
        </p:nvSpPr>
        <p:spPr>
          <a:xfrm>
            <a:off x="0" y="1410005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2" name="Shape 42"/>
          <p:cNvSpPr/>
          <p:nvPr/>
        </p:nvSpPr>
        <p:spPr>
          <a:xfrm>
            <a:off x="457200" y="38130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3" name="Text 43"/>
          <p:cNvSpPr txBox="1"/>
          <p:nvPr/>
        </p:nvSpPr>
        <p:spPr>
          <a:xfrm>
            <a:off x="875995" y="304495"/>
            <a:ext cx="1576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LIFECYCLE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457200" y="533095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Workflow</a:t>
            </a:r>
            <a:endParaRPr lang="en-US" sz="2700" dirty="0"/>
          </a:p>
        </p:txBody>
      </p:sp>
      <p:sp>
        <p:nvSpPr>
          <p:cNvPr id="55" name="Text 45"/>
          <p:cNvSpPr txBox="1"/>
          <p:nvPr/>
        </p:nvSpPr>
        <p:spPr>
          <a:xfrm>
            <a:off x="457200" y="990295"/>
            <a:ext cx="4743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cycle from issue detection to resolution confirmation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19149"/>
            <a:ext cx="12191695" cy="5524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1571854"/>
            <a:ext cx="5372100" cy="2495398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5248656" y="1733702"/>
            <a:ext cx="571500" cy="571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0605" y="1571854"/>
            <a:ext cx="5372100" cy="2495398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0" r="0" t="-16" b="-16"/>
          <a:stretch/>
        </p:blipFill>
        <p:spPr>
          <a:xfrm>
            <a:off x="10705795" y="1733702"/>
            <a:ext cx="714146" cy="571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905" y="4293108"/>
            <a:ext cx="5372100" cy="2495398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l="-347" r="-347" t="0" b="0"/>
          <a:stretch/>
        </p:blipFill>
        <p:spPr>
          <a:xfrm>
            <a:off x="5171846" y="4454957"/>
            <a:ext cx="647395" cy="5715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10605" y="4293108"/>
            <a:ext cx="5372100" cy="2495398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0" r="0" t="0" b="0"/>
          <a:stretch/>
        </p:blipFill>
        <p:spPr>
          <a:xfrm>
            <a:off x="10849356" y="4454957"/>
            <a:ext cx="571500" cy="5715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0" y="0"/>
            <a:ext cx="12191695" cy="1419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0" y="1410005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9"/>
          <p:cNvSpPr/>
          <p:nvPr/>
        </p:nvSpPr>
        <p:spPr>
          <a:xfrm>
            <a:off x="457200" y="38130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875995" y="304495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RULES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533095"/>
            <a:ext cx="465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Evaluation Criteria</a:t>
            </a:r>
            <a:endParaRPr lang="en-US" sz="27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990295"/>
            <a:ext cx="52294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data points scanned daily for compliance and completeness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09244" y="1772107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2746" y="1904695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9149" y="1867205"/>
            <a:ext cx="13816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Status</a:t>
            </a:r>
            <a:endParaRPr lang="en-US" sz="15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2712110"/>
            <a:ext cx="133502" cy="133502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9244" y="2979115"/>
            <a:ext cx="133502" cy="133502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09244" y="3245206"/>
            <a:ext cx="133502" cy="13350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09244" y="2352751"/>
            <a:ext cx="3529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project health indicators reflect the current reality.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1057046" y="2673706"/>
            <a:ext cx="2472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if status update is older than 7 days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1057046" y="2940710"/>
            <a:ext cx="23198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for blank 'Current Phase' status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057046" y="3207715"/>
            <a:ext cx="23106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RAG status justification fields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809244" y="3512210"/>
            <a:ext cx="4972507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Shape 20"/>
          <p:cNvSpPr/>
          <p:nvPr/>
        </p:nvSpPr>
        <p:spPr>
          <a:xfrm>
            <a:off x="5369357" y="3636569"/>
            <a:ext cx="418795" cy="2286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809244" y="3674059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5446166" y="3674059"/>
            <a:ext cx="3529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6409944" y="1772107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5F3FF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19672" y="1904695"/>
            <a:ext cx="237744" cy="19019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019849" y="1867205"/>
            <a:ext cx="21625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Nominations</a:t>
            </a:r>
            <a:endParaRPr lang="en-US" sz="15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409944" y="2712110"/>
            <a:ext cx="133502" cy="133502"/>
          </a:xfrm>
          <a:prstGeom prst="rect">
            <a:avLst/>
          </a:prstGeom>
        </p:spPr>
      </p:pic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409944" y="2979115"/>
            <a:ext cx="133502" cy="133502"/>
          </a:xfrm>
          <a:prstGeom prst="rect">
            <a:avLst/>
          </a:prstGeom>
        </p:spPr>
      </p:pic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409944" y="3245206"/>
            <a:ext cx="133502" cy="133502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6409944" y="2352751"/>
            <a:ext cx="3834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that all critical project roles are assigned to active users.</a:t>
            </a:r>
            <a:endParaRPr lang="en-US" sz="1000" dirty="0"/>
          </a:p>
        </p:txBody>
      </p:sp>
      <p:sp>
        <p:nvSpPr>
          <p:cNvPr id="40" name="Text 26"/>
          <p:cNvSpPr txBox="1"/>
          <p:nvPr/>
        </p:nvSpPr>
        <p:spPr>
          <a:xfrm>
            <a:off x="6657746" y="2673706"/>
            <a:ext cx="20912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Delivery Lead assignment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6657746" y="2940710"/>
            <a:ext cx="21963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Unassigned Solution Architect roles</a:t>
            </a:r>
            <a:endParaRPr lang="en-US" sz="1000" dirty="0"/>
          </a:p>
        </p:txBody>
      </p:sp>
      <p:sp>
        <p:nvSpPr>
          <p:cNvPr id="42" name="Text 28"/>
          <p:cNvSpPr txBox="1"/>
          <p:nvPr/>
        </p:nvSpPr>
        <p:spPr>
          <a:xfrm>
            <a:off x="6657746" y="3207715"/>
            <a:ext cx="22814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Inactive users mapped to active roles</a:t>
            </a:r>
            <a:endParaRPr lang="en-US" sz="1000" dirty="0"/>
          </a:p>
        </p:txBody>
      </p:sp>
      <p:sp>
        <p:nvSpPr>
          <p:cNvPr id="43" name="Shape 29"/>
          <p:cNvSpPr/>
          <p:nvPr/>
        </p:nvSpPr>
        <p:spPr>
          <a:xfrm>
            <a:off x="6409944" y="3512210"/>
            <a:ext cx="4972507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4" name="Text 30"/>
          <p:cNvSpPr txBox="1"/>
          <p:nvPr/>
        </p:nvSpPr>
        <p:spPr>
          <a:xfrm>
            <a:off x="6409944" y="3674059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900" dirty="0"/>
          </a:p>
        </p:txBody>
      </p:sp>
      <p:sp>
        <p:nvSpPr>
          <p:cNvPr id="45" name="Text 31"/>
          <p:cNvSpPr txBox="1"/>
          <p:nvPr/>
        </p:nvSpPr>
        <p:spPr>
          <a:xfrm>
            <a:off x="10857586" y="3674059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809244" y="449336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EF2FF"/>
          </a:solidFill>
          <a:ln/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18972" y="4626864"/>
            <a:ext cx="237744" cy="19019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419149" y="4588459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Mappings</a:t>
            </a:r>
            <a:endParaRPr lang="en-US" sz="15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09244" y="5434279"/>
            <a:ext cx="133502" cy="133502"/>
          </a:xfrm>
          <a:prstGeom prst="rect">
            <a:avLst/>
          </a:prstGeom>
        </p:spPr>
      </p:pic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09244" y="5700370"/>
            <a:ext cx="133502" cy="133502"/>
          </a:xfrm>
          <a:prstGeom prst="rect">
            <a:avLst/>
          </a:prstGeom>
        </p:spPr>
      </p:pic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09244" y="5967374"/>
            <a:ext cx="133502" cy="133502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809244" y="5074006"/>
            <a:ext cx="43772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logical consistency between project stages and methodologies.</a:t>
            </a:r>
            <a:endParaRPr lang="en-US" sz="1000" dirty="0"/>
          </a:p>
        </p:txBody>
      </p:sp>
      <p:sp>
        <p:nvSpPr>
          <p:cNvPr id="53" name="Text 35"/>
          <p:cNvSpPr txBox="1"/>
          <p:nvPr/>
        </p:nvSpPr>
        <p:spPr>
          <a:xfrm>
            <a:off x="1057046" y="5395874"/>
            <a:ext cx="2691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Mismatch between Methodology and Phase</a:t>
            </a:r>
            <a:endParaRPr lang="en-US" sz="1000" dirty="0"/>
          </a:p>
        </p:txBody>
      </p:sp>
      <p:sp>
        <p:nvSpPr>
          <p:cNvPr id="54" name="Text 36"/>
          <p:cNvSpPr txBox="1"/>
          <p:nvPr/>
        </p:nvSpPr>
        <p:spPr>
          <a:xfrm>
            <a:off x="1057046" y="5662879"/>
            <a:ext cx="22814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stuck in 'Initiation' &gt; 30 days</a:t>
            </a:r>
            <a:endParaRPr lang="en-US" sz="1000" dirty="0"/>
          </a:p>
        </p:txBody>
      </p:sp>
      <p:sp>
        <p:nvSpPr>
          <p:cNvPr id="55" name="Text 37"/>
          <p:cNvSpPr txBox="1"/>
          <p:nvPr/>
        </p:nvSpPr>
        <p:spPr>
          <a:xfrm>
            <a:off x="1057046" y="5928970"/>
            <a:ext cx="19961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projects with active tasks</a:t>
            </a:r>
            <a:endParaRPr lang="en-US" sz="1000" dirty="0"/>
          </a:p>
        </p:txBody>
      </p:sp>
      <p:sp>
        <p:nvSpPr>
          <p:cNvPr id="56" name="Shape 38"/>
          <p:cNvSpPr/>
          <p:nvPr/>
        </p:nvSpPr>
        <p:spPr>
          <a:xfrm>
            <a:off x="809244" y="6234379"/>
            <a:ext cx="4972507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7" name="Text 39"/>
          <p:cNvSpPr txBox="1"/>
          <p:nvPr/>
        </p:nvSpPr>
        <p:spPr>
          <a:xfrm>
            <a:off x="809244" y="6396228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900" dirty="0"/>
          </a:p>
        </p:txBody>
      </p:sp>
      <p:sp>
        <p:nvSpPr>
          <p:cNvPr id="58" name="Text 40"/>
          <p:cNvSpPr txBox="1"/>
          <p:nvPr/>
        </p:nvSpPr>
        <p:spPr>
          <a:xfrm>
            <a:off x="5256886" y="6396228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543446" y="4626864"/>
            <a:ext cx="190195" cy="190195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7019849" y="4588459"/>
            <a:ext cx="17053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Fields</a:t>
            </a:r>
            <a:endParaRPr lang="en-US" sz="150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6409944" y="5434279"/>
            <a:ext cx="133502" cy="133502"/>
          </a:xfrm>
          <a:prstGeom prst="rect">
            <a:avLst/>
          </a:prstGeom>
        </p:spPr>
      </p:pic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409944" y="5700370"/>
            <a:ext cx="133502" cy="133502"/>
          </a:xfrm>
          <a:prstGeom prst="rect">
            <a:avLst/>
          </a:prstGeom>
        </p:spPr>
      </p:pic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6409944" y="5967374"/>
            <a:ext cx="133502" cy="133502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6409944" y="5074006"/>
            <a:ext cx="3805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for completeness of essential administrative data fields.</a:t>
            </a:r>
            <a:endParaRPr lang="en-US" sz="1000" dirty="0"/>
          </a:p>
        </p:txBody>
      </p:sp>
      <p:sp>
        <p:nvSpPr>
          <p:cNvPr id="65" name="Text 43"/>
          <p:cNvSpPr txBox="1"/>
          <p:nvPr/>
        </p:nvSpPr>
        <p:spPr>
          <a:xfrm>
            <a:off x="6657746" y="5395874"/>
            <a:ext cx="22146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'Go-Live Date' or 'End Date'</a:t>
            </a:r>
            <a:endParaRPr lang="en-US" sz="1000" dirty="0"/>
          </a:p>
        </p:txBody>
      </p:sp>
      <p:sp>
        <p:nvSpPr>
          <p:cNvPr id="66" name="Text 44"/>
          <p:cNvSpPr txBox="1"/>
          <p:nvPr/>
        </p:nvSpPr>
        <p:spPr>
          <a:xfrm>
            <a:off x="6657746" y="5662879"/>
            <a:ext cx="2082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Client/Account Code fields</a:t>
            </a:r>
            <a:endParaRPr lang="en-US" sz="1000" dirty="0"/>
          </a:p>
        </p:txBody>
      </p:sp>
      <p:sp>
        <p:nvSpPr>
          <p:cNvPr id="67" name="Text 45"/>
          <p:cNvSpPr txBox="1"/>
          <p:nvPr/>
        </p:nvSpPr>
        <p:spPr>
          <a:xfrm>
            <a:off x="6657746" y="5928970"/>
            <a:ext cx="2052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 Cost Center allocation</a:t>
            </a:r>
            <a:endParaRPr lang="en-US" sz="1000" dirty="0"/>
          </a:p>
        </p:txBody>
      </p:sp>
      <p:sp>
        <p:nvSpPr>
          <p:cNvPr id="68" name="Shape 46"/>
          <p:cNvSpPr/>
          <p:nvPr/>
        </p:nvSpPr>
        <p:spPr>
          <a:xfrm>
            <a:off x="6409944" y="6234379"/>
            <a:ext cx="4972507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9" name="Shape 47"/>
          <p:cNvSpPr/>
          <p:nvPr/>
        </p:nvSpPr>
        <p:spPr>
          <a:xfrm>
            <a:off x="10970057" y="6357823"/>
            <a:ext cx="418795" cy="2286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  <a:ln/>
        </p:spPr>
      </p:sp>
      <p:sp>
        <p:nvSpPr>
          <p:cNvPr id="70" name="Text 48"/>
          <p:cNvSpPr txBox="1"/>
          <p:nvPr/>
        </p:nvSpPr>
        <p:spPr>
          <a:xfrm>
            <a:off x="6409944" y="6396228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900" dirty="0"/>
          </a:p>
        </p:txBody>
      </p:sp>
      <p:sp>
        <p:nvSpPr>
          <p:cNvPr id="71" name="Text 49"/>
          <p:cNvSpPr txBox="1"/>
          <p:nvPr/>
        </p:nvSpPr>
        <p:spPr>
          <a:xfrm>
            <a:off x="11046866" y="6396228"/>
            <a:ext cx="3529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09344"/>
            <a:ext cx="12191695" cy="6019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1990649"/>
            <a:ext cx="5296205" cy="5257800"/>
          </a:xfrm>
          <a:prstGeom prst="roundRect">
            <a:avLst>
              <a:gd name="adj" fmla="val 5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9049" y="2000707"/>
            <a:ext cx="75895" cy="523859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230520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7046" y="2438705"/>
            <a:ext cx="190195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33449" y="2381098"/>
            <a:ext cx="16861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Content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3000146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automated email provides a structured summary to facilitate quick action: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3544" y="3638398"/>
            <a:ext cx="4667098" cy="780898"/>
          </a:xfrm>
          <a:prstGeom prst="roundRect">
            <a:avLst>
              <a:gd name="adj" fmla="val 1142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86307" y="38386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E2E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71346" y="3924605"/>
            <a:ext cx="133502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43507" y="3810305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List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543507" y="4067251"/>
            <a:ext cx="3691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breakdown of hygiene issues grouped by project ID.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23544" y="4610405"/>
            <a:ext cx="4667098" cy="780898"/>
          </a:xfrm>
          <a:prstGeom prst="roundRect">
            <a:avLst>
              <a:gd name="adj" fmla="val 1142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86307" y="48097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F3C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71346" y="4895698"/>
            <a:ext cx="133502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43507" y="4781398"/>
            <a:ext cx="1410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Severity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543507" y="5038344"/>
            <a:ext cx="34436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level classification to prioritize resolution efforts.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23544" y="5581498"/>
            <a:ext cx="4667098" cy="780898"/>
          </a:xfrm>
          <a:prstGeom prst="roundRect">
            <a:avLst>
              <a:gd name="adj" fmla="val 1142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86307" y="57817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1FAE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71346" y="5867705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43507" y="5753405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Items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543507" y="6010351"/>
            <a:ext cx="31866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corrective actions required to resolve the gaps.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286500" y="1990649"/>
            <a:ext cx="5296205" cy="5257800"/>
          </a:xfrm>
          <a:prstGeom prst="roundRect">
            <a:avLst>
              <a:gd name="adj" fmla="val 504"/>
            </a:avLst>
          </a:prstGeom>
          <a:solidFill>
            <a:srgbClr val="005A9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362895" y="1380744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5676595" y="6632143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Shape 25"/>
          <p:cNvSpPr/>
          <p:nvPr/>
        </p:nvSpPr>
        <p:spPr>
          <a:xfrm>
            <a:off x="609905" y="457200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1028700" y="381305"/>
            <a:ext cx="23006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PROTOCOL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09905" y="609905"/>
            <a:ext cx="350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Process</a:t>
            </a:r>
            <a:endParaRPr lang="en-US" sz="2700" dirty="0"/>
          </a:p>
        </p:txBody>
      </p:sp>
      <p:sp>
        <p:nvSpPr>
          <p:cNvPr id="34" name="Text 28"/>
          <p:cNvSpPr txBox="1"/>
          <p:nvPr/>
        </p:nvSpPr>
        <p:spPr>
          <a:xfrm>
            <a:off x="609905" y="1104595"/>
            <a:ext cx="35149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alerts for hygiene issues found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8061350" y="2295144"/>
            <a:ext cx="19248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Audience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8349386" y="2686507"/>
            <a:ext cx="1286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Recipient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8172907" y="3209544"/>
            <a:ext cx="1524305" cy="1524305"/>
          </a:xfrm>
          <a:prstGeom prst="roundRect">
            <a:avLst>
              <a:gd name="adj" fmla="val 5998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-469" r="-469" t="0" b="0"/>
          <a:stretch/>
        </p:blipFill>
        <p:spPr>
          <a:xfrm>
            <a:off x="8682228" y="3685946"/>
            <a:ext cx="504749" cy="57150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9315907" y="32095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4444"/>
          </a:solidFill>
          <a:ln w="50800">
            <a:solidFill>
              <a:srgbClr val="1E3A8A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9453982" y="3343046"/>
            <a:ext cx="105156" cy="11430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7105802" y="4962449"/>
            <a:ext cx="3657600" cy="1981505"/>
          </a:xfrm>
          <a:prstGeom prst="roundRect">
            <a:avLst>
              <a:gd name="adj" fmla="val 266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8114386" y="5257800"/>
            <a:ext cx="190195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419795" y="5219395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7456018" y="5591556"/>
            <a:ext cx="3062326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notification is routed directly to the specific Project Manager mapped to the flagged project in FDO.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7343546" y="6546190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Governance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10318090" y="6546190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(CC)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09344"/>
            <a:ext cx="12191695" cy="6001207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1990649"/>
            <a:ext cx="5296205" cy="5238598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9049" y="2000707"/>
            <a:ext cx="75895" cy="52193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230520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7046" y="2438705"/>
            <a:ext cx="190195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33449" y="2381098"/>
            <a:ext cx="26106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Monitoring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3544" y="3066898"/>
            <a:ext cx="4667098" cy="1200607"/>
          </a:xfrm>
          <a:prstGeom prst="roundRect">
            <a:avLst>
              <a:gd name="adj" fmla="val 483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6307" y="32671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71346" y="3353105"/>
            <a:ext cx="133502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43507" y="3247949"/>
            <a:ext cx="1567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Detection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543507" y="3534156"/>
            <a:ext cx="371063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continuously observes updates in FDO, specifically tracking project status changes and corrections to mandatory fields.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23544" y="4496105"/>
            <a:ext cx="4667098" cy="1009498"/>
          </a:xfrm>
          <a:prstGeom prst="roundRect">
            <a:avLst>
              <a:gd name="adj" fmla="val 683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86307" y="46954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71346" y="4781398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43507" y="4677156"/>
            <a:ext cx="172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Re-evaluation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543507" y="4962449"/>
            <a:ext cx="37005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Nomination data and stage mappings are re-scanned against hygiene rules to ensure validity.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23544" y="5734202"/>
            <a:ext cx="4667098" cy="1009498"/>
          </a:xfrm>
          <a:prstGeom prst="roundRect">
            <a:avLst>
              <a:gd name="adj" fmla="val 683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86307" y="593445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1FAE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1181405" y="6019495"/>
            <a:ext cx="114300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43507" y="5915254"/>
            <a:ext cx="1538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State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543507" y="6200546"/>
            <a:ext cx="39392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are automatically marked as "Compliant" in the database immediately when all detected issues pass validation.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286500" y="1990649"/>
            <a:ext cx="5296205" cy="5238598"/>
          </a:xfrm>
          <a:prstGeom prst="roundRect">
            <a:avLst>
              <a:gd name="adj" fmla="val 508"/>
            </a:avLst>
          </a:prstGeom>
          <a:solidFill>
            <a:srgbClr val="004E8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362895" y="1380744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5676595" y="6620256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Shape 24"/>
          <p:cNvSpPr/>
          <p:nvPr/>
        </p:nvSpPr>
        <p:spPr>
          <a:xfrm>
            <a:off x="609905" y="457200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28700" y="381305"/>
            <a:ext cx="1491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CLOSURE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09905" y="609905"/>
            <a:ext cx="4601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&amp; Confirmation</a:t>
            </a:r>
            <a:endParaRPr lang="en-US" sz="2700" dirty="0"/>
          </a:p>
        </p:txBody>
      </p:sp>
      <p:sp>
        <p:nvSpPr>
          <p:cNvPr id="33" name="Text 27"/>
          <p:cNvSpPr txBox="1"/>
          <p:nvPr/>
        </p:nvSpPr>
        <p:spPr>
          <a:xfrm>
            <a:off x="609905" y="1104595"/>
            <a:ext cx="4791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 corrective actions and acknowledging compliance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7732166" y="2295144"/>
            <a:ext cx="25813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 Protocol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7675474" y="2686507"/>
            <a:ext cx="2638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Closure Acknowledgment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172907" y="3209544"/>
            <a:ext cx="1524305" cy="1524305"/>
          </a:xfrm>
          <a:prstGeom prst="roundRect">
            <a:avLst>
              <a:gd name="adj" fmla="val 59988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48395" y="3648456"/>
            <a:ext cx="571500" cy="5715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915400" y="399135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0B981"/>
          </a:solidFill>
          <a:ln w="50800">
            <a:solidFill>
              <a:srgbClr val="1E3A8A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9048902" y="4114800"/>
            <a:ext cx="114300" cy="13350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7105802" y="5038344"/>
            <a:ext cx="3657600" cy="1886407"/>
          </a:xfrm>
          <a:prstGeom prst="roundRect">
            <a:avLst>
              <a:gd name="adj" fmla="val 293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343546" y="5696712"/>
            <a:ext cx="318119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34"/>
          <p:cNvSpPr/>
          <p:nvPr/>
        </p:nvSpPr>
        <p:spPr>
          <a:xfrm>
            <a:off x="7343546" y="52770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3B82F6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38644" y="5372100"/>
            <a:ext cx="114300" cy="1143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763256" y="5315407"/>
            <a:ext cx="976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Sent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7343546" y="5829300"/>
            <a:ext cx="324337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hygiene issues are resolved, a confirmation email is immediately sent to the Project Manager acknowledging the closure of the ticket and restoring green status.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7701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3309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457200"/>
            <a:ext cx="17483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CAPABILITIES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85800"/>
            <a:ext cx="427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1181405"/>
            <a:ext cx="5334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specifications for the automated hygiene monitoring engine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5" y="1990649"/>
            <a:ext cx="6858000" cy="1123798"/>
          </a:xfrm>
          <a:prstGeom prst="roundRect">
            <a:avLst>
              <a:gd name="adj" fmla="val 827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5" y="1990649"/>
            <a:ext cx="38405" cy="112379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838505" y="22192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942746" y="2314346"/>
            <a:ext cx="171907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71600" y="2200046"/>
            <a:ext cx="25484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Hygiene Rule Evaluation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495398"/>
            <a:ext cx="58347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must execute a scheduled daily job to scan all active FDO projects against the defined set of hygiene rules (e.g., missing fields, outdated statuses) without manual intervention.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767182" y="3359506"/>
            <a:ext cx="219456" cy="1719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18895" y="4024274"/>
            <a:ext cx="62480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218895" y="3310128"/>
            <a:ext cx="2220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Project-to-Manager Mapping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218895" y="3567074"/>
            <a:ext cx="56912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Dynamically identify the responsible Project Manager for each non-compliant project to ensure notifications are routed correctly.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0956" y="4283964"/>
            <a:ext cx="171907" cy="17190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218895" y="4948733"/>
            <a:ext cx="62480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218895" y="4233672"/>
            <a:ext cx="2334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Email Notifications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218895" y="4490618"/>
            <a:ext cx="62060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and send personalized emails listing specific gaps, severity levels, and required actions directly to the mapped PMs.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0956" y="5207508"/>
            <a:ext cx="171907" cy="171907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218895" y="5872277"/>
            <a:ext cx="62480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1218895" y="5158130"/>
            <a:ext cx="2048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Detection Logic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218895" y="5415077"/>
            <a:ext cx="59966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Continuously monitor FDO data changes to detect when a flagged hygiene issue has been corrected according to the rules.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760" r="-760" t="0" b="0"/>
          <a:stretch/>
        </p:blipFill>
        <p:spPr>
          <a:xfrm>
            <a:off x="800100" y="6131966"/>
            <a:ext cx="152705" cy="1719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18895" y="6081674"/>
            <a:ext cx="20574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 Email Trigger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18895" y="6338621"/>
            <a:ext cx="62444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trigger a "Closure Confirmation" email to the Project Manager once all flagged issues for a project are resolved.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925105" y="1990649"/>
            <a:ext cx="3657600" cy="4733849"/>
          </a:xfrm>
          <a:prstGeom prst="roundRect">
            <a:avLst>
              <a:gd name="adj" fmla="val 104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111082" y="2612441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STACK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9743846" y="3145536"/>
            <a:ext cx="19202" cy="215249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26"/>
          <p:cNvSpPr/>
          <p:nvPr/>
        </p:nvSpPr>
        <p:spPr>
          <a:xfrm>
            <a:off x="9091879" y="5755234"/>
            <a:ext cx="1324051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43670" y="5860390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453982" y="5832043"/>
            <a:ext cx="909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FDO Backend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315554" y="2992831"/>
            <a:ext cx="2876702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916107" y="3117190"/>
            <a:ext cx="152705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438998" y="3117190"/>
            <a:ext cx="629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315554" y="3507638"/>
            <a:ext cx="2876702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10896905" y="3631082"/>
            <a:ext cx="171907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438998" y="3631082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8315554" y="4021531"/>
            <a:ext cx="2876702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916107" y="4145890"/>
            <a:ext cx="152705" cy="15270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438998" y="4145890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8315554" y="4536338"/>
            <a:ext cx="2876702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-33" r="-33" t="0" b="0"/>
          <a:stretch/>
        </p:blipFill>
        <p:spPr>
          <a:xfrm>
            <a:off x="10896905" y="4659782"/>
            <a:ext cx="171907" cy="15270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8438998" y="4659782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8315554" y="5050231"/>
            <a:ext cx="2876702" cy="400507"/>
          </a:xfrm>
          <a:prstGeom prst="roundRect">
            <a:avLst>
              <a:gd name="adj" fmla="val 4348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10934395" y="5174590"/>
            <a:ext cx="133502" cy="15270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438998" y="5174590"/>
            <a:ext cx="810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7701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3309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457200"/>
            <a:ext cx="3910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CONSTRAINTS &amp; QUALITY ATTRIBUTES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85800"/>
            <a:ext cx="5106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Non-Functional Requirements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1181405"/>
            <a:ext cx="50584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Ensuring reliability, security, and traceability in FDO operations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5" y="2138782"/>
            <a:ext cx="6858000" cy="1181405"/>
          </a:xfrm>
          <a:prstGeom prst="roundRect">
            <a:avLst>
              <a:gd name="adj" fmla="val 749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5" y="2138782"/>
            <a:ext cx="38405" cy="118140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8505" y="2371954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1405" y="2348179"/>
            <a:ext cx="2062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Daily Execution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81405" y="2652674"/>
            <a:ext cx="60871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must guarantee execution of hygiene checks every 24 hours without fail. Fail-safe mechanisms must be in place to retry in case of transient connectivity issues.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8446" y="3607308"/>
            <a:ext cx="171907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8895" y="3567074"/>
            <a:ext cx="3044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Accuracy in Hygiene Detection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18895" y="3871570"/>
            <a:ext cx="61155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positives must be minimized to prevent alert fatigue. The rule engine must precisely interpret FDO data schemas and business logic to flag only genuine hygiene gaps.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838505" y="4636008"/>
            <a:ext cx="152705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18895" y="4595774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Access to FDO Data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18895" y="4900270"/>
            <a:ext cx="60396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extraction and validation processes must adhere to RBAC policies. System accounts used for monitoring must have least-privilege read-only access to sensitive project data.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847649" y="5664708"/>
            <a:ext cx="133502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18895" y="5624474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of Notifications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218895" y="5928970"/>
            <a:ext cx="62106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generated alerts, sent notifications, and system actions must be logged immutably. This ensures full traceability for compliance audits and troubleshooting.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925105" y="1990649"/>
            <a:ext cx="3657600" cy="4562856"/>
          </a:xfrm>
          <a:prstGeom prst="roundRect">
            <a:avLst>
              <a:gd name="adj" fmla="val 104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229600" y="2481682"/>
            <a:ext cx="30476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391449" y="264353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05749" y="2757830"/>
            <a:ext cx="152705" cy="152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924544" y="2661818"/>
            <a:ext cx="566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8924544" y="2852928"/>
            <a:ext cx="972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 Availability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229600" y="3414370"/>
            <a:ext cx="30476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1449" y="357621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05749" y="3690518"/>
            <a:ext cx="152705" cy="1527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24544" y="3595421"/>
            <a:ext cx="6144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8924544" y="3786530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Principle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8229600" y="4347972"/>
            <a:ext cx="30476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391449" y="450982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1FAE5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505749" y="4624121"/>
            <a:ext cx="152705" cy="152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924544" y="4529023"/>
            <a:ext cx="719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8924544" y="4719218"/>
            <a:ext cx="12097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12-Month Log History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162849" y="5357470"/>
            <a:ext cx="3181198" cy="705002"/>
          </a:xfrm>
          <a:prstGeom prst="roundRect">
            <a:avLst>
              <a:gd name="adj" fmla="val 14022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837" r="-837" t="0" b="0"/>
          <a:stretch/>
        </p:blipFill>
        <p:spPr>
          <a:xfrm>
            <a:off x="9098280" y="5545836"/>
            <a:ext cx="152705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326880" y="5519318"/>
            <a:ext cx="11859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Goal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8609076" y="5747918"/>
            <a:ext cx="2382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full hygiene scan within 15 minutes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19149"/>
            <a:ext cx="12191695" cy="664860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1723644"/>
            <a:ext cx="5333695" cy="2790749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20381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FF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6249" y="2190902"/>
            <a:ext cx="228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87468" y="2038198"/>
            <a:ext cx="743407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01768" y="2076602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Avg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2771546"/>
            <a:ext cx="1843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ISSUES DETECTED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23544" y="2905049"/>
            <a:ext cx="109545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4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1733702" y="3390595"/>
            <a:ext cx="105156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6349" y="3362249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12%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733702" y="3552444"/>
            <a:ext cx="790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last month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" y="3905402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061204" y="3905402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&lt;50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23544" y="4095598"/>
            <a:ext cx="4705502" cy="75895"/>
          </a:xfrm>
          <a:prstGeom prst="roundRect">
            <a:avLst>
              <a:gd name="adj" fmla="val 1204822"/>
            </a:avLst>
          </a:prstGeom>
          <a:solidFill>
            <a:srgbClr val="E2E8F0"/>
          </a:solidFill>
          <a:ln/>
        </p:spPr>
      </p:sp>
      <p:sp>
        <p:nvSpPr>
          <p:cNvPr id="18" name="Shape 14"/>
          <p:cNvSpPr/>
          <p:nvPr/>
        </p:nvSpPr>
        <p:spPr>
          <a:xfrm>
            <a:off x="923544" y="4095598"/>
            <a:ext cx="3952951" cy="75895"/>
          </a:xfrm>
          <a:prstGeom prst="roundRect">
            <a:avLst>
              <a:gd name="adj" fmla="val 1204822"/>
            </a:avLst>
          </a:prstGeom>
          <a:solidFill>
            <a:srgbClr val="0078D4"/>
          </a:solidFill>
          <a:ln/>
        </p:spPr>
      </p:sp>
      <p:sp>
        <p:nvSpPr>
          <p:cNvPr id="19" name="Shape 15"/>
          <p:cNvSpPr/>
          <p:nvPr/>
        </p:nvSpPr>
        <p:spPr>
          <a:xfrm>
            <a:off x="6248095" y="1723644"/>
            <a:ext cx="5333695" cy="2790749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62649" y="20381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EF2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6729070" y="2190902"/>
            <a:ext cx="200254" cy="228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523830" y="2038198"/>
            <a:ext cx="752551" cy="228600"/>
          </a:xfrm>
          <a:prstGeom prst="roundRect">
            <a:avLst>
              <a:gd name="adj" fmla="val 400000"/>
            </a:avLst>
          </a:prstGeom>
          <a:solidFill>
            <a:srgbClr val="E0E7F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638130" y="2076602"/>
            <a:ext cx="609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562649" y="2723998"/>
            <a:ext cx="16340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RESOLUTION TIME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562649" y="2857500"/>
            <a:ext cx="207660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4.5hrs</a:t>
            </a:r>
            <a:endParaRPr lang="en-US" sz="45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8353958" y="3343046"/>
            <a:ext cx="105156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496605" y="3314700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18h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8353958" y="350489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562649" y="3810305"/>
            <a:ext cx="4705502" cy="362102"/>
          </a:xfrm>
          <a:prstGeom prst="roundRect">
            <a:avLst>
              <a:gd name="adj" fmla="val 2658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48602" y="3921862"/>
            <a:ext cx="133502" cy="1335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858000" y="3895344"/>
            <a:ext cx="19010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Pre-automation avg: 24-48 hrs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09905" y="4819802"/>
            <a:ext cx="5333695" cy="2790749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923544" y="5134356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CFDF5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1061618" y="5286146"/>
            <a:ext cx="256946" cy="2286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012741" y="5134356"/>
            <a:ext cx="619049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5127041" y="5171846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923544" y="5867705"/>
            <a:ext cx="1576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COMPLIANCE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923544" y="6001207"/>
            <a:ext cx="15910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98%</a:t>
            </a:r>
            <a:endParaRPr lang="en-US" sz="45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-2512" r="-2512" t="0" b="0"/>
          <a:stretch/>
        </p:blipFill>
        <p:spPr>
          <a:xfrm>
            <a:off x="2229307" y="6486754"/>
            <a:ext cx="105156" cy="1335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2371954" y="6458407"/>
            <a:ext cx="300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2229307" y="6648602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baseline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923544" y="7000646"/>
            <a:ext cx="810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Health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5125212" y="7000646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95%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923544" y="7191756"/>
            <a:ext cx="4705502" cy="75895"/>
          </a:xfrm>
          <a:prstGeom prst="roundRect">
            <a:avLst>
              <a:gd name="adj" fmla="val 1204822"/>
            </a:avLst>
          </a:prstGeom>
          <a:solidFill>
            <a:srgbClr val="E2E8F0"/>
          </a:solidFill>
          <a:ln/>
        </p:spPr>
      </p:sp>
      <p:sp>
        <p:nvSpPr>
          <p:cNvPr id="45" name="Shape 36"/>
          <p:cNvSpPr/>
          <p:nvPr/>
        </p:nvSpPr>
        <p:spPr>
          <a:xfrm>
            <a:off x="923544" y="7191756"/>
            <a:ext cx="4619549" cy="75895"/>
          </a:xfrm>
          <a:prstGeom prst="roundRect">
            <a:avLst>
              <a:gd name="adj" fmla="val 1204822"/>
            </a:avLst>
          </a:prstGeom>
          <a:solidFill>
            <a:srgbClr val="0078D4"/>
          </a:solidFill>
          <a:ln/>
        </p:spPr>
      </p:sp>
      <p:sp>
        <p:nvSpPr>
          <p:cNvPr id="46" name="Shape 37"/>
          <p:cNvSpPr/>
          <p:nvPr/>
        </p:nvSpPr>
        <p:spPr>
          <a:xfrm>
            <a:off x="6248095" y="4819802"/>
            <a:ext cx="5333695" cy="2790749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15354" y="5286146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0678363" y="5171846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6562649" y="5820156"/>
            <a:ext cx="14145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VIOLATIONS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6562649" y="5952744"/>
            <a:ext cx="15910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45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7868412" y="6439205"/>
            <a:ext cx="105156" cy="13350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8011058" y="6409944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7868412" y="6601054"/>
            <a:ext cx="743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recurrence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6562649" y="6905549"/>
            <a:ext cx="4705502" cy="362102"/>
          </a:xfrm>
          <a:prstGeom prst="roundRect">
            <a:avLst>
              <a:gd name="adj" fmla="val 2658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rcRect l="-2512" r="-2512" t="0" b="0"/>
          <a:stretch/>
        </p:blipFill>
        <p:spPr>
          <a:xfrm>
            <a:off x="6648602" y="7017106"/>
            <a:ext cx="105156" cy="133502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6829654" y="6991502"/>
            <a:ext cx="20336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Driven by active PM notifications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0" y="0"/>
            <a:ext cx="12191695" cy="1419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46"/>
          <p:cNvSpPr/>
          <p:nvPr/>
        </p:nvSpPr>
        <p:spPr>
          <a:xfrm>
            <a:off x="0" y="1410005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9" name="Shape 47"/>
          <p:cNvSpPr/>
          <p:nvPr/>
        </p:nvSpPr>
        <p:spPr>
          <a:xfrm>
            <a:off x="457200" y="38130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0" name="Text 48"/>
          <p:cNvSpPr txBox="1"/>
          <p:nvPr/>
        </p:nvSpPr>
        <p:spPr>
          <a:xfrm>
            <a:off x="875995" y="304495"/>
            <a:ext cx="2052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TRACKING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457200" y="533095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 / KPIs</a:t>
            </a:r>
            <a:endParaRPr lang="en-US" sz="2700" dirty="0"/>
          </a:p>
        </p:txBody>
      </p:sp>
      <p:sp>
        <p:nvSpPr>
          <p:cNvPr id="62" name="Text 50"/>
          <p:cNvSpPr txBox="1"/>
          <p:nvPr/>
        </p:nvSpPr>
        <p:spPr>
          <a:xfrm>
            <a:off x="457200" y="990295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Measuring the impact of automated hygiene monitoring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457200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381305"/>
            <a:ext cx="16724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BENEFITS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09905"/>
            <a:ext cx="2600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1104595"/>
            <a:ext cx="4858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 of implementing automated hygiene monitoring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5" y="2281428"/>
            <a:ext cx="6858000" cy="1123798"/>
          </a:xfrm>
          <a:prstGeom prst="roundRect">
            <a:avLst>
              <a:gd name="adj" fmla="val 827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5" y="2281428"/>
            <a:ext cx="38405" cy="112379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838505" y="2514600"/>
            <a:ext cx="171907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62202" y="2490826"/>
            <a:ext cx="3129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Data Quality &amp; Governance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62202" y="2786177"/>
            <a:ext cx="60633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daily scanning ensures FDO project data remains accurate, consistent, and compliant with organizational standards, eliminating the accumulation of "dirty data."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804672" y="3650285"/>
            <a:ext cx="219456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8895" y="3610051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Manual Follow-ups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18895" y="3905402"/>
            <a:ext cx="627278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replaces manual tracking and repeated email chasers. The governance team saves significant hours previously spent identifying gaps and notifying PMs.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804672" y="4579315"/>
            <a:ext cx="219456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18895" y="4539082"/>
            <a:ext cx="2405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Increases PM Accountability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18895" y="4833518"/>
            <a:ext cx="613928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Direct, automated notifications clearly assign ownership of specific hygiene gaps to responsible Project Managers, fostering a culture of immediate responsibility.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847649" y="5507431"/>
            <a:ext cx="133502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18895" y="5467198"/>
            <a:ext cx="2214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Enhances Audit Readiness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218895" y="5762549"/>
            <a:ext cx="599663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issues resolved promptly on a daily basis, the system remains perpetually audit-ready, ensuring reporting accuracy for senior leadership reviews at any time.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925105" y="1914754"/>
            <a:ext cx="3657600" cy="4638751"/>
          </a:xfrm>
          <a:prstGeom prst="roundRect">
            <a:avLst>
              <a:gd name="adj" fmla="val 104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252814" y="2233879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DRIVERS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162849" y="2614270"/>
            <a:ext cx="3181198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324698" y="277611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1FAE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8401507" y="2862072"/>
            <a:ext cx="152705" cy="1335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744407" y="2833726"/>
            <a:ext cx="939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879531" y="2833726"/>
            <a:ext cx="405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62849" y="3396082"/>
            <a:ext cx="3181198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24698" y="3557930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837" r="-837" t="0" b="0"/>
          <a:stretch/>
        </p:blipFill>
        <p:spPr>
          <a:xfrm>
            <a:off x="8401507" y="3642970"/>
            <a:ext cx="152705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744407" y="3614623"/>
            <a:ext cx="939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Effort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0644530" y="3614623"/>
            <a:ext cx="643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Reduced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162849" y="4176979"/>
            <a:ext cx="3181198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324698" y="433882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DE9FE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410651" y="4424782"/>
            <a:ext cx="133502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744407" y="4395521"/>
            <a:ext cx="8147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10836554" y="4395521"/>
            <a:ext cx="4526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62849" y="4957877"/>
            <a:ext cx="3181198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410651" y="5205679"/>
            <a:ext cx="133502" cy="1335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744407" y="5176418"/>
            <a:ext cx="719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Risk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10519258" y="5176418"/>
            <a:ext cx="7671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Minimized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734349" y="5891479"/>
            <a:ext cx="2048256" cy="342900"/>
          </a:xfrm>
          <a:prstGeom prst="roundRect">
            <a:avLst>
              <a:gd name="adj" fmla="val 26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962949" y="5993892"/>
            <a:ext cx="133502" cy="13350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172346" y="5967374"/>
            <a:ext cx="14813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Excellence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80744"/>
            <a:ext cx="12191695" cy="573420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1686154"/>
            <a:ext cx="5333695" cy="5124298"/>
          </a:xfrm>
          <a:prstGeom prst="roundRect">
            <a:avLst>
              <a:gd name="adj" fmla="val 5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9049" y="1695298"/>
            <a:ext cx="75895" cy="51050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847649" y="19238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42" b="-842"/>
          <a:stretch/>
        </p:blipFill>
        <p:spPr>
          <a:xfrm>
            <a:off x="942746" y="2029054"/>
            <a:ext cx="190195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0744" y="1962302"/>
            <a:ext cx="21717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Tech Stack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7649" y="2533802"/>
            <a:ext cx="4781398" cy="685800"/>
          </a:xfrm>
          <a:prstGeom prst="roundRect">
            <a:avLst>
              <a:gd name="adj" fmla="val 148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2007" y="26956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1067105" y="2781605"/>
            <a:ext cx="114300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2667305"/>
            <a:ext cx="2695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FDO (Factory Delivery Orchestrator)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2905049"/>
            <a:ext cx="30248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project data source and system of record.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47649" y="3372307"/>
            <a:ext cx="4781398" cy="685800"/>
          </a:xfrm>
          <a:prstGeom prst="roundRect">
            <a:avLst>
              <a:gd name="adj" fmla="val 148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72007" y="353415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1FA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1067105" y="3619195"/>
            <a:ext cx="114300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29207" y="3504895"/>
            <a:ext cx="1743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Validation Engine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3743554"/>
            <a:ext cx="3491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core for executing hygiene rule checks against data.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47649" y="4209898"/>
            <a:ext cx="4781398" cy="685800"/>
          </a:xfrm>
          <a:prstGeom prst="roundRect">
            <a:avLst>
              <a:gd name="adj" fmla="val 148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72007" y="437174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DE9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1037844" y="4457700"/>
            <a:ext cx="171907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9207" y="4343400"/>
            <a:ext cx="1724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Automation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4581144"/>
            <a:ext cx="3834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Apps / Power Automate for scheduling and orchestration.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47649" y="5048402"/>
            <a:ext cx="4781398" cy="685800"/>
          </a:xfrm>
          <a:prstGeom prst="roundRect">
            <a:avLst>
              <a:gd name="adj" fmla="val 148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72007" y="52102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F3C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57046" y="5296205"/>
            <a:ext cx="133502" cy="1335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29207" y="5181905"/>
            <a:ext cx="1067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Service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429207" y="5419649"/>
            <a:ext cx="3329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/ SMTP integration for delivering notifications.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47649" y="5886907"/>
            <a:ext cx="4781398" cy="685800"/>
          </a:xfrm>
          <a:prstGeom prst="roundRect">
            <a:avLst>
              <a:gd name="adj" fmla="val 148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72007" y="604875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5E7E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2512" r="-2512" t="0" b="0"/>
          <a:stretch/>
        </p:blipFill>
        <p:spPr>
          <a:xfrm>
            <a:off x="1071677" y="6133795"/>
            <a:ext cx="105156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29207" y="6019495"/>
            <a:ext cx="1752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/ Dashboard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429207" y="6258154"/>
            <a:ext cx="3110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 compliance history and resolution metrics.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48095" y="1686154"/>
            <a:ext cx="5333695" cy="5124298"/>
          </a:xfrm>
          <a:prstGeom prst="roundRect">
            <a:avLst>
              <a:gd name="adj" fmla="val 531"/>
            </a:avLst>
          </a:prstGeom>
          <a:solidFill>
            <a:srgbClr val="005A9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9753905" y="1076249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7" name="Shape 29"/>
          <p:cNvSpPr/>
          <p:nvPr/>
        </p:nvSpPr>
        <p:spPr>
          <a:xfrm>
            <a:off x="5639105" y="5591556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Shape 30"/>
          <p:cNvSpPr/>
          <p:nvPr/>
        </p:nvSpPr>
        <p:spPr>
          <a:xfrm>
            <a:off x="0" y="0"/>
            <a:ext cx="12191695" cy="1380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1"/>
          <p:cNvSpPr/>
          <p:nvPr/>
        </p:nvSpPr>
        <p:spPr>
          <a:xfrm>
            <a:off x="0" y="13716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0" name="Shape 32"/>
          <p:cNvSpPr/>
          <p:nvPr/>
        </p:nvSpPr>
        <p:spPr>
          <a:xfrm>
            <a:off x="609905" y="381305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1028700" y="304495"/>
            <a:ext cx="22338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ROADMAP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609905" y="495605"/>
            <a:ext cx="7010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&amp; Future Enhancements</a:t>
            </a:r>
            <a:endParaRPr lang="en-US" sz="2700" dirty="0"/>
          </a:p>
        </p:txBody>
      </p:sp>
      <p:sp>
        <p:nvSpPr>
          <p:cNvPr id="43" name="Text 35"/>
          <p:cNvSpPr txBox="1"/>
          <p:nvPr/>
        </p:nvSpPr>
        <p:spPr>
          <a:xfrm>
            <a:off x="609905" y="952805"/>
            <a:ext cx="6001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Underlying infrastructure and planned evolution of the monitoring service</a:t>
            </a:r>
            <a:endParaRPr lang="en-US" sz="15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57746" y="2095805"/>
            <a:ext cx="171907" cy="171907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086600" y="2029054"/>
            <a:ext cx="2486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46" name="Shape 37"/>
          <p:cNvSpPr/>
          <p:nvPr/>
        </p:nvSpPr>
        <p:spPr>
          <a:xfrm>
            <a:off x="6553505" y="2676449"/>
            <a:ext cx="4724705" cy="780898"/>
          </a:xfrm>
          <a:prstGeom prst="roundRect">
            <a:avLst>
              <a:gd name="adj" fmla="val 171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829654" y="2991002"/>
            <a:ext cx="152705" cy="15270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6553505" y="3648456"/>
            <a:ext cx="4724705" cy="780898"/>
          </a:xfrm>
          <a:prstGeom prst="roundRect">
            <a:avLst>
              <a:gd name="adj" fmla="val 171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-33" r="-33" t="0" b="0"/>
          <a:stretch/>
        </p:blipFill>
        <p:spPr>
          <a:xfrm>
            <a:off x="6819595" y="3962095"/>
            <a:ext cx="171907" cy="152705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6553505" y="4619549"/>
            <a:ext cx="4724705" cy="780898"/>
          </a:xfrm>
          <a:prstGeom prst="roundRect">
            <a:avLst>
              <a:gd name="adj" fmla="val 171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6838798" y="4934102"/>
            <a:ext cx="133502" cy="152705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6553505" y="5591556"/>
            <a:ext cx="4724705" cy="780898"/>
          </a:xfrm>
          <a:prstGeom prst="roundRect">
            <a:avLst>
              <a:gd name="adj" fmla="val 171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6810451" y="5905195"/>
            <a:ext cx="190195" cy="152705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248449" y="2857500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Reminders</a:t>
            </a:r>
            <a:endParaRPr lang="en-US" sz="1300" dirty="0"/>
          </a:p>
        </p:txBody>
      </p:sp>
      <p:sp>
        <p:nvSpPr>
          <p:cNvPr id="55" name="Text 42"/>
          <p:cNvSpPr txBox="1"/>
          <p:nvPr/>
        </p:nvSpPr>
        <p:spPr>
          <a:xfrm>
            <a:off x="7248449" y="3105302"/>
            <a:ext cx="2872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Severity-based triggers for unaddressed issues.</a:t>
            </a:r>
            <a:endParaRPr lang="en-US" sz="1000" dirty="0"/>
          </a:p>
        </p:txBody>
      </p:sp>
      <p:sp>
        <p:nvSpPr>
          <p:cNvPr id="56" name="Text 43"/>
          <p:cNvSpPr txBox="1"/>
          <p:nvPr/>
        </p:nvSpPr>
        <p:spPr>
          <a:xfrm>
            <a:off x="7248449" y="3829507"/>
            <a:ext cx="2300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Trends Dashboard</a:t>
            </a:r>
            <a:endParaRPr lang="en-US" sz="1300" dirty="0"/>
          </a:p>
        </p:txBody>
      </p:sp>
      <p:sp>
        <p:nvSpPr>
          <p:cNvPr id="57" name="Text 44"/>
          <p:cNvSpPr txBox="1"/>
          <p:nvPr/>
        </p:nvSpPr>
        <p:spPr>
          <a:xfrm>
            <a:off x="7248449" y="4076395"/>
            <a:ext cx="30723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analytics for long-term compliance tracking.</a:t>
            </a:r>
            <a:endParaRPr lang="en-US" sz="1000" dirty="0"/>
          </a:p>
        </p:txBody>
      </p:sp>
      <p:sp>
        <p:nvSpPr>
          <p:cNvPr id="58" name="Text 45"/>
          <p:cNvSpPr txBox="1"/>
          <p:nvPr/>
        </p:nvSpPr>
        <p:spPr>
          <a:xfrm>
            <a:off x="7248449" y="4800600"/>
            <a:ext cx="1510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SLA-based Alerts</a:t>
            </a:r>
            <a:endParaRPr lang="en-US" sz="1300" dirty="0"/>
          </a:p>
        </p:txBody>
      </p:sp>
      <p:sp>
        <p:nvSpPr>
          <p:cNvPr id="59" name="Text 46"/>
          <p:cNvSpPr txBox="1"/>
          <p:nvPr/>
        </p:nvSpPr>
        <p:spPr>
          <a:xfrm>
            <a:off x="7248449" y="5048402"/>
            <a:ext cx="34628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notifications for overdue hygiene resolutions.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7248449" y="5772607"/>
            <a:ext cx="1586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Integration</a:t>
            </a:r>
            <a:endParaRPr lang="en-US" sz="1300" dirty="0"/>
          </a:p>
        </p:txBody>
      </p:sp>
      <p:sp>
        <p:nvSpPr>
          <p:cNvPr id="61" name="Text 48"/>
          <p:cNvSpPr txBox="1"/>
          <p:nvPr/>
        </p:nvSpPr>
        <p:spPr>
          <a:xfrm>
            <a:off x="7248449" y="6019495"/>
            <a:ext cx="29964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notifications via Microsoft Teams channels.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09344"/>
            <a:ext cx="12191695" cy="690554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1914754"/>
            <a:ext cx="10972800" cy="6295644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9049" y="1923898"/>
            <a:ext cx="10953598" cy="141914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619049" y="3333902"/>
            <a:ext cx="1095359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7649" y="2514600"/>
            <a:ext cx="1719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305" y="1923898"/>
            <a:ext cx="2743200" cy="14100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305" y="1923898"/>
            <a:ext cx="9144" cy="14100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7241134" y="21524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74636" y="2286000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13118" y="2704795"/>
            <a:ext cx="843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88429" y="2952598"/>
            <a:ext cx="857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Only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834018" y="1923898"/>
            <a:ext cx="2743200" cy="14100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834018" y="1923898"/>
            <a:ext cx="9144" cy="14100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4"/>
          <p:cNvSpPr/>
          <p:nvPr/>
        </p:nvSpPr>
        <p:spPr>
          <a:xfrm>
            <a:off x="11268151" y="1619402"/>
            <a:ext cx="609905" cy="609905"/>
          </a:xfrm>
          <a:prstGeom prst="rect">
            <a:avLst/>
          </a:prstGeom>
          <a:solidFill>
            <a:srgbClr val="DBEAFE">
              <a:alpha val="5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23544" y="353415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1019556" y="3619195"/>
            <a:ext cx="114300" cy="1335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80744" y="3590849"/>
            <a:ext cx="1767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validation (daily)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96305" y="3343046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98410" y="3590849"/>
            <a:ext cx="142646" cy="19019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834018" y="3343046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094062" y="3571646"/>
            <a:ext cx="228600" cy="2286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19049" y="4028846"/>
            <a:ext cx="109535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0"/>
          <p:cNvSpPr/>
          <p:nvPr/>
        </p:nvSpPr>
        <p:spPr>
          <a:xfrm>
            <a:off x="923544" y="422910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EF2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990295" y="4315054"/>
            <a:ext cx="171907" cy="1335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80744" y="4286707"/>
            <a:ext cx="17007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hygiene checks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96305" y="4038905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98410" y="4286707"/>
            <a:ext cx="142646" cy="19019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834018" y="4038905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94062" y="4267505"/>
            <a:ext cx="228600" cy="2286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19049" y="4724705"/>
            <a:ext cx="109535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4" name="Shape 25"/>
          <p:cNvSpPr/>
          <p:nvPr/>
        </p:nvSpPr>
        <p:spPr>
          <a:xfrm>
            <a:off x="923544" y="49240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5F3FF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1019556" y="5009998"/>
            <a:ext cx="114300" cy="13350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380744" y="4981651"/>
            <a:ext cx="1472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alerts to PMs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096305" y="4733849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398410" y="4981651"/>
            <a:ext cx="142646" cy="190195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8834018" y="4733849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094062" y="4962449"/>
            <a:ext cx="228600" cy="22860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619049" y="5419649"/>
            <a:ext cx="10953598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990295" y="5705856"/>
            <a:ext cx="171907" cy="133502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1380744" y="5676595"/>
            <a:ext cx="19010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Ownership-based notifications</a:t>
            </a:r>
            <a:endParaRPr lang="en-US" sz="1000" dirty="0"/>
          </a:p>
        </p:txBody>
      </p:sp>
      <p:sp>
        <p:nvSpPr>
          <p:cNvPr id="44" name="Shape 31"/>
          <p:cNvSpPr/>
          <p:nvPr/>
        </p:nvSpPr>
        <p:spPr>
          <a:xfrm>
            <a:off x="6096305" y="5429707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398410" y="5676595"/>
            <a:ext cx="142646" cy="190195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8834018" y="5429707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094062" y="5658307"/>
            <a:ext cx="228600" cy="228600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619049" y="6115507"/>
            <a:ext cx="109535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9" name="Shape 34"/>
          <p:cNvSpPr/>
          <p:nvPr/>
        </p:nvSpPr>
        <p:spPr>
          <a:xfrm>
            <a:off x="923544" y="631484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CFDF5"/>
          </a:solidFill>
          <a:ln/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09498" y="6400800"/>
            <a:ext cx="133502" cy="133502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1380744" y="6372454"/>
            <a:ext cx="20052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Auto-confirmation on resolution</a:t>
            </a:r>
            <a:endParaRPr lang="en-US" sz="1000" dirty="0"/>
          </a:p>
        </p:txBody>
      </p:sp>
      <p:sp>
        <p:nvSpPr>
          <p:cNvPr id="52" name="Shape 36"/>
          <p:cNvSpPr/>
          <p:nvPr/>
        </p:nvSpPr>
        <p:spPr>
          <a:xfrm>
            <a:off x="6096305" y="6124651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398410" y="6372454"/>
            <a:ext cx="142646" cy="190195"/>
          </a:xfrm>
          <a:prstGeom prst="rect">
            <a:avLst/>
          </a:prstGeom>
        </p:spPr>
      </p:pic>
      <p:sp>
        <p:nvSpPr>
          <p:cNvPr id="54" name="Shape 37"/>
          <p:cNvSpPr/>
          <p:nvPr/>
        </p:nvSpPr>
        <p:spPr>
          <a:xfrm>
            <a:off x="8834018" y="6124651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0094062" y="6353251"/>
            <a:ext cx="228600" cy="228600"/>
          </a:xfrm>
          <a:prstGeom prst="rect">
            <a:avLst/>
          </a:prstGeom>
        </p:spPr>
      </p:pic>
      <p:sp>
        <p:nvSpPr>
          <p:cNvPr id="56" name="Shape 38"/>
          <p:cNvSpPr/>
          <p:nvPr/>
        </p:nvSpPr>
        <p:spPr>
          <a:xfrm>
            <a:off x="619049" y="6810451"/>
            <a:ext cx="10953598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009498" y="7095744"/>
            <a:ext cx="133502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1380744" y="7067398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Closed-loop hygiene enforcement</a:t>
            </a:r>
            <a:endParaRPr lang="en-US" sz="1000" dirty="0"/>
          </a:p>
        </p:txBody>
      </p:sp>
      <p:sp>
        <p:nvSpPr>
          <p:cNvPr id="59" name="Shape 40"/>
          <p:cNvSpPr/>
          <p:nvPr/>
        </p:nvSpPr>
        <p:spPr>
          <a:xfrm>
            <a:off x="6096305" y="6819595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7398410" y="7067398"/>
            <a:ext cx="142646" cy="190195"/>
          </a:xfrm>
          <a:prstGeom prst="rect">
            <a:avLst/>
          </a:prstGeom>
        </p:spPr>
      </p:pic>
      <p:sp>
        <p:nvSpPr>
          <p:cNvPr id="61" name="Shape 41"/>
          <p:cNvSpPr/>
          <p:nvPr/>
        </p:nvSpPr>
        <p:spPr>
          <a:xfrm>
            <a:off x="8834018" y="6819595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0094062" y="7048195"/>
            <a:ext cx="228600" cy="228600"/>
          </a:xfrm>
          <a:prstGeom prst="rect">
            <a:avLst/>
          </a:prstGeom>
        </p:spPr>
      </p:pic>
      <p:sp>
        <p:nvSpPr>
          <p:cNvPr id="63" name="Shape 42"/>
          <p:cNvSpPr/>
          <p:nvPr/>
        </p:nvSpPr>
        <p:spPr>
          <a:xfrm>
            <a:off x="619049" y="7505395"/>
            <a:ext cx="109535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4" name="Shape 43"/>
          <p:cNvSpPr/>
          <p:nvPr/>
        </p:nvSpPr>
        <p:spPr>
          <a:xfrm>
            <a:off x="923544" y="770564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DF2F8"/>
          </a:solidFill>
          <a:ln/>
        </p:spPr>
      </p:sp>
      <p:pic>
        <p:nvPicPr>
          <p:cNvPr id="6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1009498" y="7791602"/>
            <a:ext cx="133502" cy="133502"/>
          </a:xfrm>
          <a:prstGeom prst="rect">
            <a:avLst/>
          </a:prstGeom>
        </p:spPr>
      </p:pic>
      <p:sp>
        <p:nvSpPr>
          <p:cNvPr id="66" name="Text 44"/>
          <p:cNvSpPr txBox="1"/>
          <p:nvPr/>
        </p:nvSpPr>
        <p:spPr>
          <a:xfrm>
            <a:off x="1380744" y="7763256"/>
            <a:ext cx="1443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governance</a:t>
            </a:r>
            <a:endParaRPr lang="en-US" sz="1000" dirty="0"/>
          </a:p>
        </p:txBody>
      </p:sp>
      <p:sp>
        <p:nvSpPr>
          <p:cNvPr id="67" name="Shape 45"/>
          <p:cNvSpPr/>
          <p:nvPr/>
        </p:nvSpPr>
        <p:spPr>
          <a:xfrm>
            <a:off x="6096305" y="7515454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7398410" y="7763256"/>
            <a:ext cx="142646" cy="190195"/>
          </a:xfrm>
          <a:prstGeom prst="rect">
            <a:avLst/>
          </a:prstGeom>
        </p:spPr>
      </p:pic>
      <p:sp>
        <p:nvSpPr>
          <p:cNvPr id="69" name="Shape 46"/>
          <p:cNvSpPr/>
          <p:nvPr/>
        </p:nvSpPr>
        <p:spPr>
          <a:xfrm>
            <a:off x="8834018" y="7515454"/>
            <a:ext cx="9144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0094062" y="7744054"/>
            <a:ext cx="228600" cy="228600"/>
          </a:xfrm>
          <a:prstGeom prst="rect">
            <a:avLst/>
          </a:prstGeom>
        </p:spPr>
      </p:pic>
      <p:sp>
        <p:nvSpPr>
          <p:cNvPr id="71" name="Shape 47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48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3" name="Shape 49"/>
          <p:cNvSpPr/>
          <p:nvPr/>
        </p:nvSpPr>
        <p:spPr>
          <a:xfrm>
            <a:off x="609905" y="457200"/>
            <a:ext cx="30449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4" name="Text 50"/>
          <p:cNvSpPr txBox="1"/>
          <p:nvPr/>
        </p:nvSpPr>
        <p:spPr>
          <a:xfrm>
            <a:off x="1028700" y="381305"/>
            <a:ext cx="2205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STATE ASSESSMENT</a:t>
            </a:r>
            <a:endParaRPr lang="en-US" sz="1000" dirty="0"/>
          </a:p>
        </p:txBody>
      </p:sp>
      <p:sp>
        <p:nvSpPr>
          <p:cNvPr id="75" name="Text 51"/>
          <p:cNvSpPr txBox="1"/>
          <p:nvPr/>
        </p:nvSpPr>
        <p:spPr>
          <a:xfrm>
            <a:off x="609905" y="609905"/>
            <a:ext cx="880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Proposed Hygiene Validation Product Adds</a:t>
            </a:r>
            <a:endParaRPr lang="en-US" sz="2700" dirty="0"/>
          </a:p>
        </p:txBody>
      </p:sp>
      <p:sp>
        <p:nvSpPr>
          <p:cNvPr id="76" name="Text 52"/>
          <p:cNvSpPr txBox="1"/>
          <p:nvPr/>
        </p:nvSpPr>
        <p:spPr>
          <a:xfrm>
            <a:off x="609905" y="1104595"/>
            <a:ext cx="50109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acts as a Hygiene Governance Engine on top of FDO</a:t>
            </a:r>
            <a:endParaRPr lang="en-US" sz="1500" dirty="0"/>
          </a:p>
        </p:txBody>
      </p:sp>
      <p:sp>
        <p:nvSpPr>
          <p:cNvPr id="77" name="Shape 53"/>
          <p:cNvSpPr/>
          <p:nvPr/>
        </p:nvSpPr>
        <p:spPr>
          <a:xfrm>
            <a:off x="9979762" y="21524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8" name="Image 22" descr="preencoded.png">    </p:cNvPr>
          <p:cNvPicPr>
            <a:picLocks noChangeAspect="1"/>
          </p:cNvPicPr>
          <p:nvPr/>
        </p:nvPicPr>
        <p:blipFill>
          <a:blip r:embed="rId23"/>
          <a:srcRect l="-1648" r="-1648" t="0" b="0"/>
          <a:stretch/>
        </p:blipFill>
        <p:spPr>
          <a:xfrm>
            <a:off x="10122408" y="2286000"/>
            <a:ext cx="171907" cy="190195"/>
          </a:xfrm>
          <a:prstGeom prst="rect">
            <a:avLst/>
          </a:prstGeom>
        </p:spPr>
      </p:pic>
      <p:sp>
        <p:nvSpPr>
          <p:cNvPr id="79" name="Text 54"/>
          <p:cNvSpPr txBox="1"/>
          <p:nvPr/>
        </p:nvSpPr>
        <p:spPr>
          <a:xfrm>
            <a:off x="9464040" y="2704795"/>
            <a:ext cx="16248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80" name="Text 55"/>
          <p:cNvSpPr txBox="1"/>
          <p:nvPr/>
        </p:nvSpPr>
        <p:spPr>
          <a:xfrm>
            <a:off x="9788652" y="2952598"/>
            <a:ext cx="933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 Engine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2025-12-15T09:23:11Z</dcterms:created>
  <dcterms:modified xsi:type="dcterms:W3CDTF">2025-12-15T09:23:11Z</dcterms:modified>
</cp:coreProperties>
</file>