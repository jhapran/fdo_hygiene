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solidFill>
            <a:srgbClr val="F3F9FD"/>
          </a:solidFill>
          <a:ln/>
        </p:spPr>
      </p:sp>
      <p:sp>
        <p:nvSpPr>
          <p:cNvPr id="5" name="Shape 3"/>
          <p:cNvSpPr/>
          <p:nvPr/>
        </p:nvSpPr>
        <p:spPr>
          <a:xfrm>
            <a:off x="7629754" y="1666951"/>
            <a:ext cx="1524305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204" r="204" t="0" b="0"/>
          <a:stretch/>
        </p:blipFill>
        <p:spPr>
          <a:xfrm>
            <a:off x="7819949" y="1897380"/>
            <a:ext cx="1143000" cy="10671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439351" y="1666951"/>
            <a:ext cx="1524305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105" r="105" t="0" b="0"/>
          <a:stretch/>
        </p:blipFill>
        <p:spPr>
          <a:xfrm>
            <a:off x="9629546" y="1896466"/>
            <a:ext cx="1143000" cy="10671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438998" y="3476549"/>
            <a:ext cx="1714500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25400">
            <a:solidFill>
              <a:srgbClr val="E1DF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8648395" y="3685946"/>
            <a:ext cx="1295705" cy="129570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397" b="396"/>
          <a:stretch/>
        </p:blipFill>
        <p:spPr>
          <a:xfrm>
            <a:off x="761695" y="6248095"/>
            <a:ext cx="209398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12825" y="6271870"/>
            <a:ext cx="23582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977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 SOLUTION DESIGN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761695" y="5032858"/>
            <a:ext cx="905256" cy="342900"/>
          </a:xfrm>
          <a:prstGeom prst="roundRect">
            <a:avLst>
              <a:gd name="adj" fmla="val 29630"/>
            </a:avLst>
          </a:prstGeom>
          <a:solidFill>
            <a:srgbClr val="EFF6FF"/>
          </a:solidFill>
          <a:ln/>
        </p:spPr>
      </p:sp>
      <p:sp>
        <p:nvSpPr>
          <p:cNvPr id="14" name="Shape 8"/>
          <p:cNvSpPr/>
          <p:nvPr/>
        </p:nvSpPr>
        <p:spPr>
          <a:xfrm>
            <a:off x="1815998" y="5032858"/>
            <a:ext cx="1666951" cy="342900"/>
          </a:xfrm>
          <a:prstGeom prst="roundRect">
            <a:avLst>
              <a:gd name="adj" fmla="val 29630"/>
            </a:avLst>
          </a:prstGeom>
          <a:solidFill>
            <a:srgbClr val="F3F4F6"/>
          </a:solidFill>
          <a:ln/>
        </p:spPr>
      </p:sp>
      <p:sp>
        <p:nvSpPr>
          <p:cNvPr id="15" name="Shape 9"/>
          <p:cNvSpPr/>
          <p:nvPr/>
        </p:nvSpPr>
        <p:spPr>
          <a:xfrm>
            <a:off x="3626510" y="5032858"/>
            <a:ext cx="1571854" cy="342900"/>
          </a:xfrm>
          <a:prstGeom prst="roundRect">
            <a:avLst>
              <a:gd name="adj" fmla="val 29630"/>
            </a:avLst>
          </a:prstGeom>
          <a:solidFill>
            <a:srgbClr val="F3F4F6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761695" y="1501445"/>
            <a:ext cx="406725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365 Automation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2006194"/>
            <a:ext cx="6553505" cy="1505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Meeting Minutes Generation</a:t>
            </a:r>
            <a:endParaRPr lang="en-US" sz="48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3728009"/>
            <a:ext cx="589605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enterprise solution leveraging Microsoft Copilot, Teams, and Outlook to streamline post-meeting documentation and improve productivity.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14400" y="5109667"/>
            <a:ext cx="7004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AI-Driven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968703" y="5109667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 Integration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3779215" y="5109667"/>
            <a:ext cx="1367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Delivery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1695" y="637337"/>
            <a:ext cx="2514600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Case Overview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2077517"/>
            <a:ext cx="4372661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a Microsoft Teams meeting concludes, the system automatically triggers an automated workflow. Microsoft Copilot processes the meeting transcript to extract key insights, decisions, and action items.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3600907"/>
            <a:ext cx="4362602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generated Minutes of Meeting (MoM) are then formatted and immediately distributed via Outlook to all participants, ensuring no critical information is lost.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5220310"/>
            <a:ext cx="4286707" cy="1152144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8" name="Shape 6"/>
          <p:cNvSpPr/>
          <p:nvPr/>
        </p:nvSpPr>
        <p:spPr>
          <a:xfrm>
            <a:off x="761695" y="5220310"/>
            <a:ext cx="38405" cy="1152144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295" y="5451653"/>
            <a:ext cx="171907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8098" y="5420563"/>
            <a:ext cx="2662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Eliminates manual note-taking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295" y="5708599"/>
            <a:ext cx="171907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8098" y="5677510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Ensures consistent formatting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90295" y="5965546"/>
            <a:ext cx="171907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8098" y="5935370"/>
            <a:ext cx="2882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post-meeting delivery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619902" y="571500"/>
            <a:ext cx="5810098" cy="5905195"/>
          </a:xfrm>
          <a:prstGeom prst="roundRect">
            <a:avLst>
              <a:gd name="adj" fmla="val 413"/>
            </a:avLst>
          </a:prstGeom>
          <a:solidFill>
            <a:srgbClr val="F8F9FA"/>
          </a:solidFill>
          <a:ln/>
        </p:spPr>
      </p:sp>
      <p:sp>
        <p:nvSpPr>
          <p:cNvPr id="16" name="Shape 11"/>
          <p:cNvSpPr/>
          <p:nvPr/>
        </p:nvSpPr>
        <p:spPr>
          <a:xfrm>
            <a:off x="8515807" y="2648102"/>
            <a:ext cx="19202" cy="381305"/>
          </a:xfrm>
          <a:prstGeom prst="rect">
            <a:avLst/>
          </a:prstGeom>
          <a:solidFill>
            <a:srgbClr val="C7E0F4"/>
          </a:solidFill>
          <a:ln/>
        </p:spPr>
      </p:sp>
      <p:sp>
        <p:nvSpPr>
          <p:cNvPr id="17" name="Shape 12"/>
          <p:cNvSpPr/>
          <p:nvPr/>
        </p:nvSpPr>
        <p:spPr>
          <a:xfrm>
            <a:off x="8515807" y="4019702"/>
            <a:ext cx="19202" cy="381305"/>
          </a:xfrm>
          <a:prstGeom prst="rect">
            <a:avLst/>
          </a:prstGeom>
          <a:solidFill>
            <a:srgbClr val="C7E0F4"/>
          </a:solidFill>
          <a:ln/>
        </p:spPr>
      </p:sp>
      <p:sp>
        <p:nvSpPr>
          <p:cNvPr id="18" name="Shape 13"/>
          <p:cNvSpPr/>
          <p:nvPr/>
        </p:nvSpPr>
        <p:spPr>
          <a:xfrm>
            <a:off x="10020910" y="952805"/>
            <a:ext cx="1561795" cy="228600"/>
          </a:xfrm>
          <a:prstGeom prst="roundRect">
            <a:avLst>
              <a:gd name="adj" fmla="val 6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10135210" y="981151"/>
            <a:ext cx="1420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Automation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761695" y="6219749"/>
            <a:ext cx="1066830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2268" b="2269"/>
          <a:stretch/>
        </p:blipFill>
        <p:spPr>
          <a:xfrm>
            <a:off x="761695" y="6377026"/>
            <a:ext cx="181051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354105" y="63815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167628" y="1657807"/>
            <a:ext cx="4714646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357823" y="1848002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387" r="387" t="0" b="0"/>
          <a:stretch/>
        </p:blipFill>
        <p:spPr>
          <a:xfrm>
            <a:off x="6357823" y="1869034"/>
            <a:ext cx="609905" cy="5715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57923" y="1886407"/>
            <a:ext cx="1953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Concludes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157923" y="2210105"/>
            <a:ext cx="28008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 finalizes transcript &amp; recording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167628" y="3029407"/>
            <a:ext cx="4714646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357823" y="3219602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0" b="0"/>
          <a:stretch/>
        </p:blipFill>
        <p:spPr>
          <a:xfrm>
            <a:off x="6367882" y="3228746"/>
            <a:ext cx="590702" cy="5907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157923" y="3258007"/>
            <a:ext cx="14676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Generation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157923" y="3581705"/>
            <a:ext cx="30769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Copilot creates structured MoM &amp; Actions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167628" y="4401007"/>
            <a:ext cx="4714646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357823" y="4591202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8"/>
          <a:srcRect l="288" r="288" t="0" b="0"/>
          <a:stretch/>
        </p:blipFill>
        <p:spPr>
          <a:xfrm>
            <a:off x="6357823" y="4612234"/>
            <a:ext cx="609905" cy="5715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157923" y="4629607"/>
            <a:ext cx="12957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Distribution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7157923" y="4953305"/>
            <a:ext cx="2734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Outlook emails MoM to all attendees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8F8F8"/>
          </a:solidFill>
          <a:ln/>
        </p:spPr>
      </p:sp>
      <p:sp>
        <p:nvSpPr>
          <p:cNvPr id="5" name="Shape 3"/>
          <p:cNvSpPr/>
          <p:nvPr/>
        </p:nvSpPr>
        <p:spPr>
          <a:xfrm>
            <a:off x="761695" y="6219749"/>
            <a:ext cx="1066830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268" b="2269"/>
          <a:stretch/>
        </p:blipFill>
        <p:spPr>
          <a:xfrm>
            <a:off x="761695" y="6377026"/>
            <a:ext cx="181051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354105" y="63815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1695" y="5686654"/>
            <a:ext cx="28346" cy="4572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Shape 6"/>
          <p:cNvSpPr/>
          <p:nvPr/>
        </p:nvSpPr>
        <p:spPr>
          <a:xfrm>
            <a:off x="5315407" y="1276502"/>
            <a:ext cx="6115507" cy="1276502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15407" y="1276502"/>
            <a:ext cx="57607" cy="1276502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11" name="Shape 8"/>
          <p:cNvSpPr/>
          <p:nvPr/>
        </p:nvSpPr>
        <p:spPr>
          <a:xfrm>
            <a:off x="5600700" y="1505102"/>
            <a:ext cx="457200" cy="457200"/>
          </a:xfrm>
          <a:prstGeom prst="ellipse">
            <a:avLst/>
          </a:prstGeom>
          <a:solidFill>
            <a:srgbClr val="FDE7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34202" y="1638605"/>
            <a:ext cx="190195" cy="19019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315407" y="2743200"/>
            <a:ext cx="6115507" cy="1276502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15407" y="2743200"/>
            <a:ext cx="57607" cy="1276502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15" name="Shape 11"/>
          <p:cNvSpPr/>
          <p:nvPr/>
        </p:nvSpPr>
        <p:spPr>
          <a:xfrm>
            <a:off x="5600700" y="2971800"/>
            <a:ext cx="457200" cy="457200"/>
          </a:xfrm>
          <a:prstGeom prst="ellipse">
            <a:avLst/>
          </a:prstGeom>
          <a:solidFill>
            <a:srgbClr val="FDE7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57977" y="3105302"/>
            <a:ext cx="142646" cy="19019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315407" y="4209898"/>
            <a:ext cx="6115507" cy="1276502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315407" y="4209898"/>
            <a:ext cx="57607" cy="1276502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19" name="Shape 14"/>
          <p:cNvSpPr/>
          <p:nvPr/>
        </p:nvSpPr>
        <p:spPr>
          <a:xfrm>
            <a:off x="5600700" y="4438498"/>
            <a:ext cx="457200" cy="457200"/>
          </a:xfrm>
          <a:prstGeom prst="ellipse">
            <a:avLst/>
          </a:prstGeom>
          <a:solidFill>
            <a:srgbClr val="FDE7E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734202" y="4572000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1695" y="629107"/>
            <a:ext cx="32863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3B0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CURRENT CHALLENGE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61695" y="1181405"/>
            <a:ext cx="4219956" cy="1629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Processes Create Inefficiency</a:t>
            </a:r>
            <a:endParaRPr lang="en-US" sz="3600" dirty="0"/>
          </a:p>
        </p:txBody>
      </p:sp>
      <p:sp>
        <p:nvSpPr>
          <p:cNvPr id="23" name="Text 17"/>
          <p:cNvSpPr txBox="1"/>
          <p:nvPr/>
        </p:nvSpPr>
        <p:spPr>
          <a:xfrm>
            <a:off x="761695" y="2966314"/>
            <a:ext cx="4081882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Despite the availability of meeting recordings, the manual preparation of Minutes of Meeting (MoM) remains a significant bottleneck in corporate productivity.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61695" y="4253789"/>
            <a:ext cx="392917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manual approach often leads to delayed communication, loss of critical information, and lack of accountability for action items.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40003" y="5648249"/>
            <a:ext cx="364845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"We spend more time documenting the meeting than acting on it."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248095" y="1514246"/>
            <a:ext cx="23344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Time-Consuming Effort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248095" y="1876349"/>
            <a:ext cx="46387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Manually listening to recordings and typing notes takes 2-3x the meeting duration, diverting focus from core tasks.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248095" y="2980944"/>
            <a:ext cx="28675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Inconsistent Documentation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248095" y="3343046"/>
            <a:ext cx="46771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 and quality vary by note-taker, making it difficult to track decisions historically across different projects.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248095" y="4448556"/>
            <a:ext cx="17629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Information Loss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248095" y="4809744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action items and owners are often missed or vaguely defined, leading to lack of follow-up and accountability.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D83B0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000500"/>
            <a:ext cx="12191695" cy="2857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899355" y="409651"/>
            <a:ext cx="274320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821278" y="1102766"/>
            <a:ext cx="46963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Delivering efficiency through intelligent automation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1760220"/>
            <a:ext cx="3305556" cy="4181551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695" y="1760220"/>
            <a:ext cx="3305556" cy="57607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Shape 7"/>
          <p:cNvSpPr/>
          <p:nvPr/>
        </p:nvSpPr>
        <p:spPr>
          <a:xfrm>
            <a:off x="1936699" y="2198218"/>
            <a:ext cx="952805" cy="952805"/>
          </a:xfrm>
          <a:prstGeom prst="ellipse">
            <a:avLst/>
          </a:prstGeom>
          <a:solidFill>
            <a:srgbClr val="F0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2680106" y="2103120"/>
            <a:ext cx="304495" cy="304495"/>
          </a:xfrm>
          <a:prstGeom prst="ellipse">
            <a:avLst/>
          </a:prstGeom>
          <a:solidFill>
            <a:srgbClr val="2524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56002" y="2155241"/>
            <a:ext cx="2624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4" b="-24"/>
          <a:stretch/>
        </p:blipFill>
        <p:spPr>
          <a:xfrm>
            <a:off x="2174443" y="2484425"/>
            <a:ext cx="476402" cy="3813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93622" y="3427171"/>
            <a:ext cx="28099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Generation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17066" y="3933749"/>
            <a:ext cx="2514600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 Copilot to automatically process Microsoft Teams meeting transcripts and generate comprehensive meeting minutes without manual intervention.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44898" y="1760220"/>
            <a:ext cx="3305556" cy="4181551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44898" y="1760220"/>
            <a:ext cx="3305556" cy="57607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7" name="Shape 14"/>
          <p:cNvSpPr/>
          <p:nvPr/>
        </p:nvSpPr>
        <p:spPr>
          <a:xfrm>
            <a:off x="5619902" y="2198218"/>
            <a:ext cx="952805" cy="952805"/>
          </a:xfrm>
          <a:prstGeom prst="ellipse">
            <a:avLst/>
          </a:prstGeom>
          <a:solidFill>
            <a:srgbClr val="E6F2E6"/>
          </a:solidFill>
          <a:ln/>
        </p:spPr>
      </p:sp>
      <p:sp>
        <p:nvSpPr>
          <p:cNvPr id="18" name="Shape 15"/>
          <p:cNvSpPr/>
          <p:nvPr/>
        </p:nvSpPr>
        <p:spPr>
          <a:xfrm>
            <a:off x="6362395" y="2103120"/>
            <a:ext cx="304495" cy="304495"/>
          </a:xfrm>
          <a:prstGeom prst="ellipse">
            <a:avLst/>
          </a:prstGeom>
          <a:solidFill>
            <a:srgbClr val="2524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39205" y="2155241"/>
            <a:ext cx="2624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-40" r="-40" t="0" b="0"/>
          <a:stretch/>
        </p:blipFill>
        <p:spPr>
          <a:xfrm>
            <a:off x="5952744" y="2484425"/>
            <a:ext cx="286207" cy="38130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892040" y="3427171"/>
            <a:ext cx="25813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 &amp; Structure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4778654" y="3933749"/>
            <a:ext cx="2753258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outputs are structured, accurate, and actionable. Identify key decisions, assign owners to action items, and maintain a consistent format.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128102" y="1760220"/>
            <a:ext cx="3305556" cy="4181551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28102" y="1760220"/>
            <a:ext cx="3305556" cy="57607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5" name="Shape 21"/>
          <p:cNvSpPr/>
          <p:nvPr/>
        </p:nvSpPr>
        <p:spPr>
          <a:xfrm>
            <a:off x="9303106" y="2198218"/>
            <a:ext cx="952805" cy="952805"/>
          </a:xfrm>
          <a:prstGeom prst="ellipse">
            <a:avLst/>
          </a:prstGeom>
          <a:solidFill>
            <a:srgbClr val="F0F6FF"/>
          </a:solidFill>
          <a:ln/>
        </p:spPr>
      </p:sp>
      <p:sp>
        <p:nvSpPr>
          <p:cNvPr id="26" name="Shape 22"/>
          <p:cNvSpPr/>
          <p:nvPr/>
        </p:nvSpPr>
        <p:spPr>
          <a:xfrm>
            <a:off x="10045598" y="2103120"/>
            <a:ext cx="304495" cy="304495"/>
          </a:xfrm>
          <a:prstGeom prst="ellipse">
            <a:avLst/>
          </a:prstGeom>
          <a:solidFill>
            <a:srgbClr val="2524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0121494" y="2155241"/>
            <a:ext cx="2624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0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88398" y="2484425"/>
            <a:ext cx="381305" cy="38130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435340" y="3427171"/>
            <a:ext cx="28675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Distribution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8499348" y="3933749"/>
            <a:ext cx="2677363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 delays by distributing the finalized MoM via Microsoft Outlook to all participants immediately after the meeting concludes.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761695" y="6219749"/>
            <a:ext cx="1219169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2268" b="2269"/>
          <a:stretch/>
        </p:blipFill>
        <p:spPr>
          <a:xfrm>
            <a:off x="761695" y="6377026"/>
            <a:ext cx="181051" cy="1901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2877495" y="63815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475074" y="409651"/>
            <a:ext cx="3591763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Actors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193999" y="1171346"/>
            <a:ext cx="59536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roles and technology components interacting in the workflow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38805" y="1638605"/>
            <a:ext cx="2667305" cy="2572207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38805" y="4172407"/>
            <a:ext cx="2667305" cy="38405"/>
          </a:xfrm>
          <a:prstGeom prst="rect">
            <a:avLst/>
          </a:prstGeom>
          <a:solidFill>
            <a:srgbClr val="797775"/>
          </a:solidFill>
          <a:ln/>
        </p:spPr>
      </p:sp>
      <p:sp>
        <p:nvSpPr>
          <p:cNvPr id="10" name="Shape 8"/>
          <p:cNvSpPr/>
          <p:nvPr/>
        </p:nvSpPr>
        <p:spPr>
          <a:xfrm>
            <a:off x="4052621" y="1867205"/>
            <a:ext cx="1037844" cy="237744"/>
          </a:xfrm>
          <a:prstGeom prst="roundRect">
            <a:avLst>
              <a:gd name="adj" fmla="val 184615"/>
            </a:avLst>
          </a:prstGeom>
          <a:solidFill>
            <a:srgbClr val="F3F2F1"/>
          </a:solidFill>
          <a:ln/>
        </p:spPr>
      </p:sp>
      <p:sp>
        <p:nvSpPr>
          <p:cNvPr id="11" name="Shape 9"/>
          <p:cNvSpPr/>
          <p:nvPr/>
        </p:nvSpPr>
        <p:spPr>
          <a:xfrm>
            <a:off x="4229100" y="2214677"/>
            <a:ext cx="685800" cy="685800"/>
          </a:xfrm>
          <a:prstGeom prst="ellipse">
            <a:avLst/>
          </a:prstGeom>
          <a:solidFill>
            <a:srgbClr val="F8F9FA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-107" r="-107" t="0" b="0"/>
          <a:stretch/>
        </p:blipFill>
        <p:spPr>
          <a:xfrm>
            <a:off x="4438498" y="2404872"/>
            <a:ext cx="267005" cy="30449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86500" y="1638605"/>
            <a:ext cx="2667305" cy="2572207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86500" y="4172407"/>
            <a:ext cx="2667305" cy="38405"/>
          </a:xfrm>
          <a:prstGeom prst="rect">
            <a:avLst/>
          </a:prstGeom>
          <a:solidFill>
            <a:srgbClr val="797775"/>
          </a:solidFill>
          <a:ln/>
        </p:spPr>
      </p:sp>
      <p:sp>
        <p:nvSpPr>
          <p:cNvPr id="15" name="Shape 12"/>
          <p:cNvSpPr/>
          <p:nvPr/>
        </p:nvSpPr>
        <p:spPr>
          <a:xfrm>
            <a:off x="7101230" y="1867205"/>
            <a:ext cx="1037844" cy="237744"/>
          </a:xfrm>
          <a:prstGeom prst="roundRect">
            <a:avLst>
              <a:gd name="adj" fmla="val 184615"/>
            </a:avLst>
          </a:prstGeom>
          <a:solidFill>
            <a:srgbClr val="F3F2F1"/>
          </a:solidFill>
          <a:ln/>
        </p:spPr>
      </p:sp>
      <p:sp>
        <p:nvSpPr>
          <p:cNvPr id="16" name="Shape 13"/>
          <p:cNvSpPr/>
          <p:nvPr/>
        </p:nvSpPr>
        <p:spPr>
          <a:xfrm>
            <a:off x="7276795" y="2214677"/>
            <a:ext cx="685800" cy="685800"/>
          </a:xfrm>
          <a:prstGeom prst="ellipse">
            <a:avLst/>
          </a:prstGeom>
          <a:solidFill>
            <a:srgbClr val="F8F9F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90" r="-90" t="0" b="0"/>
          <a:stretch/>
        </p:blipFill>
        <p:spPr>
          <a:xfrm>
            <a:off x="7429500" y="2404872"/>
            <a:ext cx="381305" cy="30449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714500" y="4496105"/>
            <a:ext cx="2667305" cy="2572207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714500" y="7029907"/>
            <a:ext cx="2667305" cy="38405"/>
          </a:xfrm>
          <a:prstGeom prst="rect">
            <a:avLst/>
          </a:prstGeom>
          <a:solidFill>
            <a:srgbClr val="6264A7"/>
          </a:solidFill>
          <a:ln/>
        </p:spPr>
      </p:sp>
      <p:sp>
        <p:nvSpPr>
          <p:cNvPr id="20" name="Shape 16"/>
          <p:cNvSpPr/>
          <p:nvPr/>
        </p:nvSpPr>
        <p:spPr>
          <a:xfrm>
            <a:off x="2649931" y="4724705"/>
            <a:ext cx="800100" cy="237744"/>
          </a:xfrm>
          <a:prstGeom prst="roundRect">
            <a:avLst>
              <a:gd name="adj" fmla="val 184615"/>
            </a:avLst>
          </a:prstGeom>
          <a:solidFill>
            <a:srgbClr val="E8EAF6"/>
          </a:solidFill>
          <a:ln/>
        </p:spPr>
      </p:sp>
      <p:sp>
        <p:nvSpPr>
          <p:cNvPr id="21" name="Shape 17"/>
          <p:cNvSpPr/>
          <p:nvPr/>
        </p:nvSpPr>
        <p:spPr>
          <a:xfrm>
            <a:off x="2704795" y="5072177"/>
            <a:ext cx="685800" cy="685800"/>
          </a:xfrm>
          <a:prstGeom prst="ellipse">
            <a:avLst/>
          </a:prstGeom>
          <a:solidFill>
            <a:srgbClr val="F8F9F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3511" r="3511" t="0" b="0"/>
          <a:stretch/>
        </p:blipFill>
        <p:spPr>
          <a:xfrm>
            <a:off x="2857500" y="5224882"/>
            <a:ext cx="381305" cy="38130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762195" y="4496105"/>
            <a:ext cx="2667305" cy="2572207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62195" y="7029907"/>
            <a:ext cx="2667305" cy="38405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25" name="Shape 20"/>
          <p:cNvSpPr/>
          <p:nvPr/>
        </p:nvSpPr>
        <p:spPr>
          <a:xfrm>
            <a:off x="5713171" y="4724705"/>
            <a:ext cx="771754" cy="237744"/>
          </a:xfrm>
          <a:prstGeom prst="roundRect">
            <a:avLst>
              <a:gd name="adj" fmla="val 184615"/>
            </a:avLst>
          </a:prstGeom>
          <a:solidFill>
            <a:srgbClr val="FFF0F6"/>
          </a:solidFill>
          <a:ln/>
        </p:spPr>
      </p:sp>
      <p:sp>
        <p:nvSpPr>
          <p:cNvPr id="26" name="Shape 21"/>
          <p:cNvSpPr/>
          <p:nvPr/>
        </p:nvSpPr>
        <p:spPr>
          <a:xfrm>
            <a:off x="5753405" y="5072177"/>
            <a:ext cx="685800" cy="685800"/>
          </a:xfrm>
          <a:prstGeom prst="ellipse">
            <a:avLst/>
          </a:prstGeom>
          <a:solidFill>
            <a:srgbClr val="F8F9FA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r="0" t="0" b="0"/>
          <a:stretch/>
        </p:blipFill>
        <p:spPr>
          <a:xfrm>
            <a:off x="5905195" y="5224882"/>
            <a:ext cx="381305" cy="38130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810805" y="4496105"/>
            <a:ext cx="2667305" cy="2572207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810805" y="7029907"/>
            <a:ext cx="2667305" cy="38405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0" name="Shape 24"/>
          <p:cNvSpPr/>
          <p:nvPr/>
        </p:nvSpPr>
        <p:spPr>
          <a:xfrm>
            <a:off x="8783726" y="4724705"/>
            <a:ext cx="724205" cy="237744"/>
          </a:xfrm>
          <a:prstGeom prst="roundRect">
            <a:avLst>
              <a:gd name="adj" fmla="val 184615"/>
            </a:avLst>
          </a:prstGeom>
          <a:solidFill>
            <a:srgbClr val="E3F2FD"/>
          </a:solidFill>
          <a:ln/>
        </p:spPr>
      </p:sp>
      <p:sp>
        <p:nvSpPr>
          <p:cNvPr id="31" name="Shape 25"/>
          <p:cNvSpPr/>
          <p:nvPr/>
        </p:nvSpPr>
        <p:spPr>
          <a:xfrm>
            <a:off x="8801100" y="5072177"/>
            <a:ext cx="685800" cy="685800"/>
          </a:xfrm>
          <a:prstGeom prst="ellipse">
            <a:avLst/>
          </a:prstGeom>
          <a:solidFill>
            <a:srgbClr val="F8F9FA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rcRect l="3418" r="3418" t="0" b="0"/>
          <a:stretch/>
        </p:blipFill>
        <p:spPr>
          <a:xfrm>
            <a:off x="8953805" y="5224882"/>
            <a:ext cx="381305" cy="3813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147718" y="1904695"/>
            <a:ext cx="927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ACTOR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3778301" y="3062326"/>
            <a:ext cx="1719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Organizer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439058" y="3386023"/>
            <a:ext cx="236006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Initiates the Teams meeting, configures options, and validates generated minutes.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7196328" y="1904695"/>
            <a:ext cx="927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ACTOR</a:t>
            </a:r>
            <a:endParaRPr lang="en-US" sz="800" dirty="0"/>
          </a:p>
        </p:txBody>
      </p:sp>
      <p:sp>
        <p:nvSpPr>
          <p:cNvPr id="37" name="Text 30"/>
          <p:cNvSpPr txBox="1"/>
          <p:nvPr/>
        </p:nvSpPr>
        <p:spPr>
          <a:xfrm>
            <a:off x="6727241" y="3062326"/>
            <a:ext cx="1919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Participants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6536131" y="3386023"/>
            <a:ext cx="2264969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Attendees contributing to discussions who are the recipients of the final MoM.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2745029" y="4762195"/>
            <a:ext cx="68854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51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PLATFORM</a:t>
            </a:r>
            <a:endParaRPr lang="en-US" sz="800" dirty="0"/>
          </a:p>
        </p:txBody>
      </p:sp>
      <p:sp>
        <p:nvSpPr>
          <p:cNvPr id="40" name="Text 33"/>
          <p:cNvSpPr txBox="1"/>
          <p:nvPr/>
        </p:nvSpPr>
        <p:spPr>
          <a:xfrm>
            <a:off x="2337206" y="5919826"/>
            <a:ext cx="15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Teams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1948586" y="6243523"/>
            <a:ext cx="229331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Hosts the meeting and provides the real-time transcription service used as input.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5808269" y="4762195"/>
            <a:ext cx="66019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185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ENGINE</a:t>
            </a:r>
            <a:endParaRPr lang="en-US" sz="800" dirty="0"/>
          </a:p>
        </p:txBody>
      </p:sp>
      <p:sp>
        <p:nvSpPr>
          <p:cNvPr id="43" name="Text 36"/>
          <p:cNvSpPr txBox="1"/>
          <p:nvPr/>
        </p:nvSpPr>
        <p:spPr>
          <a:xfrm>
            <a:off x="5360213" y="5919826"/>
            <a:ext cx="1605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Copilot</a:t>
            </a:r>
            <a:endParaRPr lang="en-US" sz="1300" dirty="0"/>
          </a:p>
        </p:txBody>
      </p:sp>
      <p:sp>
        <p:nvSpPr>
          <p:cNvPr id="44" name="Text 37"/>
          <p:cNvSpPr txBox="1"/>
          <p:nvPr/>
        </p:nvSpPr>
        <p:spPr>
          <a:xfrm>
            <a:off x="5024628" y="6243523"/>
            <a:ext cx="223662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Processes transcripts to extract summaries, key decisions, and action items.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8878824" y="4762195"/>
            <a:ext cx="6126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</a:t>
            </a:r>
            <a:endParaRPr lang="en-US" sz="800" dirty="0"/>
          </a:p>
        </p:txBody>
      </p:sp>
      <p:sp>
        <p:nvSpPr>
          <p:cNvPr id="46" name="Text 39"/>
          <p:cNvSpPr txBox="1"/>
          <p:nvPr/>
        </p:nvSpPr>
        <p:spPr>
          <a:xfrm>
            <a:off x="8364931" y="5919826"/>
            <a:ext cx="1690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Outlook</a:t>
            </a:r>
            <a:endParaRPr lang="en-US" sz="1300" dirty="0"/>
          </a:p>
        </p:txBody>
      </p:sp>
      <p:sp>
        <p:nvSpPr>
          <p:cNvPr id="47" name="Text 40"/>
          <p:cNvSpPr txBox="1"/>
          <p:nvPr/>
        </p:nvSpPr>
        <p:spPr>
          <a:xfrm>
            <a:off x="8011058" y="6243523"/>
            <a:ext cx="236006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Exchange Online service handling the formatting and delivery of MoM emails.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761695" y="6219749"/>
            <a:ext cx="1066830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7"/>
          <a:srcRect l="0" r="0" t="2268" b="2269"/>
          <a:stretch/>
        </p:blipFill>
        <p:spPr>
          <a:xfrm>
            <a:off x="761695" y="6377026"/>
            <a:ext cx="181051" cy="190195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11354105" y="63815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761695" y="6219749"/>
            <a:ext cx="1066830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268" b="2269"/>
          <a:stretch/>
        </p:blipFill>
        <p:spPr>
          <a:xfrm>
            <a:off x="761695" y="6377026"/>
            <a:ext cx="181051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354105" y="63815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409651"/>
            <a:ext cx="569671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Preconditions &amp; Trigger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102766"/>
            <a:ext cx="64300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requirements and event activation for the automated workflow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1695" y="1721815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1695" y="2236622"/>
            <a:ext cx="6057900" cy="3752698"/>
          </a:xfrm>
          <a:prstGeom prst="roundRect">
            <a:avLst>
              <a:gd name="adj" fmla="val 742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057046" y="3503981"/>
            <a:ext cx="5467198" cy="9144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3" name="Shape 9"/>
          <p:cNvSpPr/>
          <p:nvPr/>
        </p:nvSpPr>
        <p:spPr>
          <a:xfrm>
            <a:off x="1057046" y="2531974"/>
            <a:ext cx="304495" cy="304495"/>
          </a:xfrm>
          <a:prstGeom prst="ellipse">
            <a:avLst/>
          </a:prstGeom>
          <a:solidFill>
            <a:srgbClr val="E6F2E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1143000" y="2607869"/>
            <a:ext cx="133502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057046" y="4713732"/>
            <a:ext cx="5467198" cy="9144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6" name="Shape 11"/>
          <p:cNvSpPr/>
          <p:nvPr/>
        </p:nvSpPr>
        <p:spPr>
          <a:xfrm>
            <a:off x="1057046" y="3741725"/>
            <a:ext cx="304495" cy="304495"/>
          </a:xfrm>
          <a:prstGeom prst="ellipse">
            <a:avLst/>
          </a:prstGeom>
          <a:solidFill>
            <a:srgbClr val="E6F2E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1143000" y="3817620"/>
            <a:ext cx="133502" cy="1527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57046" y="4951476"/>
            <a:ext cx="304495" cy="304495"/>
          </a:xfrm>
          <a:prstGeom prst="ellipse">
            <a:avLst/>
          </a:prstGeom>
          <a:solidFill>
            <a:srgbClr val="E6F2E6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1143000" y="5027371"/>
            <a:ext cx="133502" cy="152705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7391095" y="1721815"/>
            <a:ext cx="200254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90295" y="1674266"/>
            <a:ext cx="25813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Prerequisites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1552651" y="2541118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 Transcription Enabled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1552651" y="2855671"/>
            <a:ext cx="486095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policy must allow transcription. Copilot relies on the generated transcript to create meeting minutes.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1552651" y="3750869"/>
            <a:ext cx="2824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Copilot License &amp; Configuration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1552651" y="4065422"/>
            <a:ext cx="494599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Copilot for Microsoft 365 must be licensed and enabled for the tenant and specific users involved.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1552651" y="4960620"/>
            <a:ext cx="2453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Authenticated Participants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552651" y="5275174"/>
            <a:ext cx="496519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Participants must be authenticated in Microsoft 365 (Azure AD) to ensure secure access to generated artifacts.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7591349" y="1674266"/>
            <a:ext cx="21433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457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Workflow Trigger</a:t>
            </a:r>
            <a:endParaRPr lang="en-US" sz="1800" dirty="0"/>
          </a:p>
        </p:txBody>
      </p:sp>
      <p:sp>
        <p:nvSpPr>
          <p:cNvPr id="29" name="Shape 21"/>
          <p:cNvSpPr/>
          <p:nvPr/>
        </p:nvSpPr>
        <p:spPr>
          <a:xfrm>
            <a:off x="8934602" y="2617013"/>
            <a:ext cx="952805" cy="809244"/>
          </a:xfrm>
          <a:prstGeom prst="ellipse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124798" y="2793492"/>
            <a:ext cx="571500" cy="4572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489290" y="3731666"/>
            <a:ext cx="20482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Ends</a:t>
            </a:r>
            <a:endParaRPr lang="en-US" sz="2100" dirty="0"/>
          </a:p>
        </p:txBody>
      </p:sp>
      <p:sp>
        <p:nvSpPr>
          <p:cNvPr id="32" name="Text 23"/>
          <p:cNvSpPr txBox="1"/>
          <p:nvPr/>
        </p:nvSpPr>
        <p:spPr>
          <a:xfrm>
            <a:off x="7810805" y="4274820"/>
            <a:ext cx="332933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automation pipeline initiates immediately when the Microsoft Teams meeting status changes to "Completed".</a:t>
            </a:r>
            <a:endParaRPr lang="en-US" sz="13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296705" y="5379415"/>
            <a:ext cx="228600" cy="22860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382305" y="0"/>
            <a:ext cx="3810305" cy="6858000"/>
          </a:xfrm>
          <a:prstGeom prst="rect">
            <a:avLst/>
          </a:prstGeom>
          <a:solidFill>
            <a:srgbClr val="F8F9FA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61795" y="1726387"/>
            <a:ext cx="38405" cy="4629607"/>
          </a:xfrm>
          <a:prstGeom prst="roundRect">
            <a:avLst>
              <a:gd name="adj" fmla="val 1190470"/>
            </a:avLst>
          </a:prstGeom>
          <a:solidFill>
            <a:srgbClr val="E1DFDD"/>
          </a:solidFill>
          <a:ln/>
        </p:spPr>
      </p:sp>
      <p:sp>
        <p:nvSpPr>
          <p:cNvPr id="6" name="Shape 4"/>
          <p:cNvSpPr/>
          <p:nvPr/>
        </p:nvSpPr>
        <p:spPr>
          <a:xfrm>
            <a:off x="1904695" y="1535278"/>
            <a:ext cx="8953805" cy="933602"/>
          </a:xfrm>
          <a:prstGeom prst="roundRect">
            <a:avLst>
              <a:gd name="adj" fmla="val 11993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43354" y="1735531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3F2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3511" r="3511" t="0" b="0"/>
          <a:stretch/>
        </p:blipFill>
        <p:spPr>
          <a:xfrm>
            <a:off x="2257654" y="1849831"/>
            <a:ext cx="304495" cy="3044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905049" y="1754734"/>
            <a:ext cx="187177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Completion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905049" y="2050085"/>
            <a:ext cx="7556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Teams meeting concludes and status is updated to "Completed". This event acts as the system trigger.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333195" y="1763878"/>
            <a:ext cx="495605" cy="495605"/>
          </a:xfrm>
          <a:prstGeom prst="ellipse">
            <a:avLst/>
          </a:prstGeom>
          <a:solidFill>
            <a:srgbClr val="0078D4"/>
          </a:solidFill>
          <a:ln w="5080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527048" y="1869034"/>
            <a:ext cx="2578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904695" y="2755087"/>
            <a:ext cx="8953805" cy="933602"/>
          </a:xfrm>
          <a:prstGeom prst="roundRect">
            <a:avLst>
              <a:gd name="adj" fmla="val 11993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143354" y="2954426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3F2F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2324405" y="3107131"/>
            <a:ext cx="1719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05049" y="2973629"/>
            <a:ext cx="20244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Transcript Availability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905049" y="3268980"/>
            <a:ext cx="7746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transcript is finalized, processed by backend services, and stored securely within the Microsoft 365 tenant.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333195" y="2983687"/>
            <a:ext cx="495605" cy="4956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1527048" y="3087929"/>
            <a:ext cx="2578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1904695" y="3973982"/>
            <a:ext cx="8953805" cy="1257300"/>
          </a:xfrm>
          <a:prstGeom prst="roundRect">
            <a:avLst>
              <a:gd name="adj" fmla="val 6612"/>
            </a:avLst>
          </a:prstGeom>
          <a:solidFill>
            <a:srgbClr val="FAF9FE"/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190902" y="4336085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3E8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2305202" y="4450385"/>
            <a:ext cx="304495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952598" y="4174236"/>
            <a:ext cx="222473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Copilot MoM Generation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2952598" y="4764024"/>
            <a:ext cx="1390802" cy="267005"/>
          </a:xfrm>
          <a:prstGeom prst="roundRect">
            <a:avLst>
              <a:gd name="adj" fmla="val 195695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076956" y="4849978"/>
            <a:ext cx="95098" cy="9509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172054" y="4812487"/>
            <a:ext cx="11338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416552" y="4764024"/>
            <a:ext cx="1476756" cy="267005"/>
          </a:xfrm>
          <a:prstGeom prst="roundRect">
            <a:avLst>
              <a:gd name="adj" fmla="val 195695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rcRect l="-3205" r="-3205" t="0" b="0"/>
          <a:stretch/>
        </p:blipFill>
        <p:spPr>
          <a:xfrm>
            <a:off x="4540910" y="4849978"/>
            <a:ext cx="75895" cy="9509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616806" y="4812487"/>
            <a:ext cx="1239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Discussion Points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967374" y="4764024"/>
            <a:ext cx="1181405" cy="267005"/>
          </a:xfrm>
          <a:prstGeom prst="roundRect">
            <a:avLst>
              <a:gd name="adj" fmla="val 195695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090818" y="4849978"/>
            <a:ext cx="95098" cy="9509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185916" y="4812487"/>
            <a:ext cx="9244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Decisions Made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7223760" y="4764024"/>
            <a:ext cx="1552651" cy="267005"/>
          </a:xfrm>
          <a:prstGeom prst="roundRect">
            <a:avLst>
              <a:gd name="adj" fmla="val 195695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8"/>
          <a:srcRect l="-1648" r="-1648" t="0" b="0"/>
          <a:stretch/>
        </p:blipFill>
        <p:spPr>
          <a:xfrm>
            <a:off x="7347204" y="4849978"/>
            <a:ext cx="85954" cy="9509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433158" y="4812487"/>
            <a:ext cx="1305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Items &amp; Owners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2952598" y="4469587"/>
            <a:ext cx="51370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Copilot AI analyzes the transcript to synthesize structured meeting minutes.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1333195" y="4202582"/>
            <a:ext cx="495605" cy="4956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Text 29"/>
          <p:cNvSpPr txBox="1"/>
          <p:nvPr/>
        </p:nvSpPr>
        <p:spPr>
          <a:xfrm>
            <a:off x="1527048" y="4306824"/>
            <a:ext cx="2578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500" dirty="0"/>
          </a:p>
        </p:txBody>
      </p:sp>
      <p:sp>
        <p:nvSpPr>
          <p:cNvPr id="39" name="Shape 30"/>
          <p:cNvSpPr/>
          <p:nvPr/>
        </p:nvSpPr>
        <p:spPr>
          <a:xfrm>
            <a:off x="1904695" y="5516575"/>
            <a:ext cx="8953805" cy="933602"/>
          </a:xfrm>
          <a:prstGeom prst="roundRect">
            <a:avLst>
              <a:gd name="adj" fmla="val 1199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2190902" y="5716829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3F2F1">
              <a:alpha val="90000"/>
            </a:srgbClr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9">
            <a:alphaModFix amt="90000"/>
          </a:blip>
          <a:srcRect l="-80" r="-80" t="0" b="0"/>
          <a:stretch/>
        </p:blipFill>
        <p:spPr>
          <a:xfrm>
            <a:off x="2314346" y="5869534"/>
            <a:ext cx="286207" cy="2286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2952598" y="5736031"/>
            <a:ext cx="22722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423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MoM Validation Optional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2952598" y="6031382"/>
            <a:ext cx="76416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5E5C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organizer reviews the AI-generated draft for accuracy and edits sensitive information before distribution.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1333195" y="5745175"/>
            <a:ext cx="495605" cy="4956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05E5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45" name="Text 35"/>
          <p:cNvSpPr txBox="1"/>
          <p:nvPr/>
        </p:nvSpPr>
        <p:spPr>
          <a:xfrm>
            <a:off x="1527048" y="5850331"/>
            <a:ext cx="2578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500" dirty="0"/>
          </a:p>
        </p:txBody>
      </p:sp>
      <p:sp>
        <p:nvSpPr>
          <p:cNvPr id="46" name="Text 36"/>
          <p:cNvSpPr txBox="1"/>
          <p:nvPr/>
        </p:nvSpPr>
        <p:spPr>
          <a:xfrm>
            <a:off x="761695" y="323698"/>
            <a:ext cx="605332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Workflow (Part 1)</a:t>
            </a:r>
            <a:endParaRPr lang="en-US" sz="3100" dirty="0"/>
          </a:p>
        </p:txBody>
      </p:sp>
      <p:sp>
        <p:nvSpPr>
          <p:cNvPr id="47" name="Text 37"/>
          <p:cNvSpPr txBox="1"/>
          <p:nvPr/>
        </p:nvSpPr>
        <p:spPr>
          <a:xfrm>
            <a:off x="761695" y="907085"/>
            <a:ext cx="46149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meeting conclusion to AI-driven insight generation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761695" y="6219749"/>
            <a:ext cx="1066830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10"/>
          <a:srcRect l="0" r="0" t="2268" b="2269"/>
          <a:stretch/>
        </p:blipFill>
        <p:spPr>
          <a:xfrm>
            <a:off x="761695" y="6377026"/>
            <a:ext cx="181051" cy="190195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11354105" y="63815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382305" y="0"/>
            <a:ext cx="3810305" cy="6858000"/>
          </a:xfrm>
          <a:prstGeom prst="rect">
            <a:avLst/>
          </a:prstGeom>
          <a:solidFill>
            <a:srgbClr val="F8F9FA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61795" y="1726387"/>
            <a:ext cx="38405" cy="4705502"/>
          </a:xfrm>
          <a:prstGeom prst="roundRect">
            <a:avLst>
              <a:gd name="adj" fmla="val 1190470"/>
            </a:avLst>
          </a:prstGeom>
          <a:solidFill>
            <a:srgbClr val="E1DFDD"/>
          </a:solidFill>
          <a:ln/>
        </p:spPr>
      </p:sp>
      <p:sp>
        <p:nvSpPr>
          <p:cNvPr id="6" name="Shape 4"/>
          <p:cNvSpPr/>
          <p:nvPr/>
        </p:nvSpPr>
        <p:spPr>
          <a:xfrm>
            <a:off x="1904695" y="1535278"/>
            <a:ext cx="8953805" cy="2790749"/>
          </a:xfrm>
          <a:prstGeom prst="roundRect">
            <a:avLst>
              <a:gd name="adj" fmla="val 1342"/>
            </a:avLst>
          </a:prstGeom>
          <a:solidFill>
            <a:srgbClr val="F0F6FA"/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66798" y="1811426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CFE6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3418" r="3418" t="0" b="0"/>
          <a:stretch/>
        </p:blipFill>
        <p:spPr>
          <a:xfrm>
            <a:off x="2400300" y="1944929"/>
            <a:ext cx="342900" cy="342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143707" y="1773936"/>
            <a:ext cx="2743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Outlook Email Composition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143707" y="2706624"/>
            <a:ext cx="4762195" cy="961949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7151" y="3288182"/>
            <a:ext cx="4515307" cy="9144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2" name="Shape 9"/>
          <p:cNvSpPr/>
          <p:nvPr/>
        </p:nvSpPr>
        <p:spPr>
          <a:xfrm>
            <a:off x="3143707" y="3764585"/>
            <a:ext cx="1837944" cy="323698"/>
          </a:xfrm>
          <a:prstGeom prst="roundRect">
            <a:avLst>
              <a:gd name="adj" fmla="val 13293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86354" y="3866998"/>
            <a:ext cx="114300" cy="1143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00654" y="3831336"/>
            <a:ext cx="15316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Body Content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071262" y="3764585"/>
            <a:ext cx="2219249" cy="323698"/>
          </a:xfrm>
          <a:prstGeom prst="roundRect">
            <a:avLst>
              <a:gd name="adj" fmla="val 13293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5213909" y="3866998"/>
            <a:ext cx="105156" cy="1143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19065" y="3831336"/>
            <a:ext cx="19220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 Word/PDF Attachment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382866" y="3764585"/>
            <a:ext cx="1904695" cy="323698"/>
          </a:xfrm>
          <a:prstGeom prst="roundRect">
            <a:avLst>
              <a:gd name="adj" fmla="val 13293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26426" y="3866998"/>
            <a:ext cx="114300" cy="1143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640726" y="3831336"/>
            <a:ext cx="15983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AI-Generated Subject Line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3143707" y="2145182"/>
            <a:ext cx="72301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Copilot constructs a professional email draft containing the finalized meeting minutes, formatted for clarity and readability.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3267151" y="2830982"/>
            <a:ext cx="2496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Subject: Minutes of Meeting – Project Sync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3267151" y="3040380"/>
            <a:ext cx="9811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To: All Attendees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3267151" y="3374136"/>
            <a:ext cx="3439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summary attached. Action items have been assigned...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1333195" y="1763878"/>
            <a:ext cx="495605" cy="4956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1527048" y="1869034"/>
            <a:ext cx="2578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1904695" y="4702759"/>
            <a:ext cx="8953805" cy="1733702"/>
          </a:xfrm>
          <a:prstGeom prst="roundRect">
            <a:avLst>
              <a:gd name="adj" fmla="val 3478"/>
            </a:avLst>
          </a:prstGeom>
          <a:solidFill>
            <a:srgbClr val="F1F7F1"/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2266798" y="4978908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DFF6DD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38705" y="5149901"/>
            <a:ext cx="267005" cy="26700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143707" y="4940503"/>
            <a:ext cx="3219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Distribution &amp; Completion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3143707" y="5874106"/>
            <a:ext cx="1733702" cy="323698"/>
          </a:xfrm>
          <a:prstGeom prst="roundRect">
            <a:avLst>
              <a:gd name="adj" fmla="val 13293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3286354" y="5976518"/>
            <a:ext cx="142646" cy="1143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429000" y="5940857"/>
            <a:ext cx="13981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Sent to All Participants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964278" y="5874106"/>
            <a:ext cx="1695298" cy="323698"/>
          </a:xfrm>
          <a:prstGeom prst="roundRect">
            <a:avLst>
              <a:gd name="adj" fmla="val 13293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106924" y="5976518"/>
            <a:ext cx="114300" cy="1143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221224" y="5940857"/>
            <a:ext cx="13889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Official Record Logged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6750101" y="5874106"/>
            <a:ext cx="1657807" cy="323698"/>
          </a:xfrm>
          <a:prstGeom prst="roundRect">
            <a:avLst>
              <a:gd name="adj" fmla="val 13293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893662" y="5976518"/>
            <a:ext cx="114300" cy="1143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007962" y="5940857"/>
            <a:ext cx="13505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Workflow Terminated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3143707" y="5311750"/>
            <a:ext cx="6667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automatically sends the email via Microsoft Exchange Online to all authenticated participants. The workflow concludes successfully.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1333195" y="4931359"/>
            <a:ext cx="495605" cy="495605"/>
          </a:xfrm>
          <a:prstGeom prst="ellipse">
            <a:avLst/>
          </a:prstGeom>
          <a:solidFill>
            <a:srgbClr val="107C10"/>
          </a:solidFill>
          <a:ln w="50800">
            <a:solidFill>
              <a:srgbClr val="0E700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Text 32"/>
          <p:cNvSpPr txBox="1"/>
          <p:nvPr/>
        </p:nvSpPr>
        <p:spPr>
          <a:xfrm>
            <a:off x="1527048" y="5035601"/>
            <a:ext cx="2578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761695" y="323698"/>
            <a:ext cx="605332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Workflow (Part 2)</a:t>
            </a:r>
            <a:endParaRPr lang="en-US" sz="3100" dirty="0"/>
          </a:p>
        </p:txBody>
      </p:sp>
      <p:sp>
        <p:nvSpPr>
          <p:cNvPr id="44" name="Text 34"/>
          <p:cNvSpPr txBox="1"/>
          <p:nvPr/>
        </p:nvSpPr>
        <p:spPr>
          <a:xfrm>
            <a:off x="761695" y="907085"/>
            <a:ext cx="48627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distribution and closure of the meeting lifecycle</a:t>
            </a:r>
            <a:endParaRPr lang="en-US" sz="1300" dirty="0"/>
          </a:p>
        </p:txBody>
      </p:sp>
      <p:sp>
        <p:nvSpPr>
          <p:cNvPr id="45" name="Shape 35"/>
          <p:cNvSpPr/>
          <p:nvPr/>
        </p:nvSpPr>
        <p:spPr>
          <a:xfrm>
            <a:off x="761695" y="6219749"/>
            <a:ext cx="1066830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2268" b="2269"/>
          <a:stretch/>
        </p:blipFill>
        <p:spPr>
          <a:xfrm>
            <a:off x="761695" y="6377026"/>
            <a:ext cx="181051" cy="19019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1354105" y="63815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0" b="0"/>
          <a:stretch/>
        </p:blipFill>
        <p:spPr>
          <a:xfrm>
            <a:off x="9048902" y="1619402"/>
            <a:ext cx="3619195" cy="3619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695" y="323698"/>
            <a:ext cx="356798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MoM Components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845820"/>
            <a:ext cx="4686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content automatically generated by Microsoft Copilot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61695" y="1303020"/>
            <a:ext cx="5238598" cy="2457907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6350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81151" y="155996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F3E8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95451" y="1674266"/>
            <a:ext cx="171907" cy="17190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79238" y="1559966"/>
            <a:ext cx="905256" cy="228600"/>
          </a:xfrm>
          <a:prstGeom prst="roundRect">
            <a:avLst>
              <a:gd name="adj" fmla="val 66667"/>
            </a:avLst>
          </a:prstGeom>
          <a:solidFill>
            <a:srgbClr val="EDE9FE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956048" y="1588313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Generated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981151" y="2083918"/>
            <a:ext cx="18864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Summary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81151" y="2446020"/>
            <a:ext cx="44531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concise executive overview capturing the meeting's primary context, objectives, and high-level outcomes derived from the full transcript.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981151" y="2950769"/>
            <a:ext cx="4800600" cy="590702"/>
          </a:xfrm>
          <a:prstGeom prst="roundRect">
            <a:avLst>
              <a:gd name="adj" fmla="val 19974"/>
            </a:avLst>
          </a:prstGeom>
          <a:solidFill>
            <a:srgbClr val="FAF9F8"/>
          </a:solidFill>
          <a:ln/>
        </p:spPr>
      </p:sp>
      <p:sp>
        <p:nvSpPr>
          <p:cNvPr id="15" name="Shape 11"/>
          <p:cNvSpPr/>
          <p:nvPr/>
        </p:nvSpPr>
        <p:spPr>
          <a:xfrm>
            <a:off x="981151" y="2950769"/>
            <a:ext cx="28346" cy="590702"/>
          </a:xfrm>
          <a:prstGeom prst="rect">
            <a:avLst/>
          </a:prstGeom>
          <a:solidFill>
            <a:srgbClr val="C8C6C4"/>
          </a:solidFill>
          <a:ln/>
        </p:spPr>
      </p:sp>
      <p:sp>
        <p:nvSpPr>
          <p:cNvPr id="16" name="Shape 12"/>
          <p:cNvSpPr/>
          <p:nvPr/>
        </p:nvSpPr>
        <p:spPr>
          <a:xfrm>
            <a:off x="1123798" y="3108046"/>
            <a:ext cx="47549" cy="47549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248156" y="3045866"/>
            <a:ext cx="1200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 &amp; Objectives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123798" y="3336646"/>
            <a:ext cx="47549" cy="47549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248156" y="3274466"/>
            <a:ext cx="13240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Attendees &amp; Absentees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91402" y="1303020"/>
            <a:ext cx="5238598" cy="2457907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63500">
            <a:solidFill>
              <a:srgbClr val="0078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09944" y="155996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3F2F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1064" r="-1064" t="0" b="0"/>
          <a:stretch/>
        </p:blipFill>
        <p:spPr>
          <a:xfrm>
            <a:off x="6500470" y="1674266"/>
            <a:ext cx="219456" cy="17190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409944" y="2083918"/>
            <a:ext cx="2200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Discussion Points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409944" y="2446020"/>
            <a:ext cx="46250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Bulleted highlights of main topics debated, strategic ideas proposed, and significant insights shared by various participants.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9944" y="2950769"/>
            <a:ext cx="4800600" cy="590702"/>
          </a:xfrm>
          <a:prstGeom prst="roundRect">
            <a:avLst>
              <a:gd name="adj" fmla="val 19974"/>
            </a:avLst>
          </a:prstGeom>
          <a:solidFill>
            <a:srgbClr val="FAF9F8"/>
          </a:solidFill>
          <a:ln/>
        </p:spPr>
      </p:sp>
      <p:sp>
        <p:nvSpPr>
          <p:cNvPr id="26" name="Shape 21"/>
          <p:cNvSpPr/>
          <p:nvPr/>
        </p:nvSpPr>
        <p:spPr>
          <a:xfrm>
            <a:off x="6409944" y="2950769"/>
            <a:ext cx="28346" cy="590702"/>
          </a:xfrm>
          <a:prstGeom prst="rect">
            <a:avLst/>
          </a:prstGeom>
          <a:solidFill>
            <a:srgbClr val="C8C6C4"/>
          </a:solidFill>
          <a:ln/>
        </p:spPr>
      </p:sp>
      <p:sp>
        <p:nvSpPr>
          <p:cNvPr id="27" name="Shape 22"/>
          <p:cNvSpPr/>
          <p:nvPr/>
        </p:nvSpPr>
        <p:spPr>
          <a:xfrm>
            <a:off x="6553505" y="3108046"/>
            <a:ext cx="47549" cy="47549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676949" y="3045866"/>
            <a:ext cx="1666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Topic A: Challenges discussed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553505" y="3336646"/>
            <a:ext cx="47549" cy="47549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676949" y="3274466"/>
            <a:ext cx="15627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Topic B: Proposed solutions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761695" y="3951122"/>
            <a:ext cx="5238598" cy="2457907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63500">
            <a:solidFill>
              <a:srgbClr val="107C1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81151" y="4208069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2E6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95451" y="4322369"/>
            <a:ext cx="171907" cy="171907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981151" y="4732020"/>
            <a:ext cx="16294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Decisions Made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981151" y="5094122"/>
            <a:ext cx="47109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clear record of agreed-upon resolutions, budget approvals, and finalized directions to ensure alignment across the team.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981151" y="5598871"/>
            <a:ext cx="4800600" cy="590702"/>
          </a:xfrm>
          <a:prstGeom prst="roundRect">
            <a:avLst>
              <a:gd name="adj" fmla="val 19974"/>
            </a:avLst>
          </a:prstGeom>
          <a:solidFill>
            <a:srgbClr val="FAF9F8"/>
          </a:solidFill>
          <a:ln/>
        </p:spPr>
      </p:sp>
      <p:sp>
        <p:nvSpPr>
          <p:cNvPr id="37" name="Shape 31"/>
          <p:cNvSpPr/>
          <p:nvPr/>
        </p:nvSpPr>
        <p:spPr>
          <a:xfrm>
            <a:off x="981151" y="5598871"/>
            <a:ext cx="28346" cy="590702"/>
          </a:xfrm>
          <a:prstGeom prst="rect">
            <a:avLst/>
          </a:prstGeom>
          <a:solidFill>
            <a:srgbClr val="C8C6C4"/>
          </a:solidFill>
          <a:ln/>
        </p:spPr>
      </p:sp>
      <p:sp>
        <p:nvSpPr>
          <p:cNvPr id="38" name="Shape 32"/>
          <p:cNvSpPr/>
          <p:nvPr/>
        </p:nvSpPr>
        <p:spPr>
          <a:xfrm>
            <a:off x="1123798" y="5756148"/>
            <a:ext cx="47549" cy="47549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1248156" y="5693969"/>
            <a:ext cx="1381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approved for Q4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5112410" y="5698541"/>
            <a:ext cx="562356" cy="161849"/>
          </a:xfrm>
          <a:prstGeom prst="roundRect">
            <a:avLst>
              <a:gd name="adj" fmla="val 132934"/>
            </a:avLst>
          </a:prstGeom>
          <a:solidFill>
            <a:srgbClr val="E1DFDD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5160874" y="5708599"/>
            <a:ext cx="5431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Approved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1123798" y="5984748"/>
            <a:ext cx="47549" cy="47549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1248156" y="5922569"/>
            <a:ext cx="15627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Vendor selection confirmed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341010" y="5927141"/>
            <a:ext cx="333756" cy="161849"/>
          </a:xfrm>
          <a:prstGeom prst="roundRect">
            <a:avLst>
              <a:gd name="adj" fmla="val 132934"/>
            </a:avLst>
          </a:prstGeom>
          <a:solidFill>
            <a:srgbClr val="E1DFDD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5389474" y="5937199"/>
            <a:ext cx="3145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6191402" y="3951122"/>
            <a:ext cx="5238598" cy="2457907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63500">
            <a:solidFill>
              <a:srgbClr val="D83B0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sp>
        <p:nvSpPr>
          <p:cNvPr id="47" name="Shape 41"/>
          <p:cNvSpPr/>
          <p:nvPr/>
        </p:nvSpPr>
        <p:spPr>
          <a:xfrm>
            <a:off x="6409944" y="4208069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FDE7E9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rcRect l="-1773" r="-1773" t="0" b="0"/>
          <a:stretch/>
        </p:blipFill>
        <p:spPr>
          <a:xfrm>
            <a:off x="6543446" y="4322369"/>
            <a:ext cx="133502" cy="171907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6409944" y="4732020"/>
            <a:ext cx="13533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Items</a:t>
            </a:r>
            <a:endParaRPr lang="en-US" sz="1500" dirty="0"/>
          </a:p>
        </p:txBody>
      </p:sp>
      <p:sp>
        <p:nvSpPr>
          <p:cNvPr id="50" name="Text 43"/>
          <p:cNvSpPr txBox="1"/>
          <p:nvPr/>
        </p:nvSpPr>
        <p:spPr>
          <a:xfrm>
            <a:off x="6409944" y="5094122"/>
            <a:ext cx="44723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tasks with specific owners and deadlines detected from the conversation context, ready for follow-up.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6409944" y="5598871"/>
            <a:ext cx="4800600" cy="590702"/>
          </a:xfrm>
          <a:prstGeom prst="roundRect">
            <a:avLst>
              <a:gd name="adj" fmla="val 19974"/>
            </a:avLst>
          </a:prstGeom>
          <a:solidFill>
            <a:srgbClr val="FAF9F8"/>
          </a:solidFill>
          <a:ln/>
        </p:spPr>
      </p:sp>
      <p:sp>
        <p:nvSpPr>
          <p:cNvPr id="52" name="Shape 45"/>
          <p:cNvSpPr/>
          <p:nvPr/>
        </p:nvSpPr>
        <p:spPr>
          <a:xfrm>
            <a:off x="6409944" y="5598871"/>
            <a:ext cx="28346" cy="590702"/>
          </a:xfrm>
          <a:prstGeom prst="rect">
            <a:avLst/>
          </a:prstGeom>
          <a:solidFill>
            <a:srgbClr val="C8C6C4"/>
          </a:solidFill>
          <a:ln/>
        </p:spPr>
      </p:sp>
      <p:sp>
        <p:nvSpPr>
          <p:cNvPr id="53" name="Shape 46"/>
          <p:cNvSpPr/>
          <p:nvPr/>
        </p:nvSpPr>
        <p:spPr>
          <a:xfrm>
            <a:off x="6553505" y="5756148"/>
            <a:ext cx="47549" cy="47549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54" name="Text 47"/>
          <p:cNvSpPr txBox="1"/>
          <p:nvPr/>
        </p:nvSpPr>
        <p:spPr>
          <a:xfrm>
            <a:off x="6676949" y="5693969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 project plan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10709453" y="5698541"/>
            <a:ext cx="390449" cy="161849"/>
          </a:xfrm>
          <a:prstGeom prst="roundRect">
            <a:avLst>
              <a:gd name="adj" fmla="val 132934"/>
            </a:avLst>
          </a:prstGeom>
          <a:solidFill>
            <a:srgbClr val="E1DFDD"/>
          </a:solidFill>
          <a:ln/>
        </p:spPr>
      </p:sp>
      <p:sp>
        <p:nvSpPr>
          <p:cNvPr id="56" name="Text 49"/>
          <p:cNvSpPr txBox="1"/>
          <p:nvPr/>
        </p:nvSpPr>
        <p:spPr>
          <a:xfrm>
            <a:off x="10757002" y="5708599"/>
            <a:ext cx="3721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@Alex</a:t>
            </a:r>
            <a:endParaRPr lang="en-US" sz="800" dirty="0"/>
          </a:p>
        </p:txBody>
      </p:sp>
      <p:sp>
        <p:nvSpPr>
          <p:cNvPr id="57" name="Shape 50"/>
          <p:cNvSpPr/>
          <p:nvPr/>
        </p:nvSpPr>
        <p:spPr>
          <a:xfrm>
            <a:off x="6553505" y="5984748"/>
            <a:ext cx="47549" cy="47549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58" name="Text 51"/>
          <p:cNvSpPr txBox="1"/>
          <p:nvPr/>
        </p:nvSpPr>
        <p:spPr>
          <a:xfrm>
            <a:off x="6676949" y="5922569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Schedule review</a:t>
            </a:r>
            <a:endParaRPr lang="en-US" sz="900" dirty="0"/>
          </a:p>
        </p:txBody>
      </p:sp>
      <p:sp>
        <p:nvSpPr>
          <p:cNvPr id="59" name="Shape 52"/>
          <p:cNvSpPr/>
          <p:nvPr/>
        </p:nvSpPr>
        <p:spPr>
          <a:xfrm>
            <a:off x="10876788" y="5927141"/>
            <a:ext cx="228600" cy="161849"/>
          </a:xfrm>
          <a:prstGeom prst="roundRect">
            <a:avLst>
              <a:gd name="adj" fmla="val 132934"/>
            </a:avLst>
          </a:prstGeom>
          <a:solidFill>
            <a:srgbClr val="E1DFDD"/>
          </a:solidFill>
          <a:ln/>
        </p:spPr>
      </p:sp>
      <p:sp>
        <p:nvSpPr>
          <p:cNvPr id="60" name="Text 53"/>
          <p:cNvSpPr txBox="1"/>
          <p:nvPr/>
        </p:nvSpPr>
        <p:spPr>
          <a:xfrm>
            <a:off x="10924337" y="5937199"/>
            <a:ext cx="2103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Fri</a:t>
            </a:r>
            <a:endParaRPr lang="en-US" sz="800" dirty="0"/>
          </a:p>
        </p:txBody>
      </p:sp>
      <p:sp>
        <p:nvSpPr>
          <p:cNvPr id="61" name="Shape 54"/>
          <p:cNvSpPr/>
          <p:nvPr/>
        </p:nvSpPr>
        <p:spPr>
          <a:xfrm>
            <a:off x="761695" y="6324905"/>
            <a:ext cx="1066830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2268" b="2269"/>
          <a:stretch/>
        </p:blipFill>
        <p:spPr>
          <a:xfrm>
            <a:off x="761695" y="6429146"/>
            <a:ext cx="181051" cy="190195"/>
          </a:xfrm>
          <a:prstGeom prst="rect">
            <a:avLst/>
          </a:prstGeom>
        </p:spPr>
      </p:pic>
      <p:sp>
        <p:nvSpPr>
          <p:cNvPr id="63" name="Text 55"/>
          <p:cNvSpPr txBox="1"/>
          <p:nvPr/>
        </p:nvSpPr>
        <p:spPr>
          <a:xfrm>
            <a:off x="11359591" y="6431890"/>
            <a:ext cx="1691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900" dirty="0"/>
          </a:p>
        </p:txBody>
      </p:sp>
      <p:sp>
        <p:nvSpPr>
          <p:cNvPr id="64" name="Shape 56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334195" y="-1904695"/>
            <a:ext cx="4762195" cy="4762195"/>
          </a:xfrm>
          <a:prstGeom prst="ellipse">
            <a:avLst/>
          </a:prstGeom>
          <a:solidFill>
            <a:srgbClr val="F8F9FA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4953305"/>
            <a:ext cx="2857500" cy="2857500"/>
          </a:xfrm>
          <a:prstGeom prst="ellipse">
            <a:avLst/>
          </a:prstGeom>
          <a:solidFill>
            <a:srgbClr val="F8F9FA">
              <a:alpha val="6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1695" y="314554"/>
            <a:ext cx="374355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Postconditions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969264"/>
            <a:ext cx="5829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 outcomes and final state of the automation workflow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09598" y="1897380"/>
            <a:ext cx="8572500" cy="1248156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09598" y="1897380"/>
            <a:ext cx="57607" cy="1227125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0" name="Shape 8"/>
          <p:cNvSpPr/>
          <p:nvPr/>
        </p:nvSpPr>
        <p:spPr>
          <a:xfrm>
            <a:off x="2104949" y="2282342"/>
            <a:ext cx="476402" cy="476402"/>
          </a:xfrm>
          <a:prstGeom prst="ellipse">
            <a:avLst/>
          </a:prstGeom>
          <a:solidFill>
            <a:srgbClr val="E6F2E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29307" y="2405786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819095" y="2145182"/>
            <a:ext cx="26106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Participants Receive MoM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819095" y="2478024"/>
            <a:ext cx="7353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meeting attendees automatically receive the structured minutes via Microsoft Outlook immediately upon processing completion.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809598" y="3333902"/>
            <a:ext cx="8572500" cy="1248156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09598" y="3333902"/>
            <a:ext cx="57607" cy="1227125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6" name="Shape 13"/>
          <p:cNvSpPr/>
          <p:nvPr/>
        </p:nvSpPr>
        <p:spPr>
          <a:xfrm>
            <a:off x="2104949" y="3718865"/>
            <a:ext cx="476402" cy="476402"/>
          </a:xfrm>
          <a:prstGeom prst="ellipse">
            <a:avLst/>
          </a:prstGeom>
          <a:solidFill>
            <a:srgbClr val="E6F2E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2257654" y="3842309"/>
            <a:ext cx="171907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819095" y="3581705"/>
            <a:ext cx="23719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Official Meeting Record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2819095" y="3914546"/>
            <a:ext cx="71442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generated document serves as the immutable, official record of the discussion, stored securely within the Microsoft 365 tenant.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1809598" y="4770425"/>
            <a:ext cx="8572500" cy="1248156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809598" y="4770425"/>
            <a:ext cx="57607" cy="1227125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2" name="Shape 18"/>
          <p:cNvSpPr/>
          <p:nvPr/>
        </p:nvSpPr>
        <p:spPr>
          <a:xfrm>
            <a:off x="2104949" y="5155387"/>
            <a:ext cx="476402" cy="476402"/>
          </a:xfrm>
          <a:prstGeom prst="ellipse">
            <a:avLst/>
          </a:prstGeom>
          <a:solidFill>
            <a:srgbClr val="E6F2E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29307" y="5278831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819095" y="5017313"/>
            <a:ext cx="28483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Items Communicated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2819095" y="5351069"/>
            <a:ext cx="7029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decisions and tasks are clearly extracted and assigned to owners, ensuring accountability and facilitating effective follow-up.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61695" y="6219749"/>
            <a:ext cx="1066830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2268" b="2269"/>
          <a:stretch/>
        </p:blipFill>
        <p:spPr>
          <a:xfrm>
            <a:off x="761695" y="6377026"/>
            <a:ext cx="181051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277295" y="6381598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107C1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334195" y="4000500"/>
            <a:ext cx="2857500" cy="2857500"/>
          </a:xfrm>
          <a:prstGeom prst="roundRect">
            <a:avLst>
              <a:gd name="adj" fmla="val 32000"/>
            </a:avLst>
          </a:prstGeom>
          <a:solidFill>
            <a:srgbClr val="F3F2F1"/>
          </a:solidFill>
          <a:ln/>
        </p:spPr>
      </p:sp>
      <p:sp>
        <p:nvSpPr>
          <p:cNvPr id="5" name="Shape 3"/>
          <p:cNvSpPr/>
          <p:nvPr/>
        </p:nvSpPr>
        <p:spPr>
          <a:xfrm>
            <a:off x="761695" y="1529791"/>
            <a:ext cx="4067251" cy="4572000"/>
          </a:xfrm>
          <a:prstGeom prst="roundRect">
            <a:avLst>
              <a:gd name="adj" fmla="val 842"/>
            </a:avLst>
          </a:prstGeom>
          <a:solidFill>
            <a:srgbClr val="F8F9FA"/>
          </a:solidFill>
          <a:ln/>
          <a:effectLst>
            <a:outerShdw sx="100000" sy="100000" kx="0" ky="0" algn="bl" rotWithShape="0" blurRad="254000" dist="12700" dir="2700000">
              <a:srgbClr val="000000">
                <a:alpha val="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-22115" b="-22115"/>
          <a:stretch/>
        </p:blipFill>
        <p:spPr>
          <a:xfrm>
            <a:off x="2753258" y="1634033"/>
            <a:ext cx="1676095" cy="193395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0" r="0" t="0" b="0"/>
          <a:stretch/>
        </p:blipFill>
        <p:spPr>
          <a:xfrm>
            <a:off x="938174" y="4334256"/>
            <a:ext cx="1410005" cy="14100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695" y="228600"/>
            <a:ext cx="534832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Functional Requirements</a:t>
            </a:r>
            <a:endParaRPr lang="en-US" sz="31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811987"/>
            <a:ext cx="6510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system capabilities essential for automated Minutes of Meeting generation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12187" y="3119933"/>
            <a:ext cx="761695" cy="7616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214677" y="4262933"/>
            <a:ext cx="12765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Functional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2323490" y="4491533"/>
            <a:ext cx="10579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Specification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300777" y="1296619"/>
            <a:ext cx="6133795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300777" y="1296619"/>
            <a:ext cx="47549" cy="90525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Shape 10"/>
          <p:cNvSpPr/>
          <p:nvPr/>
        </p:nvSpPr>
        <p:spPr>
          <a:xfrm>
            <a:off x="5538521" y="1547165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EFF6F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5629046" y="1661465"/>
            <a:ext cx="219456" cy="171907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300777" y="2330806"/>
            <a:ext cx="6133795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300777" y="2330806"/>
            <a:ext cx="47549" cy="90525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9" name="Shape 13"/>
          <p:cNvSpPr/>
          <p:nvPr/>
        </p:nvSpPr>
        <p:spPr>
          <a:xfrm>
            <a:off x="5538521" y="2581351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EFF6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652821" y="2695651"/>
            <a:ext cx="171907" cy="171907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300777" y="3364992"/>
            <a:ext cx="6133795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5300777" y="3364992"/>
            <a:ext cx="47549" cy="90525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3" name="Shape 16"/>
          <p:cNvSpPr/>
          <p:nvPr/>
        </p:nvSpPr>
        <p:spPr>
          <a:xfrm>
            <a:off x="5538521" y="3615538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EFF6F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-1773" r="-1773" t="0" b="0"/>
          <a:stretch/>
        </p:blipFill>
        <p:spPr>
          <a:xfrm>
            <a:off x="5672023" y="3729838"/>
            <a:ext cx="133502" cy="171907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5300777" y="4399178"/>
            <a:ext cx="6133795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5300777" y="4399178"/>
            <a:ext cx="47549" cy="90525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7" name="Shape 19"/>
          <p:cNvSpPr/>
          <p:nvPr/>
        </p:nvSpPr>
        <p:spPr>
          <a:xfrm>
            <a:off x="5538521" y="4649724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EFF6FC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652821" y="4764024"/>
            <a:ext cx="171907" cy="171907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5300777" y="5434279"/>
            <a:ext cx="6133795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5300777" y="5434279"/>
            <a:ext cx="47549" cy="905256"/>
          </a:xfrm>
          <a:prstGeom prst="rect">
            <a:avLst/>
          </a:prstGeom>
          <a:solidFill>
            <a:srgbClr val="00BCF2"/>
          </a:solidFill>
          <a:ln/>
        </p:spPr>
      </p:sp>
      <p:sp>
        <p:nvSpPr>
          <p:cNvPr id="31" name="Shape 22"/>
          <p:cNvSpPr/>
          <p:nvPr/>
        </p:nvSpPr>
        <p:spPr>
          <a:xfrm>
            <a:off x="5538521" y="5683910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EAFAFF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-1064" r="-1064" t="0" b="0"/>
          <a:stretch/>
        </p:blipFill>
        <p:spPr>
          <a:xfrm>
            <a:off x="5629046" y="5798210"/>
            <a:ext cx="219456" cy="171907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090818" y="1458468"/>
            <a:ext cx="2646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 Transcript Ingestion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6090818" y="1701698"/>
            <a:ext cx="51316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must automatically detect completed Teams meetings and retrieve the finalized transcript from Microsoft 365 storage without user initiation.</a:t>
            </a:r>
            <a:endParaRPr lang="en-US" sz="900" dirty="0"/>
          </a:p>
        </p:txBody>
      </p:sp>
      <p:sp>
        <p:nvSpPr>
          <p:cNvPr id="35" name="Text 25"/>
          <p:cNvSpPr txBox="1"/>
          <p:nvPr/>
        </p:nvSpPr>
        <p:spPr>
          <a:xfrm>
            <a:off x="6090818" y="2492654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AI-Based Summarization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6090818" y="2735885"/>
            <a:ext cx="49889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Copilot's natural language processing to analyze dialogue, extracting a concise summary, key decisions, and action items with owners.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6090818" y="3526841"/>
            <a:ext cx="22649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Predefined MoM Template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6090818" y="3770071"/>
            <a:ext cx="51892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 generated content into a standardized corporate template to ensure consistency in formatting, branding, and structure.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6090818" y="4561027"/>
            <a:ext cx="2284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Outlook Email Automation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6090818" y="4804258"/>
            <a:ext cx="50365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Construct and send a structured email via Exchange Online to all meeting participants immediately following content generation.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6090818" y="5596128"/>
            <a:ext cx="25411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Approval Workflow (Optional)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6090818" y="5838444"/>
            <a:ext cx="50081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a staging step where the meeting organizer can review, edit, and approve the generated minutes before final distribution.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761695" y="6362395"/>
            <a:ext cx="1066830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2268" b="2269"/>
          <a:stretch/>
        </p:blipFill>
        <p:spPr>
          <a:xfrm>
            <a:off x="761695" y="6472123"/>
            <a:ext cx="181051" cy="19019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277295" y="647669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334195" y="4000500"/>
            <a:ext cx="2857500" cy="2857500"/>
          </a:xfrm>
          <a:prstGeom prst="roundRect">
            <a:avLst>
              <a:gd name="adj" fmla="val 32000"/>
            </a:avLst>
          </a:prstGeom>
          <a:solidFill>
            <a:srgbClr val="F3F2F1"/>
          </a:solidFill>
          <a:ln/>
        </p:spPr>
      </p:sp>
      <p:sp>
        <p:nvSpPr>
          <p:cNvPr id="5" name="Shape 3"/>
          <p:cNvSpPr/>
          <p:nvPr/>
        </p:nvSpPr>
        <p:spPr>
          <a:xfrm>
            <a:off x="761695" y="1440180"/>
            <a:ext cx="4067251" cy="4572000"/>
          </a:xfrm>
          <a:prstGeom prst="roundRect">
            <a:avLst>
              <a:gd name="adj" fmla="val 842"/>
            </a:avLst>
          </a:prstGeom>
          <a:solidFill>
            <a:srgbClr val="F8F9FA"/>
          </a:solidFill>
          <a:ln/>
          <a:effectLst>
            <a:outerShdw sx="100000" sy="100000" kx="0" ky="0" algn="bl" rotWithShape="0" blurRad="254000" dist="12700" dir="2700000">
              <a:srgbClr val="000000">
                <a:alpha val="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94967" y="2728570"/>
            <a:ext cx="2000707" cy="2000707"/>
          </a:xfrm>
          <a:prstGeom prst="ellipse">
            <a:avLst/>
          </a:prstGeom>
          <a:noFill/>
          <a:ln w="25400">
            <a:solidFill>
              <a:srgbClr val="E1DF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55725" y="2388413"/>
            <a:ext cx="2676449" cy="2676449"/>
          </a:xfrm>
          <a:prstGeom prst="ellipse">
            <a:avLst/>
          </a:prstGeom>
          <a:noFill/>
          <a:ln w="25400">
            <a:solidFill>
              <a:srgbClr val="E1DF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374" y="2093976"/>
            <a:ext cx="3267151" cy="3267151"/>
          </a:xfrm>
          <a:prstGeom prst="ellipse">
            <a:avLst/>
          </a:prstGeom>
          <a:noFill/>
          <a:ln w="25400">
            <a:solidFill>
              <a:srgbClr val="E1DF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1695" y="323698"/>
            <a:ext cx="632033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Non-Functional Requirements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761695" y="907085"/>
            <a:ext cx="5843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Quality attributes ensuring system reliability, security, and performance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12187" y="2983687"/>
            <a:ext cx="761695" cy="7616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171700" y="4164178"/>
            <a:ext cx="1377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Quality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372868" y="4421124"/>
            <a:ext cx="9765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00777" y="1440180"/>
            <a:ext cx="6133795" cy="1019556"/>
          </a:xfrm>
          <a:prstGeom prst="roundRect">
            <a:avLst>
              <a:gd name="adj" fmla="val 6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00777" y="1440180"/>
            <a:ext cx="47549" cy="101955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6" name="Shape 13"/>
          <p:cNvSpPr/>
          <p:nvPr/>
        </p:nvSpPr>
        <p:spPr>
          <a:xfrm>
            <a:off x="5576926" y="1717243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0428" y="1850746"/>
            <a:ext cx="190195" cy="19019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300777" y="2604211"/>
            <a:ext cx="6133795" cy="1019556"/>
          </a:xfrm>
          <a:prstGeom prst="roundRect">
            <a:avLst>
              <a:gd name="adj" fmla="val 6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00777" y="2604211"/>
            <a:ext cx="47549" cy="101955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0" name="Shape 16"/>
          <p:cNvSpPr/>
          <p:nvPr/>
        </p:nvSpPr>
        <p:spPr>
          <a:xfrm>
            <a:off x="5576926" y="2881274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10428" y="3014777"/>
            <a:ext cx="190195" cy="19019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300777" y="3768242"/>
            <a:ext cx="6133795" cy="1019556"/>
          </a:xfrm>
          <a:prstGeom prst="roundRect">
            <a:avLst>
              <a:gd name="adj" fmla="val 6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300777" y="3768242"/>
            <a:ext cx="47549" cy="101955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4" name="Shape 19"/>
          <p:cNvSpPr/>
          <p:nvPr/>
        </p:nvSpPr>
        <p:spPr>
          <a:xfrm>
            <a:off x="5576926" y="4045306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5719572" y="4177894"/>
            <a:ext cx="171907" cy="19019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300777" y="4931359"/>
            <a:ext cx="6133795" cy="1019556"/>
          </a:xfrm>
          <a:prstGeom prst="roundRect">
            <a:avLst>
              <a:gd name="adj" fmla="val 6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300777" y="4931359"/>
            <a:ext cx="47549" cy="101955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8" name="Shape 22"/>
          <p:cNvSpPr/>
          <p:nvPr/>
        </p:nvSpPr>
        <p:spPr>
          <a:xfrm>
            <a:off x="5576926" y="520842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710428" y="5341925"/>
            <a:ext cx="190195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224321" y="1621231"/>
            <a:ext cx="2701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Summarization Accuracy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6224321" y="1906524"/>
            <a:ext cx="428213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AI model must reliably capture context and intent with minimal hallucination, ensuring minutes serve as an accurate official record.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6224321" y="2785262"/>
            <a:ext cx="23390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365 Compliance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6224321" y="3070555"/>
            <a:ext cx="482528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Strict adherence to tenant data boundaries and privacy policies (GDPR, etc.), ensuring data never leaves the secure enterprise environment.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6224321" y="3949294"/>
            <a:ext cx="2110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Generation Time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6224321" y="4234586"/>
            <a:ext cx="486277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MoM generation and email distribution must complete within minutes of the meeting's conclusion to ensure timely communication.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6224321" y="5112410"/>
            <a:ext cx="1948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 Scalability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6224321" y="5398618"/>
            <a:ext cx="460583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architecture must support concurrent processing of high volumes of meetings across the organization without service degradation.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761695" y="6219749"/>
            <a:ext cx="1066830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2268" b="2269"/>
          <a:stretch/>
        </p:blipFill>
        <p:spPr>
          <a:xfrm>
            <a:off x="761695" y="6377026"/>
            <a:ext cx="181051" cy="19019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1277295" y="6381598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382305" y="-2857500"/>
            <a:ext cx="5715000" cy="5715000"/>
          </a:xfrm>
          <a:prstGeom prst="ellipse">
            <a:avLst/>
          </a:prstGeom>
          <a:solidFill>
            <a:srgbClr val="F8F9FA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4953305"/>
            <a:ext cx="3810305" cy="3810305"/>
          </a:xfrm>
          <a:prstGeom prst="ellipse">
            <a:avLst/>
          </a:prstGeom>
          <a:solidFill>
            <a:srgbClr val="F8F9FA">
              <a:alpha val="6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1695" y="418795"/>
            <a:ext cx="328178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Value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1002182"/>
            <a:ext cx="5653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benefits of automating meeting documentation with Copilot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1695" y="1726387"/>
            <a:ext cx="5191049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7046" y="2020824"/>
            <a:ext cx="666598" cy="666598"/>
          </a:xfrm>
          <a:prstGeom prst="roundRect">
            <a:avLst>
              <a:gd name="adj" fmla="val 31354"/>
            </a:avLst>
          </a:prstGeom>
          <a:solidFill>
            <a:srgbClr val="E3F2F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07" r="-107" t="0" b="0"/>
          <a:stretch/>
        </p:blipFill>
        <p:spPr>
          <a:xfrm>
            <a:off x="1257300" y="2201875"/>
            <a:ext cx="267005" cy="3044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62302" y="2030882"/>
            <a:ext cx="21104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Overhead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962302" y="2440534"/>
            <a:ext cx="367680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Eliminates hours of manual note-taking, transcription, and formatting. Frees up employees to focus on high-value strategic tasks rather than administrative churn.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38951" y="1726387"/>
            <a:ext cx="5191049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4302" y="2020824"/>
            <a:ext cx="666598" cy="666598"/>
          </a:xfrm>
          <a:prstGeom prst="roundRect">
            <a:avLst>
              <a:gd name="adj" fmla="val 31354"/>
            </a:avLst>
          </a:prstGeom>
          <a:solidFill>
            <a:srgbClr val="E6F2E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50" r="-50" t="0" b="0"/>
          <a:stretch/>
        </p:blipFill>
        <p:spPr>
          <a:xfrm>
            <a:off x="6752844" y="2201875"/>
            <a:ext cx="228600" cy="304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438644" y="2030882"/>
            <a:ext cx="271028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Improves Accountability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438644" y="2440534"/>
            <a:ext cx="37152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captures and assigns action items with clear owners. Ensures tasks are tracked and nothing falls through the cracks after the call ends.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1695" y="4101084"/>
            <a:ext cx="5191049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057046" y="4396435"/>
            <a:ext cx="666598" cy="666598"/>
          </a:xfrm>
          <a:prstGeom prst="roundRect">
            <a:avLst>
              <a:gd name="adj" fmla="val 31354"/>
            </a:avLst>
          </a:prstGeom>
          <a:solidFill>
            <a:srgbClr val="FFF4C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38098" y="4577486"/>
            <a:ext cx="304495" cy="3044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962302" y="4406494"/>
            <a:ext cx="300563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Communication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962302" y="4816145"/>
            <a:ext cx="346740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Standardizes the format and quality of meeting minutes across the organization. Ensures every participant receives the same structured information.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38951" y="4101084"/>
            <a:ext cx="5191049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34302" y="4396435"/>
            <a:ext cx="666598" cy="666598"/>
          </a:xfrm>
          <a:prstGeom prst="roundRect">
            <a:avLst>
              <a:gd name="adj" fmla="val 31354"/>
            </a:avLst>
          </a:prstGeom>
          <a:solidFill>
            <a:srgbClr val="F3E8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15354" y="4577486"/>
            <a:ext cx="304495" cy="30449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38644" y="4406494"/>
            <a:ext cx="21003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Native Integration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438644" y="4816145"/>
            <a:ext cx="371520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Leverages existing Microsoft 365 investments and security boundaries. No third-party plugins or data export required, keeping data secure within the tenant.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61695" y="6219749"/>
            <a:ext cx="1066830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2268" b="2269"/>
          <a:stretch/>
        </p:blipFill>
        <p:spPr>
          <a:xfrm>
            <a:off x="761695" y="6377026"/>
            <a:ext cx="181051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277295" y="6381598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334195" y="-1429207"/>
            <a:ext cx="3810305" cy="3810305"/>
          </a:xfrm>
          <a:prstGeom prst="ellipse">
            <a:avLst/>
          </a:prstGeom>
          <a:solidFill>
            <a:srgbClr val="F3F2F1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EFF6FC">
              <a:alpha val="7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1695" y="418795"/>
            <a:ext cx="376732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Stack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1002182"/>
            <a:ext cx="44055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Leveraging the power of the Microsoft 365 ecosystem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1695" y="2053742"/>
            <a:ext cx="2495398" cy="400050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33449" y="2349094"/>
            <a:ext cx="952805" cy="914400"/>
          </a:xfrm>
          <a:prstGeom prst="ellipse">
            <a:avLst/>
          </a:prstGeom>
          <a:solidFill>
            <a:srgbClr val="FAF9F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740" r="740" t="0" b="0"/>
          <a:stretch/>
        </p:blipFill>
        <p:spPr>
          <a:xfrm>
            <a:off x="1676095" y="2491740"/>
            <a:ext cx="666598" cy="6291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20724" y="3606394"/>
            <a:ext cx="17245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Teams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132942" y="4092854"/>
            <a:ext cx="1762049" cy="237744"/>
          </a:xfrm>
          <a:prstGeom prst="roundRect">
            <a:avLst>
              <a:gd name="adj" fmla="val 184615"/>
            </a:avLst>
          </a:prstGeom>
          <a:solidFill>
            <a:srgbClr val="EFF6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47242" y="4130345"/>
            <a:ext cx="1613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&amp; TRANSCRIPTION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060704" y="4716475"/>
            <a:ext cx="2005279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Hosts the virtual meeting environment and captures real-time audio. Generates the verbatim transcript that serves as the raw data source for analysis.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86607" y="2053742"/>
            <a:ext cx="2495398" cy="400050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57446" y="2349094"/>
            <a:ext cx="952805" cy="952805"/>
          </a:xfrm>
          <a:prstGeom prst="ellipse">
            <a:avLst/>
          </a:prstGeom>
          <a:solidFill>
            <a:srgbClr val="FAF9F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4563" b="4563"/>
          <a:stretch/>
        </p:blipFill>
        <p:spPr>
          <a:xfrm>
            <a:off x="4401007" y="2491740"/>
            <a:ext cx="666598" cy="66659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780130" y="3653942"/>
            <a:ext cx="2057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Graph API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3928262" y="4139489"/>
            <a:ext cx="1619402" cy="237744"/>
          </a:xfrm>
          <a:prstGeom prst="roundRect">
            <a:avLst>
              <a:gd name="adj" fmla="val 184615"/>
            </a:avLst>
          </a:prstGeom>
          <a:solidFill>
            <a:srgbClr val="EFF6F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042562" y="4177894"/>
            <a:ext cx="14694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ACCESS &amp; CONTEXT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3824935" y="4763110"/>
            <a:ext cx="1919326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the unified programmatic interface to securely access meeting metadata, participant details, and transcript content within the tenant.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210605" y="2053742"/>
            <a:ext cx="2495398" cy="400050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981444" y="2349094"/>
            <a:ext cx="952805" cy="952805"/>
          </a:xfrm>
          <a:prstGeom prst="ellipse">
            <a:avLst/>
          </a:prstGeom>
          <a:solidFill>
            <a:srgbClr val="FAF9F8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7125005" y="2491740"/>
            <a:ext cx="666598" cy="66659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640373" y="3653942"/>
            <a:ext cx="17812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Copilot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651346" y="4139489"/>
            <a:ext cx="1619402" cy="237744"/>
          </a:xfrm>
          <a:prstGeom prst="roundRect">
            <a:avLst>
              <a:gd name="adj" fmla="val 184615"/>
            </a:avLst>
          </a:prstGeom>
          <a:solidFill>
            <a:srgbClr val="EFF6FC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765646" y="4177894"/>
            <a:ext cx="146944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 &amp; GENERATION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516929" y="4763110"/>
            <a:ext cx="1986077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Applies advanced Large Language Models (LLMs) to synthesize transcripts into structured minutes, extracting key decisions and action items.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934602" y="2053742"/>
            <a:ext cx="2495398" cy="400050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706356" y="2349094"/>
            <a:ext cx="952805" cy="914400"/>
          </a:xfrm>
          <a:prstGeom prst="ellipse">
            <a:avLst/>
          </a:prstGeom>
          <a:solidFill>
            <a:srgbClr val="FAF9F8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rcRect l="642" r="642" t="0" b="0"/>
          <a:stretch/>
        </p:blipFill>
        <p:spPr>
          <a:xfrm>
            <a:off x="9849002" y="2491740"/>
            <a:ext cx="666598" cy="629107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316822" y="3608222"/>
            <a:ext cx="18772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Outlook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9396374" y="4093769"/>
            <a:ext cx="1580998" cy="237744"/>
          </a:xfrm>
          <a:prstGeom prst="roundRect">
            <a:avLst>
              <a:gd name="adj" fmla="val 184615"/>
            </a:avLst>
          </a:prstGeom>
          <a:solidFill>
            <a:srgbClr val="EFF6FC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9510674" y="4132174"/>
            <a:ext cx="143195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DISTRIBUTION CHANNEL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9266530" y="4717390"/>
            <a:ext cx="1938528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Delivers the finalized Minutes of Meeting email to all attendees via Exchange Online, ensuring reliable and immediate communication.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61695" y="6219749"/>
            <a:ext cx="10668305" cy="9144"/>
          </a:xfrm>
          <a:prstGeom prst="rect">
            <a:avLst/>
          </a:prstGeom>
          <a:solidFill>
            <a:srgbClr val="E1DFDD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2268" b="2269"/>
          <a:stretch/>
        </p:blipFill>
        <p:spPr>
          <a:xfrm>
            <a:off x="761695" y="6377026"/>
            <a:ext cx="181051" cy="190195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1277295" y="6381598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429500" y="-1904695"/>
            <a:ext cx="5715000" cy="5715000"/>
          </a:xfrm>
          <a:prstGeom prst="ellipse">
            <a:avLst/>
          </a:prstGeom>
          <a:solidFill>
            <a:srgbClr val="F0F6FA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F3F2F1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45206" y="4848149"/>
            <a:ext cx="2800807" cy="533095"/>
          </a:xfrm>
          <a:prstGeom prst="roundRect">
            <a:avLst>
              <a:gd name="adj" fmla="val 153149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93008" y="5020056"/>
            <a:ext cx="190195" cy="1901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22746" y="4848149"/>
            <a:ext cx="2523744" cy="533095"/>
          </a:xfrm>
          <a:prstGeom prst="roundRect">
            <a:avLst>
              <a:gd name="adj" fmla="val 153149"/>
            </a:avLst>
          </a:prstGeom>
          <a:solidFill>
            <a:srgbClr val="FFFFFF"/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70548" y="5020056"/>
            <a:ext cx="190195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457700" y="2467051"/>
            <a:ext cx="37344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1" name="Text 7"/>
          <p:cNvSpPr txBox="1"/>
          <p:nvPr/>
        </p:nvSpPr>
        <p:spPr>
          <a:xfrm>
            <a:off x="2971800" y="3504895"/>
            <a:ext cx="64200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are now open for questions and discussion regarding the automated meeting minutes generation workflow.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826764" y="5009998"/>
            <a:ext cx="20866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contact@organization.com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003390" y="5009998"/>
            <a:ext cx="1810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846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www.organization.com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524805" y="902513"/>
            <a:ext cx="1143000" cy="1143000"/>
          </a:xfrm>
          <a:prstGeom prst="ellipse">
            <a:avLst/>
          </a:prstGeom>
          <a:solidFill>
            <a:srgbClr val="0078D4"/>
          </a:solidFill>
          <a:ln/>
          <a:effectLst>
            <a:outerShdw sx="100000" sy="100000" kx="0" ky="0" algn="bl" rotWithShape="0" blurRad="241300" dist="101600" dir="5400000">
              <a:srgbClr val="0078d4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365" r="-365" t="0" b="0"/>
          <a:stretch/>
        </p:blipFill>
        <p:spPr>
          <a:xfrm>
            <a:off x="5796382" y="1236269"/>
            <a:ext cx="599846" cy="47640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E1DFDD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1277295" y="6486754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l="0" r="0" t="397" b="396"/>
          <a:stretch/>
        </p:blipFill>
        <p:spPr>
          <a:xfrm>
            <a:off x="761695" y="6462979"/>
            <a:ext cx="209398" cy="2286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1809598"/>
            <a:ext cx="11048695" cy="4858207"/>
          </a:xfrm>
          <a:prstGeom prst="roundRect">
            <a:avLst>
              <a:gd name="adj" fmla="val 443"/>
            </a:avLst>
          </a:prstGeom>
          <a:solidFill>
            <a:srgbClr val="FAF9F8"/>
          </a:solidFill>
          <a:ln w="12700">
            <a:solidFill>
              <a:srgbClr val="EDEBE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0644" y="1819656"/>
            <a:ext cx="11030407" cy="4839005"/>
          </a:xfrm>
          <a:prstGeom prst="rect">
            <a:avLst/>
          </a:prstGeom>
          <a:solidFill>
            <a:srgbClr val="201F1F"/>
          </a:solidFill>
          <a:ln/>
        </p:spPr>
      </p:sp>
      <p:sp>
        <p:nvSpPr>
          <p:cNvPr id="6" name="Shape 4"/>
          <p:cNvSpPr/>
          <p:nvPr/>
        </p:nvSpPr>
        <p:spPr>
          <a:xfrm>
            <a:off x="771754" y="2009851"/>
            <a:ext cx="3486607" cy="2085746"/>
          </a:xfrm>
          <a:prstGeom prst="roundRect">
            <a:avLst>
              <a:gd name="adj" fmla="val 1601"/>
            </a:avLst>
          </a:prstGeom>
          <a:solidFill>
            <a:srgbClr val="3B3A3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77" b="-177"/>
          <a:stretch/>
        </p:blipFill>
        <p:spPr>
          <a:xfrm>
            <a:off x="2352751" y="2866644"/>
            <a:ext cx="323698" cy="37124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52544" y="2009851"/>
            <a:ext cx="3486607" cy="2085746"/>
          </a:xfrm>
          <a:prstGeom prst="roundRect">
            <a:avLst>
              <a:gd name="adj" fmla="val 1601"/>
            </a:avLst>
          </a:prstGeom>
          <a:solidFill>
            <a:srgbClr val="3B3A3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77" b="-177"/>
          <a:stretch/>
        </p:blipFill>
        <p:spPr>
          <a:xfrm>
            <a:off x="5934456" y="2866644"/>
            <a:ext cx="323698" cy="37124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934249" y="2009851"/>
            <a:ext cx="3486607" cy="2085746"/>
          </a:xfrm>
          <a:prstGeom prst="roundRect">
            <a:avLst>
              <a:gd name="adj" fmla="val 1601"/>
            </a:avLst>
          </a:prstGeom>
          <a:solidFill>
            <a:srgbClr val="3B3A3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77" b="-177"/>
          <a:stretch/>
        </p:blipFill>
        <p:spPr>
          <a:xfrm>
            <a:off x="9515246" y="2866644"/>
            <a:ext cx="323698" cy="37124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71754" y="4190695"/>
            <a:ext cx="3486607" cy="2085746"/>
          </a:xfrm>
          <a:prstGeom prst="roundRect">
            <a:avLst>
              <a:gd name="adj" fmla="val 1601"/>
            </a:avLst>
          </a:prstGeom>
          <a:solidFill>
            <a:srgbClr val="3B3A3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77" b="-177"/>
          <a:stretch/>
        </p:blipFill>
        <p:spPr>
          <a:xfrm>
            <a:off x="2352751" y="5048402"/>
            <a:ext cx="323698" cy="37124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352544" y="4190695"/>
            <a:ext cx="3486607" cy="2085746"/>
          </a:xfrm>
          <a:prstGeom prst="roundRect">
            <a:avLst>
              <a:gd name="adj" fmla="val 1601"/>
            </a:avLst>
          </a:prstGeom>
          <a:solidFill>
            <a:srgbClr val="3B3A39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77" b="-177"/>
          <a:stretch/>
        </p:blipFill>
        <p:spPr>
          <a:xfrm>
            <a:off x="5934456" y="5048402"/>
            <a:ext cx="323698" cy="37124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7934249" y="4190695"/>
            <a:ext cx="3486607" cy="2085746"/>
          </a:xfrm>
          <a:prstGeom prst="roundRect">
            <a:avLst>
              <a:gd name="adj" fmla="val 1601"/>
            </a:avLst>
          </a:prstGeom>
          <a:solidFill>
            <a:srgbClr val="3B3A39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77" b="-177"/>
          <a:stretch/>
        </p:blipFill>
        <p:spPr>
          <a:xfrm>
            <a:off x="9515246" y="5048402"/>
            <a:ext cx="323698" cy="37124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71500" y="6495898"/>
            <a:ext cx="2286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Click 'Next Step' to simulate the workflow</a:t>
            </a:r>
            <a:endParaRPr lang="en-US" sz="900" dirty="0"/>
          </a:p>
        </p:txBody>
      </p:sp>
      <p:sp>
        <p:nvSpPr>
          <p:cNvPr id="19" name="Text 11"/>
          <p:cNvSpPr txBox="1"/>
          <p:nvPr/>
        </p:nvSpPr>
        <p:spPr>
          <a:xfrm>
            <a:off x="571500" y="304495"/>
            <a:ext cx="3943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Prototype</a:t>
            </a:r>
            <a:endParaRPr lang="en-US" sz="2700" dirty="0"/>
          </a:p>
        </p:txBody>
      </p:sp>
      <p:sp>
        <p:nvSpPr>
          <p:cNvPr id="20" name="Text 12"/>
          <p:cNvSpPr txBox="1"/>
          <p:nvPr/>
        </p:nvSpPr>
        <p:spPr>
          <a:xfrm>
            <a:off x="571500" y="809244"/>
            <a:ext cx="35149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Experience the automated end-to-end workflow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1441094" y="1314907"/>
            <a:ext cx="304495" cy="304495"/>
          </a:xfrm>
          <a:prstGeom prst="ellipse">
            <a:avLst/>
          </a:prstGeom>
          <a:solidFill>
            <a:srgbClr val="0078D4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1555394" y="136702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2898648" y="1457554"/>
            <a:ext cx="381305" cy="19202"/>
          </a:xfrm>
          <a:prstGeom prst="rect">
            <a:avLst/>
          </a:prstGeom>
          <a:solidFill>
            <a:srgbClr val="C8C6C4"/>
          </a:solidFill>
          <a:ln/>
        </p:spPr>
      </p:sp>
      <p:sp>
        <p:nvSpPr>
          <p:cNvPr id="24" name="Shape 16"/>
          <p:cNvSpPr/>
          <p:nvPr/>
        </p:nvSpPr>
        <p:spPr>
          <a:xfrm>
            <a:off x="4717390" y="1457554"/>
            <a:ext cx="381305" cy="19202"/>
          </a:xfrm>
          <a:prstGeom prst="rect">
            <a:avLst/>
          </a:prstGeom>
          <a:solidFill>
            <a:srgbClr val="C8C6C4"/>
          </a:solidFill>
          <a:ln/>
        </p:spPr>
      </p:sp>
      <p:sp>
        <p:nvSpPr>
          <p:cNvPr id="25" name="Shape 17"/>
          <p:cNvSpPr/>
          <p:nvPr/>
        </p:nvSpPr>
        <p:spPr>
          <a:xfrm>
            <a:off x="6897319" y="1457554"/>
            <a:ext cx="381305" cy="19202"/>
          </a:xfrm>
          <a:prstGeom prst="rect">
            <a:avLst/>
          </a:prstGeom>
          <a:solidFill>
            <a:srgbClr val="C8C6C4"/>
          </a:solidFill>
          <a:ln/>
        </p:spPr>
      </p:sp>
      <p:sp>
        <p:nvSpPr>
          <p:cNvPr id="26" name="Shape 18"/>
          <p:cNvSpPr/>
          <p:nvPr/>
        </p:nvSpPr>
        <p:spPr>
          <a:xfrm>
            <a:off x="9103766" y="1457554"/>
            <a:ext cx="381305" cy="19202"/>
          </a:xfrm>
          <a:prstGeom prst="rect">
            <a:avLst/>
          </a:prstGeom>
          <a:solidFill>
            <a:srgbClr val="C8C6C4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1841602" y="1376172"/>
            <a:ext cx="967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4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Ends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3470148" y="1314907"/>
            <a:ext cx="304495" cy="304495"/>
          </a:xfrm>
          <a:prstGeom prst="ellipse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605E5C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3584448" y="136702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5E5C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3869741" y="1376172"/>
            <a:ext cx="7580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423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Transcript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288890" y="1314907"/>
            <a:ext cx="304495" cy="304495"/>
          </a:xfrm>
          <a:prstGeom prst="ellipse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605E5C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5403190" y="136702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5E5C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5688482" y="1376172"/>
            <a:ext cx="1119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423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Copilot Analysis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7468819" y="1314907"/>
            <a:ext cx="304495" cy="304495"/>
          </a:xfrm>
          <a:prstGeom prst="ellipse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605E5C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7582205" y="136702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5E5C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7868412" y="137617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423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MoM Generated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9675266" y="1314907"/>
            <a:ext cx="304495" cy="304495"/>
          </a:xfrm>
          <a:prstGeom prst="ellipse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605E5C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9789566" y="136702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5E5C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10074859" y="1376172"/>
            <a:ext cx="7763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423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Sent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1" name="Shape 33"/>
          <p:cNvSpPr/>
          <p:nvPr/>
        </p:nvSpPr>
        <p:spPr>
          <a:xfrm>
            <a:off x="580644" y="1819656"/>
            <a:ext cx="11030407" cy="4839005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2" name="Shape 34"/>
          <p:cNvSpPr/>
          <p:nvPr/>
        </p:nvSpPr>
        <p:spPr>
          <a:xfrm>
            <a:off x="5404104" y="4490618"/>
            <a:ext cx="1390802" cy="418795"/>
          </a:xfrm>
          <a:prstGeom prst="roundRect">
            <a:avLst>
              <a:gd name="adj" fmla="val 19849"/>
            </a:avLst>
          </a:prstGeom>
          <a:solidFill>
            <a:srgbClr val="6264A7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4965192" y="3586277"/>
            <a:ext cx="24963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Ended</a:t>
            </a:r>
            <a:endParaRPr lang="en-US" sz="2400" dirty="0"/>
          </a:p>
        </p:txBody>
      </p:sp>
      <p:sp>
        <p:nvSpPr>
          <p:cNvPr id="44" name="Text 36"/>
          <p:cNvSpPr txBox="1"/>
          <p:nvPr/>
        </p:nvSpPr>
        <p:spPr>
          <a:xfrm>
            <a:off x="4280306" y="4129430"/>
            <a:ext cx="37536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organizer has ended the meeting for everyone.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5632704" y="4595774"/>
            <a:ext cx="1047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 to Chat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8829446" y="6133795"/>
            <a:ext cx="1285646" cy="437998"/>
          </a:xfrm>
          <a:prstGeom prst="roundRect">
            <a:avLst>
              <a:gd name="adj" fmla="val 18154"/>
            </a:avLst>
          </a:prstGeom>
          <a:solidFill>
            <a:srgbClr val="FFFFFF"/>
          </a:solidFill>
          <a:ln w="12700">
            <a:solidFill>
              <a:srgbClr val="C8C6C4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80" b="-180"/>
          <a:stretch/>
        </p:blipFill>
        <p:spPr>
          <a:xfrm>
            <a:off x="9067190" y="6277356"/>
            <a:ext cx="95098" cy="152705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9239098" y="6238951"/>
            <a:ext cx="752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C6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Previous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10254996" y="6133795"/>
            <a:ext cx="1371600" cy="437998"/>
          </a:xfrm>
          <a:prstGeom prst="roundRect">
            <a:avLst>
              <a:gd name="adj" fmla="val 18154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10492740" y="6238951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Step</a:t>
            </a:r>
            <a:endParaRPr lang="en-US" sz="120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11287354" y="6277356"/>
            <a:ext cx="95098" cy="152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2025-12-15T10:41:54Z</dcterms:created>
  <dcterms:modified xsi:type="dcterms:W3CDTF">2025-12-15T10:41:54Z</dcterms:modified>
</cp:coreProperties>
</file>