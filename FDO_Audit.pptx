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1.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slideLayout" Target="../slideLayouts/slideLayout1.xml"/><Relationship Id="rId1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image" Target="../media/image-15-14.png"/><Relationship Id="rId15" Type="http://schemas.openxmlformats.org/officeDocument/2006/relationships/image" Target="../media/image-15-15.png"/><Relationship Id="rId16" Type="http://schemas.openxmlformats.org/officeDocument/2006/relationships/image" Target="../media/image-15-16.png"/><Relationship Id="rId17" Type="http://schemas.openxmlformats.org/officeDocument/2006/relationships/image" Target="../media/image-15-17.png"/><Relationship Id="rId18" Type="http://schemas.openxmlformats.org/officeDocument/2006/relationships/slideLayout" Target="../slideLayouts/slideLayout1.xml"/><Relationship Id="rId1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image" Target="../media/image-16-15.png"/><Relationship Id="rId16" Type="http://schemas.openxmlformats.org/officeDocument/2006/relationships/slideLayout" Target="../slideLayouts/slideLayout1.xml"/><Relationship Id="rId1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slideLayout" Target="../slideLayouts/slideLayout1.xml"/><Relationship Id="rId1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slideLayout" Target="../slideLayouts/slideLayout1.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slideLayout" Target="../slideLayouts/slideLayout1.xml"/><Relationship Id="rId1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slideLayout" Target="../slideLayouts/slideLayout1.xml"/><Relationship Id="rId1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78D4"/>
          </a:solidFill>
          <a:ln/>
        </p:spPr>
      </p:sp>
      <p:sp>
        <p:nvSpPr>
          <p:cNvPr id="3" name="Shape 1"/>
          <p:cNvSpPr/>
          <p:nvPr/>
        </p:nvSpPr>
        <p:spPr>
          <a:xfrm>
            <a:off x="-952805" y="-952805"/>
            <a:ext cx="5715000" cy="5715000"/>
          </a:xfrm>
          <a:prstGeom prst="ellipse">
            <a:avLst/>
          </a:prstGeom>
          <a:solidFill>
            <a:srgbClr val="FFFFFF">
              <a:alpha val="5000"/>
            </a:srgbClr>
          </a:solidFill>
          <a:ln/>
        </p:spPr>
      </p:sp>
      <p:sp>
        <p:nvSpPr>
          <p:cNvPr id="4" name="Shape 2"/>
          <p:cNvSpPr/>
          <p:nvPr/>
        </p:nvSpPr>
        <p:spPr>
          <a:xfrm>
            <a:off x="4876495" y="3524098"/>
            <a:ext cx="2857500" cy="2857500"/>
          </a:xfrm>
          <a:prstGeom prst="ellipse">
            <a:avLst/>
          </a:prstGeom>
          <a:solidFill>
            <a:srgbClr val="FFFFFF">
              <a:alpha val="5000"/>
            </a:srgbClr>
          </a:solidFill>
          <a:ln/>
        </p:spPr>
      </p:sp>
      <p:sp>
        <p:nvSpPr>
          <p:cNvPr id="5" name="Shape 3"/>
          <p:cNvSpPr/>
          <p:nvPr/>
        </p:nvSpPr>
        <p:spPr>
          <a:xfrm>
            <a:off x="7315200" y="0"/>
            <a:ext cx="4876495" cy="6858000"/>
          </a:xfrm>
          <a:prstGeom prst="rect">
            <a:avLst/>
          </a:prstGeom>
          <a:solidFill>
            <a:srgbClr val="005A9E"/>
          </a:solidFill>
          <a:ln/>
        </p:spPr>
      </p:sp>
      <p:pic>
        <p:nvPicPr>
          <p:cNvPr id="6" name="Image 0" descr="preencoded.png">    </p:cNvPr>
          <p:cNvPicPr>
            <a:picLocks noChangeAspect="1"/>
          </p:cNvPicPr>
          <p:nvPr/>
        </p:nvPicPr>
        <p:blipFill>
          <a:blip r:embed="rId1"/>
          <a:srcRect l="-5" r="-5" t="0" b="0"/>
          <a:stretch/>
        </p:blipFill>
        <p:spPr>
          <a:xfrm>
            <a:off x="8682228" y="2572207"/>
            <a:ext cx="2143354" cy="1714500"/>
          </a:xfrm>
          <a:prstGeom prst="rect">
            <a:avLst/>
          </a:prstGeom>
        </p:spPr>
      </p:pic>
      <p:sp>
        <p:nvSpPr>
          <p:cNvPr id="7" name="Text 4"/>
          <p:cNvSpPr txBox="1"/>
          <p:nvPr/>
        </p:nvSpPr>
        <p:spPr>
          <a:xfrm>
            <a:off x="761695" y="657454"/>
            <a:ext cx="5220310" cy="1886407"/>
          </a:xfrm>
          <a:prstGeom prst="rect">
            <a:avLst/>
          </a:prstGeom>
          <a:noFill/>
          <a:ln/>
        </p:spPr>
        <p:txBody>
          <a:bodyPr wrap="square" lIns="0" tIns="0" rIns="0" bIns="0" rtlCol="0" anchor="ctr"/>
          <a:lstStyle/>
          <a:p>
            <a:pPr algn="l" indent="0" marL="0">
              <a:buNone/>
            </a:pPr>
            <a:r>
              <a:rPr lang="en-US" sz="4200" b="1" dirty="0">
                <a:solidFill>
                  <a:srgbClr val="FFFFFF"/>
                </a:solidFill>
                <a:latin typeface="Segoe UI" pitchFamily="34" charset="0"/>
                <a:ea typeface="Segoe UI" pitchFamily="34" charset="-122"/>
                <a:cs typeface="Segoe UI" pitchFamily="34" charset="-120"/>
              </a:rPr>
              <a:t>Automated Weekly Audit Report Email Distribution</a:t>
            </a:r>
            <a:endParaRPr lang="en-US" sz="4200" dirty="0"/>
          </a:p>
        </p:txBody>
      </p:sp>
      <p:pic>
        <p:nvPicPr>
          <p:cNvPr id="8" name="Image 1" descr="preencoded.png">    </p:cNvPr>
          <p:cNvPicPr>
            <a:picLocks noChangeAspect="1"/>
          </p:cNvPicPr>
          <p:nvPr/>
        </p:nvPicPr>
        <p:blipFill>
          <a:blip r:embed="rId2">
            <a:alphaModFix amt="90000"/>
          </a:blip>
          <a:srcRect l="0" r="0" t="0" b="0"/>
          <a:stretch/>
        </p:blipFill>
        <p:spPr>
          <a:xfrm>
            <a:off x="761695" y="57607"/>
            <a:ext cx="228600" cy="228600"/>
          </a:xfrm>
          <a:prstGeom prst="rect">
            <a:avLst/>
          </a:prstGeom>
        </p:spPr>
      </p:pic>
      <p:sp>
        <p:nvSpPr>
          <p:cNvPr id="9" name="Text 5"/>
          <p:cNvSpPr txBox="1"/>
          <p:nvPr/>
        </p:nvSpPr>
        <p:spPr>
          <a:xfrm>
            <a:off x="1104595" y="19202"/>
            <a:ext cx="3219602" cy="305410"/>
          </a:xfrm>
          <a:prstGeom prst="rect">
            <a:avLst/>
          </a:prstGeom>
          <a:noFill/>
          <a:ln/>
        </p:spPr>
        <p:txBody>
          <a:bodyPr wrap="square" lIns="0" tIns="0" rIns="0" bIns="0" rtlCol="0" anchor="ctr"/>
          <a:lstStyle/>
          <a:p>
            <a:pPr algn="l" indent="0" marL="0">
              <a:buNone/>
            </a:pPr>
            <a:r>
              <a:rPr lang="en-US" sz="1800" b="1" dirty="0">
                <a:solidFill>
                  <a:srgbClr val="FFFFFF">
                    <a:alpha val="90000"/>
                  </a:srgbClr>
                </a:solidFill>
                <a:latin typeface="Segoe UI" pitchFamily="34" charset="0"/>
                <a:ea typeface="Segoe UI" pitchFamily="34" charset="-122"/>
                <a:cs typeface="Segoe UI" pitchFamily="34" charset="-120"/>
              </a:rPr>
              <a:t>Factory Delivery Orchestrator</a:t>
            </a:r>
            <a:endParaRPr lang="en-US" sz="1800" dirty="0"/>
          </a:p>
        </p:txBody>
      </p:sp>
      <p:sp>
        <p:nvSpPr>
          <p:cNvPr id="10" name="Shape 6"/>
          <p:cNvSpPr/>
          <p:nvPr/>
        </p:nvSpPr>
        <p:spPr>
          <a:xfrm>
            <a:off x="761695" y="2712110"/>
            <a:ext cx="38405" cy="1123798"/>
          </a:xfrm>
          <a:prstGeom prst="rect">
            <a:avLst/>
          </a:prstGeom>
          <a:solidFill>
            <a:srgbClr val="50E6FF"/>
          </a:solidFill>
          <a:ln/>
        </p:spPr>
      </p:sp>
      <p:sp>
        <p:nvSpPr>
          <p:cNvPr id="11" name="Text 7"/>
          <p:cNvSpPr txBox="1"/>
          <p:nvPr/>
        </p:nvSpPr>
        <p:spPr>
          <a:xfrm>
            <a:off x="990295" y="2722169"/>
            <a:ext cx="5972861" cy="1105510"/>
          </a:xfrm>
          <a:prstGeom prst="rect">
            <a:avLst/>
          </a:prstGeom>
          <a:noFill/>
          <a:ln/>
        </p:spPr>
        <p:txBody>
          <a:bodyPr wrap="square" lIns="0" tIns="0" rIns="0" bIns="0" rtlCol="0" anchor="ctr"/>
          <a:lstStyle/>
          <a:p>
            <a:pPr algn="l" indent="0" marL="0">
              <a:buNone/>
            </a:pPr>
            <a:r>
              <a:rPr lang="en-US" sz="2100" dirty="0">
                <a:solidFill>
                  <a:srgbClr val="FFFFFF">
                    <a:alpha val="90000"/>
                  </a:srgbClr>
                </a:solidFill>
                <a:latin typeface="Segoe UI" pitchFamily="34" charset="0"/>
                <a:ea typeface="Segoe UI" pitchFamily="34" charset="-122"/>
                <a:cs typeface="Segoe UI" pitchFamily="34" charset="-120"/>
              </a:rPr>
              <a:t>Streamlining compliance with automated extraction, summarization, and distribution of critical audit insights.</a:t>
            </a:r>
            <a:endParaRPr lang="en-US" sz="2100" dirty="0"/>
          </a:p>
        </p:txBody>
      </p:sp>
      <p:pic>
        <p:nvPicPr>
          <p:cNvPr id="12" name="Image 2" descr="preencoded.png">    </p:cNvPr>
          <p:cNvPicPr>
            <a:picLocks noChangeAspect="1"/>
          </p:cNvPicPr>
          <p:nvPr/>
        </p:nvPicPr>
        <p:blipFill>
          <a:blip r:embed="rId3">
            <a:alphaModFix amt="80000"/>
          </a:blip>
          <a:srcRect l="0" r="0" t="-43" b="-43"/>
          <a:stretch/>
        </p:blipFill>
        <p:spPr>
          <a:xfrm>
            <a:off x="761695" y="6096305"/>
            <a:ext cx="133502" cy="152705"/>
          </a:xfrm>
          <a:prstGeom prst="rect">
            <a:avLst/>
          </a:prstGeom>
        </p:spPr>
      </p:pic>
      <p:pic>
        <p:nvPicPr>
          <p:cNvPr id="13" name="Image 3" descr="preencoded.png">    </p:cNvPr>
          <p:cNvPicPr>
            <a:picLocks noChangeAspect="1"/>
          </p:cNvPicPr>
          <p:nvPr/>
        </p:nvPicPr>
        <p:blipFill>
          <a:blip r:embed="rId4">
            <a:alphaModFix amt="80000"/>
          </a:blip>
          <a:srcRect l="0" r="0" t="-180" b="-180"/>
          <a:stretch/>
        </p:blipFill>
        <p:spPr>
          <a:xfrm>
            <a:off x="3796589" y="6096305"/>
            <a:ext cx="190195" cy="152705"/>
          </a:xfrm>
          <a:prstGeom prst="rect">
            <a:avLst/>
          </a:prstGeom>
        </p:spPr>
      </p:pic>
      <p:sp>
        <p:nvSpPr>
          <p:cNvPr id="14" name="Text 8"/>
          <p:cNvSpPr txBox="1"/>
          <p:nvPr/>
        </p:nvSpPr>
        <p:spPr>
          <a:xfrm>
            <a:off x="990295" y="6067044"/>
            <a:ext cx="2543861" cy="200254"/>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Segoe UI" pitchFamily="34" charset="0"/>
                <a:ea typeface="Segoe UI" pitchFamily="34" charset="-122"/>
                <a:cs typeface="Segoe UI" pitchFamily="34" charset="-120"/>
              </a:rPr>
              <a:t>Weekly Schedule: Mondays 9:00 AM</a:t>
            </a:r>
            <a:endParaRPr lang="en-US" sz="1200" dirty="0"/>
          </a:p>
        </p:txBody>
      </p:sp>
      <p:sp>
        <p:nvSpPr>
          <p:cNvPr id="15" name="Text 9"/>
          <p:cNvSpPr txBox="1"/>
          <p:nvPr/>
        </p:nvSpPr>
        <p:spPr>
          <a:xfrm>
            <a:off x="4081882" y="6067044"/>
            <a:ext cx="2572207" cy="200254"/>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Segoe UI" pitchFamily="34" charset="0"/>
                <a:ea typeface="Segoe UI" pitchFamily="34" charset="-122"/>
                <a:cs typeface="Segoe UI" pitchFamily="34" charset="-120"/>
              </a:rPr>
              <a:t>For: Audit, Compliance &amp; Leadership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0"/>
            <a:ext cx="12191695" cy="75895"/>
          </a:xfrm>
          <a:prstGeom prst="rect">
            <a:avLst/>
          </a:prstGeom>
          <a:solidFill>
            <a:srgbClr val="0078D4"/>
          </a:solidFill>
          <a:ln/>
        </p:spPr>
      </p:sp>
      <p:sp>
        <p:nvSpPr>
          <p:cNvPr id="5" name="Text 3"/>
          <p:cNvSpPr txBox="1"/>
          <p:nvPr/>
        </p:nvSpPr>
        <p:spPr>
          <a:xfrm>
            <a:off x="571500" y="485546"/>
            <a:ext cx="3738982" cy="534010"/>
          </a:xfrm>
          <a:prstGeom prst="rect">
            <a:avLst/>
          </a:prstGeom>
          <a:noFill/>
          <a:ln/>
        </p:spPr>
        <p:txBody>
          <a:bodyPr wrap="square" lIns="0" tIns="0" rIns="0" bIns="0" rtlCol="0" anchor="ctr"/>
          <a:lstStyle/>
          <a:p>
            <a:pPr algn="l" indent="0" marL="0">
              <a:buNone/>
            </a:pPr>
            <a:r>
              <a:rPr lang="en-US" sz="3100" b="1" dirty="0">
                <a:solidFill>
                  <a:srgbClr val="242424"/>
                </a:solidFill>
                <a:latin typeface="Segoe UI" pitchFamily="34" charset="0"/>
                <a:ea typeface="Segoe UI" pitchFamily="34" charset="-122"/>
                <a:cs typeface="Segoe UI" pitchFamily="34" charset="-120"/>
              </a:rPr>
              <a:t>Use Case Overview</a:t>
            </a:r>
            <a:endParaRPr lang="en-US" sz="3100" dirty="0"/>
          </a:p>
        </p:txBody>
      </p:sp>
      <p:sp>
        <p:nvSpPr>
          <p:cNvPr id="6" name="Text 4"/>
          <p:cNvSpPr txBox="1"/>
          <p:nvPr/>
        </p:nvSpPr>
        <p:spPr>
          <a:xfrm>
            <a:off x="9509760" y="652882"/>
            <a:ext cx="2229307" cy="200254"/>
          </a:xfrm>
          <a:prstGeom prst="rect">
            <a:avLst/>
          </a:prstGeom>
          <a:noFill/>
          <a:ln/>
        </p:spPr>
        <p:txBody>
          <a:bodyPr wrap="square" lIns="0" tIns="0" rIns="0" bIns="0" rtlCol="0" anchor="ctr"/>
          <a:lstStyle/>
          <a:p>
            <a:pPr algn="l" indent="0" marL="0">
              <a:buNone/>
            </a:pPr>
            <a:r>
              <a:rPr lang="en-US" sz="1200" dirty="0">
                <a:solidFill>
                  <a:srgbClr val="666666"/>
                </a:solidFill>
                <a:latin typeface="Segoe UI" pitchFamily="34" charset="0"/>
                <a:ea typeface="Segoe UI" pitchFamily="34" charset="-122"/>
                <a:cs typeface="Segoe UI" pitchFamily="34" charset="-120"/>
              </a:rPr>
              <a:t>FDO Automation / Introduction</a:t>
            </a:r>
            <a:endParaRPr lang="en-US" sz="1200" dirty="0"/>
          </a:p>
        </p:txBody>
      </p:sp>
      <p:sp>
        <p:nvSpPr>
          <p:cNvPr id="7" name="Shape 5"/>
          <p:cNvSpPr/>
          <p:nvPr/>
        </p:nvSpPr>
        <p:spPr>
          <a:xfrm>
            <a:off x="571500" y="1442923"/>
            <a:ext cx="533095" cy="533095"/>
          </a:xfrm>
          <a:prstGeom prst="roundRect">
            <a:avLst>
              <a:gd name="adj" fmla="val 24504"/>
            </a:avLst>
          </a:prstGeom>
          <a:solidFill>
            <a:srgbClr val="EFF6FC"/>
          </a:solidFill>
          <a:ln/>
        </p:spPr>
      </p:sp>
      <p:pic>
        <p:nvPicPr>
          <p:cNvPr id="8" name="Image 0" descr="preencoded.png">    </p:cNvPr>
          <p:cNvPicPr>
            <a:picLocks noChangeAspect="1"/>
          </p:cNvPicPr>
          <p:nvPr/>
        </p:nvPicPr>
        <p:blipFill>
          <a:blip r:embed="rId1"/>
          <a:srcRect l="0" r="0" t="-45" b="-45"/>
          <a:stretch/>
        </p:blipFill>
        <p:spPr>
          <a:xfrm>
            <a:off x="709574" y="1595628"/>
            <a:ext cx="256946" cy="228600"/>
          </a:xfrm>
          <a:prstGeom prst="rect">
            <a:avLst/>
          </a:prstGeom>
        </p:spPr>
      </p:pic>
      <p:sp>
        <p:nvSpPr>
          <p:cNvPr id="9" name="Text 6"/>
          <p:cNvSpPr txBox="1"/>
          <p:nvPr/>
        </p:nvSpPr>
        <p:spPr>
          <a:xfrm>
            <a:off x="1295705" y="1452982"/>
            <a:ext cx="3557930" cy="286207"/>
          </a:xfrm>
          <a:prstGeom prst="rect">
            <a:avLst/>
          </a:prstGeom>
          <a:noFill/>
          <a:ln/>
        </p:spPr>
        <p:txBody>
          <a:bodyPr wrap="square" lIns="0" tIns="0" rIns="0" bIns="0" rtlCol="0" anchor="ctr"/>
          <a:lstStyle/>
          <a:p>
            <a:pPr algn="l" indent="0" marL="0">
              <a:buNone/>
            </a:pPr>
            <a:r>
              <a:rPr lang="en-US" sz="1600" b="1" dirty="0">
                <a:solidFill>
                  <a:srgbClr val="323130"/>
                </a:solidFill>
                <a:latin typeface="Segoe UI" pitchFamily="34" charset="0"/>
                <a:ea typeface="Segoe UI" pitchFamily="34" charset="-122"/>
                <a:cs typeface="Segoe UI" pitchFamily="34" charset="-120"/>
              </a:rPr>
              <a:t>Factory Delivery Orchestrator (FDO)</a:t>
            </a:r>
            <a:endParaRPr lang="en-US" sz="1600" dirty="0"/>
          </a:p>
        </p:txBody>
      </p:sp>
      <p:sp>
        <p:nvSpPr>
          <p:cNvPr id="10" name="Text 7"/>
          <p:cNvSpPr txBox="1"/>
          <p:nvPr/>
        </p:nvSpPr>
        <p:spPr>
          <a:xfrm>
            <a:off x="1295705" y="1824228"/>
            <a:ext cx="4653382" cy="486461"/>
          </a:xfrm>
          <a:prstGeom prst="rect">
            <a:avLst/>
          </a:prstGeom>
          <a:noFill/>
          <a:ln/>
        </p:spPr>
        <p:txBody>
          <a:bodyPr wrap="square" lIns="0" tIns="0" rIns="0" bIns="0" rtlCol="0" anchor="ctr"/>
          <a:lstStyle/>
          <a:p>
            <a:pPr algn="l" indent="0" marL="0">
              <a:buNone/>
            </a:pPr>
            <a:r>
              <a:rPr lang="en-US" sz="1300" dirty="0">
                <a:solidFill>
                  <a:srgbClr val="605E5C"/>
                </a:solidFill>
                <a:latin typeface="Segoe UI" pitchFamily="34" charset="0"/>
                <a:ea typeface="Segoe UI" pitchFamily="34" charset="-122"/>
                <a:cs typeface="Segoe UI" pitchFamily="34" charset="-120"/>
              </a:rPr>
              <a:t>Serves as the central hub for tracking delivery, compliance, and execution metrics across organizational projects.</a:t>
            </a:r>
            <a:endParaRPr lang="en-US" sz="1300" dirty="0"/>
          </a:p>
        </p:txBody>
      </p:sp>
      <p:sp>
        <p:nvSpPr>
          <p:cNvPr id="11" name="Shape 8"/>
          <p:cNvSpPr/>
          <p:nvPr/>
        </p:nvSpPr>
        <p:spPr>
          <a:xfrm>
            <a:off x="571500" y="2633472"/>
            <a:ext cx="533095" cy="533095"/>
          </a:xfrm>
          <a:prstGeom prst="roundRect">
            <a:avLst>
              <a:gd name="adj" fmla="val 24504"/>
            </a:avLst>
          </a:prstGeom>
          <a:solidFill>
            <a:srgbClr val="EFF6FC"/>
          </a:solidFill>
          <a:ln/>
        </p:spPr>
      </p:sp>
      <p:pic>
        <p:nvPicPr>
          <p:cNvPr id="12" name="Image 1" descr="preencoded.png">    </p:cNvPr>
          <p:cNvPicPr>
            <a:picLocks noChangeAspect="1"/>
          </p:cNvPicPr>
          <p:nvPr/>
        </p:nvPicPr>
        <p:blipFill>
          <a:blip r:embed="rId2"/>
          <a:srcRect l="0" r="0" t="0" b="0"/>
          <a:stretch/>
        </p:blipFill>
        <p:spPr>
          <a:xfrm>
            <a:off x="724205" y="2786177"/>
            <a:ext cx="228600" cy="228600"/>
          </a:xfrm>
          <a:prstGeom prst="rect">
            <a:avLst/>
          </a:prstGeom>
        </p:spPr>
      </p:pic>
      <p:sp>
        <p:nvSpPr>
          <p:cNvPr id="13" name="Text 9"/>
          <p:cNvSpPr txBox="1"/>
          <p:nvPr/>
        </p:nvSpPr>
        <p:spPr>
          <a:xfrm>
            <a:off x="1295705" y="2643530"/>
            <a:ext cx="1510589" cy="286207"/>
          </a:xfrm>
          <a:prstGeom prst="rect">
            <a:avLst/>
          </a:prstGeom>
          <a:noFill/>
          <a:ln/>
        </p:spPr>
        <p:txBody>
          <a:bodyPr wrap="square" lIns="0" tIns="0" rIns="0" bIns="0" rtlCol="0" anchor="ctr"/>
          <a:lstStyle/>
          <a:p>
            <a:pPr algn="l" indent="0" marL="0">
              <a:buNone/>
            </a:pPr>
            <a:r>
              <a:rPr lang="en-US" sz="1600" b="1" dirty="0">
                <a:solidFill>
                  <a:srgbClr val="323130"/>
                </a:solidFill>
                <a:latin typeface="Segoe UI" pitchFamily="34" charset="0"/>
                <a:ea typeface="Segoe UI" pitchFamily="34" charset="-122"/>
                <a:cs typeface="Segoe UI" pitchFamily="34" charset="-120"/>
              </a:rPr>
              <a:t>The Challenge</a:t>
            </a:r>
            <a:endParaRPr lang="en-US" sz="1600" dirty="0"/>
          </a:p>
        </p:txBody>
      </p:sp>
      <p:sp>
        <p:nvSpPr>
          <p:cNvPr id="14" name="Text 10"/>
          <p:cNvSpPr txBox="1"/>
          <p:nvPr/>
        </p:nvSpPr>
        <p:spPr>
          <a:xfrm>
            <a:off x="1295705" y="3014777"/>
            <a:ext cx="4825289" cy="486461"/>
          </a:xfrm>
          <a:prstGeom prst="rect">
            <a:avLst/>
          </a:prstGeom>
          <a:noFill/>
          <a:ln/>
        </p:spPr>
        <p:txBody>
          <a:bodyPr wrap="square" lIns="0" tIns="0" rIns="0" bIns="0" rtlCol="0" anchor="ctr"/>
          <a:lstStyle/>
          <a:p>
            <a:pPr algn="l" indent="0" marL="0">
              <a:buNone/>
            </a:pPr>
            <a:r>
              <a:rPr lang="en-US" sz="1300" dirty="0">
                <a:solidFill>
                  <a:srgbClr val="605E5C"/>
                </a:solidFill>
                <a:latin typeface="Segoe UI" pitchFamily="34" charset="0"/>
                <a:ea typeface="Segoe UI" pitchFamily="34" charset="-122"/>
                <a:cs typeface="Segoe UI" pitchFamily="34" charset="-120"/>
              </a:rPr>
              <a:t>Manual extraction and distribution of critical audit insights is time-consuming, repetitive, and prone to human error.</a:t>
            </a:r>
            <a:endParaRPr lang="en-US" sz="1300" dirty="0"/>
          </a:p>
        </p:txBody>
      </p:sp>
      <p:sp>
        <p:nvSpPr>
          <p:cNvPr id="15" name="Shape 11"/>
          <p:cNvSpPr/>
          <p:nvPr/>
        </p:nvSpPr>
        <p:spPr>
          <a:xfrm>
            <a:off x="571500" y="3824021"/>
            <a:ext cx="533095" cy="533095"/>
          </a:xfrm>
          <a:prstGeom prst="roundRect">
            <a:avLst>
              <a:gd name="adj" fmla="val 24504"/>
            </a:avLst>
          </a:prstGeom>
          <a:solidFill>
            <a:srgbClr val="EFF6FC"/>
          </a:solidFill>
          <a:ln/>
        </p:spPr>
      </p:sp>
      <p:pic>
        <p:nvPicPr>
          <p:cNvPr id="16" name="Image 2" descr="preencoded.png">    </p:cNvPr>
          <p:cNvPicPr>
            <a:picLocks noChangeAspect="1"/>
          </p:cNvPicPr>
          <p:nvPr/>
        </p:nvPicPr>
        <p:blipFill>
          <a:blip r:embed="rId3"/>
          <a:srcRect l="-80" r="-80" t="0" b="0"/>
          <a:stretch/>
        </p:blipFill>
        <p:spPr>
          <a:xfrm>
            <a:off x="694944" y="3976726"/>
            <a:ext cx="286207" cy="228600"/>
          </a:xfrm>
          <a:prstGeom prst="rect">
            <a:avLst/>
          </a:prstGeom>
        </p:spPr>
      </p:pic>
      <p:sp>
        <p:nvSpPr>
          <p:cNvPr id="17" name="Text 12"/>
          <p:cNvSpPr txBox="1"/>
          <p:nvPr/>
        </p:nvSpPr>
        <p:spPr>
          <a:xfrm>
            <a:off x="1295705" y="3834079"/>
            <a:ext cx="1367028" cy="286207"/>
          </a:xfrm>
          <a:prstGeom prst="rect">
            <a:avLst/>
          </a:prstGeom>
          <a:noFill/>
          <a:ln/>
        </p:spPr>
        <p:txBody>
          <a:bodyPr wrap="square" lIns="0" tIns="0" rIns="0" bIns="0" rtlCol="0" anchor="ctr"/>
          <a:lstStyle/>
          <a:p>
            <a:pPr algn="l" indent="0" marL="0">
              <a:buNone/>
            </a:pPr>
            <a:r>
              <a:rPr lang="en-US" sz="1600" b="1" dirty="0">
                <a:solidFill>
                  <a:srgbClr val="323130"/>
                </a:solidFill>
                <a:latin typeface="Segoe UI" pitchFamily="34" charset="0"/>
                <a:ea typeface="Segoe UI" pitchFamily="34" charset="-122"/>
                <a:cs typeface="Segoe UI" pitchFamily="34" charset="-120"/>
              </a:rPr>
              <a:t>The Solution</a:t>
            </a:r>
            <a:endParaRPr lang="en-US" sz="1600" dirty="0"/>
          </a:p>
        </p:txBody>
      </p:sp>
      <p:sp>
        <p:nvSpPr>
          <p:cNvPr id="18" name="Text 13"/>
          <p:cNvSpPr txBox="1"/>
          <p:nvPr/>
        </p:nvSpPr>
        <p:spPr>
          <a:xfrm>
            <a:off x="1295705" y="4205326"/>
            <a:ext cx="4948733" cy="486461"/>
          </a:xfrm>
          <a:prstGeom prst="rect">
            <a:avLst/>
          </a:prstGeom>
          <a:noFill/>
          <a:ln/>
        </p:spPr>
        <p:txBody>
          <a:bodyPr wrap="square" lIns="0" tIns="0" rIns="0" bIns="0" rtlCol="0" anchor="ctr"/>
          <a:lstStyle/>
          <a:p>
            <a:pPr algn="l" indent="0" marL="0">
              <a:buNone/>
            </a:pPr>
            <a:r>
              <a:rPr lang="en-US" sz="1300" dirty="0">
                <a:solidFill>
                  <a:srgbClr val="605E5C"/>
                </a:solidFill>
                <a:latin typeface="Segoe UI" pitchFamily="34" charset="0"/>
                <a:ea typeface="Segoe UI" pitchFamily="34" charset="-122"/>
                <a:cs typeface="Segoe UI" pitchFamily="34" charset="-120"/>
              </a:rPr>
              <a:t>Automated weekly workflows ensure consistent visibility, eliminating manual effort and improving compliance tracking.</a:t>
            </a:r>
            <a:endParaRPr lang="en-US" sz="1300" dirty="0"/>
          </a:p>
        </p:txBody>
      </p:sp>
      <p:sp>
        <p:nvSpPr>
          <p:cNvPr id="19" name="Shape 14"/>
          <p:cNvSpPr/>
          <p:nvPr/>
        </p:nvSpPr>
        <p:spPr>
          <a:xfrm>
            <a:off x="571500" y="5014570"/>
            <a:ext cx="533095" cy="533095"/>
          </a:xfrm>
          <a:prstGeom prst="roundRect">
            <a:avLst>
              <a:gd name="adj" fmla="val 24504"/>
            </a:avLst>
          </a:prstGeom>
          <a:solidFill>
            <a:srgbClr val="EFF6FC"/>
          </a:solidFill>
          <a:ln/>
        </p:spPr>
      </p:sp>
      <p:pic>
        <p:nvPicPr>
          <p:cNvPr id="20" name="Image 3" descr="preencoded.png">    </p:cNvPr>
          <p:cNvPicPr>
            <a:picLocks noChangeAspect="1"/>
          </p:cNvPicPr>
          <p:nvPr/>
        </p:nvPicPr>
        <p:blipFill>
          <a:blip r:embed="rId4"/>
          <a:srcRect l="0" r="0" t="0" b="0"/>
          <a:stretch/>
        </p:blipFill>
        <p:spPr>
          <a:xfrm>
            <a:off x="724205" y="5167274"/>
            <a:ext cx="228600" cy="228600"/>
          </a:xfrm>
          <a:prstGeom prst="rect">
            <a:avLst/>
          </a:prstGeom>
        </p:spPr>
      </p:pic>
      <p:sp>
        <p:nvSpPr>
          <p:cNvPr id="21" name="Text 15"/>
          <p:cNvSpPr txBox="1"/>
          <p:nvPr/>
        </p:nvSpPr>
        <p:spPr>
          <a:xfrm>
            <a:off x="1295705" y="5024628"/>
            <a:ext cx="2186330" cy="286207"/>
          </a:xfrm>
          <a:prstGeom prst="rect">
            <a:avLst/>
          </a:prstGeom>
          <a:noFill/>
          <a:ln/>
        </p:spPr>
        <p:txBody>
          <a:bodyPr wrap="square" lIns="0" tIns="0" rIns="0" bIns="0" rtlCol="0" anchor="ctr"/>
          <a:lstStyle/>
          <a:p>
            <a:pPr algn="l" indent="0" marL="0">
              <a:buNone/>
            </a:pPr>
            <a:r>
              <a:rPr lang="en-US" sz="1600" b="1" dirty="0">
                <a:solidFill>
                  <a:srgbClr val="323130"/>
                </a:solidFill>
                <a:latin typeface="Segoe UI" pitchFamily="34" charset="0"/>
                <a:ea typeface="Segoe UI" pitchFamily="34" charset="-122"/>
                <a:cs typeface="Segoe UI" pitchFamily="34" charset="-120"/>
              </a:rPr>
              <a:t>Scope of Automation</a:t>
            </a:r>
            <a:endParaRPr lang="en-US" sz="1600" dirty="0"/>
          </a:p>
        </p:txBody>
      </p:sp>
      <p:sp>
        <p:nvSpPr>
          <p:cNvPr id="22" name="Text 16"/>
          <p:cNvSpPr txBox="1"/>
          <p:nvPr/>
        </p:nvSpPr>
        <p:spPr>
          <a:xfrm>
            <a:off x="1295705" y="5395874"/>
            <a:ext cx="5224882" cy="486461"/>
          </a:xfrm>
          <a:prstGeom prst="rect">
            <a:avLst/>
          </a:prstGeom>
          <a:noFill/>
          <a:ln/>
        </p:spPr>
        <p:txBody>
          <a:bodyPr wrap="square" lIns="0" tIns="0" rIns="0" bIns="0" rtlCol="0" anchor="ctr"/>
          <a:lstStyle/>
          <a:p>
            <a:pPr algn="l" indent="0" marL="0">
              <a:buNone/>
            </a:pPr>
            <a:r>
              <a:rPr lang="en-US" sz="1300" dirty="0">
                <a:solidFill>
                  <a:srgbClr val="605E5C"/>
                </a:solidFill>
                <a:latin typeface="Segoe UI" pitchFamily="34" charset="0"/>
                <a:ea typeface="Segoe UI" pitchFamily="34" charset="-122"/>
                <a:cs typeface="Segoe UI" pitchFamily="34" charset="-120"/>
              </a:rPr>
              <a:t>Includes weekly data extraction, generation of standardized summaries, and email delivery with PDF/Excel attachments.</a:t>
            </a:r>
            <a:endParaRPr lang="en-US" sz="1300" dirty="0"/>
          </a:p>
        </p:txBody>
      </p:sp>
      <p:sp>
        <p:nvSpPr>
          <p:cNvPr id="23" name="Shape 17"/>
          <p:cNvSpPr/>
          <p:nvPr/>
        </p:nvSpPr>
        <p:spPr>
          <a:xfrm>
            <a:off x="7086600" y="1438351"/>
            <a:ext cx="4533595" cy="4466844"/>
          </a:xfrm>
          <a:prstGeom prst="roundRect">
            <a:avLst>
              <a:gd name="adj" fmla="val 524"/>
            </a:avLst>
          </a:prstGeom>
          <a:solidFill>
            <a:srgbClr val="F8F9FA"/>
          </a:solidFill>
          <a:ln/>
        </p:spPr>
      </p:sp>
      <p:sp>
        <p:nvSpPr>
          <p:cNvPr id="24" name="Shape 18"/>
          <p:cNvSpPr/>
          <p:nvPr/>
        </p:nvSpPr>
        <p:spPr>
          <a:xfrm>
            <a:off x="7372807" y="1855318"/>
            <a:ext cx="3962095" cy="3638398"/>
          </a:xfrm>
          <a:prstGeom prst="roundRect">
            <a:avLst>
              <a:gd name="adj" fmla="val 526"/>
            </a:avLst>
          </a:prstGeom>
          <a:solidFill>
            <a:srgbClr val="FFFFFF"/>
          </a:solidFill>
          <a:ln/>
          <a:effectLst>
            <a:outerShdw sx="100000" sy="100000" kx="0" ky="0" algn="bl" rotWithShape="0" blurRad="114300" dist="38100" dir="5400000">
              <a:srgbClr val="000000">
                <a:alpha val="5000"/>
              </a:srgbClr>
            </a:outerShdw>
          </a:effectLst>
        </p:spPr>
      </p:sp>
      <p:sp>
        <p:nvSpPr>
          <p:cNvPr id="25" name="Shape 19"/>
          <p:cNvSpPr/>
          <p:nvPr/>
        </p:nvSpPr>
        <p:spPr>
          <a:xfrm>
            <a:off x="7372807" y="1855318"/>
            <a:ext cx="3962095" cy="38405"/>
          </a:xfrm>
          <a:prstGeom prst="rect">
            <a:avLst/>
          </a:prstGeom>
          <a:solidFill>
            <a:srgbClr val="0078D4"/>
          </a:solidFill>
          <a:ln/>
        </p:spPr>
      </p:sp>
      <p:sp>
        <p:nvSpPr>
          <p:cNvPr id="26" name="Text 20"/>
          <p:cNvSpPr txBox="1"/>
          <p:nvPr/>
        </p:nvSpPr>
        <p:spPr>
          <a:xfrm>
            <a:off x="8661197" y="2189074"/>
            <a:ext cx="1534363" cy="257861"/>
          </a:xfrm>
          <a:prstGeom prst="rect">
            <a:avLst/>
          </a:prstGeom>
          <a:noFill/>
          <a:ln/>
        </p:spPr>
        <p:txBody>
          <a:bodyPr wrap="square" lIns="0" tIns="0" rIns="0" bIns="0" rtlCol="0" anchor="ctr"/>
          <a:lstStyle/>
          <a:p>
            <a:pPr algn="ctr" indent="0" marL="0">
              <a:buNone/>
            </a:pPr>
            <a:r>
              <a:rPr lang="en-US" sz="1500" dirty="0">
                <a:solidFill>
                  <a:srgbClr val="323130"/>
                </a:solidFill>
                <a:latin typeface="Segoe UI" pitchFamily="34" charset="0"/>
                <a:ea typeface="Segoe UI" pitchFamily="34" charset="-122"/>
                <a:cs typeface="Segoe UI" pitchFamily="34" charset="-120"/>
              </a:rPr>
              <a:t>Automated Flow</a:t>
            </a:r>
            <a:endParaRPr lang="en-US" sz="1500" dirty="0"/>
          </a:p>
        </p:txBody>
      </p:sp>
      <p:sp>
        <p:nvSpPr>
          <p:cNvPr id="27" name="Text 21"/>
          <p:cNvSpPr txBox="1"/>
          <p:nvPr/>
        </p:nvSpPr>
        <p:spPr>
          <a:xfrm>
            <a:off x="8558784" y="2474366"/>
            <a:ext cx="1690726" cy="181051"/>
          </a:xfrm>
          <a:prstGeom prst="rect">
            <a:avLst/>
          </a:prstGeom>
          <a:noFill/>
          <a:ln/>
        </p:spPr>
        <p:txBody>
          <a:bodyPr wrap="square" lIns="0" tIns="0" rIns="0" bIns="0" rtlCol="0" anchor="ctr"/>
          <a:lstStyle/>
          <a:p>
            <a:pPr algn="ctr" indent="0" marL="0">
              <a:buNone/>
            </a:pPr>
            <a:r>
              <a:rPr lang="en-US" sz="1000" dirty="0">
                <a:solidFill>
                  <a:srgbClr val="605E5C"/>
                </a:solidFill>
                <a:latin typeface="Segoe UI" pitchFamily="34" charset="0"/>
                <a:ea typeface="Segoe UI" pitchFamily="34" charset="-122"/>
                <a:cs typeface="Segoe UI" pitchFamily="34" charset="-120"/>
              </a:rPr>
              <a:t>Weekly Recurring Schedule</a:t>
            </a:r>
            <a:endParaRPr lang="en-US" sz="1000" dirty="0"/>
          </a:p>
        </p:txBody>
      </p:sp>
      <p:sp>
        <p:nvSpPr>
          <p:cNvPr id="28" name="Shape 22"/>
          <p:cNvSpPr/>
          <p:nvPr/>
        </p:nvSpPr>
        <p:spPr>
          <a:xfrm>
            <a:off x="7997342" y="3355848"/>
            <a:ext cx="2714854" cy="19202"/>
          </a:xfrm>
          <a:prstGeom prst="rect">
            <a:avLst/>
          </a:prstGeom>
          <a:solidFill>
            <a:srgbClr val="E1DFDD"/>
          </a:solidFill>
          <a:ln/>
        </p:spPr>
      </p:sp>
      <p:sp>
        <p:nvSpPr>
          <p:cNvPr id="29" name="Text 23"/>
          <p:cNvSpPr txBox="1"/>
          <p:nvPr/>
        </p:nvSpPr>
        <p:spPr>
          <a:xfrm>
            <a:off x="7931506" y="3569818"/>
            <a:ext cx="691286" cy="181051"/>
          </a:xfrm>
          <a:prstGeom prst="rect">
            <a:avLst/>
          </a:prstGeom>
          <a:noFill/>
          <a:ln/>
        </p:spPr>
        <p:txBody>
          <a:bodyPr wrap="square" lIns="0" tIns="0" rIns="0" bIns="0" rtlCol="0" anchor="ctr"/>
          <a:lstStyle/>
          <a:p>
            <a:pPr algn="ctr" indent="0" marL="0">
              <a:buNone/>
            </a:pPr>
            <a:r>
              <a:rPr lang="en-US" sz="1000" b="1" dirty="0">
                <a:solidFill>
                  <a:srgbClr val="605E5C"/>
                </a:solidFill>
                <a:latin typeface="Segoe UI" pitchFamily="34" charset="0"/>
                <a:ea typeface="Segoe UI" pitchFamily="34" charset="-122"/>
                <a:cs typeface="Segoe UI" pitchFamily="34" charset="-120"/>
              </a:rPr>
              <a:t>FDO Data</a:t>
            </a:r>
            <a:endParaRPr lang="en-US" sz="1000" dirty="0"/>
          </a:p>
        </p:txBody>
      </p:sp>
      <p:sp>
        <p:nvSpPr>
          <p:cNvPr id="30" name="Text 24"/>
          <p:cNvSpPr txBox="1"/>
          <p:nvPr/>
        </p:nvSpPr>
        <p:spPr>
          <a:xfrm>
            <a:off x="9119311" y="3569818"/>
            <a:ext cx="557784" cy="181051"/>
          </a:xfrm>
          <a:prstGeom prst="rect">
            <a:avLst/>
          </a:prstGeom>
          <a:noFill/>
          <a:ln/>
        </p:spPr>
        <p:txBody>
          <a:bodyPr wrap="square" lIns="0" tIns="0" rIns="0" bIns="0" rtlCol="0" anchor="ctr"/>
          <a:lstStyle/>
          <a:p>
            <a:pPr algn="ctr" indent="0" marL="0">
              <a:buNone/>
            </a:pPr>
            <a:r>
              <a:rPr lang="en-US" sz="1000" b="1" dirty="0">
                <a:solidFill>
                  <a:srgbClr val="605E5C"/>
                </a:solidFill>
                <a:latin typeface="Segoe UI" pitchFamily="34" charset="0"/>
                <a:ea typeface="Segoe UI" pitchFamily="34" charset="-122"/>
                <a:cs typeface="Segoe UI" pitchFamily="34" charset="-120"/>
              </a:rPr>
              <a:t>Process</a:t>
            </a:r>
            <a:endParaRPr lang="en-US" sz="1000" dirty="0"/>
          </a:p>
        </p:txBody>
      </p:sp>
      <p:sp>
        <p:nvSpPr>
          <p:cNvPr id="31" name="Text 25"/>
          <p:cNvSpPr txBox="1"/>
          <p:nvPr/>
        </p:nvSpPr>
        <p:spPr>
          <a:xfrm>
            <a:off x="10179101" y="3569818"/>
            <a:ext cx="700430" cy="181051"/>
          </a:xfrm>
          <a:prstGeom prst="rect">
            <a:avLst/>
          </a:prstGeom>
          <a:noFill/>
          <a:ln/>
        </p:spPr>
        <p:txBody>
          <a:bodyPr wrap="square" lIns="0" tIns="0" rIns="0" bIns="0" rtlCol="0" anchor="ctr"/>
          <a:lstStyle/>
          <a:p>
            <a:pPr algn="ctr" indent="0" marL="0">
              <a:buNone/>
            </a:pPr>
            <a:r>
              <a:rPr lang="en-US" sz="1000" b="1" dirty="0">
                <a:solidFill>
                  <a:srgbClr val="605E5C"/>
                </a:solidFill>
                <a:latin typeface="Segoe UI" pitchFamily="34" charset="0"/>
                <a:ea typeface="Segoe UI" pitchFamily="34" charset="-122"/>
                <a:cs typeface="Segoe UI" pitchFamily="34" charset="-120"/>
              </a:rPr>
              <a:t>Distribute</a:t>
            </a:r>
            <a:endParaRPr lang="en-US" sz="1000" dirty="0"/>
          </a:p>
        </p:txBody>
      </p:sp>
      <p:sp>
        <p:nvSpPr>
          <p:cNvPr id="32" name="Shape 26"/>
          <p:cNvSpPr/>
          <p:nvPr/>
        </p:nvSpPr>
        <p:spPr>
          <a:xfrm>
            <a:off x="7658100" y="4046220"/>
            <a:ext cx="3390595" cy="1162202"/>
          </a:xfrm>
          <a:prstGeom prst="roundRect">
            <a:avLst>
              <a:gd name="adj" fmla="val 3869"/>
            </a:avLst>
          </a:prstGeom>
          <a:solidFill>
            <a:srgbClr val="EFF6FC"/>
          </a:solidFill>
          <a:ln/>
        </p:spPr>
      </p:sp>
      <p:pic>
        <p:nvPicPr>
          <p:cNvPr id="33" name="Image 4" descr="preencoded.png">    </p:cNvPr>
          <p:cNvPicPr>
            <a:picLocks noChangeAspect="1"/>
          </p:cNvPicPr>
          <p:nvPr/>
        </p:nvPicPr>
        <p:blipFill>
          <a:blip r:embed="rId5"/>
          <a:srcRect l="0" r="0" t="0" b="0"/>
          <a:stretch/>
        </p:blipFill>
        <p:spPr>
          <a:xfrm>
            <a:off x="7800746" y="4212641"/>
            <a:ext cx="152705" cy="152705"/>
          </a:xfrm>
          <a:prstGeom prst="rect">
            <a:avLst/>
          </a:prstGeom>
        </p:spPr>
      </p:pic>
      <p:sp>
        <p:nvSpPr>
          <p:cNvPr id="34" name="Text 27"/>
          <p:cNvSpPr txBox="1"/>
          <p:nvPr/>
        </p:nvSpPr>
        <p:spPr>
          <a:xfrm>
            <a:off x="8048549" y="4198925"/>
            <a:ext cx="843077" cy="181051"/>
          </a:xfrm>
          <a:prstGeom prst="rect">
            <a:avLst/>
          </a:prstGeom>
          <a:noFill/>
          <a:ln/>
        </p:spPr>
        <p:txBody>
          <a:bodyPr wrap="square" lIns="0" tIns="0" rIns="0" bIns="0" rtlCol="0" anchor="ctr"/>
          <a:lstStyle/>
          <a:p>
            <a:pPr algn="l" indent="0" marL="0">
              <a:buNone/>
            </a:pPr>
            <a:r>
              <a:rPr lang="en-US" sz="1000" b="1" dirty="0">
                <a:solidFill>
                  <a:srgbClr val="323130"/>
                </a:solidFill>
                <a:latin typeface="Segoe UI" pitchFamily="34" charset="0"/>
                <a:ea typeface="Segoe UI" pitchFamily="34" charset="-122"/>
                <a:cs typeface="Segoe UI" pitchFamily="34" charset="-120"/>
              </a:rPr>
              <a:t>Key Benefits</a:t>
            </a:r>
            <a:endParaRPr lang="en-US" sz="1000" dirty="0"/>
          </a:p>
        </p:txBody>
      </p:sp>
      <p:sp>
        <p:nvSpPr>
          <p:cNvPr id="35" name="Text 28"/>
          <p:cNvSpPr txBox="1"/>
          <p:nvPr/>
        </p:nvSpPr>
        <p:spPr>
          <a:xfrm>
            <a:off x="8029346" y="4475074"/>
            <a:ext cx="1464869" cy="162763"/>
          </a:xfrm>
          <a:prstGeom prst="rect">
            <a:avLst/>
          </a:prstGeom>
          <a:noFill/>
          <a:ln/>
        </p:spPr>
        <p:txBody>
          <a:bodyPr wrap="square" lIns="0" tIns="0" rIns="0" bIns="0" rtlCol="0" anchor="ctr"/>
          <a:lstStyle/>
          <a:p>
            <a:pPr algn="l" indent="0" marL="0">
              <a:buNone/>
            </a:pPr>
            <a:r>
              <a:rPr lang="en-US" sz="900" dirty="0">
                <a:solidFill>
                  <a:srgbClr val="605E5C"/>
                </a:solidFill>
                <a:latin typeface="Segoe UI" pitchFamily="34" charset="0"/>
                <a:ea typeface="Segoe UI" pitchFamily="34" charset="-122"/>
                <a:cs typeface="Segoe UI" pitchFamily="34" charset="-120"/>
              </a:rPr>
              <a:t>Eliminates manual delays</a:t>
            </a:r>
            <a:endParaRPr lang="en-US" sz="900" dirty="0"/>
          </a:p>
        </p:txBody>
      </p:sp>
      <p:sp>
        <p:nvSpPr>
          <p:cNvPr id="36" name="Text 29"/>
          <p:cNvSpPr txBox="1"/>
          <p:nvPr/>
        </p:nvSpPr>
        <p:spPr>
          <a:xfrm>
            <a:off x="8029346" y="4672584"/>
            <a:ext cx="1559966" cy="162763"/>
          </a:xfrm>
          <a:prstGeom prst="rect">
            <a:avLst/>
          </a:prstGeom>
          <a:noFill/>
          <a:ln/>
        </p:spPr>
        <p:txBody>
          <a:bodyPr wrap="square" lIns="0" tIns="0" rIns="0" bIns="0" rtlCol="0" anchor="ctr"/>
          <a:lstStyle/>
          <a:p>
            <a:pPr algn="l" indent="0" marL="0">
              <a:buNone/>
            </a:pPr>
            <a:r>
              <a:rPr lang="en-US" sz="900" dirty="0">
                <a:solidFill>
                  <a:srgbClr val="605E5C"/>
                </a:solidFill>
                <a:latin typeface="Segoe UI" pitchFamily="34" charset="0"/>
                <a:ea typeface="Segoe UI" pitchFamily="34" charset="-122"/>
                <a:cs typeface="Segoe UI" pitchFamily="34" charset="-120"/>
              </a:rPr>
              <a:t>Standardizes report format</a:t>
            </a:r>
            <a:endParaRPr lang="en-US" sz="900" dirty="0"/>
          </a:p>
        </p:txBody>
      </p:sp>
      <p:sp>
        <p:nvSpPr>
          <p:cNvPr id="37" name="Text 30"/>
          <p:cNvSpPr txBox="1"/>
          <p:nvPr/>
        </p:nvSpPr>
        <p:spPr>
          <a:xfrm>
            <a:off x="8029346" y="4871009"/>
            <a:ext cx="1550822" cy="162763"/>
          </a:xfrm>
          <a:prstGeom prst="rect">
            <a:avLst/>
          </a:prstGeom>
          <a:noFill/>
          <a:ln/>
        </p:spPr>
        <p:txBody>
          <a:bodyPr wrap="square" lIns="0" tIns="0" rIns="0" bIns="0" rtlCol="0" anchor="ctr"/>
          <a:lstStyle/>
          <a:p>
            <a:pPr algn="l" indent="0" marL="0">
              <a:buNone/>
            </a:pPr>
            <a:r>
              <a:rPr lang="en-US" sz="900" dirty="0">
                <a:solidFill>
                  <a:srgbClr val="605E5C"/>
                </a:solidFill>
                <a:latin typeface="Segoe UI" pitchFamily="34" charset="0"/>
                <a:ea typeface="Segoe UI" pitchFamily="34" charset="-122"/>
                <a:cs typeface="Segoe UI" pitchFamily="34" charset="-120"/>
              </a:rPr>
              <a:t>Ensures 100% delivery rate</a:t>
            </a:r>
            <a:endParaRPr lang="en-US" sz="900" dirty="0"/>
          </a:p>
        </p:txBody>
      </p:sp>
      <p:sp>
        <p:nvSpPr>
          <p:cNvPr id="38" name="Shape 31"/>
          <p:cNvSpPr/>
          <p:nvPr/>
        </p:nvSpPr>
        <p:spPr>
          <a:xfrm>
            <a:off x="0" y="6476695"/>
            <a:ext cx="12191695" cy="9144"/>
          </a:xfrm>
          <a:prstGeom prst="rect">
            <a:avLst/>
          </a:prstGeom>
          <a:solidFill>
            <a:srgbClr val="EDEBE9"/>
          </a:solidFill>
          <a:ln/>
        </p:spPr>
      </p:sp>
      <p:sp>
        <p:nvSpPr>
          <p:cNvPr id="39" name="Text 32"/>
          <p:cNvSpPr txBox="1"/>
          <p:nvPr/>
        </p:nvSpPr>
        <p:spPr>
          <a:xfrm>
            <a:off x="8825789" y="6596482"/>
            <a:ext cx="2886761" cy="152705"/>
          </a:xfrm>
          <a:prstGeom prst="rect">
            <a:avLst/>
          </a:prstGeom>
          <a:noFill/>
          <a:ln/>
        </p:spPr>
        <p:txBody>
          <a:bodyPr wrap="square" lIns="0" tIns="0" rIns="0" bIns="0" rtlCol="0" anchor="ctr"/>
          <a:lstStyle/>
          <a:p>
            <a:pPr algn="l" indent="0" marL="0">
              <a:buNone/>
            </a:pPr>
            <a:r>
              <a:rPr lang="en-US" sz="900" dirty="0">
                <a:solidFill>
                  <a:srgbClr val="A19F9D"/>
                </a:solidFill>
                <a:latin typeface="Segoe UI" pitchFamily="34" charset="0"/>
                <a:ea typeface="Segoe UI" pitchFamily="34" charset="-122"/>
                <a:cs typeface="Segoe UI" pitchFamily="34" charset="-120"/>
              </a:rPr>
              <a:t>Confidential | Factory Delivery Orchestrator Automation</a:t>
            </a:r>
            <a:endParaRPr lang="en-US" sz="900" dirty="0"/>
          </a:p>
        </p:txBody>
      </p:sp>
      <p:sp>
        <p:nvSpPr>
          <p:cNvPr id="40" name="Shape 33"/>
          <p:cNvSpPr/>
          <p:nvPr/>
        </p:nvSpPr>
        <p:spPr>
          <a:xfrm>
            <a:off x="7994599" y="2950769"/>
            <a:ext cx="457200" cy="533095"/>
          </a:xfrm>
          <a:prstGeom prst="ellipse">
            <a:avLst/>
          </a:prstGeom>
          <a:solidFill>
            <a:srgbClr val="FFFFFF"/>
          </a:solidFill>
          <a:ln/>
        </p:spPr>
      </p:sp>
      <p:pic>
        <p:nvPicPr>
          <p:cNvPr id="41" name="Image 5" descr="preencoded.png">    </p:cNvPr>
          <p:cNvPicPr>
            <a:picLocks noChangeAspect="1"/>
          </p:cNvPicPr>
          <p:nvPr/>
        </p:nvPicPr>
        <p:blipFill>
          <a:blip r:embed="rId6"/>
          <a:srcRect l="-107" r="-107" t="0" b="0"/>
          <a:stretch/>
        </p:blipFill>
        <p:spPr>
          <a:xfrm>
            <a:off x="8089697" y="3045866"/>
            <a:ext cx="267005" cy="304495"/>
          </a:xfrm>
          <a:prstGeom prst="rect">
            <a:avLst/>
          </a:prstGeom>
        </p:spPr>
      </p:pic>
      <p:sp>
        <p:nvSpPr>
          <p:cNvPr id="42" name="Shape 34"/>
          <p:cNvSpPr/>
          <p:nvPr/>
        </p:nvSpPr>
        <p:spPr>
          <a:xfrm>
            <a:off x="9060790" y="2950769"/>
            <a:ext cx="571500" cy="533095"/>
          </a:xfrm>
          <a:prstGeom prst="ellipse">
            <a:avLst/>
          </a:prstGeom>
          <a:solidFill>
            <a:srgbClr val="FFFFFF"/>
          </a:solidFill>
          <a:ln/>
        </p:spPr>
      </p:sp>
      <p:pic>
        <p:nvPicPr>
          <p:cNvPr id="43" name="Image 6" descr="preencoded.png">    </p:cNvPr>
          <p:cNvPicPr>
            <a:picLocks noChangeAspect="1"/>
          </p:cNvPicPr>
          <p:nvPr/>
        </p:nvPicPr>
        <p:blipFill>
          <a:blip r:embed="rId7"/>
          <a:srcRect l="-90" r="-90" t="0" b="0"/>
          <a:stretch/>
        </p:blipFill>
        <p:spPr>
          <a:xfrm>
            <a:off x="9155887" y="3045866"/>
            <a:ext cx="381305" cy="304495"/>
          </a:xfrm>
          <a:prstGeom prst="rect">
            <a:avLst/>
          </a:prstGeom>
        </p:spPr>
      </p:pic>
      <p:sp>
        <p:nvSpPr>
          <p:cNvPr id="44" name="Shape 35"/>
          <p:cNvSpPr/>
          <p:nvPr/>
        </p:nvSpPr>
        <p:spPr>
          <a:xfrm>
            <a:off x="10229393" y="2950769"/>
            <a:ext cx="495605" cy="533095"/>
          </a:xfrm>
          <a:prstGeom prst="ellipse">
            <a:avLst/>
          </a:prstGeom>
          <a:solidFill>
            <a:srgbClr val="FFFFFF"/>
          </a:solidFill>
          <a:ln/>
        </p:spPr>
      </p:sp>
      <p:pic>
        <p:nvPicPr>
          <p:cNvPr id="45" name="Image 7" descr="preencoded.png">    </p:cNvPr>
          <p:cNvPicPr>
            <a:picLocks noChangeAspect="1"/>
          </p:cNvPicPr>
          <p:nvPr/>
        </p:nvPicPr>
        <p:blipFill>
          <a:blip r:embed="rId8"/>
          <a:srcRect l="0" r="0" t="0" b="0"/>
          <a:stretch/>
        </p:blipFill>
        <p:spPr>
          <a:xfrm>
            <a:off x="10324490" y="3045866"/>
            <a:ext cx="304495" cy="3044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FFFFF"/>
          </a:solidFill>
          <a:ln/>
        </p:spPr>
      </p:sp>
      <p:sp>
        <p:nvSpPr>
          <p:cNvPr id="4" name="Text 2"/>
          <p:cNvSpPr txBox="1"/>
          <p:nvPr/>
        </p:nvSpPr>
        <p:spPr>
          <a:xfrm>
            <a:off x="571500" y="409651"/>
            <a:ext cx="3805733" cy="534010"/>
          </a:xfrm>
          <a:prstGeom prst="rect">
            <a:avLst/>
          </a:prstGeom>
          <a:noFill/>
          <a:ln/>
        </p:spPr>
        <p:txBody>
          <a:bodyPr wrap="square" lIns="0" tIns="0" rIns="0" bIns="0" rtlCol="0" anchor="ctr"/>
          <a:lstStyle/>
          <a:p>
            <a:pPr algn="l" indent="0" marL="0">
              <a:buNone/>
            </a:pPr>
            <a:r>
              <a:rPr lang="en-US" sz="3100" b="1" dirty="0">
                <a:solidFill>
                  <a:srgbClr val="242424"/>
                </a:solidFill>
                <a:latin typeface="Segoe UI" pitchFamily="34" charset="0"/>
                <a:ea typeface="Segoe UI" pitchFamily="34" charset="-122"/>
                <a:cs typeface="Segoe UI" pitchFamily="34" charset="-120"/>
              </a:rPr>
              <a:t>Problem Statement</a:t>
            </a:r>
            <a:endParaRPr lang="en-US" sz="3100" dirty="0"/>
          </a:p>
        </p:txBody>
      </p:sp>
      <p:sp>
        <p:nvSpPr>
          <p:cNvPr id="5" name="Text 3"/>
          <p:cNvSpPr txBox="1"/>
          <p:nvPr/>
        </p:nvSpPr>
        <p:spPr>
          <a:xfrm>
            <a:off x="9063533" y="576072"/>
            <a:ext cx="2677363" cy="200254"/>
          </a:xfrm>
          <a:prstGeom prst="rect">
            <a:avLst/>
          </a:prstGeom>
          <a:noFill/>
          <a:ln/>
        </p:spPr>
        <p:txBody>
          <a:bodyPr wrap="square" lIns="0" tIns="0" rIns="0" bIns="0" rtlCol="0" anchor="ctr"/>
          <a:lstStyle/>
          <a:p>
            <a:pPr algn="l" indent="0" marL="0">
              <a:buNone/>
            </a:pPr>
            <a:r>
              <a:rPr lang="en-US" sz="1200" dirty="0">
                <a:solidFill>
                  <a:srgbClr val="666666"/>
                </a:solidFill>
                <a:latin typeface="Segoe UI" pitchFamily="34" charset="0"/>
                <a:ea typeface="Segoe UI" pitchFamily="34" charset="-122"/>
                <a:cs typeface="Segoe UI" pitchFamily="34" charset="-120"/>
              </a:rPr>
              <a:t>FDO Automation / Current Challenges</a:t>
            </a:r>
            <a:endParaRPr lang="en-US" sz="1200" dirty="0"/>
          </a:p>
        </p:txBody>
      </p:sp>
      <p:sp>
        <p:nvSpPr>
          <p:cNvPr id="6" name="Shape 4"/>
          <p:cNvSpPr/>
          <p:nvPr/>
        </p:nvSpPr>
        <p:spPr>
          <a:xfrm>
            <a:off x="571500" y="1502359"/>
            <a:ext cx="533095" cy="533095"/>
          </a:xfrm>
          <a:prstGeom prst="roundRect">
            <a:avLst>
              <a:gd name="adj" fmla="val 24504"/>
            </a:avLst>
          </a:prstGeom>
          <a:solidFill>
            <a:srgbClr val="FEF0F1"/>
          </a:solidFill>
          <a:ln/>
        </p:spPr>
      </p:sp>
      <p:pic>
        <p:nvPicPr>
          <p:cNvPr id="7" name="Image 0" descr="preencoded.png">    </p:cNvPr>
          <p:cNvPicPr>
            <a:picLocks noChangeAspect="1"/>
          </p:cNvPicPr>
          <p:nvPr/>
        </p:nvPicPr>
        <p:blipFill>
          <a:blip r:embed="rId1"/>
          <a:srcRect l="-80" r="-80" t="0" b="0"/>
          <a:stretch/>
        </p:blipFill>
        <p:spPr>
          <a:xfrm>
            <a:off x="694944" y="1654150"/>
            <a:ext cx="286207" cy="228600"/>
          </a:xfrm>
          <a:prstGeom prst="rect">
            <a:avLst/>
          </a:prstGeom>
        </p:spPr>
      </p:pic>
      <p:sp>
        <p:nvSpPr>
          <p:cNvPr id="8" name="Text 5"/>
          <p:cNvSpPr txBox="1"/>
          <p:nvPr/>
        </p:nvSpPr>
        <p:spPr>
          <a:xfrm>
            <a:off x="1295705" y="1511503"/>
            <a:ext cx="2671877" cy="286207"/>
          </a:xfrm>
          <a:prstGeom prst="rect">
            <a:avLst/>
          </a:prstGeom>
          <a:noFill/>
          <a:ln/>
        </p:spPr>
        <p:txBody>
          <a:bodyPr wrap="square" lIns="0" tIns="0" rIns="0" bIns="0" rtlCol="0" anchor="ctr"/>
          <a:lstStyle/>
          <a:p>
            <a:pPr algn="l" indent="0" marL="0">
              <a:buNone/>
            </a:pPr>
            <a:r>
              <a:rPr lang="en-US" sz="1600" b="1" dirty="0">
                <a:solidFill>
                  <a:srgbClr val="323130"/>
                </a:solidFill>
                <a:latin typeface="Segoe UI" pitchFamily="34" charset="0"/>
                <a:ea typeface="Segoe UI" pitchFamily="34" charset="-122"/>
                <a:cs typeface="Segoe UI" pitchFamily="34" charset="-120"/>
              </a:rPr>
              <a:t>High Stakeholder Demand</a:t>
            </a:r>
            <a:endParaRPr lang="en-US" sz="1600" dirty="0"/>
          </a:p>
        </p:txBody>
      </p:sp>
      <p:sp>
        <p:nvSpPr>
          <p:cNvPr id="9" name="Text 6"/>
          <p:cNvSpPr txBox="1"/>
          <p:nvPr/>
        </p:nvSpPr>
        <p:spPr>
          <a:xfrm>
            <a:off x="1295705" y="1882750"/>
            <a:ext cx="5272430" cy="743407"/>
          </a:xfrm>
          <a:prstGeom prst="rect">
            <a:avLst/>
          </a:prstGeom>
          <a:noFill/>
          <a:ln/>
        </p:spPr>
        <p:txBody>
          <a:bodyPr wrap="square" lIns="0" tIns="0" rIns="0" bIns="0" rtlCol="0" anchor="ctr"/>
          <a:lstStyle/>
          <a:p>
            <a:pPr algn="l" indent="0" marL="0">
              <a:buNone/>
            </a:pPr>
            <a:r>
              <a:rPr lang="en-US" sz="1300" dirty="0">
                <a:solidFill>
                  <a:srgbClr val="605E5C"/>
                </a:solidFill>
                <a:latin typeface="Segoe UI" pitchFamily="34" charset="0"/>
                <a:ea typeface="Segoe UI" pitchFamily="34" charset="-122"/>
                <a:cs typeface="Segoe UI" pitchFamily="34" charset="-120"/>
              </a:rPr>
              <a:t>Audit reports must be shared regularly with multiple stakeholder groups to maintain project health, but distribution lists are often outdated or manual.</a:t>
            </a:r>
            <a:endParaRPr lang="en-US" sz="1300" dirty="0"/>
          </a:p>
        </p:txBody>
      </p:sp>
      <p:sp>
        <p:nvSpPr>
          <p:cNvPr id="10" name="Shape 7"/>
          <p:cNvSpPr/>
          <p:nvPr/>
        </p:nvSpPr>
        <p:spPr>
          <a:xfrm>
            <a:off x="571500" y="2949854"/>
            <a:ext cx="533095" cy="533095"/>
          </a:xfrm>
          <a:prstGeom prst="roundRect">
            <a:avLst>
              <a:gd name="adj" fmla="val 24504"/>
            </a:avLst>
          </a:prstGeom>
          <a:solidFill>
            <a:srgbClr val="FEF0F1"/>
          </a:solidFill>
          <a:ln/>
        </p:spPr>
      </p:sp>
      <p:pic>
        <p:nvPicPr>
          <p:cNvPr id="11" name="Image 1" descr="preencoded.png">    </p:cNvPr>
          <p:cNvPicPr>
            <a:picLocks noChangeAspect="1"/>
          </p:cNvPicPr>
          <p:nvPr/>
        </p:nvPicPr>
        <p:blipFill>
          <a:blip r:embed="rId2"/>
          <a:srcRect l="-133" r="-133" t="0" b="0"/>
          <a:stretch/>
        </p:blipFill>
        <p:spPr>
          <a:xfrm>
            <a:off x="752551" y="3102559"/>
            <a:ext cx="171907" cy="228600"/>
          </a:xfrm>
          <a:prstGeom prst="rect">
            <a:avLst/>
          </a:prstGeom>
        </p:spPr>
      </p:pic>
      <p:sp>
        <p:nvSpPr>
          <p:cNvPr id="12" name="Text 8"/>
          <p:cNvSpPr txBox="1"/>
          <p:nvPr/>
        </p:nvSpPr>
        <p:spPr>
          <a:xfrm>
            <a:off x="1295705" y="2958998"/>
            <a:ext cx="2805379" cy="286207"/>
          </a:xfrm>
          <a:prstGeom prst="rect">
            <a:avLst/>
          </a:prstGeom>
          <a:noFill/>
          <a:ln/>
        </p:spPr>
        <p:txBody>
          <a:bodyPr wrap="square" lIns="0" tIns="0" rIns="0" bIns="0" rtlCol="0" anchor="ctr"/>
          <a:lstStyle/>
          <a:p>
            <a:pPr algn="l" indent="0" marL="0">
              <a:buNone/>
            </a:pPr>
            <a:r>
              <a:rPr lang="en-US" sz="1600" b="1" dirty="0">
                <a:solidFill>
                  <a:srgbClr val="323130"/>
                </a:solidFill>
                <a:latin typeface="Segoe UI" pitchFamily="34" charset="0"/>
                <a:ea typeface="Segoe UI" pitchFamily="34" charset="-122"/>
                <a:cs typeface="Segoe UI" pitchFamily="34" charset="-120"/>
              </a:rPr>
              <a:t>Manual Process Bottlenecks</a:t>
            </a:r>
            <a:endParaRPr lang="en-US" sz="1600" dirty="0"/>
          </a:p>
        </p:txBody>
      </p:sp>
      <p:sp>
        <p:nvSpPr>
          <p:cNvPr id="13" name="Text 9"/>
          <p:cNvSpPr txBox="1"/>
          <p:nvPr/>
        </p:nvSpPr>
        <p:spPr>
          <a:xfrm>
            <a:off x="1295705" y="3331159"/>
            <a:ext cx="5224882" cy="486461"/>
          </a:xfrm>
          <a:prstGeom prst="rect">
            <a:avLst/>
          </a:prstGeom>
          <a:noFill/>
          <a:ln/>
        </p:spPr>
        <p:txBody>
          <a:bodyPr wrap="square" lIns="0" tIns="0" rIns="0" bIns="0" rtlCol="0" anchor="ctr"/>
          <a:lstStyle/>
          <a:p>
            <a:pPr algn="l" indent="0" marL="0">
              <a:buNone/>
            </a:pPr>
            <a:r>
              <a:rPr lang="en-US" sz="1300" dirty="0">
                <a:solidFill>
                  <a:srgbClr val="605E5C"/>
                </a:solidFill>
                <a:latin typeface="Segoe UI" pitchFamily="34" charset="0"/>
                <a:ea typeface="Segoe UI" pitchFamily="34" charset="-122"/>
                <a:cs typeface="Segoe UI" pitchFamily="34" charset="-120"/>
              </a:rPr>
              <a:t>Manual extraction and emailing leads to significant operational delays, missed communication deadlines, and wasted effort on repetitive tasks.</a:t>
            </a:r>
            <a:endParaRPr lang="en-US" sz="1300" dirty="0"/>
          </a:p>
        </p:txBody>
      </p:sp>
      <p:sp>
        <p:nvSpPr>
          <p:cNvPr id="14" name="Shape 10"/>
          <p:cNvSpPr/>
          <p:nvPr/>
        </p:nvSpPr>
        <p:spPr>
          <a:xfrm>
            <a:off x="571500" y="4140403"/>
            <a:ext cx="533095" cy="533095"/>
          </a:xfrm>
          <a:prstGeom prst="roundRect">
            <a:avLst>
              <a:gd name="adj" fmla="val 24504"/>
            </a:avLst>
          </a:prstGeom>
          <a:solidFill>
            <a:srgbClr val="FEF0F1"/>
          </a:solidFill>
          <a:ln/>
        </p:spPr>
      </p:sp>
      <p:pic>
        <p:nvPicPr>
          <p:cNvPr id="15" name="Image 2" descr="preencoded.png">    </p:cNvPr>
          <p:cNvPicPr>
            <a:picLocks noChangeAspect="1"/>
          </p:cNvPicPr>
          <p:nvPr/>
        </p:nvPicPr>
        <p:blipFill>
          <a:blip r:embed="rId3"/>
          <a:srcRect l="-7143" r="-7143" t="0" b="0"/>
          <a:stretch/>
        </p:blipFill>
        <p:spPr>
          <a:xfrm>
            <a:off x="724205" y="4293108"/>
            <a:ext cx="228600" cy="228600"/>
          </a:xfrm>
          <a:prstGeom prst="rect">
            <a:avLst/>
          </a:prstGeom>
        </p:spPr>
      </p:pic>
      <p:sp>
        <p:nvSpPr>
          <p:cNvPr id="16" name="Text 11"/>
          <p:cNvSpPr txBox="1"/>
          <p:nvPr/>
        </p:nvSpPr>
        <p:spPr>
          <a:xfrm>
            <a:off x="1295705" y="4149547"/>
            <a:ext cx="1938528" cy="286207"/>
          </a:xfrm>
          <a:prstGeom prst="rect">
            <a:avLst/>
          </a:prstGeom>
          <a:noFill/>
          <a:ln/>
        </p:spPr>
        <p:txBody>
          <a:bodyPr wrap="square" lIns="0" tIns="0" rIns="0" bIns="0" rtlCol="0" anchor="ctr"/>
          <a:lstStyle/>
          <a:p>
            <a:pPr algn="l" indent="0" marL="0">
              <a:buNone/>
            </a:pPr>
            <a:r>
              <a:rPr lang="en-US" sz="1600" b="1" dirty="0">
                <a:solidFill>
                  <a:srgbClr val="323130"/>
                </a:solidFill>
                <a:latin typeface="Segoe UI" pitchFamily="34" charset="0"/>
                <a:ea typeface="Segoe UI" pitchFamily="34" charset="-122"/>
                <a:cs typeface="Segoe UI" pitchFamily="34" charset="-120"/>
              </a:rPr>
              <a:t>Data Inconsistency</a:t>
            </a:r>
            <a:endParaRPr lang="en-US" sz="1600" dirty="0"/>
          </a:p>
        </p:txBody>
      </p:sp>
      <p:sp>
        <p:nvSpPr>
          <p:cNvPr id="17" name="Text 12"/>
          <p:cNvSpPr txBox="1"/>
          <p:nvPr/>
        </p:nvSpPr>
        <p:spPr>
          <a:xfrm>
            <a:off x="1295705" y="4521708"/>
            <a:ext cx="5005426" cy="486461"/>
          </a:xfrm>
          <a:prstGeom prst="rect">
            <a:avLst/>
          </a:prstGeom>
          <a:noFill/>
          <a:ln/>
        </p:spPr>
        <p:txBody>
          <a:bodyPr wrap="square" lIns="0" tIns="0" rIns="0" bIns="0" rtlCol="0" anchor="ctr"/>
          <a:lstStyle/>
          <a:p>
            <a:pPr algn="l" indent="0" marL="0">
              <a:buNone/>
            </a:pPr>
            <a:r>
              <a:rPr lang="en-US" sz="1300" dirty="0">
                <a:solidFill>
                  <a:srgbClr val="605E5C"/>
                </a:solidFill>
                <a:latin typeface="Segoe UI" pitchFamily="34" charset="0"/>
                <a:ea typeface="Segoe UI" pitchFamily="34" charset="-122"/>
                <a:cs typeface="Segoe UI" pitchFamily="34" charset="-120"/>
              </a:rPr>
              <a:t>Human error during manual compilation often results in inconsistent report versions, reducing audit effectiveness and stakeholder trust.</a:t>
            </a:r>
            <a:endParaRPr lang="en-US" sz="1300" dirty="0"/>
          </a:p>
        </p:txBody>
      </p:sp>
      <p:sp>
        <p:nvSpPr>
          <p:cNvPr id="18" name="Shape 13"/>
          <p:cNvSpPr/>
          <p:nvPr/>
        </p:nvSpPr>
        <p:spPr>
          <a:xfrm>
            <a:off x="571500" y="5330952"/>
            <a:ext cx="533095" cy="533095"/>
          </a:xfrm>
          <a:prstGeom prst="roundRect">
            <a:avLst>
              <a:gd name="adj" fmla="val 24504"/>
            </a:avLst>
          </a:prstGeom>
          <a:solidFill>
            <a:srgbClr val="FEF0F1"/>
          </a:solidFill>
          <a:ln/>
        </p:spPr>
      </p:sp>
      <p:pic>
        <p:nvPicPr>
          <p:cNvPr id="19" name="Image 3" descr="preencoded.png">    </p:cNvPr>
          <p:cNvPicPr>
            <a:picLocks noChangeAspect="1"/>
          </p:cNvPicPr>
          <p:nvPr/>
        </p:nvPicPr>
        <p:blipFill>
          <a:blip r:embed="rId4"/>
          <a:srcRect l="-80" r="-80" t="0" b="0"/>
          <a:stretch/>
        </p:blipFill>
        <p:spPr>
          <a:xfrm>
            <a:off x="694944" y="5483657"/>
            <a:ext cx="286207" cy="228600"/>
          </a:xfrm>
          <a:prstGeom prst="rect">
            <a:avLst/>
          </a:prstGeom>
        </p:spPr>
      </p:pic>
      <p:sp>
        <p:nvSpPr>
          <p:cNvPr id="20" name="Text 14"/>
          <p:cNvSpPr txBox="1"/>
          <p:nvPr/>
        </p:nvSpPr>
        <p:spPr>
          <a:xfrm>
            <a:off x="1295705" y="5340096"/>
            <a:ext cx="2319833" cy="286207"/>
          </a:xfrm>
          <a:prstGeom prst="rect">
            <a:avLst/>
          </a:prstGeom>
          <a:noFill/>
          <a:ln/>
        </p:spPr>
        <p:txBody>
          <a:bodyPr wrap="square" lIns="0" tIns="0" rIns="0" bIns="0" rtlCol="0" anchor="ctr"/>
          <a:lstStyle/>
          <a:p>
            <a:pPr algn="l" indent="0" marL="0">
              <a:buNone/>
            </a:pPr>
            <a:r>
              <a:rPr lang="en-US" sz="1600" b="1" dirty="0">
                <a:solidFill>
                  <a:srgbClr val="323130"/>
                </a:solidFill>
                <a:latin typeface="Segoe UI" pitchFamily="34" charset="0"/>
                <a:ea typeface="Segoe UI" pitchFamily="34" charset="-122"/>
                <a:cs typeface="Segoe UI" pitchFamily="34" charset="-120"/>
              </a:rPr>
              <a:t>Lack of Timely Insights</a:t>
            </a:r>
            <a:endParaRPr lang="en-US" sz="1600" dirty="0"/>
          </a:p>
        </p:txBody>
      </p:sp>
      <p:sp>
        <p:nvSpPr>
          <p:cNvPr id="21" name="Text 15"/>
          <p:cNvSpPr txBox="1"/>
          <p:nvPr/>
        </p:nvSpPr>
        <p:spPr>
          <a:xfrm>
            <a:off x="1295705" y="5712257"/>
            <a:ext cx="5330038" cy="486461"/>
          </a:xfrm>
          <a:prstGeom prst="rect">
            <a:avLst/>
          </a:prstGeom>
          <a:noFill/>
          <a:ln/>
        </p:spPr>
        <p:txBody>
          <a:bodyPr wrap="square" lIns="0" tIns="0" rIns="0" bIns="0" rtlCol="0" anchor="ctr"/>
          <a:lstStyle/>
          <a:p>
            <a:pPr algn="l" indent="0" marL="0">
              <a:buNone/>
            </a:pPr>
            <a:r>
              <a:rPr lang="en-US" sz="1300" dirty="0">
                <a:solidFill>
                  <a:srgbClr val="605E5C"/>
                </a:solidFill>
                <a:latin typeface="Segoe UI" pitchFamily="34" charset="0"/>
                <a:ea typeface="Segoe UI" pitchFamily="34" charset="-122"/>
                <a:cs typeface="Segoe UI" pitchFamily="34" charset="-120"/>
              </a:rPr>
              <a:t>Teams lack real-time visibility into delivery and compliance issues, forcing them to react to problems rather than proactively managing risks.</a:t>
            </a:r>
            <a:endParaRPr lang="en-US" sz="1300" dirty="0"/>
          </a:p>
        </p:txBody>
      </p:sp>
      <p:sp>
        <p:nvSpPr>
          <p:cNvPr id="22" name="Shape 16"/>
          <p:cNvSpPr/>
          <p:nvPr/>
        </p:nvSpPr>
        <p:spPr>
          <a:xfrm>
            <a:off x="7086600" y="1362456"/>
            <a:ext cx="4533595" cy="5000854"/>
          </a:xfrm>
          <a:prstGeom prst="roundRect">
            <a:avLst>
              <a:gd name="adj" fmla="val 508"/>
            </a:avLst>
          </a:prstGeom>
          <a:solidFill>
            <a:srgbClr val="F8F9FA"/>
          </a:solidFill>
          <a:ln/>
        </p:spPr>
      </p:sp>
      <p:sp>
        <p:nvSpPr>
          <p:cNvPr id="23" name="Shape 17"/>
          <p:cNvSpPr/>
          <p:nvPr/>
        </p:nvSpPr>
        <p:spPr>
          <a:xfrm>
            <a:off x="7372807" y="1647749"/>
            <a:ext cx="3962095" cy="4429354"/>
          </a:xfrm>
          <a:prstGeom prst="roundRect">
            <a:avLst>
              <a:gd name="adj" fmla="val 444"/>
            </a:avLst>
          </a:prstGeom>
          <a:solidFill>
            <a:srgbClr val="FFFFFF"/>
          </a:solidFill>
          <a:ln/>
          <a:effectLst>
            <a:outerShdw sx="100000" sy="100000" kx="0" ky="0" algn="bl" rotWithShape="0" blurRad="114300" dist="38100" dir="5400000">
              <a:srgbClr val="000000">
                <a:alpha val="5000"/>
              </a:srgbClr>
            </a:outerShdw>
          </a:effectLst>
        </p:spPr>
      </p:sp>
      <p:sp>
        <p:nvSpPr>
          <p:cNvPr id="24" name="Shape 18"/>
          <p:cNvSpPr/>
          <p:nvPr/>
        </p:nvSpPr>
        <p:spPr>
          <a:xfrm>
            <a:off x="7372807" y="1647749"/>
            <a:ext cx="3962095" cy="38405"/>
          </a:xfrm>
          <a:prstGeom prst="rect">
            <a:avLst/>
          </a:prstGeom>
          <a:solidFill>
            <a:srgbClr val="D13438"/>
          </a:solidFill>
          <a:ln/>
        </p:spPr>
      </p:sp>
      <p:sp>
        <p:nvSpPr>
          <p:cNvPr id="25" name="Text 19"/>
          <p:cNvSpPr txBox="1"/>
          <p:nvPr/>
        </p:nvSpPr>
        <p:spPr>
          <a:xfrm>
            <a:off x="8543239" y="1981505"/>
            <a:ext cx="1772107" cy="257861"/>
          </a:xfrm>
          <a:prstGeom prst="rect">
            <a:avLst/>
          </a:prstGeom>
          <a:noFill/>
          <a:ln/>
        </p:spPr>
        <p:txBody>
          <a:bodyPr wrap="square" lIns="0" tIns="0" rIns="0" bIns="0" rtlCol="0" anchor="ctr"/>
          <a:lstStyle/>
          <a:p>
            <a:pPr algn="ctr" indent="0" marL="0">
              <a:buNone/>
            </a:pPr>
            <a:r>
              <a:rPr lang="en-US" sz="1500" dirty="0">
                <a:solidFill>
                  <a:srgbClr val="323130"/>
                </a:solidFill>
                <a:latin typeface="Segoe UI" pitchFamily="34" charset="0"/>
                <a:ea typeface="Segoe UI" pitchFamily="34" charset="-122"/>
                <a:cs typeface="Segoe UI" pitchFamily="34" charset="-120"/>
              </a:rPr>
              <a:t>Operational Impact</a:t>
            </a:r>
            <a:endParaRPr lang="en-US" sz="1500" dirty="0"/>
          </a:p>
        </p:txBody>
      </p:sp>
      <p:sp>
        <p:nvSpPr>
          <p:cNvPr id="26" name="Text 20"/>
          <p:cNvSpPr txBox="1"/>
          <p:nvPr/>
        </p:nvSpPr>
        <p:spPr>
          <a:xfrm>
            <a:off x="8598103" y="2266798"/>
            <a:ext cx="1614830" cy="181051"/>
          </a:xfrm>
          <a:prstGeom prst="rect">
            <a:avLst/>
          </a:prstGeom>
          <a:noFill/>
          <a:ln/>
        </p:spPr>
        <p:txBody>
          <a:bodyPr wrap="square" lIns="0" tIns="0" rIns="0" bIns="0" rtlCol="0" anchor="ctr"/>
          <a:lstStyle/>
          <a:p>
            <a:pPr algn="ctr" indent="0" marL="0">
              <a:buNone/>
            </a:pPr>
            <a:r>
              <a:rPr lang="en-US" sz="1000" dirty="0">
                <a:solidFill>
                  <a:srgbClr val="605E5C"/>
                </a:solidFill>
                <a:latin typeface="Segoe UI" pitchFamily="34" charset="0"/>
                <a:ea typeface="Segoe UI" pitchFamily="34" charset="-122"/>
                <a:cs typeface="Segoe UI" pitchFamily="34" charset="-120"/>
              </a:rPr>
              <a:t>Current Manual Workflow</a:t>
            </a:r>
            <a:endParaRPr lang="en-US" sz="1000" dirty="0"/>
          </a:p>
        </p:txBody>
      </p:sp>
      <p:sp>
        <p:nvSpPr>
          <p:cNvPr id="27" name="Shape 21"/>
          <p:cNvSpPr/>
          <p:nvPr/>
        </p:nvSpPr>
        <p:spPr>
          <a:xfrm>
            <a:off x="7658100" y="2695651"/>
            <a:ext cx="1628546" cy="780898"/>
          </a:xfrm>
          <a:prstGeom prst="roundRect">
            <a:avLst>
              <a:gd name="adj" fmla="val 8568"/>
            </a:avLst>
          </a:prstGeom>
          <a:solidFill>
            <a:srgbClr val="FEF0F1"/>
          </a:solidFill>
          <a:ln/>
        </p:spPr>
      </p:sp>
      <p:pic>
        <p:nvPicPr>
          <p:cNvPr id="28" name="Image 4" descr="preencoded.png">    </p:cNvPr>
          <p:cNvPicPr>
            <a:picLocks noChangeAspect="1"/>
          </p:cNvPicPr>
          <p:nvPr/>
        </p:nvPicPr>
        <p:blipFill>
          <a:blip r:embed="rId5"/>
          <a:srcRect l="0" r="0" t="0" b="0"/>
          <a:stretch/>
        </p:blipFill>
        <p:spPr>
          <a:xfrm>
            <a:off x="8355787" y="2838298"/>
            <a:ext cx="228600" cy="228600"/>
          </a:xfrm>
          <a:prstGeom prst="rect">
            <a:avLst/>
          </a:prstGeom>
        </p:spPr>
      </p:pic>
      <p:sp>
        <p:nvSpPr>
          <p:cNvPr id="29" name="Text 22"/>
          <p:cNvSpPr txBox="1"/>
          <p:nvPr/>
        </p:nvSpPr>
        <p:spPr>
          <a:xfrm>
            <a:off x="8193938" y="3152851"/>
            <a:ext cx="645566" cy="162763"/>
          </a:xfrm>
          <a:prstGeom prst="rect">
            <a:avLst/>
          </a:prstGeom>
          <a:noFill/>
          <a:ln/>
        </p:spPr>
        <p:txBody>
          <a:bodyPr wrap="square" lIns="0" tIns="0" rIns="0" bIns="0" rtlCol="0" anchor="ctr"/>
          <a:lstStyle/>
          <a:p>
            <a:pPr algn="ctr" indent="0" marL="0">
              <a:buNone/>
            </a:pPr>
            <a:r>
              <a:rPr lang="en-US" sz="900" b="1" dirty="0">
                <a:solidFill>
                  <a:srgbClr val="323130"/>
                </a:solidFill>
                <a:latin typeface="Segoe UI" pitchFamily="34" charset="0"/>
                <a:ea typeface="Segoe UI" pitchFamily="34" charset="-122"/>
                <a:cs typeface="Segoe UI" pitchFamily="34" charset="-120"/>
              </a:rPr>
              <a:t>Time Loss</a:t>
            </a:r>
            <a:endParaRPr lang="en-US" sz="900" dirty="0"/>
          </a:p>
        </p:txBody>
      </p:sp>
      <p:sp>
        <p:nvSpPr>
          <p:cNvPr id="30" name="Shape 23"/>
          <p:cNvSpPr/>
          <p:nvPr/>
        </p:nvSpPr>
        <p:spPr>
          <a:xfrm>
            <a:off x="9424721" y="2695651"/>
            <a:ext cx="1628546" cy="780898"/>
          </a:xfrm>
          <a:prstGeom prst="roundRect">
            <a:avLst>
              <a:gd name="adj" fmla="val 8568"/>
            </a:avLst>
          </a:prstGeom>
          <a:solidFill>
            <a:srgbClr val="FEF0F1"/>
          </a:solidFill>
          <a:ln/>
        </p:spPr>
      </p:sp>
      <p:pic>
        <p:nvPicPr>
          <p:cNvPr id="31" name="Image 5" descr="preencoded.png">    </p:cNvPr>
          <p:cNvPicPr>
            <a:picLocks noChangeAspect="1"/>
          </p:cNvPicPr>
          <p:nvPr/>
        </p:nvPicPr>
        <p:blipFill>
          <a:blip r:embed="rId6"/>
          <a:srcRect l="0" r="0" t="0" b="0"/>
          <a:stretch/>
        </p:blipFill>
        <p:spPr>
          <a:xfrm>
            <a:off x="10122408" y="2838298"/>
            <a:ext cx="228600" cy="228600"/>
          </a:xfrm>
          <a:prstGeom prst="rect">
            <a:avLst/>
          </a:prstGeom>
        </p:spPr>
      </p:pic>
      <p:sp>
        <p:nvSpPr>
          <p:cNvPr id="32" name="Text 24"/>
          <p:cNvSpPr txBox="1"/>
          <p:nvPr/>
        </p:nvSpPr>
        <p:spPr>
          <a:xfrm>
            <a:off x="9850831" y="3152851"/>
            <a:ext cx="874166" cy="162763"/>
          </a:xfrm>
          <a:prstGeom prst="rect">
            <a:avLst/>
          </a:prstGeom>
          <a:noFill/>
          <a:ln/>
        </p:spPr>
        <p:txBody>
          <a:bodyPr wrap="square" lIns="0" tIns="0" rIns="0" bIns="0" rtlCol="0" anchor="ctr"/>
          <a:lstStyle/>
          <a:p>
            <a:pPr algn="ctr" indent="0" marL="0">
              <a:buNone/>
            </a:pPr>
            <a:r>
              <a:rPr lang="en-US" sz="900" b="1" dirty="0">
                <a:solidFill>
                  <a:srgbClr val="323130"/>
                </a:solidFill>
                <a:latin typeface="Segoe UI" pitchFamily="34" charset="0"/>
                <a:ea typeface="Segoe UI" pitchFamily="34" charset="-122"/>
                <a:cs typeface="Segoe UI" pitchFamily="34" charset="-120"/>
              </a:rPr>
              <a:t>Risk Exposure</a:t>
            </a:r>
            <a:endParaRPr lang="en-US" sz="900" dirty="0"/>
          </a:p>
        </p:txBody>
      </p:sp>
      <p:sp>
        <p:nvSpPr>
          <p:cNvPr id="33" name="Shape 25"/>
          <p:cNvSpPr/>
          <p:nvPr/>
        </p:nvSpPr>
        <p:spPr>
          <a:xfrm>
            <a:off x="7658100" y="3614623"/>
            <a:ext cx="1628546" cy="780898"/>
          </a:xfrm>
          <a:prstGeom prst="roundRect">
            <a:avLst>
              <a:gd name="adj" fmla="val 8568"/>
            </a:avLst>
          </a:prstGeom>
          <a:solidFill>
            <a:srgbClr val="FEF0F1"/>
          </a:solidFill>
          <a:ln/>
        </p:spPr>
      </p:sp>
      <p:pic>
        <p:nvPicPr>
          <p:cNvPr id="34" name="Image 6" descr="preencoded.png">    </p:cNvPr>
          <p:cNvPicPr>
            <a:picLocks noChangeAspect="1"/>
          </p:cNvPicPr>
          <p:nvPr/>
        </p:nvPicPr>
        <p:blipFill>
          <a:blip r:embed="rId7"/>
          <a:srcRect l="-133" r="-133" t="0" b="0"/>
          <a:stretch/>
        </p:blipFill>
        <p:spPr>
          <a:xfrm>
            <a:off x="8384134" y="3757270"/>
            <a:ext cx="171907" cy="228600"/>
          </a:xfrm>
          <a:prstGeom prst="rect">
            <a:avLst/>
          </a:prstGeom>
        </p:spPr>
      </p:pic>
      <p:sp>
        <p:nvSpPr>
          <p:cNvPr id="35" name="Text 26"/>
          <p:cNvSpPr txBox="1"/>
          <p:nvPr/>
        </p:nvSpPr>
        <p:spPr>
          <a:xfrm>
            <a:off x="8157362" y="4071823"/>
            <a:ext cx="722376" cy="162763"/>
          </a:xfrm>
          <a:prstGeom prst="rect">
            <a:avLst/>
          </a:prstGeom>
          <a:noFill/>
          <a:ln/>
        </p:spPr>
        <p:txBody>
          <a:bodyPr wrap="square" lIns="0" tIns="0" rIns="0" bIns="0" rtlCol="0" anchor="ctr"/>
          <a:lstStyle/>
          <a:p>
            <a:pPr algn="ctr" indent="0" marL="0">
              <a:buNone/>
            </a:pPr>
            <a:r>
              <a:rPr lang="en-US" sz="900" b="1" dirty="0">
                <a:solidFill>
                  <a:srgbClr val="323130"/>
                </a:solidFill>
                <a:latin typeface="Segoe UI" pitchFamily="34" charset="0"/>
                <a:ea typeface="Segoe UI" pitchFamily="34" charset="-122"/>
                <a:cs typeface="Segoe UI" pitchFamily="34" charset="-120"/>
              </a:rPr>
              <a:t>Data Errors</a:t>
            </a:r>
            <a:endParaRPr lang="en-US" sz="900" dirty="0"/>
          </a:p>
        </p:txBody>
      </p:sp>
      <p:sp>
        <p:nvSpPr>
          <p:cNvPr id="36" name="Shape 27"/>
          <p:cNvSpPr/>
          <p:nvPr/>
        </p:nvSpPr>
        <p:spPr>
          <a:xfrm>
            <a:off x="9424721" y="3614623"/>
            <a:ext cx="1628546" cy="780898"/>
          </a:xfrm>
          <a:prstGeom prst="roundRect">
            <a:avLst>
              <a:gd name="adj" fmla="val 8568"/>
            </a:avLst>
          </a:prstGeom>
          <a:solidFill>
            <a:srgbClr val="FEF0F1"/>
          </a:solidFill>
          <a:ln/>
        </p:spPr>
      </p:sp>
      <p:pic>
        <p:nvPicPr>
          <p:cNvPr id="37" name="Image 7" descr="preencoded.png">    </p:cNvPr>
          <p:cNvPicPr>
            <a:picLocks noChangeAspect="1"/>
          </p:cNvPicPr>
          <p:nvPr/>
        </p:nvPicPr>
        <p:blipFill>
          <a:blip r:embed="rId8"/>
          <a:srcRect l="-80" r="-80" t="0" b="0"/>
          <a:stretch/>
        </p:blipFill>
        <p:spPr>
          <a:xfrm>
            <a:off x="10094062" y="3757270"/>
            <a:ext cx="286207" cy="228600"/>
          </a:xfrm>
          <a:prstGeom prst="rect">
            <a:avLst/>
          </a:prstGeom>
        </p:spPr>
      </p:pic>
      <p:sp>
        <p:nvSpPr>
          <p:cNvPr id="38" name="Text 28"/>
          <p:cNvSpPr txBox="1"/>
          <p:nvPr/>
        </p:nvSpPr>
        <p:spPr>
          <a:xfrm>
            <a:off x="9810598" y="4071823"/>
            <a:ext cx="950976" cy="162763"/>
          </a:xfrm>
          <a:prstGeom prst="rect">
            <a:avLst/>
          </a:prstGeom>
          <a:noFill/>
          <a:ln/>
        </p:spPr>
        <p:txBody>
          <a:bodyPr wrap="square" lIns="0" tIns="0" rIns="0" bIns="0" rtlCol="0" anchor="ctr"/>
          <a:lstStyle/>
          <a:p>
            <a:pPr algn="ctr" indent="0" marL="0">
              <a:buNone/>
            </a:pPr>
            <a:r>
              <a:rPr lang="en-US" sz="900" b="1" dirty="0">
                <a:solidFill>
                  <a:srgbClr val="323130"/>
                </a:solidFill>
                <a:latin typeface="Segoe UI" pitchFamily="34" charset="0"/>
                <a:ea typeface="Segoe UI" pitchFamily="34" charset="-122"/>
                <a:cs typeface="Segoe UI" pitchFamily="34" charset="-120"/>
              </a:rPr>
              <a:t>Missed Comms</a:t>
            </a:r>
            <a:endParaRPr lang="en-US" sz="900" dirty="0"/>
          </a:p>
        </p:txBody>
      </p:sp>
      <p:sp>
        <p:nvSpPr>
          <p:cNvPr id="39" name="Shape 29"/>
          <p:cNvSpPr/>
          <p:nvPr/>
        </p:nvSpPr>
        <p:spPr>
          <a:xfrm>
            <a:off x="7658100" y="4629607"/>
            <a:ext cx="3390595" cy="1162202"/>
          </a:xfrm>
          <a:prstGeom prst="roundRect">
            <a:avLst>
              <a:gd name="adj" fmla="val 3869"/>
            </a:avLst>
          </a:prstGeom>
          <a:solidFill>
            <a:srgbClr val="FEF0F1"/>
          </a:solidFill>
          <a:ln/>
        </p:spPr>
      </p:sp>
      <p:pic>
        <p:nvPicPr>
          <p:cNvPr id="40" name="Image 8" descr="preencoded.png">    </p:cNvPr>
          <p:cNvPicPr>
            <a:picLocks noChangeAspect="1"/>
          </p:cNvPicPr>
          <p:nvPr/>
        </p:nvPicPr>
        <p:blipFill>
          <a:blip r:embed="rId9"/>
          <a:srcRect l="0" r="0" t="0" b="0"/>
          <a:stretch/>
        </p:blipFill>
        <p:spPr>
          <a:xfrm>
            <a:off x="7800746" y="4796028"/>
            <a:ext cx="152705" cy="152705"/>
          </a:xfrm>
          <a:prstGeom prst="rect">
            <a:avLst/>
          </a:prstGeom>
        </p:spPr>
      </p:pic>
      <p:sp>
        <p:nvSpPr>
          <p:cNvPr id="41" name="Text 30"/>
          <p:cNvSpPr txBox="1"/>
          <p:nvPr/>
        </p:nvSpPr>
        <p:spPr>
          <a:xfrm>
            <a:off x="8048549" y="4781398"/>
            <a:ext cx="1462126" cy="181051"/>
          </a:xfrm>
          <a:prstGeom prst="rect">
            <a:avLst/>
          </a:prstGeom>
          <a:noFill/>
          <a:ln/>
        </p:spPr>
        <p:txBody>
          <a:bodyPr wrap="square" lIns="0" tIns="0" rIns="0" bIns="0" rtlCol="0" anchor="ctr"/>
          <a:lstStyle/>
          <a:p>
            <a:pPr algn="l" indent="0" marL="0">
              <a:buNone/>
            </a:pPr>
            <a:r>
              <a:rPr lang="en-US" sz="1000" b="1" dirty="0">
                <a:solidFill>
                  <a:srgbClr val="323130"/>
                </a:solidFill>
                <a:latin typeface="Segoe UI" pitchFamily="34" charset="0"/>
                <a:ea typeface="Segoe UI" pitchFamily="34" charset="-122"/>
                <a:cs typeface="Segoe UI" pitchFamily="34" charset="-120"/>
              </a:rPr>
              <a:t>Business Consequence</a:t>
            </a:r>
            <a:endParaRPr lang="en-US" sz="1000" dirty="0"/>
          </a:p>
        </p:txBody>
      </p:sp>
      <p:sp>
        <p:nvSpPr>
          <p:cNvPr id="42" name="Text 31"/>
          <p:cNvSpPr txBox="1"/>
          <p:nvPr/>
        </p:nvSpPr>
        <p:spPr>
          <a:xfrm>
            <a:off x="7800746" y="5057546"/>
            <a:ext cx="3179369" cy="562356"/>
          </a:xfrm>
          <a:prstGeom prst="rect">
            <a:avLst/>
          </a:prstGeom>
          <a:noFill/>
          <a:ln/>
        </p:spPr>
        <p:txBody>
          <a:bodyPr wrap="square" lIns="0" tIns="0" rIns="0" bIns="0" rtlCol="0" anchor="ctr"/>
          <a:lstStyle/>
          <a:p>
            <a:pPr algn="l" indent="0" marL="0">
              <a:buNone/>
            </a:pPr>
            <a:r>
              <a:rPr lang="en-US" sz="900" dirty="0">
                <a:solidFill>
                  <a:srgbClr val="605E5C"/>
                </a:solidFill>
                <a:latin typeface="Segoe UI" pitchFamily="34" charset="0"/>
                <a:ea typeface="Segoe UI" pitchFamily="34" charset="-122"/>
                <a:cs typeface="Segoe UI" pitchFamily="34" charset="-120"/>
              </a:rPr>
              <a:t>Reactive management style due to data latency prevents teams from addressing compliance gaps before they escalate.</a:t>
            </a:r>
            <a:endParaRPr lang="en-US" sz="900" dirty="0"/>
          </a:p>
        </p:txBody>
      </p:sp>
      <p:sp>
        <p:nvSpPr>
          <p:cNvPr id="43" name="Shape 32"/>
          <p:cNvSpPr/>
          <p:nvPr/>
        </p:nvSpPr>
        <p:spPr>
          <a:xfrm>
            <a:off x="0" y="6928409"/>
            <a:ext cx="12191695" cy="9144"/>
          </a:xfrm>
          <a:prstGeom prst="rect">
            <a:avLst/>
          </a:prstGeom>
          <a:solidFill>
            <a:srgbClr val="EDEBE9"/>
          </a:solidFill>
          <a:ln/>
        </p:spPr>
      </p:sp>
      <p:sp>
        <p:nvSpPr>
          <p:cNvPr id="44" name="Text 33"/>
          <p:cNvSpPr txBox="1"/>
          <p:nvPr/>
        </p:nvSpPr>
        <p:spPr>
          <a:xfrm>
            <a:off x="8825789" y="6947611"/>
            <a:ext cx="2886761" cy="152705"/>
          </a:xfrm>
          <a:prstGeom prst="rect">
            <a:avLst/>
          </a:prstGeom>
          <a:noFill/>
          <a:ln/>
        </p:spPr>
        <p:txBody>
          <a:bodyPr wrap="square" lIns="0" tIns="0" rIns="0" bIns="0" rtlCol="0" anchor="ctr"/>
          <a:lstStyle/>
          <a:p>
            <a:pPr algn="l" indent="0" marL="0">
              <a:buNone/>
            </a:pPr>
            <a:r>
              <a:rPr lang="en-US" sz="900" dirty="0">
                <a:solidFill>
                  <a:srgbClr val="A19F9D"/>
                </a:solidFill>
                <a:latin typeface="Segoe UI" pitchFamily="34" charset="0"/>
                <a:ea typeface="Segoe UI" pitchFamily="34" charset="-122"/>
                <a:cs typeface="Segoe UI" pitchFamily="34" charset="-120"/>
              </a:rPr>
              <a:t>Confidential | Factory Delivery Orchestrator Automation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0"/>
            <a:ext cx="12191695" cy="75895"/>
          </a:xfrm>
          <a:prstGeom prst="rect">
            <a:avLst/>
          </a:prstGeom>
          <a:solidFill>
            <a:srgbClr val="0078D4"/>
          </a:solidFill>
          <a:ln/>
        </p:spPr>
      </p:sp>
      <p:sp>
        <p:nvSpPr>
          <p:cNvPr id="5" name="Text 3"/>
          <p:cNvSpPr txBox="1"/>
          <p:nvPr/>
        </p:nvSpPr>
        <p:spPr>
          <a:xfrm>
            <a:off x="571500" y="485546"/>
            <a:ext cx="3567989" cy="534010"/>
          </a:xfrm>
          <a:prstGeom prst="rect">
            <a:avLst/>
          </a:prstGeom>
          <a:noFill/>
          <a:ln/>
        </p:spPr>
        <p:txBody>
          <a:bodyPr wrap="square" lIns="0" tIns="0" rIns="0" bIns="0" rtlCol="0" anchor="ctr"/>
          <a:lstStyle/>
          <a:p>
            <a:pPr algn="l" indent="0" marL="0">
              <a:buNone/>
            </a:pPr>
            <a:r>
              <a:rPr lang="en-US" sz="3100" b="1" dirty="0">
                <a:solidFill>
                  <a:srgbClr val="242424"/>
                </a:solidFill>
                <a:latin typeface="Segoe UI" pitchFamily="34" charset="0"/>
                <a:ea typeface="Segoe UI" pitchFamily="34" charset="-122"/>
                <a:cs typeface="Segoe UI" pitchFamily="34" charset="-120"/>
              </a:rPr>
              <a:t>Project Objectives</a:t>
            </a:r>
            <a:endParaRPr lang="en-US" sz="3100" dirty="0"/>
          </a:p>
        </p:txBody>
      </p:sp>
      <p:sp>
        <p:nvSpPr>
          <p:cNvPr id="6" name="Text 4"/>
          <p:cNvSpPr txBox="1"/>
          <p:nvPr/>
        </p:nvSpPr>
        <p:spPr>
          <a:xfrm>
            <a:off x="9968789" y="652882"/>
            <a:ext cx="1772107" cy="200254"/>
          </a:xfrm>
          <a:prstGeom prst="rect">
            <a:avLst/>
          </a:prstGeom>
          <a:noFill/>
          <a:ln/>
        </p:spPr>
        <p:txBody>
          <a:bodyPr wrap="square" lIns="0" tIns="0" rIns="0" bIns="0" rtlCol="0" anchor="ctr"/>
          <a:lstStyle/>
          <a:p>
            <a:pPr algn="l" indent="0" marL="0">
              <a:buNone/>
            </a:pPr>
            <a:r>
              <a:rPr lang="en-US" sz="1200" dirty="0">
                <a:solidFill>
                  <a:srgbClr val="666666"/>
                </a:solidFill>
                <a:latin typeface="Segoe UI" pitchFamily="34" charset="0"/>
                <a:ea typeface="Segoe UI" pitchFamily="34" charset="-122"/>
                <a:cs typeface="Segoe UI" pitchFamily="34" charset="-120"/>
              </a:rPr>
              <a:t>FDO Automation / Goals</a:t>
            </a:r>
            <a:endParaRPr lang="en-US" sz="1200" dirty="0"/>
          </a:p>
        </p:txBody>
      </p:sp>
      <p:sp>
        <p:nvSpPr>
          <p:cNvPr id="7" name="Shape 5"/>
          <p:cNvSpPr/>
          <p:nvPr/>
        </p:nvSpPr>
        <p:spPr>
          <a:xfrm>
            <a:off x="571500" y="1442923"/>
            <a:ext cx="533095" cy="533095"/>
          </a:xfrm>
          <a:prstGeom prst="roundRect">
            <a:avLst>
              <a:gd name="adj" fmla="val 24504"/>
            </a:avLst>
          </a:prstGeom>
          <a:solidFill>
            <a:srgbClr val="EFF6FC"/>
          </a:solidFill>
          <a:ln/>
        </p:spPr>
      </p:sp>
      <p:pic>
        <p:nvPicPr>
          <p:cNvPr id="8" name="Image 0" descr="preencoded.png">    </p:cNvPr>
          <p:cNvPicPr>
            <a:picLocks noChangeAspect="1"/>
          </p:cNvPicPr>
          <p:nvPr/>
        </p:nvPicPr>
        <p:blipFill>
          <a:blip r:embed="rId1"/>
          <a:srcRect l="0" r="0" t="0" b="0"/>
          <a:stretch/>
        </p:blipFill>
        <p:spPr>
          <a:xfrm>
            <a:off x="724205" y="1595628"/>
            <a:ext cx="228600" cy="228600"/>
          </a:xfrm>
          <a:prstGeom prst="rect">
            <a:avLst/>
          </a:prstGeom>
        </p:spPr>
      </p:pic>
      <p:sp>
        <p:nvSpPr>
          <p:cNvPr id="9" name="Text 6"/>
          <p:cNvSpPr txBox="1"/>
          <p:nvPr/>
        </p:nvSpPr>
        <p:spPr>
          <a:xfrm>
            <a:off x="1295705" y="1452982"/>
            <a:ext cx="2243938" cy="286207"/>
          </a:xfrm>
          <a:prstGeom prst="rect">
            <a:avLst/>
          </a:prstGeom>
          <a:noFill/>
          <a:ln/>
        </p:spPr>
        <p:txBody>
          <a:bodyPr wrap="square" lIns="0" tIns="0" rIns="0" bIns="0" rtlCol="0" anchor="ctr"/>
          <a:lstStyle/>
          <a:p>
            <a:pPr algn="l" indent="0" marL="0">
              <a:buNone/>
            </a:pPr>
            <a:r>
              <a:rPr lang="en-US" sz="1600" b="1" dirty="0">
                <a:solidFill>
                  <a:srgbClr val="323130"/>
                </a:solidFill>
                <a:latin typeface="Segoe UI" pitchFamily="34" charset="0"/>
                <a:ea typeface="Segoe UI" pitchFamily="34" charset="-122"/>
                <a:cs typeface="Segoe UI" pitchFamily="34" charset="-120"/>
              </a:rPr>
              <a:t>Automated Extraction</a:t>
            </a:r>
            <a:endParaRPr lang="en-US" sz="1600" dirty="0"/>
          </a:p>
        </p:txBody>
      </p:sp>
      <p:sp>
        <p:nvSpPr>
          <p:cNvPr id="10" name="Text 7"/>
          <p:cNvSpPr txBox="1"/>
          <p:nvPr/>
        </p:nvSpPr>
        <p:spPr>
          <a:xfrm>
            <a:off x="1295705" y="1824228"/>
            <a:ext cx="5177333" cy="486461"/>
          </a:xfrm>
          <a:prstGeom prst="rect">
            <a:avLst/>
          </a:prstGeom>
          <a:noFill/>
          <a:ln/>
        </p:spPr>
        <p:txBody>
          <a:bodyPr wrap="square" lIns="0" tIns="0" rIns="0" bIns="0" rtlCol="0" anchor="ctr"/>
          <a:lstStyle/>
          <a:p>
            <a:pPr algn="l" indent="0" marL="0">
              <a:buNone/>
            </a:pPr>
            <a:r>
              <a:rPr lang="en-US" sz="1300" dirty="0">
                <a:solidFill>
                  <a:srgbClr val="605E5C"/>
                </a:solidFill>
                <a:latin typeface="Segoe UI" pitchFamily="34" charset="0"/>
                <a:ea typeface="Segoe UI" pitchFamily="34" charset="-122"/>
                <a:cs typeface="Segoe UI" pitchFamily="34" charset="-120"/>
              </a:rPr>
              <a:t>Eliminate manual data pulling by automatically extracting audit reports from FDO on a scheduled weekly basis.</a:t>
            </a:r>
            <a:endParaRPr lang="en-US" sz="1300" dirty="0"/>
          </a:p>
        </p:txBody>
      </p:sp>
      <p:sp>
        <p:nvSpPr>
          <p:cNvPr id="11" name="Shape 8"/>
          <p:cNvSpPr/>
          <p:nvPr/>
        </p:nvSpPr>
        <p:spPr>
          <a:xfrm>
            <a:off x="571500" y="2633472"/>
            <a:ext cx="533095" cy="533095"/>
          </a:xfrm>
          <a:prstGeom prst="roundRect">
            <a:avLst>
              <a:gd name="adj" fmla="val 24504"/>
            </a:avLst>
          </a:prstGeom>
          <a:solidFill>
            <a:srgbClr val="EFF6FC"/>
          </a:solidFill>
          <a:ln/>
        </p:spPr>
      </p:sp>
      <p:pic>
        <p:nvPicPr>
          <p:cNvPr id="12" name="Image 1" descr="preencoded.png">    </p:cNvPr>
          <p:cNvPicPr>
            <a:picLocks noChangeAspect="1"/>
          </p:cNvPicPr>
          <p:nvPr/>
        </p:nvPicPr>
        <p:blipFill>
          <a:blip r:embed="rId2"/>
          <a:srcRect l="-133" r="-133" t="0" b="0"/>
          <a:stretch/>
        </p:blipFill>
        <p:spPr>
          <a:xfrm>
            <a:off x="752551" y="2786177"/>
            <a:ext cx="171907" cy="228600"/>
          </a:xfrm>
          <a:prstGeom prst="rect">
            <a:avLst/>
          </a:prstGeom>
        </p:spPr>
      </p:pic>
      <p:sp>
        <p:nvSpPr>
          <p:cNvPr id="13" name="Text 9"/>
          <p:cNvSpPr txBox="1"/>
          <p:nvPr/>
        </p:nvSpPr>
        <p:spPr>
          <a:xfrm>
            <a:off x="1295705" y="2643530"/>
            <a:ext cx="2414930" cy="286207"/>
          </a:xfrm>
          <a:prstGeom prst="rect">
            <a:avLst/>
          </a:prstGeom>
          <a:noFill/>
          <a:ln/>
        </p:spPr>
        <p:txBody>
          <a:bodyPr wrap="square" lIns="0" tIns="0" rIns="0" bIns="0" rtlCol="0" anchor="ctr"/>
          <a:lstStyle/>
          <a:p>
            <a:pPr algn="l" indent="0" marL="0">
              <a:buNone/>
            </a:pPr>
            <a:r>
              <a:rPr lang="en-US" sz="1600" b="1" dirty="0">
                <a:solidFill>
                  <a:srgbClr val="323130"/>
                </a:solidFill>
                <a:latin typeface="Segoe UI" pitchFamily="34" charset="0"/>
                <a:ea typeface="Segoe UI" pitchFamily="34" charset="-122"/>
                <a:cs typeface="Segoe UI" pitchFamily="34" charset="-120"/>
              </a:rPr>
              <a:t>Standardized Reporting</a:t>
            </a:r>
            <a:endParaRPr lang="en-US" sz="1600" dirty="0"/>
          </a:p>
        </p:txBody>
      </p:sp>
      <p:sp>
        <p:nvSpPr>
          <p:cNvPr id="14" name="Text 10"/>
          <p:cNvSpPr txBox="1"/>
          <p:nvPr/>
        </p:nvSpPr>
        <p:spPr>
          <a:xfrm>
            <a:off x="1295705" y="3014777"/>
            <a:ext cx="4920386" cy="486461"/>
          </a:xfrm>
          <a:prstGeom prst="rect">
            <a:avLst/>
          </a:prstGeom>
          <a:noFill/>
          <a:ln/>
        </p:spPr>
        <p:txBody>
          <a:bodyPr wrap="square" lIns="0" tIns="0" rIns="0" bIns="0" rtlCol="0" anchor="ctr"/>
          <a:lstStyle/>
          <a:p>
            <a:pPr algn="l" indent="0" marL="0">
              <a:buNone/>
            </a:pPr>
            <a:r>
              <a:rPr lang="en-US" sz="1300" dirty="0">
                <a:solidFill>
                  <a:srgbClr val="605E5C"/>
                </a:solidFill>
                <a:latin typeface="Segoe UI" pitchFamily="34" charset="0"/>
                <a:ea typeface="Segoe UI" pitchFamily="34" charset="-122"/>
                <a:cs typeface="Segoe UI" pitchFamily="34" charset="-120"/>
              </a:rPr>
              <a:t>Generate consistent, formatted summaries every week, ensuring all stakeholders review the same version of the truth.</a:t>
            </a:r>
            <a:endParaRPr lang="en-US" sz="1300" dirty="0"/>
          </a:p>
        </p:txBody>
      </p:sp>
      <p:sp>
        <p:nvSpPr>
          <p:cNvPr id="15" name="Shape 11"/>
          <p:cNvSpPr/>
          <p:nvPr/>
        </p:nvSpPr>
        <p:spPr>
          <a:xfrm>
            <a:off x="571500" y="3824021"/>
            <a:ext cx="533095" cy="533095"/>
          </a:xfrm>
          <a:prstGeom prst="roundRect">
            <a:avLst>
              <a:gd name="adj" fmla="val 24504"/>
            </a:avLst>
          </a:prstGeom>
          <a:solidFill>
            <a:srgbClr val="EFF6FC"/>
          </a:solidFill>
          <a:ln/>
        </p:spPr>
      </p:sp>
      <p:pic>
        <p:nvPicPr>
          <p:cNvPr id="16" name="Image 2" descr="preencoded.png">    </p:cNvPr>
          <p:cNvPicPr>
            <a:picLocks noChangeAspect="1"/>
          </p:cNvPicPr>
          <p:nvPr/>
        </p:nvPicPr>
        <p:blipFill>
          <a:blip r:embed="rId3"/>
          <a:srcRect l="0" r="0" t="0" b="0"/>
          <a:stretch/>
        </p:blipFill>
        <p:spPr>
          <a:xfrm>
            <a:off x="724205" y="3976726"/>
            <a:ext cx="228600" cy="228600"/>
          </a:xfrm>
          <a:prstGeom prst="rect">
            <a:avLst/>
          </a:prstGeom>
        </p:spPr>
      </p:pic>
      <p:sp>
        <p:nvSpPr>
          <p:cNvPr id="17" name="Text 12"/>
          <p:cNvSpPr txBox="1"/>
          <p:nvPr/>
        </p:nvSpPr>
        <p:spPr>
          <a:xfrm>
            <a:off x="1295705" y="3834079"/>
            <a:ext cx="2481682" cy="286207"/>
          </a:xfrm>
          <a:prstGeom prst="rect">
            <a:avLst/>
          </a:prstGeom>
          <a:noFill/>
          <a:ln/>
        </p:spPr>
        <p:txBody>
          <a:bodyPr wrap="square" lIns="0" tIns="0" rIns="0" bIns="0" rtlCol="0" anchor="ctr"/>
          <a:lstStyle/>
          <a:p>
            <a:pPr algn="l" indent="0" marL="0">
              <a:buNone/>
            </a:pPr>
            <a:r>
              <a:rPr lang="en-US" sz="1600" b="1" dirty="0">
                <a:solidFill>
                  <a:srgbClr val="323130"/>
                </a:solidFill>
                <a:latin typeface="Segoe UI" pitchFamily="34" charset="0"/>
                <a:ea typeface="Segoe UI" pitchFamily="34" charset="-122"/>
                <a:cs typeface="Segoe UI" pitchFamily="34" charset="-120"/>
              </a:rPr>
              <a:t>Streamlined Distribution</a:t>
            </a:r>
            <a:endParaRPr lang="en-US" sz="1600" dirty="0"/>
          </a:p>
        </p:txBody>
      </p:sp>
      <p:sp>
        <p:nvSpPr>
          <p:cNvPr id="18" name="Text 13"/>
          <p:cNvSpPr txBox="1"/>
          <p:nvPr/>
        </p:nvSpPr>
        <p:spPr>
          <a:xfrm>
            <a:off x="1295705" y="4205326"/>
            <a:ext cx="4901184" cy="486461"/>
          </a:xfrm>
          <a:prstGeom prst="rect">
            <a:avLst/>
          </a:prstGeom>
          <a:noFill/>
          <a:ln/>
        </p:spPr>
        <p:txBody>
          <a:bodyPr wrap="square" lIns="0" tIns="0" rIns="0" bIns="0" rtlCol="0" anchor="ctr"/>
          <a:lstStyle/>
          <a:p>
            <a:pPr algn="l" indent="0" marL="0">
              <a:buNone/>
            </a:pPr>
            <a:r>
              <a:rPr lang="en-US" sz="1300" dirty="0">
                <a:solidFill>
                  <a:srgbClr val="605E5C"/>
                </a:solidFill>
                <a:latin typeface="Segoe UI" pitchFamily="34" charset="0"/>
                <a:ea typeface="Segoe UI" pitchFamily="34" charset="-122"/>
                <a:cs typeface="Segoe UI" pitchFamily="34" charset="-120"/>
              </a:rPr>
              <a:t>Automatically email reports to predefined recipient groups (Project Managers, Audit, Leadership) without manual intervention.</a:t>
            </a:r>
            <a:endParaRPr lang="en-US" sz="1300" dirty="0"/>
          </a:p>
        </p:txBody>
      </p:sp>
      <p:sp>
        <p:nvSpPr>
          <p:cNvPr id="19" name="Shape 14"/>
          <p:cNvSpPr/>
          <p:nvPr/>
        </p:nvSpPr>
        <p:spPr>
          <a:xfrm>
            <a:off x="571500" y="5014570"/>
            <a:ext cx="533095" cy="533095"/>
          </a:xfrm>
          <a:prstGeom prst="roundRect">
            <a:avLst>
              <a:gd name="adj" fmla="val 24504"/>
            </a:avLst>
          </a:prstGeom>
          <a:solidFill>
            <a:srgbClr val="EFF6FC"/>
          </a:solidFill>
          <a:ln/>
        </p:spPr>
      </p:sp>
      <p:pic>
        <p:nvPicPr>
          <p:cNvPr id="20" name="Image 3" descr="preencoded.png">    </p:cNvPr>
          <p:cNvPicPr>
            <a:picLocks noChangeAspect="1"/>
          </p:cNvPicPr>
          <p:nvPr/>
        </p:nvPicPr>
        <p:blipFill>
          <a:blip r:embed="rId4"/>
          <a:srcRect l="0" r="0" t="0" b="0"/>
          <a:stretch/>
        </p:blipFill>
        <p:spPr>
          <a:xfrm>
            <a:off x="724205" y="5167274"/>
            <a:ext cx="228600" cy="228600"/>
          </a:xfrm>
          <a:prstGeom prst="rect">
            <a:avLst/>
          </a:prstGeom>
        </p:spPr>
      </p:pic>
      <p:sp>
        <p:nvSpPr>
          <p:cNvPr id="21" name="Text 15"/>
          <p:cNvSpPr txBox="1"/>
          <p:nvPr/>
        </p:nvSpPr>
        <p:spPr>
          <a:xfrm>
            <a:off x="1295705" y="5024628"/>
            <a:ext cx="2262226" cy="286207"/>
          </a:xfrm>
          <a:prstGeom prst="rect">
            <a:avLst/>
          </a:prstGeom>
          <a:noFill/>
          <a:ln/>
        </p:spPr>
        <p:txBody>
          <a:bodyPr wrap="square" lIns="0" tIns="0" rIns="0" bIns="0" rtlCol="0" anchor="ctr"/>
          <a:lstStyle/>
          <a:p>
            <a:pPr algn="l" indent="0" marL="0">
              <a:buNone/>
            </a:pPr>
            <a:r>
              <a:rPr lang="en-US" sz="1600" b="1" dirty="0">
                <a:solidFill>
                  <a:srgbClr val="323130"/>
                </a:solidFill>
                <a:latin typeface="Segoe UI" pitchFamily="34" charset="0"/>
                <a:ea typeface="Segoe UI" pitchFamily="34" charset="-122"/>
                <a:cs typeface="Segoe UI" pitchFamily="34" charset="-120"/>
              </a:rPr>
              <a:t>Enhanced Compliance</a:t>
            </a:r>
            <a:endParaRPr lang="en-US" sz="1600" dirty="0"/>
          </a:p>
        </p:txBody>
      </p:sp>
      <p:sp>
        <p:nvSpPr>
          <p:cNvPr id="22" name="Text 16"/>
          <p:cNvSpPr txBox="1"/>
          <p:nvPr/>
        </p:nvSpPr>
        <p:spPr>
          <a:xfrm>
            <a:off x="1295705" y="5395874"/>
            <a:ext cx="4681728" cy="486461"/>
          </a:xfrm>
          <a:prstGeom prst="rect">
            <a:avLst/>
          </a:prstGeom>
          <a:noFill/>
          <a:ln/>
        </p:spPr>
        <p:txBody>
          <a:bodyPr wrap="square" lIns="0" tIns="0" rIns="0" bIns="0" rtlCol="0" anchor="ctr"/>
          <a:lstStyle/>
          <a:p>
            <a:pPr algn="l" indent="0" marL="0">
              <a:buNone/>
            </a:pPr>
            <a:r>
              <a:rPr lang="en-US" sz="1300" dirty="0">
                <a:solidFill>
                  <a:srgbClr val="605E5C"/>
                </a:solidFill>
                <a:latin typeface="Segoe UI" pitchFamily="34" charset="0"/>
                <a:ea typeface="Segoe UI" pitchFamily="34" charset="-122"/>
                <a:cs typeface="Segoe UI" pitchFamily="34" charset="-120"/>
              </a:rPr>
              <a:t>Ensure timely delivery of accurate data to support proactive risk management and continuous compliance monitoring.</a:t>
            </a:r>
            <a:endParaRPr lang="en-US" sz="1300" dirty="0"/>
          </a:p>
        </p:txBody>
      </p:sp>
      <p:sp>
        <p:nvSpPr>
          <p:cNvPr id="23" name="Shape 17"/>
          <p:cNvSpPr/>
          <p:nvPr/>
        </p:nvSpPr>
        <p:spPr>
          <a:xfrm>
            <a:off x="7086600" y="1438351"/>
            <a:ext cx="4533595" cy="4466844"/>
          </a:xfrm>
          <a:prstGeom prst="roundRect">
            <a:avLst>
              <a:gd name="adj" fmla="val 524"/>
            </a:avLst>
          </a:prstGeom>
          <a:solidFill>
            <a:srgbClr val="F8F9FA"/>
          </a:solidFill>
          <a:ln/>
        </p:spPr>
      </p:sp>
      <p:sp>
        <p:nvSpPr>
          <p:cNvPr id="24" name="Shape 18"/>
          <p:cNvSpPr/>
          <p:nvPr/>
        </p:nvSpPr>
        <p:spPr>
          <a:xfrm>
            <a:off x="7372807" y="1986077"/>
            <a:ext cx="3962095" cy="3372307"/>
          </a:xfrm>
          <a:prstGeom prst="roundRect">
            <a:avLst>
              <a:gd name="adj" fmla="val 613"/>
            </a:avLst>
          </a:prstGeom>
          <a:solidFill>
            <a:srgbClr val="FFFFFF"/>
          </a:solidFill>
          <a:ln/>
          <a:effectLst>
            <a:outerShdw sx="100000" sy="100000" kx="0" ky="0" algn="bl" rotWithShape="0" blurRad="114300" dist="38100" dir="5400000">
              <a:srgbClr val="000000">
                <a:alpha val="5000"/>
              </a:srgbClr>
            </a:outerShdw>
          </a:effectLst>
        </p:spPr>
      </p:sp>
      <p:sp>
        <p:nvSpPr>
          <p:cNvPr id="25" name="Shape 19"/>
          <p:cNvSpPr/>
          <p:nvPr/>
        </p:nvSpPr>
        <p:spPr>
          <a:xfrm>
            <a:off x="7372807" y="1986077"/>
            <a:ext cx="3962095" cy="38405"/>
          </a:xfrm>
          <a:prstGeom prst="rect">
            <a:avLst/>
          </a:prstGeom>
          <a:solidFill>
            <a:srgbClr val="0078D4"/>
          </a:solidFill>
          <a:ln/>
        </p:spPr>
      </p:sp>
      <p:sp>
        <p:nvSpPr>
          <p:cNvPr id="26" name="Text 20"/>
          <p:cNvSpPr txBox="1"/>
          <p:nvPr/>
        </p:nvSpPr>
        <p:spPr>
          <a:xfrm>
            <a:off x="8638337" y="2318918"/>
            <a:ext cx="1581912" cy="257861"/>
          </a:xfrm>
          <a:prstGeom prst="rect">
            <a:avLst/>
          </a:prstGeom>
          <a:noFill/>
          <a:ln/>
        </p:spPr>
        <p:txBody>
          <a:bodyPr wrap="square" lIns="0" tIns="0" rIns="0" bIns="0" rtlCol="0" anchor="ctr"/>
          <a:lstStyle/>
          <a:p>
            <a:pPr algn="ctr" indent="0" marL="0">
              <a:buNone/>
            </a:pPr>
            <a:r>
              <a:rPr lang="en-US" sz="1500" dirty="0">
                <a:solidFill>
                  <a:srgbClr val="323130"/>
                </a:solidFill>
                <a:latin typeface="Segoe UI" pitchFamily="34" charset="0"/>
                <a:ea typeface="Segoe UI" pitchFamily="34" charset="-122"/>
                <a:cs typeface="Segoe UI" pitchFamily="34" charset="-120"/>
              </a:rPr>
              <a:t>Target Outcomes</a:t>
            </a:r>
            <a:endParaRPr lang="en-US" sz="1500" dirty="0"/>
          </a:p>
        </p:txBody>
      </p:sp>
      <p:sp>
        <p:nvSpPr>
          <p:cNvPr id="27" name="Text 21"/>
          <p:cNvSpPr txBox="1"/>
          <p:nvPr/>
        </p:nvSpPr>
        <p:spPr>
          <a:xfrm>
            <a:off x="8655710" y="2605126"/>
            <a:ext cx="1500530" cy="181051"/>
          </a:xfrm>
          <a:prstGeom prst="rect">
            <a:avLst/>
          </a:prstGeom>
          <a:noFill/>
          <a:ln/>
        </p:spPr>
        <p:txBody>
          <a:bodyPr wrap="square" lIns="0" tIns="0" rIns="0" bIns="0" rtlCol="0" anchor="ctr"/>
          <a:lstStyle/>
          <a:p>
            <a:pPr algn="ctr" indent="0" marL="0">
              <a:buNone/>
            </a:pPr>
            <a:r>
              <a:rPr lang="en-US" sz="1000" dirty="0">
                <a:solidFill>
                  <a:srgbClr val="605E5C"/>
                </a:solidFill>
                <a:latin typeface="Segoe UI" pitchFamily="34" charset="0"/>
                <a:ea typeface="Segoe UI" pitchFamily="34" charset="-122"/>
                <a:cs typeface="Segoe UI" pitchFamily="34" charset="-120"/>
              </a:rPr>
              <a:t>Primary Success Criteria</a:t>
            </a:r>
            <a:endParaRPr lang="en-US" sz="1000" dirty="0"/>
          </a:p>
        </p:txBody>
      </p:sp>
      <p:sp>
        <p:nvSpPr>
          <p:cNvPr id="28" name="Shape 22"/>
          <p:cNvSpPr/>
          <p:nvPr/>
        </p:nvSpPr>
        <p:spPr>
          <a:xfrm>
            <a:off x="8876995" y="3081528"/>
            <a:ext cx="952805" cy="952805"/>
          </a:xfrm>
          <a:prstGeom prst="ellipse">
            <a:avLst/>
          </a:prstGeom>
          <a:noFill/>
          <a:ln w="101600">
            <a:solidFill>
              <a:srgbClr val="EFF6FC"/>
            </a:solidFill>
            <a:prstDash val="solid"/>
          </a:ln>
        </p:spPr>
      </p:sp>
      <p:sp>
        <p:nvSpPr>
          <p:cNvPr id="29" name="Shape 23"/>
          <p:cNvSpPr/>
          <p:nvPr/>
        </p:nvSpPr>
        <p:spPr>
          <a:xfrm>
            <a:off x="9068105" y="3271723"/>
            <a:ext cx="571500" cy="571500"/>
          </a:xfrm>
          <a:prstGeom prst="ellipse">
            <a:avLst/>
          </a:prstGeom>
          <a:solidFill>
            <a:srgbClr val="0078D4"/>
          </a:solidFill>
          <a:ln/>
          <a:effectLst>
            <a:outerShdw sx="100000" sy="100000" kx="0" ky="0" algn="bl" rotWithShape="0" blurRad="63500" dist="38100" dir="5400000">
              <a:srgbClr val="0078d4">
                <a:alpha val="30000"/>
              </a:srgbClr>
            </a:outerShdw>
          </a:effectLst>
        </p:spPr>
      </p:sp>
      <p:pic>
        <p:nvPicPr>
          <p:cNvPr id="30" name="Image 4" descr="preencoded.png">    </p:cNvPr>
          <p:cNvPicPr>
            <a:picLocks noChangeAspect="1"/>
          </p:cNvPicPr>
          <p:nvPr/>
        </p:nvPicPr>
        <p:blipFill>
          <a:blip r:embed="rId5"/>
          <a:srcRect l="0" r="0" t="0" b="0"/>
          <a:stretch/>
        </p:blipFill>
        <p:spPr>
          <a:xfrm>
            <a:off x="9239098" y="3443630"/>
            <a:ext cx="228600" cy="228600"/>
          </a:xfrm>
          <a:prstGeom prst="rect">
            <a:avLst/>
          </a:prstGeom>
        </p:spPr>
      </p:pic>
      <p:sp>
        <p:nvSpPr>
          <p:cNvPr id="31" name="Shape 24"/>
          <p:cNvSpPr/>
          <p:nvPr/>
        </p:nvSpPr>
        <p:spPr>
          <a:xfrm>
            <a:off x="9469526" y="3157423"/>
            <a:ext cx="761695" cy="247802"/>
          </a:xfrm>
          <a:prstGeom prst="roundRect">
            <a:avLst>
              <a:gd name="adj" fmla="val 56770"/>
            </a:avLst>
          </a:prstGeom>
          <a:solidFill>
            <a:srgbClr val="FFFFFF"/>
          </a:solidFill>
          <a:ln/>
          <a:effectLst>
            <a:outerShdw sx="100000" sy="100000" kx="0" ky="0" algn="bl" rotWithShape="0" blurRad="38100" dist="25400" dir="5400000">
              <a:srgbClr val="000000">
                <a:alpha val="10000"/>
              </a:srgbClr>
            </a:outerShdw>
          </a:effectLst>
        </p:spPr>
      </p:sp>
      <p:pic>
        <p:nvPicPr>
          <p:cNvPr id="32" name="Image 5" descr="preencoded.png">    </p:cNvPr>
          <p:cNvPicPr>
            <a:picLocks noChangeAspect="1"/>
          </p:cNvPicPr>
          <p:nvPr/>
        </p:nvPicPr>
        <p:blipFill>
          <a:blip r:embed="rId6"/>
          <a:srcRect l="-2571" r="-2571" t="0" b="0"/>
          <a:stretch/>
        </p:blipFill>
        <p:spPr>
          <a:xfrm>
            <a:off x="9546336" y="3228746"/>
            <a:ext cx="105156" cy="114300"/>
          </a:xfrm>
          <a:prstGeom prst="rect">
            <a:avLst/>
          </a:prstGeom>
        </p:spPr>
      </p:pic>
      <p:sp>
        <p:nvSpPr>
          <p:cNvPr id="33" name="Text 25"/>
          <p:cNvSpPr txBox="1"/>
          <p:nvPr/>
        </p:nvSpPr>
        <p:spPr>
          <a:xfrm>
            <a:off x="9688982" y="3204972"/>
            <a:ext cx="553212" cy="152705"/>
          </a:xfrm>
          <a:prstGeom prst="rect">
            <a:avLst/>
          </a:prstGeom>
          <a:noFill/>
          <a:ln/>
        </p:spPr>
        <p:txBody>
          <a:bodyPr wrap="square" lIns="0" tIns="0" rIns="0" bIns="0" rtlCol="0" anchor="ctr"/>
          <a:lstStyle/>
          <a:p>
            <a:pPr algn="ctr" indent="0" marL="0">
              <a:buNone/>
            </a:pPr>
            <a:r>
              <a:rPr lang="en-US" sz="900" b="1" dirty="0">
                <a:solidFill>
                  <a:srgbClr val="107C10"/>
                </a:solidFill>
                <a:latin typeface="Segoe UI" pitchFamily="34" charset="0"/>
                <a:ea typeface="Segoe UI" pitchFamily="34" charset="-122"/>
                <a:cs typeface="Segoe UI" pitchFamily="34" charset="-120"/>
              </a:rPr>
              <a:t>Accuracy</a:t>
            </a:r>
            <a:endParaRPr lang="en-US" sz="900" dirty="0"/>
          </a:p>
        </p:txBody>
      </p:sp>
      <p:sp>
        <p:nvSpPr>
          <p:cNvPr id="34" name="Shape 26"/>
          <p:cNvSpPr/>
          <p:nvPr/>
        </p:nvSpPr>
        <p:spPr>
          <a:xfrm>
            <a:off x="8477402" y="3709721"/>
            <a:ext cx="619049" cy="247802"/>
          </a:xfrm>
          <a:prstGeom prst="roundRect">
            <a:avLst>
              <a:gd name="adj" fmla="val 56770"/>
            </a:avLst>
          </a:prstGeom>
          <a:solidFill>
            <a:srgbClr val="FFFFFF"/>
          </a:solidFill>
          <a:ln/>
          <a:effectLst>
            <a:outerShdw sx="100000" sy="100000" kx="0" ky="0" algn="bl" rotWithShape="0" blurRad="38100" dist="25400" dir="5400000">
              <a:srgbClr val="000000">
                <a:alpha val="10000"/>
              </a:srgbClr>
            </a:outerShdw>
          </a:effectLst>
        </p:spPr>
      </p:sp>
      <p:pic>
        <p:nvPicPr>
          <p:cNvPr id="35" name="Image 6" descr="preencoded.png">    </p:cNvPr>
          <p:cNvPicPr>
            <a:picLocks noChangeAspect="1"/>
          </p:cNvPicPr>
          <p:nvPr/>
        </p:nvPicPr>
        <p:blipFill>
          <a:blip r:embed="rId7"/>
          <a:srcRect l="-2571" r="-2571" t="0" b="0"/>
          <a:stretch/>
        </p:blipFill>
        <p:spPr>
          <a:xfrm>
            <a:off x="8553298" y="3781044"/>
            <a:ext cx="105156" cy="114300"/>
          </a:xfrm>
          <a:prstGeom prst="rect">
            <a:avLst/>
          </a:prstGeom>
        </p:spPr>
      </p:pic>
      <p:sp>
        <p:nvSpPr>
          <p:cNvPr id="36" name="Text 27"/>
          <p:cNvSpPr txBox="1"/>
          <p:nvPr/>
        </p:nvSpPr>
        <p:spPr>
          <a:xfrm>
            <a:off x="8695944" y="3757270"/>
            <a:ext cx="409651" cy="152705"/>
          </a:xfrm>
          <a:prstGeom prst="rect">
            <a:avLst/>
          </a:prstGeom>
          <a:noFill/>
          <a:ln/>
        </p:spPr>
        <p:txBody>
          <a:bodyPr wrap="square" lIns="0" tIns="0" rIns="0" bIns="0" rtlCol="0" anchor="ctr"/>
          <a:lstStyle/>
          <a:p>
            <a:pPr algn="ctr" indent="0" marL="0">
              <a:buNone/>
            </a:pPr>
            <a:r>
              <a:rPr lang="en-US" sz="900" b="1" dirty="0">
                <a:solidFill>
                  <a:srgbClr val="107C10"/>
                </a:solidFill>
                <a:latin typeface="Segoe UI" pitchFamily="34" charset="0"/>
                <a:ea typeface="Segoe UI" pitchFamily="34" charset="-122"/>
                <a:cs typeface="Segoe UI" pitchFamily="34" charset="-120"/>
              </a:rPr>
              <a:t>Speed</a:t>
            </a:r>
            <a:endParaRPr lang="en-US" sz="900" dirty="0"/>
          </a:p>
        </p:txBody>
      </p:sp>
      <p:sp>
        <p:nvSpPr>
          <p:cNvPr id="37" name="Shape 28"/>
          <p:cNvSpPr/>
          <p:nvPr/>
        </p:nvSpPr>
        <p:spPr>
          <a:xfrm>
            <a:off x="7658100" y="4319626"/>
            <a:ext cx="3390595" cy="9144"/>
          </a:xfrm>
          <a:prstGeom prst="rect">
            <a:avLst/>
          </a:prstGeom>
          <a:solidFill>
            <a:srgbClr val="EDEBE9"/>
          </a:solidFill>
          <a:ln/>
        </p:spPr>
      </p:sp>
      <p:sp>
        <p:nvSpPr>
          <p:cNvPr id="38" name="Text 29"/>
          <p:cNvSpPr txBox="1"/>
          <p:nvPr/>
        </p:nvSpPr>
        <p:spPr>
          <a:xfrm>
            <a:off x="7926934" y="4539082"/>
            <a:ext cx="771754" cy="305410"/>
          </a:xfrm>
          <a:prstGeom prst="rect">
            <a:avLst/>
          </a:prstGeom>
          <a:noFill/>
          <a:ln/>
        </p:spPr>
        <p:txBody>
          <a:bodyPr wrap="square" lIns="0" tIns="0" rIns="0" bIns="0" rtlCol="0" anchor="ctr"/>
          <a:lstStyle/>
          <a:p>
            <a:pPr algn="ctr" indent="0" marL="0">
              <a:buNone/>
            </a:pPr>
            <a:r>
              <a:rPr lang="en-US" sz="1800" b="1" dirty="0">
                <a:solidFill>
                  <a:srgbClr val="0078D4"/>
                </a:solidFill>
                <a:latin typeface="Segoe UI" pitchFamily="34" charset="0"/>
                <a:ea typeface="Segoe UI" pitchFamily="34" charset="-122"/>
                <a:cs typeface="Segoe UI" pitchFamily="34" charset="-120"/>
              </a:rPr>
              <a:t>100%</a:t>
            </a:r>
            <a:endParaRPr lang="en-US" sz="1800" dirty="0"/>
          </a:p>
        </p:txBody>
      </p:sp>
      <p:sp>
        <p:nvSpPr>
          <p:cNvPr id="39" name="Text 30"/>
          <p:cNvSpPr txBox="1"/>
          <p:nvPr/>
        </p:nvSpPr>
        <p:spPr>
          <a:xfrm>
            <a:off x="7939735" y="4910328"/>
            <a:ext cx="657454" cy="152705"/>
          </a:xfrm>
          <a:prstGeom prst="rect">
            <a:avLst/>
          </a:prstGeom>
          <a:noFill/>
          <a:ln/>
        </p:spPr>
        <p:txBody>
          <a:bodyPr wrap="square" lIns="0" tIns="0" rIns="0" bIns="0" rtlCol="0" anchor="ctr"/>
          <a:lstStyle/>
          <a:p>
            <a:pPr algn="ctr" indent="0" marL="0">
              <a:buNone/>
            </a:pPr>
            <a:r>
              <a:rPr lang="en-US" sz="900" dirty="0">
                <a:solidFill>
                  <a:srgbClr val="605E5C"/>
                </a:solidFill>
                <a:latin typeface="Segoe UI" pitchFamily="34" charset="0"/>
                <a:ea typeface="Segoe UI" pitchFamily="34" charset="-122"/>
                <a:cs typeface="Segoe UI" pitchFamily="34" charset="-120"/>
              </a:rPr>
              <a:t>Automated</a:t>
            </a:r>
            <a:endParaRPr lang="en-US" sz="900" dirty="0"/>
          </a:p>
        </p:txBody>
      </p:sp>
      <p:sp>
        <p:nvSpPr>
          <p:cNvPr id="40" name="Text 31"/>
          <p:cNvSpPr txBox="1"/>
          <p:nvPr/>
        </p:nvSpPr>
        <p:spPr>
          <a:xfrm>
            <a:off x="9287561" y="4539082"/>
            <a:ext cx="305410" cy="305410"/>
          </a:xfrm>
          <a:prstGeom prst="rect">
            <a:avLst/>
          </a:prstGeom>
          <a:noFill/>
          <a:ln/>
        </p:spPr>
        <p:txBody>
          <a:bodyPr wrap="square" lIns="0" tIns="0" rIns="0" bIns="0" rtlCol="0" anchor="ctr"/>
          <a:lstStyle/>
          <a:p>
            <a:pPr algn="ctr" indent="0" marL="0">
              <a:buNone/>
            </a:pPr>
            <a:r>
              <a:rPr lang="en-US" sz="1800" b="1" dirty="0">
                <a:solidFill>
                  <a:srgbClr val="0078D4"/>
                </a:solidFill>
                <a:latin typeface="Segoe UI" pitchFamily="34" charset="0"/>
                <a:ea typeface="Segoe UI" pitchFamily="34" charset="-122"/>
                <a:cs typeface="Segoe UI" pitchFamily="34" charset="-120"/>
              </a:rPr>
              <a:t>0</a:t>
            </a:r>
            <a:endParaRPr lang="en-US" sz="1800" dirty="0"/>
          </a:p>
        </p:txBody>
      </p:sp>
      <p:sp>
        <p:nvSpPr>
          <p:cNvPr id="41" name="Text 32"/>
          <p:cNvSpPr txBox="1"/>
          <p:nvPr/>
        </p:nvSpPr>
        <p:spPr>
          <a:xfrm>
            <a:off x="8999525" y="4910328"/>
            <a:ext cx="800100" cy="152705"/>
          </a:xfrm>
          <a:prstGeom prst="rect">
            <a:avLst/>
          </a:prstGeom>
          <a:noFill/>
          <a:ln/>
        </p:spPr>
        <p:txBody>
          <a:bodyPr wrap="square" lIns="0" tIns="0" rIns="0" bIns="0" rtlCol="0" anchor="ctr"/>
          <a:lstStyle/>
          <a:p>
            <a:pPr algn="ctr" indent="0" marL="0">
              <a:buNone/>
            </a:pPr>
            <a:r>
              <a:rPr lang="en-US" sz="900" dirty="0">
                <a:solidFill>
                  <a:srgbClr val="605E5C"/>
                </a:solidFill>
                <a:latin typeface="Segoe UI" pitchFamily="34" charset="0"/>
                <a:ea typeface="Segoe UI" pitchFamily="34" charset="-122"/>
                <a:cs typeface="Segoe UI" pitchFamily="34" charset="-120"/>
              </a:rPr>
              <a:t>Manual Hours</a:t>
            </a:r>
            <a:endParaRPr lang="en-US" sz="900" dirty="0"/>
          </a:p>
        </p:txBody>
      </p:sp>
      <p:sp>
        <p:nvSpPr>
          <p:cNvPr id="42" name="Text 33"/>
          <p:cNvSpPr txBox="1"/>
          <p:nvPr/>
        </p:nvSpPr>
        <p:spPr>
          <a:xfrm>
            <a:off x="10090404" y="4539082"/>
            <a:ext cx="962863" cy="305410"/>
          </a:xfrm>
          <a:prstGeom prst="rect">
            <a:avLst/>
          </a:prstGeom>
          <a:noFill/>
          <a:ln/>
        </p:spPr>
        <p:txBody>
          <a:bodyPr wrap="square" lIns="0" tIns="0" rIns="0" bIns="0" rtlCol="0" anchor="ctr"/>
          <a:lstStyle/>
          <a:p>
            <a:pPr algn="ctr" indent="0" marL="0">
              <a:buNone/>
            </a:pPr>
            <a:r>
              <a:rPr lang="en-US" sz="1800" b="1" dirty="0">
                <a:solidFill>
                  <a:srgbClr val="0078D4"/>
                </a:solidFill>
                <a:latin typeface="Segoe UI" pitchFamily="34" charset="0"/>
                <a:ea typeface="Segoe UI" pitchFamily="34" charset="-122"/>
                <a:cs typeface="Segoe UI" pitchFamily="34" charset="-120"/>
              </a:rPr>
              <a:t>Weekly</a:t>
            </a:r>
            <a:endParaRPr lang="en-US" sz="1800" dirty="0"/>
          </a:p>
        </p:txBody>
      </p:sp>
      <p:sp>
        <p:nvSpPr>
          <p:cNvPr id="43" name="Text 34"/>
          <p:cNvSpPr txBox="1"/>
          <p:nvPr/>
        </p:nvSpPr>
        <p:spPr>
          <a:xfrm>
            <a:off x="10223906" y="4910328"/>
            <a:ext cx="609905" cy="152705"/>
          </a:xfrm>
          <a:prstGeom prst="rect">
            <a:avLst/>
          </a:prstGeom>
          <a:noFill/>
          <a:ln/>
        </p:spPr>
        <p:txBody>
          <a:bodyPr wrap="square" lIns="0" tIns="0" rIns="0" bIns="0" rtlCol="0" anchor="ctr"/>
          <a:lstStyle/>
          <a:p>
            <a:pPr algn="ctr" indent="0" marL="0">
              <a:buNone/>
            </a:pPr>
            <a:r>
              <a:rPr lang="en-US" sz="900" dirty="0">
                <a:solidFill>
                  <a:srgbClr val="605E5C"/>
                </a:solidFill>
                <a:latin typeface="Segoe UI" pitchFamily="34" charset="0"/>
                <a:ea typeface="Segoe UI" pitchFamily="34" charset="-122"/>
                <a:cs typeface="Segoe UI" pitchFamily="34" charset="-120"/>
              </a:rPr>
              <a:t>Frequency</a:t>
            </a:r>
            <a:endParaRPr lang="en-US" sz="900" dirty="0"/>
          </a:p>
        </p:txBody>
      </p:sp>
      <p:sp>
        <p:nvSpPr>
          <p:cNvPr id="44" name="Shape 35"/>
          <p:cNvSpPr/>
          <p:nvPr/>
        </p:nvSpPr>
        <p:spPr>
          <a:xfrm>
            <a:off x="0" y="6476695"/>
            <a:ext cx="12191695" cy="9144"/>
          </a:xfrm>
          <a:prstGeom prst="rect">
            <a:avLst/>
          </a:prstGeom>
          <a:solidFill>
            <a:srgbClr val="EDEBE9"/>
          </a:solidFill>
          <a:ln/>
        </p:spPr>
      </p:sp>
      <p:sp>
        <p:nvSpPr>
          <p:cNvPr id="45" name="Text 36"/>
          <p:cNvSpPr txBox="1"/>
          <p:nvPr/>
        </p:nvSpPr>
        <p:spPr>
          <a:xfrm>
            <a:off x="8825789" y="6596482"/>
            <a:ext cx="2886761" cy="152705"/>
          </a:xfrm>
          <a:prstGeom prst="rect">
            <a:avLst/>
          </a:prstGeom>
          <a:noFill/>
          <a:ln/>
        </p:spPr>
        <p:txBody>
          <a:bodyPr wrap="square" lIns="0" tIns="0" rIns="0" bIns="0" rtlCol="0" anchor="ctr"/>
          <a:lstStyle/>
          <a:p>
            <a:pPr algn="l" indent="0" marL="0">
              <a:buNone/>
            </a:pPr>
            <a:r>
              <a:rPr lang="en-US" sz="900" dirty="0">
                <a:solidFill>
                  <a:srgbClr val="A19F9D"/>
                </a:solidFill>
                <a:latin typeface="Segoe UI" pitchFamily="34" charset="0"/>
                <a:ea typeface="Segoe UI" pitchFamily="34" charset="-122"/>
                <a:cs typeface="Segoe UI" pitchFamily="34" charset="-120"/>
              </a:rPr>
              <a:t>Confidential | Factory Delivery Orchestrator Automation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FFFFF"/>
          </a:solidFill>
          <a:ln/>
        </p:spPr>
      </p:sp>
      <p:sp>
        <p:nvSpPr>
          <p:cNvPr id="4" name="Text 2"/>
          <p:cNvSpPr txBox="1"/>
          <p:nvPr/>
        </p:nvSpPr>
        <p:spPr>
          <a:xfrm>
            <a:off x="571500" y="448056"/>
            <a:ext cx="2872130" cy="467258"/>
          </a:xfrm>
          <a:prstGeom prst="rect">
            <a:avLst/>
          </a:prstGeom>
          <a:noFill/>
          <a:ln/>
        </p:spPr>
        <p:txBody>
          <a:bodyPr wrap="square" lIns="0" tIns="0" rIns="0" bIns="0" rtlCol="0" anchor="ctr"/>
          <a:lstStyle/>
          <a:p>
            <a:pPr algn="l" indent="0" marL="0">
              <a:buNone/>
            </a:pPr>
            <a:r>
              <a:rPr lang="en-US" sz="3100" b="1" dirty="0">
                <a:solidFill>
                  <a:srgbClr val="242424"/>
                </a:solidFill>
                <a:latin typeface="Roboto" pitchFamily="34" charset="0"/>
                <a:ea typeface="Roboto" pitchFamily="34" charset="-122"/>
                <a:cs typeface="Roboto" pitchFamily="34" charset="-120"/>
              </a:rPr>
              <a:t>Project Actors</a:t>
            </a:r>
            <a:endParaRPr lang="en-US" sz="3100" dirty="0"/>
          </a:p>
        </p:txBody>
      </p:sp>
      <p:sp>
        <p:nvSpPr>
          <p:cNvPr id="5" name="Text 3"/>
          <p:cNvSpPr txBox="1"/>
          <p:nvPr/>
        </p:nvSpPr>
        <p:spPr>
          <a:xfrm>
            <a:off x="8723376" y="586130"/>
            <a:ext cx="3020263" cy="181051"/>
          </a:xfrm>
          <a:prstGeom prst="rect">
            <a:avLst/>
          </a:prstGeom>
          <a:noFill/>
          <a:ln/>
        </p:spPr>
        <p:txBody>
          <a:bodyPr wrap="square" lIns="0" tIns="0" rIns="0" bIns="0" rtlCol="0" anchor="ctr"/>
          <a:lstStyle/>
          <a:p>
            <a:pPr algn="l" indent="0" marL="0">
              <a:buNone/>
            </a:pPr>
            <a:r>
              <a:rPr lang="en-US" sz="1200" dirty="0">
                <a:solidFill>
                  <a:srgbClr val="666666"/>
                </a:solidFill>
                <a:latin typeface="Roboto" pitchFamily="34" charset="0"/>
                <a:ea typeface="Roboto" pitchFamily="34" charset="-122"/>
                <a:cs typeface="Roboto" pitchFamily="34" charset="-120"/>
              </a:rPr>
              <a:t>FDO Automation / Stakeholders &amp; Systems</a:t>
            </a:r>
            <a:endParaRPr lang="en-US" sz="1200" dirty="0"/>
          </a:p>
        </p:txBody>
      </p:sp>
      <p:sp>
        <p:nvSpPr>
          <p:cNvPr id="6" name="Shape 4"/>
          <p:cNvSpPr/>
          <p:nvPr/>
        </p:nvSpPr>
        <p:spPr>
          <a:xfrm>
            <a:off x="571500" y="1362456"/>
            <a:ext cx="5333695" cy="4972507"/>
          </a:xfrm>
          <a:prstGeom prst="roundRect">
            <a:avLst>
              <a:gd name="adj" fmla="val 423"/>
            </a:avLst>
          </a:prstGeom>
          <a:solidFill>
            <a:srgbClr val="F8F9FA"/>
          </a:solidFill>
          <a:ln/>
          <a:effectLst>
            <a:outerShdw sx="100000" sy="100000" kx="0" ky="0" algn="bl" rotWithShape="0" blurRad="114300" dist="38100" dir="5400000">
              <a:srgbClr val="000000">
                <a:alpha val="5000"/>
              </a:srgbClr>
            </a:outerShdw>
          </a:effectLst>
        </p:spPr>
      </p:sp>
      <p:sp>
        <p:nvSpPr>
          <p:cNvPr id="7" name="Shape 5"/>
          <p:cNvSpPr/>
          <p:nvPr/>
        </p:nvSpPr>
        <p:spPr>
          <a:xfrm>
            <a:off x="571500" y="1362456"/>
            <a:ext cx="5333695" cy="57607"/>
          </a:xfrm>
          <a:prstGeom prst="rect">
            <a:avLst/>
          </a:prstGeom>
          <a:solidFill>
            <a:srgbClr val="0078D4"/>
          </a:solidFill>
          <a:ln/>
        </p:spPr>
      </p:sp>
      <p:sp>
        <p:nvSpPr>
          <p:cNvPr id="8" name="Shape 6"/>
          <p:cNvSpPr/>
          <p:nvPr/>
        </p:nvSpPr>
        <p:spPr>
          <a:xfrm>
            <a:off x="857707" y="2487168"/>
            <a:ext cx="4762195" cy="9144"/>
          </a:xfrm>
          <a:prstGeom prst="rect">
            <a:avLst/>
          </a:prstGeom>
          <a:solidFill>
            <a:srgbClr val="E1DFDD"/>
          </a:solidFill>
          <a:ln/>
        </p:spPr>
      </p:sp>
      <p:sp>
        <p:nvSpPr>
          <p:cNvPr id="9" name="Shape 7"/>
          <p:cNvSpPr/>
          <p:nvPr/>
        </p:nvSpPr>
        <p:spPr>
          <a:xfrm>
            <a:off x="857707" y="1714500"/>
            <a:ext cx="571500" cy="571500"/>
          </a:xfrm>
          <a:prstGeom prst="ellipse">
            <a:avLst/>
          </a:prstGeom>
          <a:solidFill>
            <a:srgbClr val="0078D4"/>
          </a:solidFill>
          <a:ln/>
        </p:spPr>
      </p:sp>
      <p:pic>
        <p:nvPicPr>
          <p:cNvPr id="10" name="Image 0" descr="preencoded.png">    </p:cNvPr>
          <p:cNvPicPr>
            <a:picLocks noChangeAspect="1"/>
          </p:cNvPicPr>
          <p:nvPr/>
        </p:nvPicPr>
        <p:blipFill>
          <a:blip r:embed="rId1"/>
          <a:srcRect l="0" r="0" t="0" b="0"/>
          <a:stretch/>
        </p:blipFill>
        <p:spPr>
          <a:xfrm>
            <a:off x="976579" y="1867205"/>
            <a:ext cx="333756" cy="267005"/>
          </a:xfrm>
          <a:prstGeom prst="rect">
            <a:avLst/>
          </a:prstGeom>
        </p:spPr>
      </p:pic>
      <p:sp>
        <p:nvSpPr>
          <p:cNvPr id="11" name="Text 8"/>
          <p:cNvSpPr txBox="1"/>
          <p:nvPr/>
        </p:nvSpPr>
        <p:spPr>
          <a:xfrm>
            <a:off x="1571854" y="1742846"/>
            <a:ext cx="886054" cy="267005"/>
          </a:xfrm>
          <a:prstGeom prst="rect">
            <a:avLst/>
          </a:prstGeom>
          <a:noFill/>
          <a:ln/>
        </p:spPr>
        <p:txBody>
          <a:bodyPr wrap="square" lIns="0" tIns="0" rIns="0" bIns="0" rtlCol="0" anchor="ctr"/>
          <a:lstStyle/>
          <a:p>
            <a:pPr algn="l" indent="0" marL="0">
              <a:buNone/>
            </a:pPr>
            <a:r>
              <a:rPr lang="en-US" sz="1800" b="1" dirty="0">
                <a:solidFill>
                  <a:srgbClr val="323130"/>
                </a:solidFill>
                <a:latin typeface="Roboto" pitchFamily="34" charset="0"/>
                <a:ea typeface="Roboto" pitchFamily="34" charset="-122"/>
                <a:cs typeface="Roboto" pitchFamily="34" charset="-120"/>
              </a:rPr>
              <a:t>People</a:t>
            </a:r>
            <a:endParaRPr lang="en-US" sz="1800" dirty="0"/>
          </a:p>
        </p:txBody>
      </p:sp>
      <p:sp>
        <p:nvSpPr>
          <p:cNvPr id="12" name="Text 9"/>
          <p:cNvSpPr txBox="1"/>
          <p:nvPr/>
        </p:nvSpPr>
        <p:spPr>
          <a:xfrm>
            <a:off x="1571854" y="2115007"/>
            <a:ext cx="1890979" cy="152705"/>
          </a:xfrm>
          <a:prstGeom prst="rect">
            <a:avLst/>
          </a:prstGeom>
          <a:noFill/>
          <a:ln/>
        </p:spPr>
        <p:txBody>
          <a:bodyPr wrap="square" lIns="0" tIns="0" rIns="0" bIns="0" rtlCol="0" anchor="ctr"/>
          <a:lstStyle/>
          <a:p>
            <a:pPr algn="l" indent="0" marL="0">
              <a:buNone/>
            </a:pPr>
            <a:r>
              <a:rPr lang="en-US" sz="1000" dirty="0">
                <a:solidFill>
                  <a:srgbClr val="605E5C"/>
                </a:solidFill>
                <a:latin typeface="Roboto" pitchFamily="34" charset="0"/>
                <a:ea typeface="Roboto" pitchFamily="34" charset="-122"/>
                <a:cs typeface="Roboto" pitchFamily="34" charset="-120"/>
              </a:rPr>
              <a:t>Key Stakeholders &amp; Recipients</a:t>
            </a:r>
            <a:endParaRPr lang="en-US" sz="1000" dirty="0"/>
          </a:p>
        </p:txBody>
      </p:sp>
      <p:sp>
        <p:nvSpPr>
          <p:cNvPr id="13" name="Shape 10"/>
          <p:cNvSpPr/>
          <p:nvPr/>
        </p:nvSpPr>
        <p:spPr>
          <a:xfrm>
            <a:off x="857707" y="2781605"/>
            <a:ext cx="4762195" cy="895198"/>
          </a:xfrm>
          <a:prstGeom prst="roundRect">
            <a:avLst>
              <a:gd name="adj" fmla="val 8693"/>
            </a:avLst>
          </a:prstGeom>
          <a:solidFill>
            <a:srgbClr val="FFFFFF"/>
          </a:solidFill>
          <a:ln w="12700">
            <a:solidFill>
              <a:srgbClr val="EDEBE9"/>
            </a:solidFill>
            <a:prstDash val="solid"/>
          </a:ln>
          <a:effectLst>
            <a:outerShdw sx="100000" sy="100000" kx="0" ky="0" algn="bl" rotWithShape="0" blurRad="38100" dist="25400" dir="5400000">
              <a:srgbClr val="000000">
                <a:alpha val="3000"/>
              </a:srgbClr>
            </a:outerShdw>
          </a:effectLst>
        </p:spPr>
      </p:sp>
      <p:sp>
        <p:nvSpPr>
          <p:cNvPr id="14" name="Shape 11"/>
          <p:cNvSpPr/>
          <p:nvPr/>
        </p:nvSpPr>
        <p:spPr>
          <a:xfrm>
            <a:off x="1057046" y="3000146"/>
            <a:ext cx="457200" cy="457200"/>
          </a:xfrm>
          <a:prstGeom prst="roundRect">
            <a:avLst>
              <a:gd name="adj" fmla="val 33333"/>
            </a:avLst>
          </a:prstGeom>
          <a:solidFill>
            <a:srgbClr val="EFF6FC"/>
          </a:solidFill>
          <a:ln/>
        </p:spPr>
      </p:sp>
      <p:pic>
        <p:nvPicPr>
          <p:cNvPr id="15" name="Image 1" descr="preencoded.png">    </p:cNvPr>
          <p:cNvPicPr>
            <a:picLocks noChangeAspect="1"/>
          </p:cNvPicPr>
          <p:nvPr/>
        </p:nvPicPr>
        <p:blipFill>
          <a:blip r:embed="rId2"/>
          <a:srcRect l="0" r="0" t="0" b="0"/>
          <a:stretch/>
        </p:blipFill>
        <p:spPr>
          <a:xfrm>
            <a:off x="1166774" y="3133649"/>
            <a:ext cx="237744" cy="190195"/>
          </a:xfrm>
          <a:prstGeom prst="rect">
            <a:avLst/>
          </a:prstGeom>
        </p:spPr>
      </p:pic>
      <p:sp>
        <p:nvSpPr>
          <p:cNvPr id="16" name="Text 12"/>
          <p:cNvSpPr txBox="1"/>
          <p:nvPr/>
        </p:nvSpPr>
        <p:spPr>
          <a:xfrm>
            <a:off x="1705356" y="3010205"/>
            <a:ext cx="2072030" cy="200254"/>
          </a:xfrm>
          <a:prstGeom prst="rect">
            <a:avLst/>
          </a:prstGeom>
          <a:noFill/>
          <a:ln/>
        </p:spPr>
        <p:txBody>
          <a:bodyPr wrap="square" lIns="0" tIns="0" rIns="0" bIns="0" rtlCol="0" anchor="ctr"/>
          <a:lstStyle/>
          <a:p>
            <a:pPr algn="l" indent="0" marL="0">
              <a:buNone/>
            </a:pPr>
            <a:r>
              <a:rPr lang="en-US" sz="1300" b="1" dirty="0">
                <a:solidFill>
                  <a:srgbClr val="323130"/>
                </a:solidFill>
                <a:latin typeface="Roboto" pitchFamily="34" charset="0"/>
                <a:ea typeface="Roboto" pitchFamily="34" charset="-122"/>
                <a:cs typeface="Roboto" pitchFamily="34" charset="-120"/>
              </a:rPr>
              <a:t>Audit / Compliance Team</a:t>
            </a:r>
            <a:endParaRPr lang="en-US" sz="1300" dirty="0"/>
          </a:p>
        </p:txBody>
      </p:sp>
      <p:sp>
        <p:nvSpPr>
          <p:cNvPr id="17" name="Text 13"/>
          <p:cNvSpPr txBox="1"/>
          <p:nvPr/>
        </p:nvSpPr>
        <p:spPr>
          <a:xfrm>
            <a:off x="1705356" y="3295498"/>
            <a:ext cx="3672230" cy="152705"/>
          </a:xfrm>
          <a:prstGeom prst="rect">
            <a:avLst/>
          </a:prstGeom>
          <a:noFill/>
          <a:ln/>
        </p:spPr>
        <p:txBody>
          <a:bodyPr wrap="square" lIns="0" tIns="0" rIns="0" bIns="0" rtlCol="0" anchor="ctr"/>
          <a:lstStyle/>
          <a:p>
            <a:pPr algn="l" indent="0" marL="0">
              <a:buNone/>
            </a:pPr>
            <a:r>
              <a:rPr lang="en-US" sz="1000" dirty="0">
                <a:solidFill>
                  <a:srgbClr val="605E5C"/>
                </a:solidFill>
                <a:latin typeface="Roboto" pitchFamily="34" charset="0"/>
                <a:ea typeface="Roboto" pitchFamily="34" charset="-122"/>
                <a:cs typeface="Roboto" pitchFamily="34" charset="-120"/>
              </a:rPr>
              <a:t>Primary consumers of compliance data; define audit criteria.</a:t>
            </a:r>
            <a:endParaRPr lang="en-US" sz="1000" dirty="0"/>
          </a:p>
        </p:txBody>
      </p:sp>
      <p:sp>
        <p:nvSpPr>
          <p:cNvPr id="18" name="Shape 14"/>
          <p:cNvSpPr/>
          <p:nvPr/>
        </p:nvSpPr>
        <p:spPr>
          <a:xfrm>
            <a:off x="857707" y="3866998"/>
            <a:ext cx="4762195" cy="1095451"/>
          </a:xfrm>
          <a:prstGeom prst="roundRect">
            <a:avLst>
              <a:gd name="adj" fmla="val 5807"/>
            </a:avLst>
          </a:prstGeom>
          <a:solidFill>
            <a:srgbClr val="FFFFFF"/>
          </a:solidFill>
          <a:ln w="12700">
            <a:solidFill>
              <a:srgbClr val="EDEBE9"/>
            </a:solidFill>
            <a:prstDash val="solid"/>
          </a:ln>
          <a:effectLst>
            <a:outerShdw sx="100000" sy="100000" kx="0" ky="0" algn="bl" rotWithShape="0" blurRad="38100" dist="25400" dir="5400000">
              <a:srgbClr val="000000">
                <a:alpha val="3000"/>
              </a:srgbClr>
            </a:outerShdw>
          </a:effectLst>
        </p:spPr>
      </p:sp>
      <p:sp>
        <p:nvSpPr>
          <p:cNvPr id="19" name="Shape 15"/>
          <p:cNvSpPr/>
          <p:nvPr/>
        </p:nvSpPr>
        <p:spPr>
          <a:xfrm>
            <a:off x="1057046" y="4186123"/>
            <a:ext cx="409651" cy="457200"/>
          </a:xfrm>
          <a:prstGeom prst="roundRect">
            <a:avLst>
              <a:gd name="adj" fmla="val 41528"/>
            </a:avLst>
          </a:prstGeom>
          <a:solidFill>
            <a:srgbClr val="EFF6FC"/>
          </a:solidFill>
          <a:ln/>
        </p:spPr>
      </p:sp>
      <p:pic>
        <p:nvPicPr>
          <p:cNvPr id="20" name="Image 2" descr="preencoded.png">    </p:cNvPr>
          <p:cNvPicPr>
            <a:picLocks noChangeAspect="1"/>
          </p:cNvPicPr>
          <p:nvPr/>
        </p:nvPicPr>
        <p:blipFill>
          <a:blip r:embed="rId3"/>
          <a:srcRect l="-1648" r="-1648" t="0" b="0"/>
          <a:stretch/>
        </p:blipFill>
        <p:spPr>
          <a:xfrm>
            <a:off x="1174090" y="4319626"/>
            <a:ext cx="171907" cy="190195"/>
          </a:xfrm>
          <a:prstGeom prst="rect">
            <a:avLst/>
          </a:prstGeom>
        </p:spPr>
      </p:pic>
      <p:sp>
        <p:nvSpPr>
          <p:cNvPr id="21" name="Text 16"/>
          <p:cNvSpPr txBox="1"/>
          <p:nvPr/>
        </p:nvSpPr>
        <p:spPr>
          <a:xfrm>
            <a:off x="1652321" y="4095598"/>
            <a:ext cx="1491386" cy="200254"/>
          </a:xfrm>
          <a:prstGeom prst="rect">
            <a:avLst/>
          </a:prstGeom>
          <a:noFill/>
          <a:ln/>
        </p:spPr>
        <p:txBody>
          <a:bodyPr wrap="square" lIns="0" tIns="0" rIns="0" bIns="0" rtlCol="0" anchor="ctr"/>
          <a:lstStyle/>
          <a:p>
            <a:pPr algn="l" indent="0" marL="0">
              <a:buNone/>
            </a:pPr>
            <a:r>
              <a:rPr lang="en-US" sz="1300" b="1" dirty="0">
                <a:solidFill>
                  <a:srgbClr val="323130"/>
                </a:solidFill>
                <a:latin typeface="Roboto" pitchFamily="34" charset="0"/>
                <a:ea typeface="Roboto" pitchFamily="34" charset="-122"/>
                <a:cs typeface="Roboto" pitchFamily="34" charset="-120"/>
              </a:rPr>
              <a:t>Project Managers</a:t>
            </a:r>
            <a:endParaRPr lang="en-US" sz="1300" dirty="0"/>
          </a:p>
        </p:txBody>
      </p:sp>
      <p:sp>
        <p:nvSpPr>
          <p:cNvPr id="22" name="Text 17"/>
          <p:cNvSpPr txBox="1"/>
          <p:nvPr/>
        </p:nvSpPr>
        <p:spPr>
          <a:xfrm>
            <a:off x="1652321" y="4381805"/>
            <a:ext cx="3700577" cy="352958"/>
          </a:xfrm>
          <a:prstGeom prst="rect">
            <a:avLst/>
          </a:prstGeom>
          <a:noFill/>
          <a:ln/>
        </p:spPr>
        <p:txBody>
          <a:bodyPr wrap="square" lIns="0" tIns="0" rIns="0" bIns="0" rtlCol="0" anchor="ctr"/>
          <a:lstStyle/>
          <a:p>
            <a:pPr algn="l" indent="0" marL="0">
              <a:buNone/>
            </a:pPr>
            <a:r>
              <a:rPr lang="en-US" sz="1000" dirty="0">
                <a:solidFill>
                  <a:srgbClr val="605E5C"/>
                </a:solidFill>
                <a:latin typeface="Roboto" pitchFamily="34" charset="0"/>
                <a:ea typeface="Roboto" pitchFamily="34" charset="-122"/>
                <a:cs typeface="Roboto" pitchFamily="34" charset="-120"/>
              </a:rPr>
              <a:t>Responsible for addressing findings and maintaining delivery standards.</a:t>
            </a:r>
            <a:endParaRPr lang="en-US" sz="1000" dirty="0"/>
          </a:p>
        </p:txBody>
      </p:sp>
      <p:sp>
        <p:nvSpPr>
          <p:cNvPr id="23" name="Shape 18"/>
          <p:cNvSpPr/>
          <p:nvPr/>
        </p:nvSpPr>
        <p:spPr>
          <a:xfrm>
            <a:off x="857707" y="5152644"/>
            <a:ext cx="4762195" cy="895198"/>
          </a:xfrm>
          <a:prstGeom prst="roundRect">
            <a:avLst>
              <a:gd name="adj" fmla="val 8693"/>
            </a:avLst>
          </a:prstGeom>
          <a:solidFill>
            <a:srgbClr val="FFFFFF"/>
          </a:solidFill>
          <a:ln w="12700">
            <a:solidFill>
              <a:srgbClr val="EDEBE9"/>
            </a:solidFill>
            <a:prstDash val="solid"/>
          </a:ln>
          <a:effectLst>
            <a:outerShdw sx="100000" sy="100000" kx="0" ky="0" algn="bl" rotWithShape="0" blurRad="38100" dist="25400" dir="5400000">
              <a:srgbClr val="000000">
                <a:alpha val="3000"/>
              </a:srgbClr>
            </a:outerShdw>
          </a:effectLst>
        </p:spPr>
      </p:sp>
      <p:sp>
        <p:nvSpPr>
          <p:cNvPr id="24" name="Shape 19"/>
          <p:cNvSpPr/>
          <p:nvPr/>
        </p:nvSpPr>
        <p:spPr>
          <a:xfrm>
            <a:off x="1057046" y="5372100"/>
            <a:ext cx="457200" cy="457200"/>
          </a:xfrm>
          <a:prstGeom prst="roundRect">
            <a:avLst>
              <a:gd name="adj" fmla="val 33333"/>
            </a:avLst>
          </a:prstGeom>
          <a:solidFill>
            <a:srgbClr val="EFF6FC"/>
          </a:solidFill>
          <a:ln/>
        </p:spPr>
      </p:sp>
      <p:pic>
        <p:nvPicPr>
          <p:cNvPr id="25" name="Image 3" descr="preencoded.png">    </p:cNvPr>
          <p:cNvPicPr>
            <a:picLocks noChangeAspect="1"/>
          </p:cNvPicPr>
          <p:nvPr/>
        </p:nvPicPr>
        <p:blipFill>
          <a:blip r:embed="rId4"/>
          <a:srcRect l="0" r="0" t="0" b="0"/>
          <a:stretch/>
        </p:blipFill>
        <p:spPr>
          <a:xfrm>
            <a:off x="1190549" y="5505602"/>
            <a:ext cx="190195" cy="190195"/>
          </a:xfrm>
          <a:prstGeom prst="rect">
            <a:avLst/>
          </a:prstGeom>
        </p:spPr>
      </p:pic>
      <p:sp>
        <p:nvSpPr>
          <p:cNvPr id="26" name="Text 20"/>
          <p:cNvSpPr txBox="1"/>
          <p:nvPr/>
        </p:nvSpPr>
        <p:spPr>
          <a:xfrm>
            <a:off x="1705356" y="5381244"/>
            <a:ext cx="1643177" cy="200254"/>
          </a:xfrm>
          <a:prstGeom prst="rect">
            <a:avLst/>
          </a:prstGeom>
          <a:noFill/>
          <a:ln/>
        </p:spPr>
        <p:txBody>
          <a:bodyPr wrap="square" lIns="0" tIns="0" rIns="0" bIns="0" rtlCol="0" anchor="ctr"/>
          <a:lstStyle/>
          <a:p>
            <a:pPr algn="l" indent="0" marL="0">
              <a:buNone/>
            </a:pPr>
            <a:r>
              <a:rPr lang="en-US" sz="1300" b="1" dirty="0">
                <a:solidFill>
                  <a:srgbClr val="323130"/>
                </a:solidFill>
                <a:latin typeface="Roboto" pitchFamily="34" charset="0"/>
                <a:ea typeface="Roboto" pitchFamily="34" charset="-122"/>
                <a:cs typeface="Roboto" pitchFamily="34" charset="-120"/>
              </a:rPr>
              <a:t>Delivery Leadership</a:t>
            </a:r>
            <a:endParaRPr lang="en-US" sz="1300" dirty="0"/>
          </a:p>
        </p:txBody>
      </p:sp>
      <p:sp>
        <p:nvSpPr>
          <p:cNvPr id="27" name="Text 21"/>
          <p:cNvSpPr txBox="1"/>
          <p:nvPr/>
        </p:nvSpPr>
        <p:spPr>
          <a:xfrm>
            <a:off x="1705356" y="5667451"/>
            <a:ext cx="3643884" cy="152705"/>
          </a:xfrm>
          <a:prstGeom prst="rect">
            <a:avLst/>
          </a:prstGeom>
          <a:noFill/>
          <a:ln/>
        </p:spPr>
        <p:txBody>
          <a:bodyPr wrap="square" lIns="0" tIns="0" rIns="0" bIns="0" rtlCol="0" anchor="ctr"/>
          <a:lstStyle/>
          <a:p>
            <a:pPr algn="l" indent="0" marL="0">
              <a:buNone/>
            </a:pPr>
            <a:r>
              <a:rPr lang="en-US" sz="1000" dirty="0">
                <a:solidFill>
                  <a:srgbClr val="605E5C"/>
                </a:solidFill>
                <a:latin typeface="Roboto" pitchFamily="34" charset="0"/>
                <a:ea typeface="Roboto" pitchFamily="34" charset="-122"/>
                <a:cs typeface="Roboto" pitchFamily="34" charset="-120"/>
              </a:rPr>
              <a:t>Oversee overall project health and risk mitigation strategies.</a:t>
            </a:r>
            <a:endParaRPr lang="en-US" sz="1000" dirty="0"/>
          </a:p>
        </p:txBody>
      </p:sp>
      <p:sp>
        <p:nvSpPr>
          <p:cNvPr id="28" name="Shape 22"/>
          <p:cNvSpPr/>
          <p:nvPr/>
        </p:nvSpPr>
        <p:spPr>
          <a:xfrm>
            <a:off x="6286500" y="1362456"/>
            <a:ext cx="5333695" cy="4972507"/>
          </a:xfrm>
          <a:prstGeom prst="roundRect">
            <a:avLst>
              <a:gd name="adj" fmla="val 423"/>
            </a:avLst>
          </a:prstGeom>
          <a:solidFill>
            <a:srgbClr val="F8F9FA"/>
          </a:solidFill>
          <a:ln/>
          <a:effectLst>
            <a:outerShdw sx="100000" sy="100000" kx="0" ky="0" algn="bl" rotWithShape="0" blurRad="114300" dist="38100" dir="5400000">
              <a:srgbClr val="000000">
                <a:alpha val="5000"/>
              </a:srgbClr>
            </a:outerShdw>
          </a:effectLst>
        </p:spPr>
      </p:sp>
      <p:sp>
        <p:nvSpPr>
          <p:cNvPr id="29" name="Shape 23"/>
          <p:cNvSpPr/>
          <p:nvPr/>
        </p:nvSpPr>
        <p:spPr>
          <a:xfrm>
            <a:off x="6286500" y="1362456"/>
            <a:ext cx="5333695" cy="57607"/>
          </a:xfrm>
          <a:prstGeom prst="rect">
            <a:avLst/>
          </a:prstGeom>
          <a:solidFill>
            <a:srgbClr val="107C10"/>
          </a:solidFill>
          <a:ln/>
        </p:spPr>
      </p:sp>
      <p:sp>
        <p:nvSpPr>
          <p:cNvPr id="30" name="Shape 24"/>
          <p:cNvSpPr/>
          <p:nvPr/>
        </p:nvSpPr>
        <p:spPr>
          <a:xfrm>
            <a:off x="6572707" y="2487168"/>
            <a:ext cx="4762195" cy="9144"/>
          </a:xfrm>
          <a:prstGeom prst="rect">
            <a:avLst/>
          </a:prstGeom>
          <a:solidFill>
            <a:srgbClr val="E1DFDD"/>
          </a:solidFill>
          <a:ln/>
        </p:spPr>
      </p:sp>
      <p:sp>
        <p:nvSpPr>
          <p:cNvPr id="31" name="Shape 25"/>
          <p:cNvSpPr/>
          <p:nvPr/>
        </p:nvSpPr>
        <p:spPr>
          <a:xfrm>
            <a:off x="6572707" y="1714500"/>
            <a:ext cx="571500" cy="571500"/>
          </a:xfrm>
          <a:prstGeom prst="ellipse">
            <a:avLst/>
          </a:prstGeom>
          <a:solidFill>
            <a:srgbClr val="107C10"/>
          </a:solidFill>
          <a:ln/>
        </p:spPr>
      </p:sp>
      <p:pic>
        <p:nvPicPr>
          <p:cNvPr id="32" name="Image 4" descr="preencoded.png">    </p:cNvPr>
          <p:cNvPicPr>
            <a:picLocks noChangeAspect="1"/>
          </p:cNvPicPr>
          <p:nvPr/>
        </p:nvPicPr>
        <p:blipFill>
          <a:blip r:embed="rId5"/>
          <a:srcRect l="0" r="0" t="0" b="0"/>
          <a:stretch/>
        </p:blipFill>
        <p:spPr>
          <a:xfrm>
            <a:off x="6691579" y="1867205"/>
            <a:ext cx="333756" cy="267005"/>
          </a:xfrm>
          <a:prstGeom prst="rect">
            <a:avLst/>
          </a:prstGeom>
        </p:spPr>
      </p:pic>
      <p:sp>
        <p:nvSpPr>
          <p:cNvPr id="33" name="Text 26"/>
          <p:cNvSpPr txBox="1"/>
          <p:nvPr/>
        </p:nvSpPr>
        <p:spPr>
          <a:xfrm>
            <a:off x="7286854" y="1742846"/>
            <a:ext cx="1067105" cy="267005"/>
          </a:xfrm>
          <a:prstGeom prst="rect">
            <a:avLst/>
          </a:prstGeom>
          <a:noFill/>
          <a:ln/>
        </p:spPr>
        <p:txBody>
          <a:bodyPr wrap="square" lIns="0" tIns="0" rIns="0" bIns="0" rtlCol="0" anchor="ctr"/>
          <a:lstStyle/>
          <a:p>
            <a:pPr algn="l" indent="0" marL="0">
              <a:buNone/>
            </a:pPr>
            <a:r>
              <a:rPr lang="en-US" sz="1800" b="1" dirty="0">
                <a:solidFill>
                  <a:srgbClr val="323130"/>
                </a:solidFill>
                <a:latin typeface="Roboto" pitchFamily="34" charset="0"/>
                <a:ea typeface="Roboto" pitchFamily="34" charset="-122"/>
                <a:cs typeface="Roboto" pitchFamily="34" charset="-120"/>
              </a:rPr>
              <a:t>Systems</a:t>
            </a:r>
            <a:endParaRPr lang="en-US" sz="1800" dirty="0"/>
          </a:p>
        </p:txBody>
      </p:sp>
      <p:sp>
        <p:nvSpPr>
          <p:cNvPr id="34" name="Text 27"/>
          <p:cNvSpPr txBox="1"/>
          <p:nvPr/>
        </p:nvSpPr>
        <p:spPr>
          <a:xfrm>
            <a:off x="7286854" y="2115007"/>
            <a:ext cx="1386230" cy="152705"/>
          </a:xfrm>
          <a:prstGeom prst="rect">
            <a:avLst/>
          </a:prstGeom>
          <a:noFill/>
          <a:ln/>
        </p:spPr>
        <p:txBody>
          <a:bodyPr wrap="square" lIns="0" tIns="0" rIns="0" bIns="0" rtlCol="0" anchor="ctr"/>
          <a:lstStyle/>
          <a:p>
            <a:pPr algn="l" indent="0" marL="0">
              <a:buNone/>
            </a:pPr>
            <a:r>
              <a:rPr lang="en-US" sz="1000" dirty="0">
                <a:solidFill>
                  <a:srgbClr val="605E5C"/>
                </a:solidFill>
                <a:latin typeface="Roboto" pitchFamily="34" charset="0"/>
                <a:ea typeface="Roboto" pitchFamily="34" charset="-122"/>
                <a:cs typeface="Roboto" pitchFamily="34" charset="-120"/>
              </a:rPr>
              <a:t>Tools &amp; Infrastructure</a:t>
            </a:r>
            <a:endParaRPr lang="en-US" sz="1000" dirty="0"/>
          </a:p>
        </p:txBody>
      </p:sp>
      <p:sp>
        <p:nvSpPr>
          <p:cNvPr id="35" name="Shape 28"/>
          <p:cNvSpPr/>
          <p:nvPr/>
        </p:nvSpPr>
        <p:spPr>
          <a:xfrm>
            <a:off x="6572707" y="2781605"/>
            <a:ext cx="4762195" cy="895198"/>
          </a:xfrm>
          <a:prstGeom prst="roundRect">
            <a:avLst>
              <a:gd name="adj" fmla="val 8693"/>
            </a:avLst>
          </a:prstGeom>
          <a:solidFill>
            <a:srgbClr val="FFFFFF"/>
          </a:solidFill>
          <a:ln w="12700">
            <a:solidFill>
              <a:srgbClr val="EDEBE9"/>
            </a:solidFill>
            <a:prstDash val="solid"/>
          </a:ln>
          <a:effectLst>
            <a:outerShdw sx="100000" sy="100000" kx="0" ky="0" algn="bl" rotWithShape="0" blurRad="38100" dist="25400" dir="5400000">
              <a:srgbClr val="000000">
                <a:alpha val="3000"/>
              </a:srgbClr>
            </a:outerShdw>
          </a:effectLst>
        </p:spPr>
      </p:sp>
      <p:sp>
        <p:nvSpPr>
          <p:cNvPr id="36" name="Shape 29"/>
          <p:cNvSpPr/>
          <p:nvPr/>
        </p:nvSpPr>
        <p:spPr>
          <a:xfrm>
            <a:off x="6772046" y="3000146"/>
            <a:ext cx="457200" cy="457200"/>
          </a:xfrm>
          <a:prstGeom prst="roundRect">
            <a:avLst>
              <a:gd name="adj" fmla="val 33333"/>
            </a:avLst>
          </a:prstGeom>
          <a:solidFill>
            <a:srgbClr val="E6F2E6"/>
          </a:solidFill>
          <a:ln/>
        </p:spPr>
      </p:sp>
      <p:pic>
        <p:nvPicPr>
          <p:cNvPr id="37" name="Image 5" descr="preencoded.png">    </p:cNvPr>
          <p:cNvPicPr>
            <a:picLocks noChangeAspect="1"/>
          </p:cNvPicPr>
          <p:nvPr/>
        </p:nvPicPr>
        <p:blipFill>
          <a:blip r:embed="rId6"/>
          <a:srcRect l="-1282" r="-1282" t="0" b="0"/>
          <a:stretch/>
        </p:blipFill>
        <p:spPr>
          <a:xfrm>
            <a:off x="6890918" y="3133649"/>
            <a:ext cx="219456" cy="190195"/>
          </a:xfrm>
          <a:prstGeom prst="rect">
            <a:avLst/>
          </a:prstGeom>
        </p:spPr>
      </p:pic>
      <p:sp>
        <p:nvSpPr>
          <p:cNvPr id="38" name="Text 30"/>
          <p:cNvSpPr txBox="1"/>
          <p:nvPr/>
        </p:nvSpPr>
        <p:spPr>
          <a:xfrm>
            <a:off x="7420356" y="3010205"/>
            <a:ext cx="2862986" cy="200254"/>
          </a:xfrm>
          <a:prstGeom prst="rect">
            <a:avLst/>
          </a:prstGeom>
          <a:noFill/>
          <a:ln/>
        </p:spPr>
        <p:txBody>
          <a:bodyPr wrap="square" lIns="0" tIns="0" rIns="0" bIns="0" rtlCol="0" anchor="ctr"/>
          <a:lstStyle/>
          <a:p>
            <a:pPr algn="l" indent="0" marL="0">
              <a:buNone/>
            </a:pPr>
            <a:r>
              <a:rPr lang="en-US" sz="1300" b="1" dirty="0">
                <a:solidFill>
                  <a:srgbClr val="323130"/>
                </a:solidFill>
                <a:latin typeface="Roboto" pitchFamily="34" charset="0"/>
                <a:ea typeface="Roboto" pitchFamily="34" charset="-122"/>
                <a:cs typeface="Roboto" pitchFamily="34" charset="-120"/>
              </a:rPr>
              <a:t>FDO (Factory Delivery Orchestrator)</a:t>
            </a:r>
            <a:endParaRPr lang="en-US" sz="1300" dirty="0"/>
          </a:p>
        </p:txBody>
      </p:sp>
      <p:sp>
        <p:nvSpPr>
          <p:cNvPr id="39" name="Text 31"/>
          <p:cNvSpPr txBox="1"/>
          <p:nvPr/>
        </p:nvSpPr>
        <p:spPr>
          <a:xfrm>
            <a:off x="7420356" y="3295498"/>
            <a:ext cx="3453689" cy="152705"/>
          </a:xfrm>
          <a:prstGeom prst="rect">
            <a:avLst/>
          </a:prstGeom>
          <a:noFill/>
          <a:ln/>
        </p:spPr>
        <p:txBody>
          <a:bodyPr wrap="square" lIns="0" tIns="0" rIns="0" bIns="0" rtlCol="0" anchor="ctr"/>
          <a:lstStyle/>
          <a:p>
            <a:pPr algn="l" indent="0" marL="0">
              <a:buNone/>
            </a:pPr>
            <a:r>
              <a:rPr lang="en-US" sz="1000" dirty="0">
                <a:solidFill>
                  <a:srgbClr val="605E5C"/>
                </a:solidFill>
                <a:latin typeface="Roboto" pitchFamily="34" charset="0"/>
                <a:ea typeface="Roboto" pitchFamily="34" charset="-122"/>
                <a:cs typeface="Roboto" pitchFamily="34" charset="-120"/>
              </a:rPr>
              <a:t>Source of Truth for project delivery and compliance data.</a:t>
            </a:r>
            <a:endParaRPr lang="en-US" sz="1000" dirty="0"/>
          </a:p>
        </p:txBody>
      </p:sp>
      <p:sp>
        <p:nvSpPr>
          <p:cNvPr id="40" name="Shape 32"/>
          <p:cNvSpPr/>
          <p:nvPr/>
        </p:nvSpPr>
        <p:spPr>
          <a:xfrm>
            <a:off x="6572707" y="3866998"/>
            <a:ext cx="4762195" cy="1095451"/>
          </a:xfrm>
          <a:prstGeom prst="roundRect">
            <a:avLst>
              <a:gd name="adj" fmla="val 5807"/>
            </a:avLst>
          </a:prstGeom>
          <a:solidFill>
            <a:srgbClr val="FFFFFF"/>
          </a:solidFill>
          <a:ln w="12700">
            <a:solidFill>
              <a:srgbClr val="EDEBE9"/>
            </a:solidFill>
            <a:prstDash val="solid"/>
          </a:ln>
          <a:effectLst>
            <a:outerShdw sx="100000" sy="100000" kx="0" ky="0" algn="bl" rotWithShape="0" blurRad="38100" dist="25400" dir="5400000">
              <a:srgbClr val="000000">
                <a:alpha val="3000"/>
              </a:srgbClr>
            </a:outerShdw>
          </a:effectLst>
        </p:spPr>
      </p:sp>
      <p:sp>
        <p:nvSpPr>
          <p:cNvPr id="41" name="Shape 33"/>
          <p:cNvSpPr/>
          <p:nvPr/>
        </p:nvSpPr>
        <p:spPr>
          <a:xfrm>
            <a:off x="6772046" y="4186123"/>
            <a:ext cx="418795" cy="457200"/>
          </a:xfrm>
          <a:prstGeom prst="roundRect">
            <a:avLst>
              <a:gd name="adj" fmla="val 39698"/>
            </a:avLst>
          </a:prstGeom>
          <a:solidFill>
            <a:srgbClr val="E6F2E6"/>
          </a:solidFill>
          <a:ln/>
        </p:spPr>
      </p:sp>
      <p:pic>
        <p:nvPicPr>
          <p:cNvPr id="42" name="Image 6" descr="preencoded.png">    </p:cNvPr>
          <p:cNvPicPr>
            <a:picLocks noChangeAspect="1"/>
          </p:cNvPicPr>
          <p:nvPr/>
        </p:nvPicPr>
        <p:blipFill>
          <a:blip r:embed="rId7"/>
          <a:srcRect l="0" r="0" t="0" b="0"/>
          <a:stretch/>
        </p:blipFill>
        <p:spPr>
          <a:xfrm>
            <a:off x="6861658" y="4319626"/>
            <a:ext cx="237744" cy="190195"/>
          </a:xfrm>
          <a:prstGeom prst="rect">
            <a:avLst/>
          </a:prstGeom>
        </p:spPr>
      </p:pic>
      <p:sp>
        <p:nvSpPr>
          <p:cNvPr id="43" name="Text 34"/>
          <p:cNvSpPr txBox="1"/>
          <p:nvPr/>
        </p:nvSpPr>
        <p:spPr>
          <a:xfrm>
            <a:off x="7379208" y="4095598"/>
            <a:ext cx="2395728" cy="200254"/>
          </a:xfrm>
          <a:prstGeom prst="rect">
            <a:avLst/>
          </a:prstGeom>
          <a:noFill/>
          <a:ln/>
        </p:spPr>
        <p:txBody>
          <a:bodyPr wrap="square" lIns="0" tIns="0" rIns="0" bIns="0" rtlCol="0" anchor="ctr"/>
          <a:lstStyle/>
          <a:p>
            <a:pPr algn="l" indent="0" marL="0">
              <a:buNone/>
            </a:pPr>
            <a:r>
              <a:rPr lang="en-US" sz="1300" b="1" dirty="0">
                <a:solidFill>
                  <a:srgbClr val="323130"/>
                </a:solidFill>
                <a:latin typeface="Roboto" pitchFamily="34" charset="0"/>
                <a:ea typeface="Roboto" pitchFamily="34" charset="-122"/>
                <a:cs typeface="Roboto" pitchFamily="34" charset="-120"/>
              </a:rPr>
              <a:t>Automated Reporting Service</a:t>
            </a:r>
            <a:endParaRPr lang="en-US" sz="1300" dirty="0"/>
          </a:p>
        </p:txBody>
      </p:sp>
      <p:sp>
        <p:nvSpPr>
          <p:cNvPr id="44" name="Text 35"/>
          <p:cNvSpPr txBox="1"/>
          <p:nvPr/>
        </p:nvSpPr>
        <p:spPr>
          <a:xfrm>
            <a:off x="7379208" y="4381805"/>
            <a:ext cx="3653028" cy="352958"/>
          </a:xfrm>
          <a:prstGeom prst="rect">
            <a:avLst/>
          </a:prstGeom>
          <a:noFill/>
          <a:ln/>
        </p:spPr>
        <p:txBody>
          <a:bodyPr wrap="square" lIns="0" tIns="0" rIns="0" bIns="0" rtlCol="0" anchor="ctr"/>
          <a:lstStyle/>
          <a:p>
            <a:pPr algn="l" indent="0" marL="0">
              <a:buNone/>
            </a:pPr>
            <a:r>
              <a:rPr lang="en-US" sz="1000" dirty="0">
                <a:solidFill>
                  <a:srgbClr val="605E5C"/>
                </a:solidFill>
                <a:latin typeface="Roboto" pitchFamily="34" charset="0"/>
                <a:ea typeface="Roboto" pitchFamily="34" charset="-122"/>
                <a:cs typeface="Roboto" pitchFamily="34" charset="-120"/>
              </a:rPr>
              <a:t>Orchestration engine (Logic Apps/Power Automate) &amp; Email Gateway.</a:t>
            </a:r>
            <a:endParaRPr lang="en-US" sz="1000" dirty="0"/>
          </a:p>
        </p:txBody>
      </p:sp>
      <p:sp>
        <p:nvSpPr>
          <p:cNvPr id="45" name="Shape 36"/>
          <p:cNvSpPr/>
          <p:nvPr/>
        </p:nvSpPr>
        <p:spPr>
          <a:xfrm>
            <a:off x="0" y="6810451"/>
            <a:ext cx="12191695" cy="9144"/>
          </a:xfrm>
          <a:prstGeom prst="rect">
            <a:avLst/>
          </a:prstGeom>
          <a:solidFill>
            <a:srgbClr val="EDEBE9"/>
          </a:solidFill>
          <a:ln/>
        </p:spPr>
      </p:sp>
      <p:sp>
        <p:nvSpPr>
          <p:cNvPr id="46" name="Text 37"/>
          <p:cNvSpPr txBox="1"/>
          <p:nvPr/>
        </p:nvSpPr>
        <p:spPr>
          <a:xfrm>
            <a:off x="8833104" y="6838798"/>
            <a:ext cx="2876702" cy="133502"/>
          </a:xfrm>
          <a:prstGeom prst="rect">
            <a:avLst/>
          </a:prstGeom>
          <a:noFill/>
          <a:ln/>
        </p:spPr>
        <p:txBody>
          <a:bodyPr wrap="square" lIns="0" tIns="0" rIns="0" bIns="0" rtlCol="0" anchor="ctr"/>
          <a:lstStyle/>
          <a:p>
            <a:pPr algn="l" indent="0" marL="0">
              <a:buNone/>
            </a:pPr>
            <a:r>
              <a:rPr lang="en-US" sz="900" dirty="0">
                <a:solidFill>
                  <a:srgbClr val="A19F9D"/>
                </a:solidFill>
                <a:latin typeface="Roboto" pitchFamily="34" charset="0"/>
                <a:ea typeface="Roboto" pitchFamily="34" charset="-122"/>
                <a:cs typeface="Roboto" pitchFamily="34" charset="-120"/>
              </a:rPr>
              <a:t>Confidential | Factory Delivery Orchestrator Automation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FFFFF"/>
          </a:solidFill>
          <a:ln/>
        </p:spPr>
      </p:sp>
      <p:sp>
        <p:nvSpPr>
          <p:cNvPr id="4" name="Text 2"/>
          <p:cNvSpPr txBox="1"/>
          <p:nvPr/>
        </p:nvSpPr>
        <p:spPr>
          <a:xfrm>
            <a:off x="571500" y="448056"/>
            <a:ext cx="4539082" cy="467258"/>
          </a:xfrm>
          <a:prstGeom prst="rect">
            <a:avLst/>
          </a:prstGeom>
          <a:noFill/>
          <a:ln/>
        </p:spPr>
        <p:txBody>
          <a:bodyPr wrap="square" lIns="0" tIns="0" rIns="0" bIns="0" rtlCol="0" anchor="ctr"/>
          <a:lstStyle/>
          <a:p>
            <a:pPr algn="l" indent="0" marL="0">
              <a:buNone/>
            </a:pPr>
            <a:r>
              <a:rPr lang="en-US" sz="3100" b="1" dirty="0">
                <a:solidFill>
                  <a:srgbClr val="242424"/>
                </a:solidFill>
                <a:latin typeface="Roboto" pitchFamily="34" charset="0"/>
                <a:ea typeface="Roboto" pitchFamily="34" charset="-122"/>
                <a:cs typeface="Roboto" pitchFamily="34" charset="-120"/>
              </a:rPr>
              <a:t>Preconditions &amp; Trigger</a:t>
            </a:r>
            <a:endParaRPr lang="en-US" sz="3100" dirty="0"/>
          </a:p>
        </p:txBody>
      </p:sp>
      <p:sp>
        <p:nvSpPr>
          <p:cNvPr id="5" name="Text 3"/>
          <p:cNvSpPr txBox="1"/>
          <p:nvPr/>
        </p:nvSpPr>
        <p:spPr>
          <a:xfrm>
            <a:off x="8503006" y="586130"/>
            <a:ext cx="3238805" cy="181051"/>
          </a:xfrm>
          <a:prstGeom prst="rect">
            <a:avLst/>
          </a:prstGeom>
          <a:noFill/>
          <a:ln/>
        </p:spPr>
        <p:txBody>
          <a:bodyPr wrap="square" lIns="0" tIns="0" rIns="0" bIns="0" rtlCol="0" anchor="ctr"/>
          <a:lstStyle/>
          <a:p>
            <a:pPr algn="l" indent="0" marL="0">
              <a:buNone/>
            </a:pPr>
            <a:r>
              <a:rPr lang="en-US" sz="1200" dirty="0">
                <a:solidFill>
                  <a:srgbClr val="666666"/>
                </a:solidFill>
                <a:latin typeface="Roboto" pitchFamily="34" charset="0"/>
                <a:ea typeface="Roboto" pitchFamily="34" charset="-122"/>
                <a:cs typeface="Roboto" pitchFamily="34" charset="-120"/>
              </a:rPr>
              <a:t>FDO Automation / Requirements &amp; Scheduling</a:t>
            </a:r>
            <a:endParaRPr lang="en-US" sz="1200" dirty="0"/>
          </a:p>
        </p:txBody>
      </p:sp>
      <p:sp>
        <p:nvSpPr>
          <p:cNvPr id="6" name="Shape 4"/>
          <p:cNvSpPr/>
          <p:nvPr/>
        </p:nvSpPr>
        <p:spPr>
          <a:xfrm>
            <a:off x="571500" y="1362456"/>
            <a:ext cx="5333695" cy="5296205"/>
          </a:xfrm>
          <a:prstGeom prst="roundRect">
            <a:avLst>
              <a:gd name="adj" fmla="val 373"/>
            </a:avLst>
          </a:prstGeom>
          <a:solidFill>
            <a:srgbClr val="F8F9FA"/>
          </a:solidFill>
          <a:ln/>
          <a:effectLst>
            <a:outerShdw sx="100000" sy="100000" kx="0" ky="0" algn="bl" rotWithShape="0" blurRad="114300" dist="38100" dir="5400000">
              <a:srgbClr val="000000">
                <a:alpha val="5000"/>
              </a:srgbClr>
            </a:outerShdw>
          </a:effectLst>
        </p:spPr>
      </p:sp>
      <p:sp>
        <p:nvSpPr>
          <p:cNvPr id="7" name="Shape 5"/>
          <p:cNvSpPr/>
          <p:nvPr/>
        </p:nvSpPr>
        <p:spPr>
          <a:xfrm>
            <a:off x="571500" y="1362456"/>
            <a:ext cx="5333695" cy="57607"/>
          </a:xfrm>
          <a:prstGeom prst="rect">
            <a:avLst/>
          </a:prstGeom>
          <a:solidFill>
            <a:srgbClr val="0078D4"/>
          </a:solidFill>
          <a:ln/>
        </p:spPr>
      </p:sp>
      <p:sp>
        <p:nvSpPr>
          <p:cNvPr id="8" name="Shape 6"/>
          <p:cNvSpPr/>
          <p:nvPr/>
        </p:nvSpPr>
        <p:spPr>
          <a:xfrm>
            <a:off x="857707" y="2487168"/>
            <a:ext cx="4762195" cy="9144"/>
          </a:xfrm>
          <a:prstGeom prst="rect">
            <a:avLst/>
          </a:prstGeom>
          <a:solidFill>
            <a:srgbClr val="E1DFDD"/>
          </a:solidFill>
          <a:ln/>
        </p:spPr>
      </p:sp>
      <p:sp>
        <p:nvSpPr>
          <p:cNvPr id="9" name="Shape 7"/>
          <p:cNvSpPr/>
          <p:nvPr/>
        </p:nvSpPr>
        <p:spPr>
          <a:xfrm>
            <a:off x="857707" y="1714500"/>
            <a:ext cx="571500" cy="571500"/>
          </a:xfrm>
          <a:prstGeom prst="ellipse">
            <a:avLst/>
          </a:prstGeom>
          <a:solidFill>
            <a:srgbClr val="0078D4"/>
          </a:solidFill>
          <a:ln/>
        </p:spPr>
      </p:sp>
      <p:pic>
        <p:nvPicPr>
          <p:cNvPr id="10" name="Image 0" descr="preencoded.png">    </p:cNvPr>
          <p:cNvPicPr>
            <a:picLocks noChangeAspect="1"/>
          </p:cNvPicPr>
          <p:nvPr/>
        </p:nvPicPr>
        <p:blipFill>
          <a:blip r:embed="rId1"/>
          <a:srcRect l="0" r="0" t="0" b="0"/>
          <a:stretch/>
        </p:blipFill>
        <p:spPr>
          <a:xfrm>
            <a:off x="1043330" y="1867205"/>
            <a:ext cx="200254" cy="267005"/>
          </a:xfrm>
          <a:prstGeom prst="rect">
            <a:avLst/>
          </a:prstGeom>
        </p:spPr>
      </p:pic>
      <p:sp>
        <p:nvSpPr>
          <p:cNvPr id="11" name="Text 8"/>
          <p:cNvSpPr txBox="1"/>
          <p:nvPr/>
        </p:nvSpPr>
        <p:spPr>
          <a:xfrm>
            <a:off x="1571854" y="1742846"/>
            <a:ext cx="1610258" cy="267005"/>
          </a:xfrm>
          <a:prstGeom prst="rect">
            <a:avLst/>
          </a:prstGeom>
          <a:noFill/>
          <a:ln/>
        </p:spPr>
        <p:txBody>
          <a:bodyPr wrap="square" lIns="0" tIns="0" rIns="0" bIns="0" rtlCol="0" anchor="ctr"/>
          <a:lstStyle/>
          <a:p>
            <a:pPr algn="l" indent="0" marL="0">
              <a:buNone/>
            </a:pPr>
            <a:r>
              <a:rPr lang="en-US" sz="1800" b="1" dirty="0">
                <a:solidFill>
                  <a:srgbClr val="323130"/>
                </a:solidFill>
                <a:latin typeface="Roboto" pitchFamily="34" charset="0"/>
                <a:ea typeface="Roboto" pitchFamily="34" charset="-122"/>
                <a:cs typeface="Roboto" pitchFamily="34" charset="-120"/>
              </a:rPr>
              <a:t>Preconditions</a:t>
            </a:r>
            <a:endParaRPr lang="en-US" sz="1800" dirty="0"/>
          </a:p>
        </p:txBody>
      </p:sp>
      <p:sp>
        <p:nvSpPr>
          <p:cNvPr id="12" name="Text 9"/>
          <p:cNvSpPr txBox="1"/>
          <p:nvPr/>
        </p:nvSpPr>
        <p:spPr>
          <a:xfrm>
            <a:off x="1571854" y="2115007"/>
            <a:ext cx="2005279" cy="152705"/>
          </a:xfrm>
          <a:prstGeom prst="rect">
            <a:avLst/>
          </a:prstGeom>
          <a:noFill/>
          <a:ln/>
        </p:spPr>
        <p:txBody>
          <a:bodyPr wrap="square" lIns="0" tIns="0" rIns="0" bIns="0" rtlCol="0" anchor="ctr"/>
          <a:lstStyle/>
          <a:p>
            <a:pPr algn="l" indent="0" marL="0">
              <a:buNone/>
            </a:pPr>
            <a:r>
              <a:rPr lang="en-US" sz="1000" dirty="0">
                <a:solidFill>
                  <a:srgbClr val="605E5C"/>
                </a:solidFill>
                <a:latin typeface="Roboto" pitchFamily="34" charset="0"/>
                <a:ea typeface="Roboto" pitchFamily="34" charset="-122"/>
                <a:cs typeface="Roboto" pitchFamily="34" charset="-120"/>
              </a:rPr>
              <a:t>Required State Before Execution</a:t>
            </a:r>
            <a:endParaRPr lang="en-US" sz="1000" dirty="0"/>
          </a:p>
        </p:txBody>
      </p:sp>
      <p:sp>
        <p:nvSpPr>
          <p:cNvPr id="13" name="Shape 10"/>
          <p:cNvSpPr/>
          <p:nvPr/>
        </p:nvSpPr>
        <p:spPr>
          <a:xfrm>
            <a:off x="857707" y="2781605"/>
            <a:ext cx="4762195" cy="1076249"/>
          </a:xfrm>
          <a:prstGeom prst="roundRect">
            <a:avLst>
              <a:gd name="adj" fmla="val 6015"/>
            </a:avLst>
          </a:prstGeom>
          <a:solidFill>
            <a:srgbClr val="FFFFFF"/>
          </a:solidFill>
          <a:ln w="12700">
            <a:solidFill>
              <a:srgbClr val="EDEBE9"/>
            </a:solidFill>
            <a:prstDash val="solid"/>
          </a:ln>
          <a:effectLst>
            <a:outerShdw sx="100000" sy="100000" kx="0" ky="0" algn="bl" rotWithShape="0" blurRad="38100" dist="25400" dir="5400000">
              <a:srgbClr val="000000">
                <a:alpha val="3000"/>
              </a:srgbClr>
            </a:outerShdw>
          </a:effectLst>
        </p:spPr>
      </p:sp>
      <p:sp>
        <p:nvSpPr>
          <p:cNvPr id="14" name="Shape 11"/>
          <p:cNvSpPr/>
          <p:nvPr/>
        </p:nvSpPr>
        <p:spPr>
          <a:xfrm>
            <a:off x="1057046" y="3087014"/>
            <a:ext cx="457200" cy="457200"/>
          </a:xfrm>
          <a:prstGeom prst="roundRect">
            <a:avLst>
              <a:gd name="adj" fmla="val 33333"/>
            </a:avLst>
          </a:prstGeom>
          <a:solidFill>
            <a:srgbClr val="EFF6FC"/>
          </a:solidFill>
          <a:ln/>
        </p:spPr>
      </p:sp>
      <p:pic>
        <p:nvPicPr>
          <p:cNvPr id="15" name="Image 1" descr="preencoded.png">    </p:cNvPr>
          <p:cNvPicPr>
            <a:picLocks noChangeAspect="1"/>
          </p:cNvPicPr>
          <p:nvPr/>
        </p:nvPicPr>
        <p:blipFill>
          <a:blip r:embed="rId2"/>
          <a:srcRect l="-1648" r="-1648" t="0" b="0"/>
          <a:stretch/>
        </p:blipFill>
        <p:spPr>
          <a:xfrm>
            <a:off x="1200607" y="3220517"/>
            <a:ext cx="171907" cy="190195"/>
          </a:xfrm>
          <a:prstGeom prst="rect">
            <a:avLst/>
          </a:prstGeom>
        </p:spPr>
      </p:pic>
      <p:sp>
        <p:nvSpPr>
          <p:cNvPr id="16" name="Text 12"/>
          <p:cNvSpPr txBox="1"/>
          <p:nvPr/>
        </p:nvSpPr>
        <p:spPr>
          <a:xfrm>
            <a:off x="1705356" y="3010205"/>
            <a:ext cx="1367028" cy="200254"/>
          </a:xfrm>
          <a:prstGeom prst="rect">
            <a:avLst/>
          </a:prstGeom>
          <a:noFill/>
          <a:ln/>
        </p:spPr>
        <p:txBody>
          <a:bodyPr wrap="square" lIns="0" tIns="0" rIns="0" bIns="0" rtlCol="0" anchor="ctr"/>
          <a:lstStyle/>
          <a:p>
            <a:pPr algn="l" indent="0" marL="0">
              <a:buNone/>
            </a:pPr>
            <a:r>
              <a:rPr lang="en-US" sz="1300" b="1" dirty="0">
                <a:solidFill>
                  <a:srgbClr val="323130"/>
                </a:solidFill>
                <a:latin typeface="Roboto" pitchFamily="34" charset="0"/>
                <a:ea typeface="Roboto" pitchFamily="34" charset="-122"/>
                <a:cs typeface="Roboto" pitchFamily="34" charset="-120"/>
              </a:rPr>
              <a:t>Data Availability</a:t>
            </a:r>
            <a:endParaRPr lang="en-US" sz="1300" dirty="0"/>
          </a:p>
        </p:txBody>
      </p:sp>
      <p:sp>
        <p:nvSpPr>
          <p:cNvPr id="17" name="Text 13"/>
          <p:cNvSpPr txBox="1"/>
          <p:nvPr/>
        </p:nvSpPr>
        <p:spPr>
          <a:xfrm>
            <a:off x="1705356" y="3286354"/>
            <a:ext cx="3719779" cy="342900"/>
          </a:xfrm>
          <a:prstGeom prst="rect">
            <a:avLst/>
          </a:prstGeom>
          <a:noFill/>
          <a:ln/>
        </p:spPr>
        <p:txBody>
          <a:bodyPr wrap="square" lIns="0" tIns="0" rIns="0" bIns="0" rtlCol="0" anchor="ctr"/>
          <a:lstStyle/>
          <a:p>
            <a:pPr algn="l" indent="0" marL="0">
              <a:buNone/>
            </a:pPr>
            <a:r>
              <a:rPr lang="en-US" sz="1000" dirty="0">
                <a:solidFill>
                  <a:srgbClr val="605E5C"/>
                </a:solidFill>
                <a:latin typeface="Roboto" pitchFamily="34" charset="0"/>
                <a:ea typeface="Roboto" pitchFamily="34" charset="-122"/>
                <a:cs typeface="Roboto" pitchFamily="34" charset="-120"/>
              </a:rPr>
              <a:t>Audit reports must be generated and available within the FDO system for the target period.</a:t>
            </a:r>
            <a:endParaRPr lang="en-US" sz="1000" dirty="0"/>
          </a:p>
        </p:txBody>
      </p:sp>
      <p:sp>
        <p:nvSpPr>
          <p:cNvPr id="18" name="Shape 14"/>
          <p:cNvSpPr/>
          <p:nvPr/>
        </p:nvSpPr>
        <p:spPr>
          <a:xfrm>
            <a:off x="857707" y="4040734"/>
            <a:ext cx="4762195" cy="1076249"/>
          </a:xfrm>
          <a:prstGeom prst="roundRect">
            <a:avLst>
              <a:gd name="adj" fmla="val 6015"/>
            </a:avLst>
          </a:prstGeom>
          <a:solidFill>
            <a:srgbClr val="FFFFFF"/>
          </a:solidFill>
          <a:ln w="12700">
            <a:solidFill>
              <a:srgbClr val="EDEBE9"/>
            </a:solidFill>
            <a:prstDash val="solid"/>
          </a:ln>
          <a:effectLst>
            <a:outerShdw sx="100000" sy="100000" kx="0" ky="0" algn="bl" rotWithShape="0" blurRad="38100" dist="25400" dir="5400000">
              <a:srgbClr val="000000">
                <a:alpha val="3000"/>
              </a:srgbClr>
            </a:outerShdw>
          </a:effectLst>
        </p:spPr>
      </p:sp>
      <p:sp>
        <p:nvSpPr>
          <p:cNvPr id="19" name="Shape 15"/>
          <p:cNvSpPr/>
          <p:nvPr/>
        </p:nvSpPr>
        <p:spPr>
          <a:xfrm>
            <a:off x="1057046" y="4346143"/>
            <a:ext cx="457200" cy="457200"/>
          </a:xfrm>
          <a:prstGeom prst="roundRect">
            <a:avLst>
              <a:gd name="adj" fmla="val 33333"/>
            </a:avLst>
          </a:prstGeom>
          <a:solidFill>
            <a:srgbClr val="EFF6FC"/>
          </a:solidFill>
          <a:ln/>
        </p:spPr>
      </p:sp>
      <p:pic>
        <p:nvPicPr>
          <p:cNvPr id="20" name="Image 2" descr="preencoded.png">    </p:cNvPr>
          <p:cNvPicPr>
            <a:picLocks noChangeAspect="1"/>
          </p:cNvPicPr>
          <p:nvPr/>
        </p:nvPicPr>
        <p:blipFill>
          <a:blip r:embed="rId3"/>
          <a:srcRect l="0" r="0" t="0" b="0"/>
          <a:stretch/>
        </p:blipFill>
        <p:spPr>
          <a:xfrm>
            <a:off x="1190549" y="4479646"/>
            <a:ext cx="190195" cy="190195"/>
          </a:xfrm>
          <a:prstGeom prst="rect">
            <a:avLst/>
          </a:prstGeom>
        </p:spPr>
      </p:pic>
      <p:sp>
        <p:nvSpPr>
          <p:cNvPr id="21" name="Text 16"/>
          <p:cNvSpPr txBox="1"/>
          <p:nvPr/>
        </p:nvSpPr>
        <p:spPr>
          <a:xfrm>
            <a:off x="1705356" y="4269334"/>
            <a:ext cx="1700784" cy="200254"/>
          </a:xfrm>
          <a:prstGeom prst="rect">
            <a:avLst/>
          </a:prstGeom>
          <a:noFill/>
          <a:ln/>
        </p:spPr>
        <p:txBody>
          <a:bodyPr wrap="square" lIns="0" tIns="0" rIns="0" bIns="0" rtlCol="0" anchor="ctr"/>
          <a:lstStyle/>
          <a:p>
            <a:pPr algn="l" indent="0" marL="0">
              <a:buNone/>
            </a:pPr>
            <a:r>
              <a:rPr lang="en-US" sz="1300" b="1" dirty="0">
                <a:solidFill>
                  <a:srgbClr val="323130"/>
                </a:solidFill>
                <a:latin typeface="Roboto" pitchFamily="34" charset="0"/>
                <a:ea typeface="Roboto" pitchFamily="34" charset="-122"/>
                <a:cs typeface="Roboto" pitchFamily="34" charset="-120"/>
              </a:rPr>
              <a:t>Access Permissions</a:t>
            </a:r>
            <a:endParaRPr lang="en-US" sz="1300" dirty="0"/>
          </a:p>
        </p:txBody>
      </p:sp>
      <p:sp>
        <p:nvSpPr>
          <p:cNvPr id="22" name="Text 17"/>
          <p:cNvSpPr txBox="1"/>
          <p:nvPr/>
        </p:nvSpPr>
        <p:spPr>
          <a:xfrm>
            <a:off x="1705356" y="4545482"/>
            <a:ext cx="3758184" cy="342900"/>
          </a:xfrm>
          <a:prstGeom prst="rect">
            <a:avLst/>
          </a:prstGeom>
          <a:noFill/>
          <a:ln/>
        </p:spPr>
        <p:txBody>
          <a:bodyPr wrap="square" lIns="0" tIns="0" rIns="0" bIns="0" rtlCol="0" anchor="ctr"/>
          <a:lstStyle/>
          <a:p>
            <a:pPr algn="l" indent="0" marL="0">
              <a:buNone/>
            </a:pPr>
            <a:r>
              <a:rPr lang="en-US" sz="1000" dirty="0">
                <a:solidFill>
                  <a:srgbClr val="605E5C"/>
                </a:solidFill>
                <a:latin typeface="Roboto" pitchFamily="34" charset="0"/>
                <a:ea typeface="Roboto" pitchFamily="34" charset="-122"/>
                <a:cs typeface="Roboto" pitchFamily="34" charset="-120"/>
              </a:rPr>
              <a:t>Service account must have authorized read access to specific FDO audit data endpoints.</a:t>
            </a:r>
            <a:endParaRPr lang="en-US" sz="1000" dirty="0"/>
          </a:p>
        </p:txBody>
      </p:sp>
      <p:sp>
        <p:nvSpPr>
          <p:cNvPr id="23" name="Shape 18"/>
          <p:cNvSpPr/>
          <p:nvPr/>
        </p:nvSpPr>
        <p:spPr>
          <a:xfrm>
            <a:off x="857707" y="5299862"/>
            <a:ext cx="4762195" cy="1076249"/>
          </a:xfrm>
          <a:prstGeom prst="roundRect">
            <a:avLst>
              <a:gd name="adj" fmla="val 6015"/>
            </a:avLst>
          </a:prstGeom>
          <a:solidFill>
            <a:srgbClr val="FFFFFF"/>
          </a:solidFill>
          <a:ln w="12700">
            <a:solidFill>
              <a:srgbClr val="EDEBE9"/>
            </a:solidFill>
            <a:prstDash val="solid"/>
          </a:ln>
          <a:effectLst>
            <a:outerShdw sx="100000" sy="100000" kx="0" ky="0" algn="bl" rotWithShape="0" blurRad="38100" dist="25400" dir="5400000">
              <a:srgbClr val="000000">
                <a:alpha val="3000"/>
              </a:srgbClr>
            </a:outerShdw>
          </a:effectLst>
        </p:spPr>
      </p:sp>
      <p:sp>
        <p:nvSpPr>
          <p:cNvPr id="24" name="Shape 19"/>
          <p:cNvSpPr/>
          <p:nvPr/>
        </p:nvSpPr>
        <p:spPr>
          <a:xfrm>
            <a:off x="1057046" y="5605272"/>
            <a:ext cx="457200" cy="457200"/>
          </a:xfrm>
          <a:prstGeom prst="roundRect">
            <a:avLst>
              <a:gd name="adj" fmla="val 33333"/>
            </a:avLst>
          </a:prstGeom>
          <a:solidFill>
            <a:srgbClr val="EFF6FC"/>
          </a:solidFill>
          <a:ln/>
        </p:spPr>
      </p:sp>
      <p:pic>
        <p:nvPicPr>
          <p:cNvPr id="25" name="Image 3" descr="preencoded.png">    </p:cNvPr>
          <p:cNvPicPr>
            <a:picLocks noChangeAspect="1"/>
          </p:cNvPicPr>
          <p:nvPr/>
        </p:nvPicPr>
        <p:blipFill>
          <a:blip r:embed="rId4"/>
          <a:srcRect l="0" r="0" t="0" b="0"/>
          <a:stretch/>
        </p:blipFill>
        <p:spPr>
          <a:xfrm>
            <a:off x="1166774" y="5738774"/>
            <a:ext cx="237744" cy="190195"/>
          </a:xfrm>
          <a:prstGeom prst="rect">
            <a:avLst/>
          </a:prstGeom>
        </p:spPr>
      </p:pic>
      <p:sp>
        <p:nvSpPr>
          <p:cNvPr id="26" name="Text 20"/>
          <p:cNvSpPr txBox="1"/>
          <p:nvPr/>
        </p:nvSpPr>
        <p:spPr>
          <a:xfrm>
            <a:off x="1705356" y="5528462"/>
            <a:ext cx="1176833" cy="200254"/>
          </a:xfrm>
          <a:prstGeom prst="rect">
            <a:avLst/>
          </a:prstGeom>
          <a:noFill/>
          <a:ln/>
        </p:spPr>
        <p:txBody>
          <a:bodyPr wrap="square" lIns="0" tIns="0" rIns="0" bIns="0" rtlCol="0" anchor="ctr"/>
          <a:lstStyle/>
          <a:p>
            <a:pPr algn="l" indent="0" marL="0">
              <a:buNone/>
            </a:pPr>
            <a:r>
              <a:rPr lang="en-US" sz="1300" b="1" dirty="0">
                <a:solidFill>
                  <a:srgbClr val="323130"/>
                </a:solidFill>
                <a:latin typeface="Roboto" pitchFamily="34" charset="0"/>
                <a:ea typeface="Roboto" pitchFamily="34" charset="-122"/>
                <a:cs typeface="Roboto" pitchFamily="34" charset="-120"/>
              </a:rPr>
              <a:t>Configuration</a:t>
            </a:r>
            <a:endParaRPr lang="en-US" sz="1300" dirty="0"/>
          </a:p>
        </p:txBody>
      </p:sp>
      <p:sp>
        <p:nvSpPr>
          <p:cNvPr id="27" name="Text 21"/>
          <p:cNvSpPr txBox="1"/>
          <p:nvPr/>
        </p:nvSpPr>
        <p:spPr>
          <a:xfrm>
            <a:off x="1705356" y="5804611"/>
            <a:ext cx="3682289" cy="342900"/>
          </a:xfrm>
          <a:prstGeom prst="rect">
            <a:avLst/>
          </a:prstGeom>
          <a:noFill/>
          <a:ln/>
        </p:spPr>
        <p:txBody>
          <a:bodyPr wrap="square" lIns="0" tIns="0" rIns="0" bIns="0" rtlCol="0" anchor="ctr"/>
          <a:lstStyle/>
          <a:p>
            <a:pPr algn="l" indent="0" marL="0">
              <a:buNone/>
            </a:pPr>
            <a:r>
              <a:rPr lang="en-US" sz="1000" dirty="0">
                <a:solidFill>
                  <a:srgbClr val="605E5C"/>
                </a:solidFill>
                <a:latin typeface="Roboto" pitchFamily="34" charset="0"/>
                <a:ea typeface="Roboto" pitchFamily="34" charset="-122"/>
                <a:cs typeface="Roboto" pitchFamily="34" charset="-120"/>
              </a:rPr>
              <a:t>Email recipient lists (To/Cc) and distribution schedules must be pre-configured.</a:t>
            </a:r>
            <a:endParaRPr lang="en-US" sz="1000" dirty="0"/>
          </a:p>
        </p:txBody>
      </p:sp>
      <p:sp>
        <p:nvSpPr>
          <p:cNvPr id="28" name="Shape 22"/>
          <p:cNvSpPr/>
          <p:nvPr/>
        </p:nvSpPr>
        <p:spPr>
          <a:xfrm>
            <a:off x="6286500" y="1362456"/>
            <a:ext cx="5333695" cy="5296205"/>
          </a:xfrm>
          <a:prstGeom prst="roundRect">
            <a:avLst>
              <a:gd name="adj" fmla="val 373"/>
            </a:avLst>
          </a:prstGeom>
          <a:solidFill>
            <a:srgbClr val="F8F9FA"/>
          </a:solidFill>
          <a:ln/>
          <a:effectLst>
            <a:outerShdw sx="100000" sy="100000" kx="0" ky="0" algn="bl" rotWithShape="0" blurRad="114300" dist="38100" dir="5400000">
              <a:srgbClr val="000000">
                <a:alpha val="5000"/>
              </a:srgbClr>
            </a:outerShdw>
          </a:effectLst>
        </p:spPr>
      </p:sp>
      <p:sp>
        <p:nvSpPr>
          <p:cNvPr id="29" name="Shape 23"/>
          <p:cNvSpPr/>
          <p:nvPr/>
        </p:nvSpPr>
        <p:spPr>
          <a:xfrm>
            <a:off x="6286500" y="1362456"/>
            <a:ext cx="5333695" cy="57607"/>
          </a:xfrm>
          <a:prstGeom prst="rect">
            <a:avLst/>
          </a:prstGeom>
          <a:solidFill>
            <a:srgbClr val="D83B01"/>
          </a:solidFill>
          <a:ln/>
        </p:spPr>
      </p:sp>
      <p:sp>
        <p:nvSpPr>
          <p:cNvPr id="30" name="Shape 24"/>
          <p:cNvSpPr/>
          <p:nvPr/>
        </p:nvSpPr>
        <p:spPr>
          <a:xfrm>
            <a:off x="6572707" y="2487168"/>
            <a:ext cx="4762195" cy="9144"/>
          </a:xfrm>
          <a:prstGeom prst="rect">
            <a:avLst/>
          </a:prstGeom>
          <a:solidFill>
            <a:srgbClr val="E1DFDD"/>
          </a:solidFill>
          <a:ln/>
        </p:spPr>
      </p:sp>
      <p:sp>
        <p:nvSpPr>
          <p:cNvPr id="31" name="Shape 25"/>
          <p:cNvSpPr/>
          <p:nvPr/>
        </p:nvSpPr>
        <p:spPr>
          <a:xfrm>
            <a:off x="6572707" y="1714500"/>
            <a:ext cx="571500" cy="571500"/>
          </a:xfrm>
          <a:prstGeom prst="ellipse">
            <a:avLst/>
          </a:prstGeom>
          <a:solidFill>
            <a:srgbClr val="D83B01"/>
          </a:solidFill>
          <a:ln/>
        </p:spPr>
      </p:sp>
      <p:pic>
        <p:nvPicPr>
          <p:cNvPr id="32" name="Image 4" descr="preencoded.png">    </p:cNvPr>
          <p:cNvPicPr>
            <a:picLocks noChangeAspect="1"/>
          </p:cNvPicPr>
          <p:nvPr/>
        </p:nvPicPr>
        <p:blipFill>
          <a:blip r:embed="rId5"/>
          <a:srcRect l="-881" r="-881" t="0" b="0"/>
          <a:stretch/>
        </p:blipFill>
        <p:spPr>
          <a:xfrm>
            <a:off x="6739128" y="1867205"/>
            <a:ext cx="237744" cy="267005"/>
          </a:xfrm>
          <a:prstGeom prst="rect">
            <a:avLst/>
          </a:prstGeom>
        </p:spPr>
      </p:pic>
      <p:sp>
        <p:nvSpPr>
          <p:cNvPr id="33" name="Text 26"/>
          <p:cNvSpPr txBox="1"/>
          <p:nvPr/>
        </p:nvSpPr>
        <p:spPr>
          <a:xfrm>
            <a:off x="7286854" y="1742846"/>
            <a:ext cx="924458" cy="267005"/>
          </a:xfrm>
          <a:prstGeom prst="rect">
            <a:avLst/>
          </a:prstGeom>
          <a:noFill/>
          <a:ln/>
        </p:spPr>
        <p:txBody>
          <a:bodyPr wrap="square" lIns="0" tIns="0" rIns="0" bIns="0" rtlCol="0" anchor="ctr"/>
          <a:lstStyle/>
          <a:p>
            <a:pPr algn="l" indent="0" marL="0">
              <a:buNone/>
            </a:pPr>
            <a:r>
              <a:rPr lang="en-US" sz="1800" b="1" dirty="0">
                <a:solidFill>
                  <a:srgbClr val="323130"/>
                </a:solidFill>
                <a:latin typeface="Roboto" pitchFamily="34" charset="0"/>
                <a:ea typeface="Roboto" pitchFamily="34" charset="-122"/>
                <a:cs typeface="Roboto" pitchFamily="34" charset="-120"/>
              </a:rPr>
              <a:t>Trigger</a:t>
            </a:r>
            <a:endParaRPr lang="en-US" sz="1800" dirty="0"/>
          </a:p>
        </p:txBody>
      </p:sp>
      <p:sp>
        <p:nvSpPr>
          <p:cNvPr id="34" name="Text 27"/>
          <p:cNvSpPr txBox="1"/>
          <p:nvPr/>
        </p:nvSpPr>
        <p:spPr>
          <a:xfrm>
            <a:off x="7286854" y="2115007"/>
            <a:ext cx="1709928" cy="152705"/>
          </a:xfrm>
          <a:prstGeom prst="rect">
            <a:avLst/>
          </a:prstGeom>
          <a:noFill/>
          <a:ln/>
        </p:spPr>
        <p:txBody>
          <a:bodyPr wrap="square" lIns="0" tIns="0" rIns="0" bIns="0" rtlCol="0" anchor="ctr"/>
          <a:lstStyle/>
          <a:p>
            <a:pPr algn="l" indent="0" marL="0">
              <a:buNone/>
            </a:pPr>
            <a:r>
              <a:rPr lang="en-US" sz="1000" dirty="0">
                <a:solidFill>
                  <a:srgbClr val="605E5C"/>
                </a:solidFill>
                <a:latin typeface="Roboto" pitchFamily="34" charset="0"/>
                <a:ea typeface="Roboto" pitchFamily="34" charset="-122"/>
                <a:cs typeface="Roboto" pitchFamily="34" charset="-120"/>
              </a:rPr>
              <a:t>Automation Initiation Logic</a:t>
            </a:r>
            <a:endParaRPr lang="en-US" sz="1000" dirty="0"/>
          </a:p>
        </p:txBody>
      </p:sp>
      <p:sp>
        <p:nvSpPr>
          <p:cNvPr id="35" name="Shape 28"/>
          <p:cNvSpPr/>
          <p:nvPr/>
        </p:nvSpPr>
        <p:spPr>
          <a:xfrm>
            <a:off x="6572707" y="2781605"/>
            <a:ext cx="4762195" cy="886054"/>
          </a:xfrm>
          <a:prstGeom prst="roundRect">
            <a:avLst>
              <a:gd name="adj" fmla="val 8877"/>
            </a:avLst>
          </a:prstGeom>
          <a:solidFill>
            <a:srgbClr val="FFFFFF"/>
          </a:solidFill>
          <a:ln w="12700">
            <a:solidFill>
              <a:srgbClr val="EDEBE9"/>
            </a:solidFill>
            <a:prstDash val="solid"/>
          </a:ln>
          <a:effectLst>
            <a:outerShdw sx="100000" sy="100000" kx="0" ky="0" algn="bl" rotWithShape="0" blurRad="38100" dist="25400" dir="5400000">
              <a:srgbClr val="000000">
                <a:alpha val="3000"/>
              </a:srgbClr>
            </a:outerShdw>
          </a:effectLst>
        </p:spPr>
      </p:sp>
      <p:sp>
        <p:nvSpPr>
          <p:cNvPr id="36" name="Shape 29"/>
          <p:cNvSpPr/>
          <p:nvPr/>
        </p:nvSpPr>
        <p:spPr>
          <a:xfrm>
            <a:off x="6772046" y="2993746"/>
            <a:ext cx="457200" cy="457200"/>
          </a:xfrm>
          <a:prstGeom prst="roundRect">
            <a:avLst>
              <a:gd name="adj" fmla="val 33333"/>
            </a:avLst>
          </a:prstGeom>
          <a:solidFill>
            <a:srgbClr val="FDF3F0"/>
          </a:solidFill>
          <a:ln/>
        </p:spPr>
      </p:sp>
      <p:pic>
        <p:nvPicPr>
          <p:cNvPr id="37" name="Image 5" descr="preencoded.png">    </p:cNvPr>
          <p:cNvPicPr>
            <a:picLocks noChangeAspect="1"/>
          </p:cNvPicPr>
          <p:nvPr/>
        </p:nvPicPr>
        <p:blipFill>
          <a:blip r:embed="rId6"/>
          <a:srcRect l="-1648" r="-1648" t="0" b="0"/>
          <a:stretch/>
        </p:blipFill>
        <p:spPr>
          <a:xfrm>
            <a:off x="6915607" y="3127248"/>
            <a:ext cx="171907" cy="190195"/>
          </a:xfrm>
          <a:prstGeom prst="rect">
            <a:avLst/>
          </a:prstGeom>
        </p:spPr>
      </p:pic>
      <p:sp>
        <p:nvSpPr>
          <p:cNvPr id="38" name="Text 30"/>
          <p:cNvSpPr txBox="1"/>
          <p:nvPr/>
        </p:nvSpPr>
        <p:spPr>
          <a:xfrm>
            <a:off x="7420356" y="3010205"/>
            <a:ext cx="1786738" cy="200254"/>
          </a:xfrm>
          <a:prstGeom prst="rect">
            <a:avLst/>
          </a:prstGeom>
          <a:noFill/>
          <a:ln/>
        </p:spPr>
        <p:txBody>
          <a:bodyPr wrap="square" lIns="0" tIns="0" rIns="0" bIns="0" rtlCol="0" anchor="ctr"/>
          <a:lstStyle/>
          <a:p>
            <a:pPr algn="l" indent="0" marL="0">
              <a:buNone/>
            </a:pPr>
            <a:r>
              <a:rPr lang="en-US" sz="1300" b="1" dirty="0">
                <a:solidFill>
                  <a:srgbClr val="323130"/>
                </a:solidFill>
                <a:latin typeface="Roboto" pitchFamily="34" charset="0"/>
                <a:ea typeface="Roboto" pitchFamily="34" charset="-122"/>
                <a:cs typeface="Roboto" pitchFamily="34" charset="-120"/>
              </a:rPr>
              <a:t>Scheduled Frequency</a:t>
            </a:r>
            <a:endParaRPr lang="en-US" sz="1300" dirty="0"/>
          </a:p>
        </p:txBody>
      </p:sp>
      <p:sp>
        <p:nvSpPr>
          <p:cNvPr id="39" name="Text 31"/>
          <p:cNvSpPr txBox="1"/>
          <p:nvPr/>
        </p:nvSpPr>
        <p:spPr>
          <a:xfrm>
            <a:off x="7420356" y="3286354"/>
            <a:ext cx="3320186" cy="152705"/>
          </a:xfrm>
          <a:prstGeom prst="rect">
            <a:avLst/>
          </a:prstGeom>
          <a:noFill/>
          <a:ln/>
        </p:spPr>
        <p:txBody>
          <a:bodyPr wrap="square" lIns="0" tIns="0" rIns="0" bIns="0" rtlCol="0" anchor="ctr"/>
          <a:lstStyle/>
          <a:p>
            <a:pPr algn="l" indent="0" marL="0">
              <a:buNone/>
            </a:pPr>
            <a:r>
              <a:rPr lang="en-US" sz="1000" dirty="0">
                <a:solidFill>
                  <a:srgbClr val="605E5C"/>
                </a:solidFill>
                <a:latin typeface="Roboto" pitchFamily="34" charset="0"/>
                <a:ea typeface="Roboto" pitchFamily="34" charset="-122"/>
                <a:cs typeface="Roboto" pitchFamily="34" charset="-120"/>
              </a:rPr>
              <a:t>Workflow is triggered automatically on a Weekly basis.</a:t>
            </a:r>
            <a:endParaRPr lang="en-US" sz="1000" dirty="0"/>
          </a:p>
        </p:txBody>
      </p:sp>
      <p:sp>
        <p:nvSpPr>
          <p:cNvPr id="40" name="Shape 32"/>
          <p:cNvSpPr/>
          <p:nvPr/>
        </p:nvSpPr>
        <p:spPr>
          <a:xfrm>
            <a:off x="6572707" y="3854196"/>
            <a:ext cx="4762195" cy="886054"/>
          </a:xfrm>
          <a:prstGeom prst="roundRect">
            <a:avLst>
              <a:gd name="adj" fmla="val 8877"/>
            </a:avLst>
          </a:prstGeom>
          <a:solidFill>
            <a:srgbClr val="FFFFFF"/>
          </a:solidFill>
          <a:ln w="12700">
            <a:solidFill>
              <a:srgbClr val="EDEBE9"/>
            </a:solidFill>
            <a:prstDash val="solid"/>
          </a:ln>
          <a:effectLst>
            <a:outerShdw sx="100000" sy="100000" kx="0" ky="0" algn="bl" rotWithShape="0" blurRad="38100" dist="25400" dir="5400000">
              <a:srgbClr val="000000">
                <a:alpha val="3000"/>
              </a:srgbClr>
            </a:outerShdw>
          </a:effectLst>
        </p:spPr>
      </p:sp>
      <p:sp>
        <p:nvSpPr>
          <p:cNvPr id="41" name="Shape 33"/>
          <p:cNvSpPr/>
          <p:nvPr/>
        </p:nvSpPr>
        <p:spPr>
          <a:xfrm>
            <a:off x="6772046" y="4066337"/>
            <a:ext cx="457200" cy="457200"/>
          </a:xfrm>
          <a:prstGeom prst="roundRect">
            <a:avLst>
              <a:gd name="adj" fmla="val 33333"/>
            </a:avLst>
          </a:prstGeom>
          <a:solidFill>
            <a:srgbClr val="FDF3F0"/>
          </a:solidFill>
          <a:ln/>
        </p:spPr>
      </p:sp>
      <p:pic>
        <p:nvPicPr>
          <p:cNvPr id="42" name="Image 6" descr="preencoded.png">    </p:cNvPr>
          <p:cNvPicPr>
            <a:picLocks noChangeAspect="1"/>
          </p:cNvPicPr>
          <p:nvPr/>
        </p:nvPicPr>
        <p:blipFill>
          <a:blip r:embed="rId7"/>
          <a:srcRect l="0" r="0" t="0" b="0"/>
          <a:stretch/>
        </p:blipFill>
        <p:spPr>
          <a:xfrm>
            <a:off x="6905549" y="4199839"/>
            <a:ext cx="190195" cy="190195"/>
          </a:xfrm>
          <a:prstGeom prst="rect">
            <a:avLst/>
          </a:prstGeom>
        </p:spPr>
      </p:pic>
      <p:sp>
        <p:nvSpPr>
          <p:cNvPr id="43" name="Text 34"/>
          <p:cNvSpPr txBox="1"/>
          <p:nvPr/>
        </p:nvSpPr>
        <p:spPr>
          <a:xfrm>
            <a:off x="7420356" y="4082796"/>
            <a:ext cx="1319479" cy="200254"/>
          </a:xfrm>
          <a:prstGeom prst="rect">
            <a:avLst/>
          </a:prstGeom>
          <a:noFill/>
          <a:ln/>
        </p:spPr>
        <p:txBody>
          <a:bodyPr wrap="square" lIns="0" tIns="0" rIns="0" bIns="0" rtlCol="0" anchor="ctr"/>
          <a:lstStyle/>
          <a:p>
            <a:pPr algn="l" indent="0" marL="0">
              <a:buNone/>
            </a:pPr>
            <a:r>
              <a:rPr lang="en-US" sz="1300" b="1" dirty="0">
                <a:solidFill>
                  <a:srgbClr val="323130"/>
                </a:solidFill>
                <a:latin typeface="Roboto" pitchFamily="34" charset="0"/>
                <a:ea typeface="Roboto" pitchFamily="34" charset="-122"/>
                <a:cs typeface="Roboto" pitchFamily="34" charset="-120"/>
              </a:rPr>
              <a:t>Execution Time</a:t>
            </a:r>
            <a:endParaRPr lang="en-US" sz="1300" dirty="0"/>
          </a:p>
        </p:txBody>
      </p:sp>
      <p:sp>
        <p:nvSpPr>
          <p:cNvPr id="44" name="Text 35"/>
          <p:cNvSpPr txBox="1"/>
          <p:nvPr/>
        </p:nvSpPr>
        <p:spPr>
          <a:xfrm>
            <a:off x="7420356" y="4358945"/>
            <a:ext cx="3491179" cy="152705"/>
          </a:xfrm>
          <a:prstGeom prst="rect">
            <a:avLst/>
          </a:prstGeom>
          <a:noFill/>
          <a:ln/>
        </p:spPr>
        <p:txBody>
          <a:bodyPr wrap="square" lIns="0" tIns="0" rIns="0" bIns="0" rtlCol="0" anchor="ctr"/>
          <a:lstStyle/>
          <a:p>
            <a:pPr algn="l" indent="0" marL="0">
              <a:buNone/>
            </a:pPr>
            <a:r>
              <a:rPr lang="en-US" sz="1000" dirty="0">
                <a:solidFill>
                  <a:srgbClr val="605E5C"/>
                </a:solidFill>
                <a:latin typeface="Roboto" pitchFamily="34" charset="0"/>
                <a:ea typeface="Roboto" pitchFamily="34" charset="-122"/>
                <a:cs typeface="Roboto" pitchFamily="34" charset="-120"/>
              </a:rPr>
              <a:t>Default Schedule: Every Monday at 9:00 AM (Local Time).</a:t>
            </a:r>
            <a:endParaRPr lang="en-US" sz="1000" dirty="0"/>
          </a:p>
        </p:txBody>
      </p:sp>
      <p:sp>
        <p:nvSpPr>
          <p:cNvPr id="45" name="Shape 36"/>
          <p:cNvSpPr/>
          <p:nvPr/>
        </p:nvSpPr>
        <p:spPr>
          <a:xfrm>
            <a:off x="6572707" y="4925873"/>
            <a:ext cx="4762195" cy="1076249"/>
          </a:xfrm>
          <a:prstGeom prst="roundRect">
            <a:avLst>
              <a:gd name="adj" fmla="val 6015"/>
            </a:avLst>
          </a:prstGeom>
          <a:solidFill>
            <a:srgbClr val="FFFFFF"/>
          </a:solidFill>
          <a:ln w="12700">
            <a:solidFill>
              <a:srgbClr val="EDEBE9"/>
            </a:solidFill>
            <a:prstDash val="solid"/>
          </a:ln>
          <a:effectLst>
            <a:outerShdw sx="100000" sy="100000" kx="0" ky="0" algn="bl" rotWithShape="0" blurRad="38100" dist="25400" dir="5400000">
              <a:srgbClr val="000000">
                <a:alpha val="3000"/>
              </a:srgbClr>
            </a:outerShdw>
          </a:effectLst>
        </p:spPr>
      </p:sp>
      <p:sp>
        <p:nvSpPr>
          <p:cNvPr id="46" name="Shape 37"/>
          <p:cNvSpPr/>
          <p:nvPr/>
        </p:nvSpPr>
        <p:spPr>
          <a:xfrm>
            <a:off x="6772046" y="5232197"/>
            <a:ext cx="457200" cy="457200"/>
          </a:xfrm>
          <a:prstGeom prst="roundRect">
            <a:avLst>
              <a:gd name="adj" fmla="val 33333"/>
            </a:avLst>
          </a:prstGeom>
          <a:solidFill>
            <a:srgbClr val="FDF3F0"/>
          </a:solidFill>
          <a:ln/>
        </p:spPr>
      </p:sp>
      <p:pic>
        <p:nvPicPr>
          <p:cNvPr id="47" name="Image 7" descr="preencoded.png">    </p:cNvPr>
          <p:cNvPicPr>
            <a:picLocks noChangeAspect="1"/>
          </p:cNvPicPr>
          <p:nvPr/>
        </p:nvPicPr>
        <p:blipFill>
          <a:blip r:embed="rId8"/>
          <a:srcRect l="0" r="0" t="0" b="0"/>
          <a:stretch/>
        </p:blipFill>
        <p:spPr>
          <a:xfrm>
            <a:off x="6905549" y="5365699"/>
            <a:ext cx="190195" cy="190195"/>
          </a:xfrm>
          <a:prstGeom prst="rect">
            <a:avLst/>
          </a:prstGeom>
        </p:spPr>
      </p:pic>
      <p:sp>
        <p:nvSpPr>
          <p:cNvPr id="48" name="Text 38"/>
          <p:cNvSpPr txBox="1"/>
          <p:nvPr/>
        </p:nvSpPr>
        <p:spPr>
          <a:xfrm>
            <a:off x="7420356" y="5154473"/>
            <a:ext cx="890626" cy="200254"/>
          </a:xfrm>
          <a:prstGeom prst="rect">
            <a:avLst/>
          </a:prstGeom>
          <a:noFill/>
          <a:ln/>
        </p:spPr>
        <p:txBody>
          <a:bodyPr wrap="square" lIns="0" tIns="0" rIns="0" bIns="0" rtlCol="0" anchor="ctr"/>
          <a:lstStyle/>
          <a:p>
            <a:pPr algn="l" indent="0" marL="0">
              <a:buNone/>
            </a:pPr>
            <a:r>
              <a:rPr lang="en-US" sz="1300" b="1" dirty="0">
                <a:solidFill>
                  <a:srgbClr val="323130"/>
                </a:solidFill>
                <a:latin typeface="Roboto" pitchFamily="34" charset="0"/>
                <a:ea typeface="Roboto" pitchFamily="34" charset="-122"/>
                <a:cs typeface="Roboto" pitchFamily="34" charset="-120"/>
              </a:rPr>
              <a:t>Reliability</a:t>
            </a:r>
            <a:endParaRPr lang="en-US" sz="1300" dirty="0"/>
          </a:p>
        </p:txBody>
      </p:sp>
      <p:sp>
        <p:nvSpPr>
          <p:cNvPr id="49" name="Text 39"/>
          <p:cNvSpPr txBox="1"/>
          <p:nvPr/>
        </p:nvSpPr>
        <p:spPr>
          <a:xfrm>
            <a:off x="7420356" y="5430622"/>
            <a:ext cx="3405226" cy="342900"/>
          </a:xfrm>
          <a:prstGeom prst="rect">
            <a:avLst/>
          </a:prstGeom>
          <a:noFill/>
          <a:ln/>
        </p:spPr>
        <p:txBody>
          <a:bodyPr wrap="square" lIns="0" tIns="0" rIns="0" bIns="0" rtlCol="0" anchor="ctr"/>
          <a:lstStyle/>
          <a:p>
            <a:pPr algn="l" indent="0" marL="0">
              <a:buNone/>
            </a:pPr>
            <a:r>
              <a:rPr lang="en-US" sz="1000" dirty="0">
                <a:solidFill>
                  <a:srgbClr val="605E5C"/>
                </a:solidFill>
                <a:latin typeface="Roboto" pitchFamily="34" charset="0"/>
                <a:ea typeface="Roboto" pitchFamily="34" charset="-122"/>
                <a:cs typeface="Roboto" pitchFamily="34" charset="-120"/>
              </a:rPr>
              <a:t>System automatically retries if the trigger fails or FDO is momentarily unavailable.</a:t>
            </a:r>
            <a:endParaRPr lang="en-US" sz="1000" dirty="0"/>
          </a:p>
        </p:txBody>
      </p:sp>
      <p:sp>
        <p:nvSpPr>
          <p:cNvPr id="50" name="Shape 40"/>
          <p:cNvSpPr/>
          <p:nvPr/>
        </p:nvSpPr>
        <p:spPr>
          <a:xfrm>
            <a:off x="0" y="7130491"/>
            <a:ext cx="12191695" cy="9144"/>
          </a:xfrm>
          <a:prstGeom prst="rect">
            <a:avLst/>
          </a:prstGeom>
          <a:solidFill>
            <a:srgbClr val="EDEBE9"/>
          </a:solidFill>
          <a:ln/>
        </p:spPr>
      </p:sp>
      <p:sp>
        <p:nvSpPr>
          <p:cNvPr id="51" name="Text 41"/>
          <p:cNvSpPr txBox="1"/>
          <p:nvPr/>
        </p:nvSpPr>
        <p:spPr>
          <a:xfrm>
            <a:off x="8833104" y="7158838"/>
            <a:ext cx="2876702" cy="133502"/>
          </a:xfrm>
          <a:prstGeom prst="rect">
            <a:avLst/>
          </a:prstGeom>
          <a:noFill/>
          <a:ln/>
        </p:spPr>
        <p:txBody>
          <a:bodyPr wrap="square" lIns="0" tIns="0" rIns="0" bIns="0" rtlCol="0" anchor="ctr"/>
          <a:lstStyle/>
          <a:p>
            <a:pPr algn="l" indent="0" marL="0">
              <a:buNone/>
            </a:pPr>
            <a:r>
              <a:rPr lang="en-US" sz="900" dirty="0">
                <a:solidFill>
                  <a:srgbClr val="A19F9D"/>
                </a:solidFill>
                <a:latin typeface="Roboto" pitchFamily="34" charset="0"/>
                <a:ea typeface="Roboto" pitchFamily="34" charset="-122"/>
                <a:cs typeface="Roboto" pitchFamily="34" charset="-120"/>
              </a:rPr>
              <a:t>Confidential | Factory Delivery Orchestrator Automation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0"/>
            <a:ext cx="12191695" cy="75895"/>
          </a:xfrm>
          <a:prstGeom prst="rect">
            <a:avLst/>
          </a:prstGeom>
          <a:solidFill>
            <a:srgbClr val="0078D4"/>
          </a:solidFill>
          <a:ln/>
        </p:spPr>
      </p:sp>
      <p:sp>
        <p:nvSpPr>
          <p:cNvPr id="5" name="Text 3"/>
          <p:cNvSpPr txBox="1"/>
          <p:nvPr/>
        </p:nvSpPr>
        <p:spPr>
          <a:xfrm>
            <a:off x="571500" y="485546"/>
            <a:ext cx="4234586" cy="534010"/>
          </a:xfrm>
          <a:prstGeom prst="rect">
            <a:avLst/>
          </a:prstGeom>
          <a:noFill/>
          <a:ln/>
        </p:spPr>
        <p:txBody>
          <a:bodyPr wrap="square" lIns="0" tIns="0" rIns="0" bIns="0" rtlCol="0" anchor="ctr"/>
          <a:lstStyle/>
          <a:p>
            <a:pPr algn="l" indent="0" marL="0">
              <a:buNone/>
            </a:pPr>
            <a:r>
              <a:rPr lang="en-US" sz="3100" b="1" dirty="0">
                <a:solidFill>
                  <a:srgbClr val="242424"/>
                </a:solidFill>
                <a:latin typeface="Segoe UI" pitchFamily="34" charset="0"/>
                <a:ea typeface="Segoe UI" pitchFamily="34" charset="-122"/>
                <a:cs typeface="Segoe UI" pitchFamily="34" charset="-120"/>
              </a:rPr>
              <a:t>End-to-End Workflow</a:t>
            </a:r>
            <a:endParaRPr lang="en-US" sz="3100" dirty="0"/>
          </a:p>
        </p:txBody>
      </p:sp>
      <p:sp>
        <p:nvSpPr>
          <p:cNvPr id="6" name="Text 4"/>
          <p:cNvSpPr txBox="1"/>
          <p:nvPr/>
        </p:nvSpPr>
        <p:spPr>
          <a:xfrm>
            <a:off x="9139428" y="652882"/>
            <a:ext cx="2600554" cy="200254"/>
          </a:xfrm>
          <a:prstGeom prst="rect">
            <a:avLst/>
          </a:prstGeom>
          <a:noFill/>
          <a:ln/>
        </p:spPr>
        <p:txBody>
          <a:bodyPr wrap="square" lIns="0" tIns="0" rIns="0" bIns="0" rtlCol="0" anchor="ctr"/>
          <a:lstStyle/>
          <a:p>
            <a:pPr algn="l" indent="0" marL="0">
              <a:buNone/>
            </a:pPr>
            <a:r>
              <a:rPr lang="en-US" sz="1200" dirty="0">
                <a:solidFill>
                  <a:srgbClr val="666666"/>
                </a:solidFill>
                <a:latin typeface="Segoe UI" pitchFamily="34" charset="0"/>
                <a:ea typeface="Segoe UI" pitchFamily="34" charset="-122"/>
                <a:cs typeface="Segoe UI" pitchFamily="34" charset="-120"/>
              </a:rPr>
              <a:t>FDO Automation / Process Sequence</a:t>
            </a:r>
            <a:endParaRPr lang="en-US" sz="1200" dirty="0"/>
          </a:p>
        </p:txBody>
      </p:sp>
      <p:sp>
        <p:nvSpPr>
          <p:cNvPr id="7" name="Shape 5"/>
          <p:cNvSpPr/>
          <p:nvPr/>
        </p:nvSpPr>
        <p:spPr>
          <a:xfrm>
            <a:off x="1333195" y="3600907"/>
            <a:ext cx="9525305" cy="38405"/>
          </a:xfrm>
          <a:prstGeom prst="rect">
            <a:avLst/>
          </a:prstGeom>
          <a:solidFill>
            <a:srgbClr val="E1DFDD"/>
          </a:solidFill>
          <a:ln/>
        </p:spPr>
      </p:sp>
      <p:sp>
        <p:nvSpPr>
          <p:cNvPr id="8" name="Shape 6"/>
          <p:cNvSpPr/>
          <p:nvPr/>
        </p:nvSpPr>
        <p:spPr>
          <a:xfrm>
            <a:off x="0" y="6476695"/>
            <a:ext cx="12191695" cy="9144"/>
          </a:xfrm>
          <a:prstGeom prst="rect">
            <a:avLst/>
          </a:prstGeom>
          <a:solidFill>
            <a:srgbClr val="EDEBE9"/>
          </a:solidFill>
          <a:ln/>
        </p:spPr>
      </p:sp>
      <p:sp>
        <p:nvSpPr>
          <p:cNvPr id="9" name="Text 7"/>
          <p:cNvSpPr txBox="1"/>
          <p:nvPr/>
        </p:nvSpPr>
        <p:spPr>
          <a:xfrm>
            <a:off x="8825789" y="6596482"/>
            <a:ext cx="2886761" cy="152705"/>
          </a:xfrm>
          <a:prstGeom prst="rect">
            <a:avLst/>
          </a:prstGeom>
          <a:noFill/>
          <a:ln/>
        </p:spPr>
        <p:txBody>
          <a:bodyPr wrap="square" lIns="0" tIns="0" rIns="0" bIns="0" rtlCol="0" anchor="ctr"/>
          <a:lstStyle/>
          <a:p>
            <a:pPr algn="l" indent="0" marL="0">
              <a:buNone/>
            </a:pPr>
            <a:r>
              <a:rPr lang="en-US" sz="900" dirty="0">
                <a:solidFill>
                  <a:srgbClr val="A19F9D"/>
                </a:solidFill>
                <a:latin typeface="Segoe UI" pitchFamily="34" charset="0"/>
                <a:ea typeface="Segoe UI" pitchFamily="34" charset="-122"/>
                <a:cs typeface="Segoe UI" pitchFamily="34" charset="-120"/>
              </a:rPr>
              <a:t>Confidential | Factory Delivery Orchestrator Automation</a:t>
            </a:r>
            <a:endParaRPr lang="en-US" sz="900" dirty="0"/>
          </a:p>
        </p:txBody>
      </p:sp>
      <p:pic>
        <p:nvPicPr>
          <p:cNvPr id="10" name="Image 0" descr="preencoded.png">    </p:cNvPr>
          <p:cNvPicPr>
            <a:picLocks noChangeAspect="1"/>
          </p:cNvPicPr>
          <p:nvPr/>
        </p:nvPicPr>
        <p:blipFill>
          <a:blip r:embed="rId1"/>
          <a:srcRect l="-1923" r="-1923" t="0" b="0"/>
          <a:stretch/>
        </p:blipFill>
        <p:spPr>
          <a:xfrm>
            <a:off x="2804465" y="3505810"/>
            <a:ext cx="123444" cy="190195"/>
          </a:xfrm>
          <a:prstGeom prst="rect">
            <a:avLst/>
          </a:prstGeom>
        </p:spPr>
      </p:pic>
      <p:pic>
        <p:nvPicPr>
          <p:cNvPr id="11" name="Image 1" descr="preencoded.png">    </p:cNvPr>
          <p:cNvPicPr>
            <a:picLocks noChangeAspect="1"/>
          </p:cNvPicPr>
          <p:nvPr/>
        </p:nvPicPr>
        <p:blipFill>
          <a:blip r:embed="rId2"/>
          <a:srcRect l="-1923" r="-1923" t="0" b="0"/>
          <a:stretch/>
        </p:blipFill>
        <p:spPr>
          <a:xfrm>
            <a:off x="5242255" y="3505810"/>
            <a:ext cx="123444" cy="190195"/>
          </a:xfrm>
          <a:prstGeom prst="rect">
            <a:avLst/>
          </a:prstGeom>
        </p:spPr>
      </p:pic>
      <p:pic>
        <p:nvPicPr>
          <p:cNvPr id="12" name="Image 2" descr="preencoded.png">    </p:cNvPr>
          <p:cNvPicPr>
            <a:picLocks noChangeAspect="1"/>
          </p:cNvPicPr>
          <p:nvPr/>
        </p:nvPicPr>
        <p:blipFill>
          <a:blip r:embed="rId3"/>
          <a:srcRect l="-1923" r="-1923" t="0" b="0"/>
          <a:stretch/>
        </p:blipFill>
        <p:spPr>
          <a:xfrm>
            <a:off x="7680960" y="3505810"/>
            <a:ext cx="123444" cy="190195"/>
          </a:xfrm>
          <a:prstGeom prst="rect">
            <a:avLst/>
          </a:prstGeom>
        </p:spPr>
      </p:pic>
      <p:pic>
        <p:nvPicPr>
          <p:cNvPr id="13" name="Image 3" descr="preencoded.png">    </p:cNvPr>
          <p:cNvPicPr>
            <a:picLocks noChangeAspect="1"/>
          </p:cNvPicPr>
          <p:nvPr/>
        </p:nvPicPr>
        <p:blipFill>
          <a:blip r:embed="rId4"/>
          <a:srcRect l="-1923" r="-1923" t="0" b="0"/>
          <a:stretch/>
        </p:blipFill>
        <p:spPr>
          <a:xfrm>
            <a:off x="10119665" y="3505810"/>
            <a:ext cx="123444" cy="190195"/>
          </a:xfrm>
          <a:prstGeom prst="rect">
            <a:avLst/>
          </a:prstGeom>
        </p:spPr>
      </p:pic>
      <p:sp>
        <p:nvSpPr>
          <p:cNvPr id="14" name="Shape 8"/>
          <p:cNvSpPr/>
          <p:nvPr/>
        </p:nvSpPr>
        <p:spPr>
          <a:xfrm>
            <a:off x="571500" y="3290926"/>
            <a:ext cx="2057400" cy="1714500"/>
          </a:xfrm>
          <a:prstGeom prst="roundRect">
            <a:avLst>
              <a:gd name="adj" fmla="val 2370"/>
            </a:avLst>
          </a:prstGeom>
          <a:solidFill>
            <a:srgbClr val="FFFFFF"/>
          </a:solidFill>
          <a:ln/>
          <a:effectLst>
            <a:outerShdw sx="100000" sy="100000" kx="0" ky="0" algn="bl" rotWithShape="0" blurRad="76200" dist="25400" dir="5400000">
              <a:srgbClr val="000000">
                <a:alpha val="8000"/>
              </a:srgbClr>
            </a:outerShdw>
          </a:effectLst>
        </p:spPr>
      </p:sp>
      <p:sp>
        <p:nvSpPr>
          <p:cNvPr id="15" name="Shape 9"/>
          <p:cNvSpPr/>
          <p:nvPr/>
        </p:nvSpPr>
        <p:spPr>
          <a:xfrm>
            <a:off x="571500" y="3290926"/>
            <a:ext cx="2057400" cy="38405"/>
          </a:xfrm>
          <a:prstGeom prst="rect">
            <a:avLst/>
          </a:prstGeom>
          <a:solidFill>
            <a:srgbClr val="0078D4"/>
          </a:solidFill>
          <a:ln/>
        </p:spPr>
      </p:sp>
      <p:sp>
        <p:nvSpPr>
          <p:cNvPr id="16" name="Text 10"/>
          <p:cNvSpPr txBox="1"/>
          <p:nvPr/>
        </p:nvSpPr>
        <p:spPr>
          <a:xfrm>
            <a:off x="768096" y="3500323"/>
            <a:ext cx="1795882" cy="228600"/>
          </a:xfrm>
          <a:prstGeom prst="rect">
            <a:avLst/>
          </a:prstGeom>
          <a:noFill/>
          <a:ln/>
        </p:spPr>
        <p:txBody>
          <a:bodyPr wrap="square" lIns="0" tIns="0" rIns="0" bIns="0" rtlCol="0" anchor="ctr"/>
          <a:lstStyle/>
          <a:p>
            <a:pPr algn="ctr" indent="0" marL="0">
              <a:buNone/>
            </a:pPr>
            <a:r>
              <a:rPr lang="en-US" sz="1300" b="1" dirty="0">
                <a:solidFill>
                  <a:srgbClr val="323130"/>
                </a:solidFill>
                <a:latin typeface="Segoe UI" pitchFamily="34" charset="0"/>
                <a:ea typeface="Segoe UI" pitchFamily="34" charset="-122"/>
                <a:cs typeface="Segoe UI" pitchFamily="34" charset="-120"/>
              </a:rPr>
              <a:t>Scheduled Execution</a:t>
            </a:r>
            <a:endParaRPr lang="en-US" sz="1300" dirty="0"/>
          </a:p>
        </p:txBody>
      </p:sp>
      <p:sp>
        <p:nvSpPr>
          <p:cNvPr id="17" name="Text 11"/>
          <p:cNvSpPr txBox="1"/>
          <p:nvPr/>
        </p:nvSpPr>
        <p:spPr>
          <a:xfrm>
            <a:off x="751637" y="3829507"/>
            <a:ext cx="1798625" cy="534010"/>
          </a:xfrm>
          <a:prstGeom prst="rect">
            <a:avLst/>
          </a:prstGeom>
          <a:noFill/>
          <a:ln/>
        </p:spPr>
        <p:txBody>
          <a:bodyPr wrap="square" lIns="0" tIns="0" rIns="0" bIns="0" rtlCol="0" anchor="ctr"/>
          <a:lstStyle/>
          <a:p>
            <a:pPr algn="ctr" indent="0" marL="0">
              <a:buNone/>
            </a:pPr>
            <a:r>
              <a:rPr lang="en-US" sz="900" dirty="0">
                <a:solidFill>
                  <a:srgbClr val="605E5C"/>
                </a:solidFill>
                <a:latin typeface="Segoe UI" pitchFamily="34" charset="0"/>
                <a:ea typeface="Segoe UI" pitchFamily="34" charset="-122"/>
                <a:cs typeface="Segoe UI" pitchFamily="34" charset="-120"/>
              </a:rPr>
              <a:t>System triggers the workflow based on the defined weekly schedule (e.g., Mondays 9 AM).</a:t>
            </a:r>
            <a:endParaRPr lang="en-US" sz="900" dirty="0"/>
          </a:p>
        </p:txBody>
      </p:sp>
      <p:sp>
        <p:nvSpPr>
          <p:cNvPr id="18" name="Shape 12"/>
          <p:cNvSpPr/>
          <p:nvPr/>
        </p:nvSpPr>
        <p:spPr>
          <a:xfrm>
            <a:off x="2819095" y="3290926"/>
            <a:ext cx="2057400" cy="1714500"/>
          </a:xfrm>
          <a:prstGeom prst="roundRect">
            <a:avLst>
              <a:gd name="adj" fmla="val 2370"/>
            </a:avLst>
          </a:prstGeom>
          <a:solidFill>
            <a:srgbClr val="FFFFFF"/>
          </a:solidFill>
          <a:ln/>
          <a:effectLst>
            <a:outerShdw sx="100000" sy="100000" kx="0" ky="0" algn="bl" rotWithShape="0" blurRad="76200" dist="25400" dir="5400000">
              <a:srgbClr val="000000">
                <a:alpha val="8000"/>
              </a:srgbClr>
            </a:outerShdw>
          </a:effectLst>
        </p:spPr>
      </p:sp>
      <p:sp>
        <p:nvSpPr>
          <p:cNvPr id="19" name="Shape 13"/>
          <p:cNvSpPr/>
          <p:nvPr/>
        </p:nvSpPr>
        <p:spPr>
          <a:xfrm>
            <a:off x="2819095" y="3290926"/>
            <a:ext cx="2057400" cy="38405"/>
          </a:xfrm>
          <a:prstGeom prst="rect">
            <a:avLst/>
          </a:prstGeom>
          <a:solidFill>
            <a:srgbClr val="005A9E"/>
          </a:solidFill>
          <a:ln/>
        </p:spPr>
      </p:sp>
      <p:sp>
        <p:nvSpPr>
          <p:cNvPr id="20" name="Text 14"/>
          <p:cNvSpPr txBox="1"/>
          <p:nvPr/>
        </p:nvSpPr>
        <p:spPr>
          <a:xfrm>
            <a:off x="3139135" y="3500323"/>
            <a:ext cx="1548079" cy="228600"/>
          </a:xfrm>
          <a:prstGeom prst="rect">
            <a:avLst/>
          </a:prstGeom>
          <a:noFill/>
          <a:ln/>
        </p:spPr>
        <p:txBody>
          <a:bodyPr wrap="square" lIns="0" tIns="0" rIns="0" bIns="0" rtlCol="0" anchor="ctr"/>
          <a:lstStyle/>
          <a:p>
            <a:pPr algn="ctr" indent="0" marL="0">
              <a:buNone/>
            </a:pPr>
            <a:r>
              <a:rPr lang="en-US" sz="1300" b="1" dirty="0">
                <a:solidFill>
                  <a:srgbClr val="323130"/>
                </a:solidFill>
                <a:latin typeface="Segoe UI" pitchFamily="34" charset="0"/>
                <a:ea typeface="Segoe UI" pitchFamily="34" charset="-122"/>
                <a:cs typeface="Segoe UI" pitchFamily="34" charset="-120"/>
              </a:rPr>
              <a:t>Report Extraction</a:t>
            </a:r>
            <a:endParaRPr lang="en-US" sz="1300" dirty="0"/>
          </a:p>
        </p:txBody>
      </p:sp>
      <p:sp>
        <p:nvSpPr>
          <p:cNvPr id="21" name="Text 15"/>
          <p:cNvSpPr txBox="1"/>
          <p:nvPr/>
        </p:nvSpPr>
        <p:spPr>
          <a:xfrm>
            <a:off x="2991917" y="3829507"/>
            <a:ext cx="1807769" cy="534010"/>
          </a:xfrm>
          <a:prstGeom prst="rect">
            <a:avLst/>
          </a:prstGeom>
          <a:noFill/>
          <a:ln/>
        </p:spPr>
        <p:txBody>
          <a:bodyPr wrap="square" lIns="0" tIns="0" rIns="0" bIns="0" rtlCol="0" anchor="ctr"/>
          <a:lstStyle/>
          <a:p>
            <a:pPr algn="ctr" indent="0" marL="0">
              <a:buNone/>
            </a:pPr>
            <a:r>
              <a:rPr lang="en-US" sz="900" dirty="0">
                <a:solidFill>
                  <a:srgbClr val="605E5C"/>
                </a:solidFill>
                <a:latin typeface="Segoe UI" pitchFamily="34" charset="0"/>
                <a:ea typeface="Segoe UI" pitchFamily="34" charset="-122"/>
                <a:cs typeface="Segoe UI" pitchFamily="34" charset="-120"/>
              </a:rPr>
              <a:t>Audit report data is securely pulled from FDO via API for the specified reporting period.</a:t>
            </a:r>
            <a:endParaRPr lang="en-US" sz="900" dirty="0"/>
          </a:p>
        </p:txBody>
      </p:sp>
      <p:sp>
        <p:nvSpPr>
          <p:cNvPr id="22" name="Shape 16"/>
          <p:cNvSpPr/>
          <p:nvPr/>
        </p:nvSpPr>
        <p:spPr>
          <a:xfrm>
            <a:off x="5067605" y="3290926"/>
            <a:ext cx="2057400" cy="1714500"/>
          </a:xfrm>
          <a:prstGeom prst="roundRect">
            <a:avLst>
              <a:gd name="adj" fmla="val 2370"/>
            </a:avLst>
          </a:prstGeom>
          <a:solidFill>
            <a:srgbClr val="FFFFFF"/>
          </a:solidFill>
          <a:ln/>
          <a:effectLst>
            <a:outerShdw sx="100000" sy="100000" kx="0" ky="0" algn="bl" rotWithShape="0" blurRad="76200" dist="25400" dir="5400000">
              <a:srgbClr val="000000">
                <a:alpha val="8000"/>
              </a:srgbClr>
            </a:outerShdw>
          </a:effectLst>
        </p:spPr>
      </p:sp>
      <p:sp>
        <p:nvSpPr>
          <p:cNvPr id="23" name="Shape 17"/>
          <p:cNvSpPr/>
          <p:nvPr/>
        </p:nvSpPr>
        <p:spPr>
          <a:xfrm>
            <a:off x="5067605" y="3290926"/>
            <a:ext cx="2057400" cy="38405"/>
          </a:xfrm>
          <a:prstGeom prst="rect">
            <a:avLst/>
          </a:prstGeom>
          <a:solidFill>
            <a:srgbClr val="0078D4"/>
          </a:solidFill>
          <a:ln/>
        </p:spPr>
      </p:sp>
      <p:sp>
        <p:nvSpPr>
          <p:cNvPr id="24" name="Text 18"/>
          <p:cNvSpPr txBox="1"/>
          <p:nvPr/>
        </p:nvSpPr>
        <p:spPr>
          <a:xfrm>
            <a:off x="5452567" y="3500323"/>
            <a:ext cx="1424635" cy="228600"/>
          </a:xfrm>
          <a:prstGeom prst="rect">
            <a:avLst/>
          </a:prstGeom>
          <a:noFill/>
          <a:ln/>
        </p:spPr>
        <p:txBody>
          <a:bodyPr wrap="square" lIns="0" tIns="0" rIns="0" bIns="0" rtlCol="0" anchor="ctr"/>
          <a:lstStyle/>
          <a:p>
            <a:pPr algn="ctr" indent="0" marL="0">
              <a:buNone/>
            </a:pPr>
            <a:r>
              <a:rPr lang="en-US" sz="1300" b="1" dirty="0">
                <a:solidFill>
                  <a:srgbClr val="323130"/>
                </a:solidFill>
                <a:latin typeface="Segoe UI" pitchFamily="34" charset="0"/>
                <a:ea typeface="Segoe UI" pitchFamily="34" charset="-122"/>
                <a:cs typeface="Segoe UI" pitchFamily="34" charset="-120"/>
              </a:rPr>
              <a:t>Data Processing</a:t>
            </a:r>
            <a:endParaRPr lang="en-US" sz="1300" dirty="0"/>
          </a:p>
        </p:txBody>
      </p:sp>
      <p:sp>
        <p:nvSpPr>
          <p:cNvPr id="25" name="Text 19"/>
          <p:cNvSpPr txBox="1"/>
          <p:nvPr/>
        </p:nvSpPr>
        <p:spPr>
          <a:xfrm>
            <a:off x="5279746" y="3829507"/>
            <a:ext cx="1731874" cy="534010"/>
          </a:xfrm>
          <a:prstGeom prst="rect">
            <a:avLst/>
          </a:prstGeom>
          <a:noFill/>
          <a:ln/>
        </p:spPr>
        <p:txBody>
          <a:bodyPr wrap="square" lIns="0" tIns="0" rIns="0" bIns="0" rtlCol="0" anchor="ctr"/>
          <a:lstStyle/>
          <a:p>
            <a:pPr algn="ctr" indent="0" marL="0">
              <a:buNone/>
            </a:pPr>
            <a:r>
              <a:rPr lang="en-US" sz="900" dirty="0">
                <a:solidFill>
                  <a:srgbClr val="605E5C"/>
                </a:solidFill>
                <a:latin typeface="Segoe UI" pitchFamily="34" charset="0"/>
                <a:ea typeface="Segoe UI" pitchFamily="34" charset="-122"/>
                <a:cs typeface="Segoe UI" pitchFamily="34" charset="-120"/>
              </a:rPr>
              <a:t>Data is validated, formatted, and summarized. Key findings and risks are highlighted.</a:t>
            </a:r>
            <a:endParaRPr lang="en-US" sz="900" dirty="0"/>
          </a:p>
        </p:txBody>
      </p:sp>
      <p:sp>
        <p:nvSpPr>
          <p:cNvPr id="26" name="Shape 20"/>
          <p:cNvSpPr/>
          <p:nvPr/>
        </p:nvSpPr>
        <p:spPr>
          <a:xfrm>
            <a:off x="7315200" y="3290926"/>
            <a:ext cx="2057400" cy="1714500"/>
          </a:xfrm>
          <a:prstGeom prst="roundRect">
            <a:avLst>
              <a:gd name="adj" fmla="val 2370"/>
            </a:avLst>
          </a:prstGeom>
          <a:solidFill>
            <a:srgbClr val="FFFFFF"/>
          </a:solidFill>
          <a:ln/>
          <a:effectLst>
            <a:outerShdw sx="100000" sy="100000" kx="0" ky="0" algn="bl" rotWithShape="0" blurRad="76200" dist="25400" dir="5400000">
              <a:srgbClr val="000000">
                <a:alpha val="8000"/>
              </a:srgbClr>
            </a:outerShdw>
          </a:effectLst>
        </p:spPr>
      </p:sp>
      <p:sp>
        <p:nvSpPr>
          <p:cNvPr id="27" name="Shape 21"/>
          <p:cNvSpPr/>
          <p:nvPr/>
        </p:nvSpPr>
        <p:spPr>
          <a:xfrm>
            <a:off x="7315200" y="3290926"/>
            <a:ext cx="2057400" cy="38405"/>
          </a:xfrm>
          <a:prstGeom prst="rect">
            <a:avLst/>
          </a:prstGeom>
          <a:solidFill>
            <a:srgbClr val="005A9E"/>
          </a:solidFill>
          <a:ln/>
        </p:spPr>
      </p:sp>
      <p:sp>
        <p:nvSpPr>
          <p:cNvPr id="28" name="Text 22"/>
          <p:cNvSpPr txBox="1"/>
          <p:nvPr/>
        </p:nvSpPr>
        <p:spPr>
          <a:xfrm>
            <a:off x="7627925" y="3500323"/>
            <a:ext cx="1567282" cy="228600"/>
          </a:xfrm>
          <a:prstGeom prst="rect">
            <a:avLst/>
          </a:prstGeom>
          <a:noFill/>
          <a:ln/>
        </p:spPr>
        <p:txBody>
          <a:bodyPr wrap="square" lIns="0" tIns="0" rIns="0" bIns="0" rtlCol="0" anchor="ctr"/>
          <a:lstStyle/>
          <a:p>
            <a:pPr algn="ctr" indent="0" marL="0">
              <a:buNone/>
            </a:pPr>
            <a:r>
              <a:rPr lang="en-US" sz="1300" b="1" dirty="0">
                <a:solidFill>
                  <a:srgbClr val="323130"/>
                </a:solidFill>
                <a:latin typeface="Segoe UI" pitchFamily="34" charset="0"/>
                <a:ea typeface="Segoe UI" pitchFamily="34" charset="-122"/>
                <a:cs typeface="Segoe UI" pitchFamily="34" charset="-120"/>
              </a:rPr>
              <a:t>Email Preparation</a:t>
            </a:r>
            <a:endParaRPr lang="en-US" sz="1300" dirty="0"/>
          </a:p>
        </p:txBody>
      </p:sp>
      <p:sp>
        <p:nvSpPr>
          <p:cNvPr id="29" name="Text 23"/>
          <p:cNvSpPr txBox="1"/>
          <p:nvPr/>
        </p:nvSpPr>
        <p:spPr>
          <a:xfrm>
            <a:off x="7607808" y="3829507"/>
            <a:ext cx="1570025" cy="724205"/>
          </a:xfrm>
          <a:prstGeom prst="rect">
            <a:avLst/>
          </a:prstGeom>
          <a:noFill/>
          <a:ln/>
        </p:spPr>
        <p:txBody>
          <a:bodyPr wrap="square" lIns="0" tIns="0" rIns="0" bIns="0" rtlCol="0" anchor="ctr"/>
          <a:lstStyle/>
          <a:p>
            <a:pPr algn="ctr" indent="0" marL="0">
              <a:buNone/>
            </a:pPr>
            <a:r>
              <a:rPr lang="en-US" sz="900" dirty="0">
                <a:solidFill>
                  <a:srgbClr val="605E5C"/>
                </a:solidFill>
                <a:latin typeface="Segoe UI" pitchFamily="34" charset="0"/>
                <a:ea typeface="Segoe UI" pitchFamily="34" charset="-122"/>
                <a:cs typeface="Segoe UI" pitchFamily="34" charset="-120"/>
              </a:rPr>
              <a:t>Email subject and body are auto-generated. PDF/Excel reports are embedded or attached.</a:t>
            </a:r>
            <a:endParaRPr lang="en-US" sz="900" dirty="0"/>
          </a:p>
        </p:txBody>
      </p:sp>
      <p:sp>
        <p:nvSpPr>
          <p:cNvPr id="30" name="Shape 24"/>
          <p:cNvSpPr/>
          <p:nvPr/>
        </p:nvSpPr>
        <p:spPr>
          <a:xfrm>
            <a:off x="9562795" y="3290926"/>
            <a:ext cx="2057400" cy="1714500"/>
          </a:xfrm>
          <a:prstGeom prst="roundRect">
            <a:avLst>
              <a:gd name="adj" fmla="val 2370"/>
            </a:avLst>
          </a:prstGeom>
          <a:solidFill>
            <a:srgbClr val="FFFFFF"/>
          </a:solidFill>
          <a:ln/>
          <a:effectLst>
            <a:outerShdw sx="100000" sy="100000" kx="0" ky="0" algn="bl" rotWithShape="0" blurRad="76200" dist="25400" dir="5400000">
              <a:srgbClr val="000000">
                <a:alpha val="8000"/>
              </a:srgbClr>
            </a:outerShdw>
          </a:effectLst>
        </p:spPr>
      </p:sp>
      <p:sp>
        <p:nvSpPr>
          <p:cNvPr id="31" name="Shape 25"/>
          <p:cNvSpPr/>
          <p:nvPr/>
        </p:nvSpPr>
        <p:spPr>
          <a:xfrm>
            <a:off x="9562795" y="3290926"/>
            <a:ext cx="2057400" cy="38405"/>
          </a:xfrm>
          <a:prstGeom prst="rect">
            <a:avLst/>
          </a:prstGeom>
          <a:solidFill>
            <a:srgbClr val="0078D4"/>
          </a:solidFill>
          <a:ln/>
        </p:spPr>
      </p:sp>
      <p:sp>
        <p:nvSpPr>
          <p:cNvPr id="32" name="Text 26"/>
          <p:cNvSpPr txBox="1"/>
          <p:nvPr/>
        </p:nvSpPr>
        <p:spPr>
          <a:xfrm>
            <a:off x="10106863" y="3500323"/>
            <a:ext cx="1100938" cy="228600"/>
          </a:xfrm>
          <a:prstGeom prst="rect">
            <a:avLst/>
          </a:prstGeom>
          <a:noFill/>
          <a:ln/>
        </p:spPr>
        <p:txBody>
          <a:bodyPr wrap="square" lIns="0" tIns="0" rIns="0" bIns="0" rtlCol="0" anchor="ctr"/>
          <a:lstStyle/>
          <a:p>
            <a:pPr algn="ctr" indent="0" marL="0">
              <a:buNone/>
            </a:pPr>
            <a:r>
              <a:rPr lang="en-US" sz="1300" b="1" dirty="0">
                <a:solidFill>
                  <a:srgbClr val="323130"/>
                </a:solidFill>
                <a:latin typeface="Segoe UI" pitchFamily="34" charset="0"/>
                <a:ea typeface="Segoe UI" pitchFamily="34" charset="-122"/>
                <a:cs typeface="Segoe UI" pitchFamily="34" charset="-120"/>
              </a:rPr>
              <a:t>Distribution</a:t>
            </a:r>
            <a:endParaRPr lang="en-US" sz="1300" dirty="0"/>
          </a:p>
        </p:txBody>
      </p:sp>
      <p:sp>
        <p:nvSpPr>
          <p:cNvPr id="33" name="Text 27"/>
          <p:cNvSpPr txBox="1"/>
          <p:nvPr/>
        </p:nvSpPr>
        <p:spPr>
          <a:xfrm>
            <a:off x="9823399" y="3829507"/>
            <a:ext cx="1636776" cy="534010"/>
          </a:xfrm>
          <a:prstGeom prst="rect">
            <a:avLst/>
          </a:prstGeom>
          <a:noFill/>
          <a:ln/>
        </p:spPr>
        <p:txBody>
          <a:bodyPr wrap="square" lIns="0" tIns="0" rIns="0" bIns="0" rtlCol="0" anchor="ctr"/>
          <a:lstStyle/>
          <a:p>
            <a:pPr algn="ctr" indent="0" marL="0">
              <a:buNone/>
            </a:pPr>
            <a:r>
              <a:rPr lang="en-US" sz="900" dirty="0">
                <a:solidFill>
                  <a:srgbClr val="605E5C"/>
                </a:solidFill>
                <a:latin typeface="Segoe UI" pitchFamily="34" charset="0"/>
                <a:ea typeface="Segoe UI" pitchFamily="34" charset="-122"/>
                <a:cs typeface="Segoe UI" pitchFamily="34" charset="-120"/>
              </a:rPr>
              <a:t>Final email is sent to Project Managers, Audit Teams, and Leadership stakeholders.</a:t>
            </a:r>
            <a:endParaRPr lang="en-US" sz="900" dirty="0"/>
          </a:p>
        </p:txBody>
      </p:sp>
      <p:sp>
        <p:nvSpPr>
          <p:cNvPr id="34" name="Shape 28"/>
          <p:cNvSpPr/>
          <p:nvPr/>
        </p:nvSpPr>
        <p:spPr>
          <a:xfrm>
            <a:off x="1218895" y="2338121"/>
            <a:ext cx="761695" cy="761695"/>
          </a:xfrm>
          <a:prstGeom prst="ellipse">
            <a:avLst/>
          </a:prstGeom>
          <a:solidFill>
            <a:srgbClr val="FFFFFF"/>
          </a:solidFill>
          <a:ln w="50800">
            <a:solidFill>
              <a:srgbClr val="0078D4"/>
            </a:solidFill>
            <a:prstDash val="solid"/>
          </a:ln>
          <a:effectLst>
            <a:outerShdw sx="100000" sy="100000" kx="0" ky="0" algn="bl" rotWithShape="0" blurRad="76200" dist="38100" dir="5400000">
              <a:srgbClr val="000000">
                <a:alpha val="10000"/>
              </a:srgbClr>
            </a:outerShdw>
          </a:effectLst>
        </p:spPr>
      </p:sp>
      <p:pic>
        <p:nvPicPr>
          <p:cNvPr id="35" name="Image 4" descr="preencoded.png">    </p:cNvPr>
          <p:cNvPicPr>
            <a:picLocks noChangeAspect="1"/>
          </p:cNvPicPr>
          <p:nvPr/>
        </p:nvPicPr>
        <p:blipFill>
          <a:blip r:embed="rId5"/>
          <a:srcRect l="0" r="0" t="0" b="0"/>
          <a:stretch/>
        </p:blipFill>
        <p:spPr>
          <a:xfrm>
            <a:off x="1447495" y="2566721"/>
            <a:ext cx="304495" cy="304495"/>
          </a:xfrm>
          <a:prstGeom prst="rect">
            <a:avLst/>
          </a:prstGeom>
        </p:spPr>
      </p:pic>
      <p:sp>
        <p:nvSpPr>
          <p:cNvPr id="36" name="Shape 29"/>
          <p:cNvSpPr/>
          <p:nvPr/>
        </p:nvSpPr>
        <p:spPr>
          <a:xfrm>
            <a:off x="1723644" y="2328977"/>
            <a:ext cx="267005" cy="267005"/>
          </a:xfrm>
          <a:prstGeom prst="ellipse">
            <a:avLst/>
          </a:prstGeom>
          <a:solidFill>
            <a:srgbClr val="0078D4"/>
          </a:solidFill>
          <a:ln w="25400">
            <a:solidFill>
              <a:srgbClr val="FFFFFF"/>
            </a:solidFill>
            <a:prstDash val="solid"/>
          </a:ln>
        </p:spPr>
      </p:sp>
      <p:sp>
        <p:nvSpPr>
          <p:cNvPr id="37" name="Text 30"/>
          <p:cNvSpPr txBox="1"/>
          <p:nvPr/>
        </p:nvSpPr>
        <p:spPr>
          <a:xfrm>
            <a:off x="1818742" y="2361895"/>
            <a:ext cx="186538" cy="200254"/>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1</a:t>
            </a:r>
            <a:endParaRPr lang="en-US" sz="1000" dirty="0"/>
          </a:p>
        </p:txBody>
      </p:sp>
      <p:sp>
        <p:nvSpPr>
          <p:cNvPr id="38" name="Shape 31"/>
          <p:cNvSpPr/>
          <p:nvPr/>
        </p:nvSpPr>
        <p:spPr>
          <a:xfrm>
            <a:off x="3467405" y="2338121"/>
            <a:ext cx="761695" cy="761695"/>
          </a:xfrm>
          <a:prstGeom prst="ellipse">
            <a:avLst/>
          </a:prstGeom>
          <a:solidFill>
            <a:srgbClr val="FFFFFF"/>
          </a:solidFill>
          <a:ln w="50800">
            <a:solidFill>
              <a:srgbClr val="005A9E"/>
            </a:solidFill>
            <a:prstDash val="solid"/>
          </a:ln>
          <a:effectLst>
            <a:outerShdw sx="100000" sy="100000" kx="0" ky="0" algn="bl" rotWithShape="0" blurRad="76200" dist="38100" dir="5400000">
              <a:srgbClr val="000000">
                <a:alpha val="10000"/>
              </a:srgbClr>
            </a:outerShdw>
          </a:effectLst>
        </p:spPr>
      </p:sp>
      <p:pic>
        <p:nvPicPr>
          <p:cNvPr id="39" name="Image 5" descr="preencoded.png">    </p:cNvPr>
          <p:cNvPicPr>
            <a:picLocks noChangeAspect="1"/>
          </p:cNvPicPr>
          <p:nvPr/>
        </p:nvPicPr>
        <p:blipFill>
          <a:blip r:embed="rId6"/>
          <a:srcRect l="-50" r="-50" t="0" b="0"/>
          <a:stretch/>
        </p:blipFill>
        <p:spPr>
          <a:xfrm>
            <a:off x="3676802" y="2566721"/>
            <a:ext cx="342900" cy="304495"/>
          </a:xfrm>
          <a:prstGeom prst="rect">
            <a:avLst/>
          </a:prstGeom>
        </p:spPr>
      </p:pic>
      <p:sp>
        <p:nvSpPr>
          <p:cNvPr id="40" name="Shape 32"/>
          <p:cNvSpPr/>
          <p:nvPr/>
        </p:nvSpPr>
        <p:spPr>
          <a:xfrm>
            <a:off x="3972154" y="2328977"/>
            <a:ext cx="267005" cy="267005"/>
          </a:xfrm>
          <a:prstGeom prst="ellipse">
            <a:avLst/>
          </a:prstGeom>
          <a:solidFill>
            <a:srgbClr val="005A9E"/>
          </a:solidFill>
          <a:ln w="25400">
            <a:solidFill>
              <a:srgbClr val="FFFFFF"/>
            </a:solidFill>
            <a:prstDash val="solid"/>
          </a:ln>
        </p:spPr>
      </p:sp>
      <p:sp>
        <p:nvSpPr>
          <p:cNvPr id="41" name="Text 33"/>
          <p:cNvSpPr txBox="1"/>
          <p:nvPr/>
        </p:nvSpPr>
        <p:spPr>
          <a:xfrm>
            <a:off x="4067251" y="2361895"/>
            <a:ext cx="186538" cy="200254"/>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2</a:t>
            </a:r>
            <a:endParaRPr lang="en-US" sz="1000" dirty="0"/>
          </a:p>
        </p:txBody>
      </p:sp>
      <p:sp>
        <p:nvSpPr>
          <p:cNvPr id="42" name="Shape 34"/>
          <p:cNvSpPr/>
          <p:nvPr/>
        </p:nvSpPr>
        <p:spPr>
          <a:xfrm>
            <a:off x="5715000" y="2338121"/>
            <a:ext cx="761695" cy="761695"/>
          </a:xfrm>
          <a:prstGeom prst="ellipse">
            <a:avLst/>
          </a:prstGeom>
          <a:solidFill>
            <a:srgbClr val="FFFFFF"/>
          </a:solidFill>
          <a:ln w="50800">
            <a:solidFill>
              <a:srgbClr val="0078D4"/>
            </a:solidFill>
            <a:prstDash val="solid"/>
          </a:ln>
          <a:effectLst>
            <a:outerShdw sx="100000" sy="100000" kx="0" ky="0" algn="bl" rotWithShape="0" blurRad="76200" dist="38100" dir="5400000">
              <a:srgbClr val="000000">
                <a:alpha val="10000"/>
              </a:srgbClr>
            </a:outerShdw>
          </a:effectLst>
        </p:spPr>
      </p:sp>
      <p:pic>
        <p:nvPicPr>
          <p:cNvPr id="43" name="Image 6" descr="preencoded.png">    </p:cNvPr>
          <p:cNvPicPr>
            <a:picLocks noChangeAspect="1"/>
          </p:cNvPicPr>
          <p:nvPr/>
        </p:nvPicPr>
        <p:blipFill>
          <a:blip r:embed="rId7"/>
          <a:srcRect l="-90" r="-90" t="0" b="0"/>
          <a:stretch/>
        </p:blipFill>
        <p:spPr>
          <a:xfrm>
            <a:off x="5905195" y="2566721"/>
            <a:ext cx="381305" cy="304495"/>
          </a:xfrm>
          <a:prstGeom prst="rect">
            <a:avLst/>
          </a:prstGeom>
        </p:spPr>
      </p:pic>
      <p:sp>
        <p:nvSpPr>
          <p:cNvPr id="44" name="Shape 35"/>
          <p:cNvSpPr/>
          <p:nvPr/>
        </p:nvSpPr>
        <p:spPr>
          <a:xfrm>
            <a:off x="6219749" y="2328977"/>
            <a:ext cx="267005" cy="267005"/>
          </a:xfrm>
          <a:prstGeom prst="ellipse">
            <a:avLst/>
          </a:prstGeom>
          <a:solidFill>
            <a:srgbClr val="0078D4"/>
          </a:solidFill>
          <a:ln w="25400">
            <a:solidFill>
              <a:srgbClr val="FFFFFF"/>
            </a:solidFill>
            <a:prstDash val="solid"/>
          </a:ln>
        </p:spPr>
      </p:sp>
      <p:sp>
        <p:nvSpPr>
          <p:cNvPr id="45" name="Text 36"/>
          <p:cNvSpPr txBox="1"/>
          <p:nvPr/>
        </p:nvSpPr>
        <p:spPr>
          <a:xfrm>
            <a:off x="6314846" y="2361895"/>
            <a:ext cx="186538" cy="200254"/>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3</a:t>
            </a:r>
            <a:endParaRPr lang="en-US" sz="1000" dirty="0"/>
          </a:p>
        </p:txBody>
      </p:sp>
      <p:sp>
        <p:nvSpPr>
          <p:cNvPr id="46" name="Shape 37"/>
          <p:cNvSpPr/>
          <p:nvPr/>
        </p:nvSpPr>
        <p:spPr>
          <a:xfrm>
            <a:off x="7962595" y="2338121"/>
            <a:ext cx="761695" cy="761695"/>
          </a:xfrm>
          <a:prstGeom prst="ellipse">
            <a:avLst/>
          </a:prstGeom>
          <a:solidFill>
            <a:srgbClr val="FFFFFF"/>
          </a:solidFill>
          <a:ln w="50800">
            <a:solidFill>
              <a:srgbClr val="005A9E"/>
            </a:solidFill>
            <a:prstDash val="solid"/>
          </a:ln>
          <a:effectLst>
            <a:outerShdw sx="100000" sy="100000" kx="0" ky="0" algn="bl" rotWithShape="0" blurRad="76200" dist="38100" dir="5400000">
              <a:srgbClr val="000000">
                <a:alpha val="10000"/>
              </a:srgbClr>
            </a:outerShdw>
          </a:effectLst>
        </p:spPr>
      </p:sp>
      <p:pic>
        <p:nvPicPr>
          <p:cNvPr id="47" name="Image 7" descr="preencoded.png">    </p:cNvPr>
          <p:cNvPicPr>
            <a:picLocks noChangeAspect="1"/>
          </p:cNvPicPr>
          <p:nvPr/>
        </p:nvPicPr>
        <p:blipFill>
          <a:blip r:embed="rId8"/>
          <a:srcRect l="0" r="0" t="0" b="0"/>
          <a:stretch/>
        </p:blipFill>
        <p:spPr>
          <a:xfrm>
            <a:off x="8191195" y="2566721"/>
            <a:ext cx="304495" cy="304495"/>
          </a:xfrm>
          <a:prstGeom prst="rect">
            <a:avLst/>
          </a:prstGeom>
        </p:spPr>
      </p:pic>
      <p:sp>
        <p:nvSpPr>
          <p:cNvPr id="48" name="Shape 38"/>
          <p:cNvSpPr/>
          <p:nvPr/>
        </p:nvSpPr>
        <p:spPr>
          <a:xfrm>
            <a:off x="8467344" y="2328977"/>
            <a:ext cx="267005" cy="267005"/>
          </a:xfrm>
          <a:prstGeom prst="ellipse">
            <a:avLst/>
          </a:prstGeom>
          <a:solidFill>
            <a:srgbClr val="005A9E"/>
          </a:solidFill>
          <a:ln w="25400">
            <a:solidFill>
              <a:srgbClr val="FFFFFF"/>
            </a:solidFill>
            <a:prstDash val="solid"/>
          </a:ln>
        </p:spPr>
      </p:sp>
      <p:sp>
        <p:nvSpPr>
          <p:cNvPr id="49" name="Text 39"/>
          <p:cNvSpPr txBox="1"/>
          <p:nvPr/>
        </p:nvSpPr>
        <p:spPr>
          <a:xfrm>
            <a:off x="8562442" y="2361895"/>
            <a:ext cx="186538" cy="200254"/>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4</a:t>
            </a:r>
            <a:endParaRPr lang="en-US" sz="1000" dirty="0"/>
          </a:p>
        </p:txBody>
      </p:sp>
      <p:sp>
        <p:nvSpPr>
          <p:cNvPr id="50" name="Shape 40"/>
          <p:cNvSpPr/>
          <p:nvPr/>
        </p:nvSpPr>
        <p:spPr>
          <a:xfrm>
            <a:off x="10211105" y="2338121"/>
            <a:ext cx="761695" cy="761695"/>
          </a:xfrm>
          <a:prstGeom prst="ellipse">
            <a:avLst/>
          </a:prstGeom>
          <a:solidFill>
            <a:srgbClr val="FFFFFF"/>
          </a:solidFill>
          <a:ln w="50800">
            <a:solidFill>
              <a:srgbClr val="0078D4"/>
            </a:solidFill>
            <a:prstDash val="solid"/>
          </a:ln>
          <a:effectLst>
            <a:outerShdw sx="100000" sy="100000" kx="0" ky="0" algn="bl" rotWithShape="0" blurRad="76200" dist="38100" dir="5400000">
              <a:srgbClr val="000000">
                <a:alpha val="10000"/>
              </a:srgbClr>
            </a:outerShdw>
          </a:effectLst>
        </p:spPr>
      </p:sp>
      <p:pic>
        <p:nvPicPr>
          <p:cNvPr id="51" name="Image 8" descr="preencoded.png">    </p:cNvPr>
          <p:cNvPicPr>
            <a:picLocks noChangeAspect="1"/>
          </p:cNvPicPr>
          <p:nvPr/>
        </p:nvPicPr>
        <p:blipFill>
          <a:blip r:embed="rId9"/>
          <a:srcRect l="-50" r="-50" t="0" b="0"/>
          <a:stretch/>
        </p:blipFill>
        <p:spPr>
          <a:xfrm>
            <a:off x="10420502" y="2566721"/>
            <a:ext cx="342900" cy="304495"/>
          </a:xfrm>
          <a:prstGeom prst="rect">
            <a:avLst/>
          </a:prstGeom>
        </p:spPr>
      </p:pic>
      <p:sp>
        <p:nvSpPr>
          <p:cNvPr id="52" name="Shape 41"/>
          <p:cNvSpPr/>
          <p:nvPr/>
        </p:nvSpPr>
        <p:spPr>
          <a:xfrm>
            <a:off x="10715854" y="2328977"/>
            <a:ext cx="267005" cy="267005"/>
          </a:xfrm>
          <a:prstGeom prst="ellipse">
            <a:avLst/>
          </a:prstGeom>
          <a:solidFill>
            <a:srgbClr val="0078D4"/>
          </a:solidFill>
          <a:ln w="25400">
            <a:solidFill>
              <a:srgbClr val="FFFFFF"/>
            </a:solidFill>
            <a:prstDash val="solid"/>
          </a:ln>
        </p:spPr>
      </p:sp>
      <p:sp>
        <p:nvSpPr>
          <p:cNvPr id="53" name="Text 42"/>
          <p:cNvSpPr txBox="1"/>
          <p:nvPr/>
        </p:nvSpPr>
        <p:spPr>
          <a:xfrm>
            <a:off x="10810951" y="2361895"/>
            <a:ext cx="186538" cy="200254"/>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FFFFF"/>
          </a:solidFill>
          <a:ln/>
        </p:spPr>
      </p:sp>
      <p:sp>
        <p:nvSpPr>
          <p:cNvPr id="4" name="Text 2"/>
          <p:cNvSpPr txBox="1"/>
          <p:nvPr/>
        </p:nvSpPr>
        <p:spPr>
          <a:xfrm>
            <a:off x="571500" y="409651"/>
            <a:ext cx="8149133" cy="534010"/>
          </a:xfrm>
          <a:prstGeom prst="rect">
            <a:avLst/>
          </a:prstGeom>
          <a:noFill/>
          <a:ln/>
        </p:spPr>
        <p:txBody>
          <a:bodyPr wrap="square" lIns="0" tIns="0" rIns="0" bIns="0" rtlCol="0" anchor="ctr"/>
          <a:lstStyle/>
          <a:p>
            <a:pPr algn="l" indent="0" marL="0">
              <a:buNone/>
            </a:pPr>
            <a:r>
              <a:rPr lang="en-US" sz="3100" b="1" dirty="0">
                <a:solidFill>
                  <a:srgbClr val="242424"/>
                </a:solidFill>
                <a:latin typeface="Segoe UI" pitchFamily="34" charset="0"/>
                <a:ea typeface="Segoe UI" pitchFamily="34" charset="-122"/>
                <a:cs typeface="Segoe UI" pitchFamily="34" charset="-120"/>
              </a:rPr>
              <a:t>Functional &amp; Non-Functional Requirements</a:t>
            </a:r>
            <a:endParaRPr lang="en-US" sz="3100" dirty="0"/>
          </a:p>
        </p:txBody>
      </p:sp>
      <p:sp>
        <p:nvSpPr>
          <p:cNvPr id="5" name="Text 3"/>
          <p:cNvSpPr txBox="1"/>
          <p:nvPr/>
        </p:nvSpPr>
        <p:spPr>
          <a:xfrm>
            <a:off x="8903513" y="576072"/>
            <a:ext cx="2839212" cy="200254"/>
          </a:xfrm>
          <a:prstGeom prst="rect">
            <a:avLst/>
          </a:prstGeom>
          <a:noFill/>
          <a:ln/>
        </p:spPr>
        <p:txBody>
          <a:bodyPr wrap="square" lIns="0" tIns="0" rIns="0" bIns="0" rtlCol="0" anchor="ctr"/>
          <a:lstStyle/>
          <a:p>
            <a:pPr algn="l" indent="0" marL="0">
              <a:buNone/>
            </a:pPr>
            <a:r>
              <a:rPr lang="en-US" sz="1200" dirty="0">
                <a:solidFill>
                  <a:srgbClr val="666666"/>
                </a:solidFill>
                <a:latin typeface="Segoe UI" pitchFamily="34" charset="0"/>
                <a:ea typeface="Segoe UI" pitchFamily="34" charset="-122"/>
                <a:cs typeface="Segoe UI" pitchFamily="34" charset="-120"/>
              </a:rPr>
              <a:t>FDO Automation / System Specifications</a:t>
            </a:r>
            <a:endParaRPr lang="en-US" sz="1200" dirty="0"/>
          </a:p>
        </p:txBody>
      </p:sp>
      <p:sp>
        <p:nvSpPr>
          <p:cNvPr id="6" name="Shape 4"/>
          <p:cNvSpPr/>
          <p:nvPr/>
        </p:nvSpPr>
        <p:spPr>
          <a:xfrm>
            <a:off x="571500" y="1362456"/>
            <a:ext cx="5333695" cy="5934456"/>
          </a:xfrm>
          <a:prstGeom prst="roundRect">
            <a:avLst>
              <a:gd name="adj" fmla="val 245"/>
            </a:avLst>
          </a:prstGeom>
          <a:solidFill>
            <a:srgbClr val="FFFFFF"/>
          </a:solidFill>
          <a:ln w="12700">
            <a:solidFill>
              <a:srgbClr val="E1DFDD"/>
            </a:solidFill>
            <a:prstDash val="solid"/>
          </a:ln>
        </p:spPr>
      </p:sp>
      <p:sp>
        <p:nvSpPr>
          <p:cNvPr id="7" name="Shape 5"/>
          <p:cNvSpPr/>
          <p:nvPr/>
        </p:nvSpPr>
        <p:spPr>
          <a:xfrm>
            <a:off x="580644" y="1371600"/>
            <a:ext cx="5315407" cy="809244"/>
          </a:xfrm>
          <a:prstGeom prst="rect">
            <a:avLst/>
          </a:prstGeom>
          <a:solidFill>
            <a:srgbClr val="EFF6FC"/>
          </a:solidFill>
          <a:ln w="12700">
            <a:solidFill>
              <a:srgbClr val="EDEBE9"/>
            </a:solidFill>
            <a:prstDash val="solid"/>
          </a:ln>
        </p:spPr>
      </p:sp>
      <p:pic>
        <p:nvPicPr>
          <p:cNvPr id="8" name="Image 0" descr="preencoded.png">    </p:cNvPr>
          <p:cNvPicPr>
            <a:picLocks noChangeAspect="1"/>
          </p:cNvPicPr>
          <p:nvPr/>
        </p:nvPicPr>
        <p:blipFill>
          <a:blip r:embed="rId1"/>
          <a:srcRect l="-80" r="-80" t="0" b="0"/>
          <a:stretch/>
        </p:blipFill>
        <p:spPr>
          <a:xfrm>
            <a:off x="923544" y="1657807"/>
            <a:ext cx="286207" cy="228600"/>
          </a:xfrm>
          <a:prstGeom prst="rect">
            <a:avLst/>
          </a:prstGeom>
        </p:spPr>
      </p:pic>
      <p:sp>
        <p:nvSpPr>
          <p:cNvPr id="9" name="Text 6"/>
          <p:cNvSpPr txBox="1"/>
          <p:nvPr/>
        </p:nvSpPr>
        <p:spPr>
          <a:xfrm>
            <a:off x="1362456" y="1619402"/>
            <a:ext cx="2753258" cy="305410"/>
          </a:xfrm>
          <a:prstGeom prst="rect">
            <a:avLst/>
          </a:prstGeom>
          <a:noFill/>
          <a:ln/>
        </p:spPr>
        <p:txBody>
          <a:bodyPr wrap="square" lIns="0" tIns="0" rIns="0" bIns="0" rtlCol="0" anchor="ctr"/>
          <a:lstStyle/>
          <a:p>
            <a:pPr algn="l" indent="0" marL="0">
              <a:buNone/>
            </a:pPr>
            <a:r>
              <a:rPr lang="en-US" sz="1800" b="1" dirty="0">
                <a:solidFill>
                  <a:srgbClr val="323130"/>
                </a:solidFill>
                <a:latin typeface="Segoe UI" pitchFamily="34" charset="0"/>
                <a:ea typeface="Segoe UI" pitchFamily="34" charset="-122"/>
                <a:cs typeface="Segoe UI" pitchFamily="34" charset="-120"/>
              </a:rPr>
              <a:t>Functional Requirements</a:t>
            </a:r>
            <a:endParaRPr lang="en-US" sz="1800" dirty="0"/>
          </a:p>
        </p:txBody>
      </p:sp>
      <p:pic>
        <p:nvPicPr>
          <p:cNvPr id="10" name="Image 1" descr="preencoded.png">    </p:cNvPr>
          <p:cNvPicPr>
            <a:picLocks noChangeAspect="1"/>
          </p:cNvPicPr>
          <p:nvPr/>
        </p:nvPicPr>
        <p:blipFill>
          <a:blip r:embed="rId2"/>
          <a:srcRect l="-2571" r="-2571" t="0" b="0"/>
          <a:stretch/>
        </p:blipFill>
        <p:spPr>
          <a:xfrm>
            <a:off x="929030" y="2542946"/>
            <a:ext cx="105156" cy="114300"/>
          </a:xfrm>
          <a:prstGeom prst="rect">
            <a:avLst/>
          </a:prstGeom>
        </p:spPr>
      </p:pic>
      <p:sp>
        <p:nvSpPr>
          <p:cNvPr id="11" name="Text 7"/>
          <p:cNvSpPr txBox="1"/>
          <p:nvPr/>
        </p:nvSpPr>
        <p:spPr>
          <a:xfrm>
            <a:off x="1248156" y="2476195"/>
            <a:ext cx="1767535" cy="228600"/>
          </a:xfrm>
          <a:prstGeom prst="rect">
            <a:avLst/>
          </a:prstGeom>
          <a:noFill/>
          <a:ln/>
        </p:spPr>
        <p:txBody>
          <a:bodyPr wrap="square" lIns="0" tIns="0" rIns="0" bIns="0" rtlCol="0" anchor="ctr"/>
          <a:lstStyle/>
          <a:p>
            <a:pPr algn="l" indent="0" marL="0">
              <a:buNone/>
            </a:pPr>
            <a:r>
              <a:rPr lang="en-US" sz="1300" b="1" dirty="0">
                <a:solidFill>
                  <a:srgbClr val="323130"/>
                </a:solidFill>
                <a:latin typeface="Segoe UI" pitchFamily="34" charset="0"/>
                <a:ea typeface="Segoe UI" pitchFamily="34" charset="-122"/>
                <a:cs typeface="Segoe UI" pitchFamily="34" charset="-120"/>
              </a:rPr>
              <a:t>Scheduled Extraction</a:t>
            </a:r>
            <a:endParaRPr lang="en-US" sz="1300" dirty="0"/>
          </a:p>
        </p:txBody>
      </p:sp>
      <p:sp>
        <p:nvSpPr>
          <p:cNvPr id="12" name="Text 8"/>
          <p:cNvSpPr txBox="1"/>
          <p:nvPr/>
        </p:nvSpPr>
        <p:spPr>
          <a:xfrm>
            <a:off x="1248156" y="2771546"/>
            <a:ext cx="4384548" cy="409651"/>
          </a:xfrm>
          <a:prstGeom prst="rect">
            <a:avLst/>
          </a:prstGeom>
          <a:noFill/>
          <a:ln/>
        </p:spPr>
        <p:txBody>
          <a:bodyPr wrap="square" lIns="0" tIns="0" rIns="0" bIns="0" rtlCol="0" anchor="ctr"/>
          <a:lstStyle/>
          <a:p>
            <a:pPr algn="l" indent="0" marL="0">
              <a:buNone/>
            </a:pPr>
            <a:r>
              <a:rPr lang="en-US" sz="1100" dirty="0">
                <a:solidFill>
                  <a:srgbClr val="605E5C"/>
                </a:solidFill>
                <a:latin typeface="Segoe UI" pitchFamily="34" charset="0"/>
                <a:ea typeface="Segoe UI" pitchFamily="34" charset="-122"/>
                <a:cs typeface="Segoe UI" pitchFamily="34" charset="-120"/>
              </a:rPr>
              <a:t>System must automatically query and pull audit data from FDO APIs on a configurable weekly schedule.</a:t>
            </a:r>
            <a:endParaRPr lang="en-US" sz="1100" dirty="0"/>
          </a:p>
        </p:txBody>
      </p:sp>
      <p:pic>
        <p:nvPicPr>
          <p:cNvPr id="13" name="Image 2" descr="preencoded.png">    </p:cNvPr>
          <p:cNvPicPr>
            <a:picLocks noChangeAspect="1"/>
          </p:cNvPicPr>
          <p:nvPr/>
        </p:nvPicPr>
        <p:blipFill>
          <a:blip r:embed="rId3"/>
          <a:srcRect l="-2571" r="-2571" t="0" b="0"/>
          <a:stretch/>
        </p:blipFill>
        <p:spPr>
          <a:xfrm>
            <a:off x="929030" y="3495751"/>
            <a:ext cx="105156" cy="114300"/>
          </a:xfrm>
          <a:prstGeom prst="rect">
            <a:avLst/>
          </a:prstGeom>
        </p:spPr>
      </p:pic>
      <p:sp>
        <p:nvSpPr>
          <p:cNvPr id="14" name="Text 9"/>
          <p:cNvSpPr txBox="1"/>
          <p:nvPr/>
        </p:nvSpPr>
        <p:spPr>
          <a:xfrm>
            <a:off x="1248156" y="3429000"/>
            <a:ext cx="1729130" cy="228600"/>
          </a:xfrm>
          <a:prstGeom prst="rect">
            <a:avLst/>
          </a:prstGeom>
          <a:noFill/>
          <a:ln/>
        </p:spPr>
        <p:txBody>
          <a:bodyPr wrap="square" lIns="0" tIns="0" rIns="0" bIns="0" rtlCol="0" anchor="ctr"/>
          <a:lstStyle/>
          <a:p>
            <a:pPr algn="l" indent="0" marL="0">
              <a:buNone/>
            </a:pPr>
            <a:r>
              <a:rPr lang="en-US" sz="1300" b="1" dirty="0">
                <a:solidFill>
                  <a:srgbClr val="323130"/>
                </a:solidFill>
                <a:latin typeface="Segoe UI" pitchFamily="34" charset="0"/>
                <a:ea typeface="Segoe UI" pitchFamily="34" charset="-122"/>
                <a:cs typeface="Segoe UI" pitchFamily="34" charset="-120"/>
              </a:rPr>
              <a:t>Data Transformation</a:t>
            </a:r>
            <a:endParaRPr lang="en-US" sz="1300" dirty="0"/>
          </a:p>
        </p:txBody>
      </p:sp>
      <p:sp>
        <p:nvSpPr>
          <p:cNvPr id="15" name="Text 10"/>
          <p:cNvSpPr txBox="1"/>
          <p:nvPr/>
        </p:nvSpPr>
        <p:spPr>
          <a:xfrm>
            <a:off x="1248156" y="3724351"/>
            <a:ext cx="3994099" cy="409651"/>
          </a:xfrm>
          <a:prstGeom prst="rect">
            <a:avLst/>
          </a:prstGeom>
          <a:noFill/>
          <a:ln/>
        </p:spPr>
        <p:txBody>
          <a:bodyPr wrap="square" lIns="0" tIns="0" rIns="0" bIns="0" rtlCol="0" anchor="ctr"/>
          <a:lstStyle/>
          <a:p>
            <a:pPr algn="l" indent="0" marL="0">
              <a:buNone/>
            </a:pPr>
            <a:r>
              <a:rPr lang="en-US" sz="1100" dirty="0">
                <a:solidFill>
                  <a:srgbClr val="605E5C"/>
                </a:solidFill>
                <a:latin typeface="Segoe UI" pitchFamily="34" charset="0"/>
                <a:ea typeface="Segoe UI" pitchFamily="34" charset="-122"/>
                <a:cs typeface="Segoe UI" pitchFamily="34" charset="-120"/>
              </a:rPr>
              <a:t>Raw data must be processed to generate summaries, flagging compliance risks and critical findings.</a:t>
            </a:r>
            <a:endParaRPr lang="en-US" sz="1100" dirty="0"/>
          </a:p>
        </p:txBody>
      </p:sp>
      <p:pic>
        <p:nvPicPr>
          <p:cNvPr id="16" name="Image 3" descr="preencoded.png">    </p:cNvPr>
          <p:cNvPicPr>
            <a:picLocks noChangeAspect="1"/>
          </p:cNvPicPr>
          <p:nvPr/>
        </p:nvPicPr>
        <p:blipFill>
          <a:blip r:embed="rId4"/>
          <a:srcRect l="-2571" r="-2571" t="0" b="0"/>
          <a:stretch/>
        </p:blipFill>
        <p:spPr>
          <a:xfrm>
            <a:off x="929030" y="4448556"/>
            <a:ext cx="105156" cy="114300"/>
          </a:xfrm>
          <a:prstGeom prst="rect">
            <a:avLst/>
          </a:prstGeom>
        </p:spPr>
      </p:pic>
      <p:sp>
        <p:nvSpPr>
          <p:cNvPr id="17" name="Text 11"/>
          <p:cNvSpPr txBox="1"/>
          <p:nvPr/>
        </p:nvSpPr>
        <p:spPr>
          <a:xfrm>
            <a:off x="1248156" y="4381805"/>
            <a:ext cx="1528877" cy="228600"/>
          </a:xfrm>
          <a:prstGeom prst="rect">
            <a:avLst/>
          </a:prstGeom>
          <a:noFill/>
          <a:ln/>
        </p:spPr>
        <p:txBody>
          <a:bodyPr wrap="square" lIns="0" tIns="0" rIns="0" bIns="0" rtlCol="0" anchor="ctr"/>
          <a:lstStyle/>
          <a:p>
            <a:pPr algn="l" indent="0" marL="0">
              <a:buNone/>
            </a:pPr>
            <a:r>
              <a:rPr lang="en-US" sz="1300" b="1" dirty="0">
                <a:solidFill>
                  <a:srgbClr val="323130"/>
                </a:solidFill>
                <a:latin typeface="Segoe UI" pitchFamily="34" charset="0"/>
                <a:ea typeface="Segoe UI" pitchFamily="34" charset="-122"/>
                <a:cs typeface="Segoe UI" pitchFamily="34" charset="-120"/>
              </a:rPr>
              <a:t>Email Automation</a:t>
            </a:r>
            <a:endParaRPr lang="en-US" sz="1300" dirty="0"/>
          </a:p>
        </p:txBody>
      </p:sp>
      <p:sp>
        <p:nvSpPr>
          <p:cNvPr id="18" name="Text 12"/>
          <p:cNvSpPr txBox="1"/>
          <p:nvPr/>
        </p:nvSpPr>
        <p:spPr>
          <a:xfrm>
            <a:off x="1248156" y="4677156"/>
            <a:ext cx="3755441" cy="409651"/>
          </a:xfrm>
          <a:prstGeom prst="rect">
            <a:avLst/>
          </a:prstGeom>
          <a:noFill/>
          <a:ln/>
        </p:spPr>
        <p:txBody>
          <a:bodyPr wrap="square" lIns="0" tIns="0" rIns="0" bIns="0" rtlCol="0" anchor="ctr"/>
          <a:lstStyle/>
          <a:p>
            <a:pPr algn="l" indent="0" marL="0">
              <a:buNone/>
            </a:pPr>
            <a:r>
              <a:rPr lang="en-US" sz="1100" dirty="0">
                <a:solidFill>
                  <a:srgbClr val="605E5C"/>
                </a:solidFill>
                <a:latin typeface="Segoe UI" pitchFamily="34" charset="0"/>
                <a:ea typeface="Segoe UI" pitchFamily="34" charset="-122"/>
                <a:cs typeface="Segoe UI" pitchFamily="34" charset="-120"/>
              </a:rPr>
              <a:t>Generate formatted emails with dynamic subject lines and embedded summaries for recipients.</a:t>
            </a:r>
            <a:endParaRPr lang="en-US" sz="1100" dirty="0"/>
          </a:p>
        </p:txBody>
      </p:sp>
      <p:pic>
        <p:nvPicPr>
          <p:cNvPr id="19" name="Image 4" descr="preencoded.png">    </p:cNvPr>
          <p:cNvPicPr>
            <a:picLocks noChangeAspect="1"/>
          </p:cNvPicPr>
          <p:nvPr/>
        </p:nvPicPr>
        <p:blipFill>
          <a:blip r:embed="rId5"/>
          <a:srcRect l="-2571" r="-2571" t="0" b="0"/>
          <a:stretch/>
        </p:blipFill>
        <p:spPr>
          <a:xfrm>
            <a:off x="929030" y="5400446"/>
            <a:ext cx="105156" cy="114300"/>
          </a:xfrm>
          <a:prstGeom prst="rect">
            <a:avLst/>
          </a:prstGeom>
        </p:spPr>
      </p:pic>
      <p:sp>
        <p:nvSpPr>
          <p:cNvPr id="20" name="Text 13"/>
          <p:cNvSpPr txBox="1"/>
          <p:nvPr/>
        </p:nvSpPr>
        <p:spPr>
          <a:xfrm>
            <a:off x="1248156" y="5333695"/>
            <a:ext cx="1729130" cy="228600"/>
          </a:xfrm>
          <a:prstGeom prst="rect">
            <a:avLst/>
          </a:prstGeom>
          <a:noFill/>
          <a:ln/>
        </p:spPr>
        <p:txBody>
          <a:bodyPr wrap="square" lIns="0" tIns="0" rIns="0" bIns="0" rtlCol="0" anchor="ctr"/>
          <a:lstStyle/>
          <a:p>
            <a:pPr algn="l" indent="0" marL="0">
              <a:buNone/>
            </a:pPr>
            <a:r>
              <a:rPr lang="en-US" sz="1300" b="1" dirty="0">
                <a:solidFill>
                  <a:srgbClr val="323130"/>
                </a:solidFill>
                <a:latin typeface="Segoe UI" pitchFamily="34" charset="0"/>
                <a:ea typeface="Segoe UI" pitchFamily="34" charset="-122"/>
                <a:cs typeface="Segoe UI" pitchFamily="34" charset="-120"/>
              </a:rPr>
              <a:t>Attachment Support</a:t>
            </a:r>
            <a:endParaRPr lang="en-US" sz="1300" dirty="0"/>
          </a:p>
        </p:txBody>
      </p:sp>
      <p:sp>
        <p:nvSpPr>
          <p:cNvPr id="21" name="Text 14"/>
          <p:cNvSpPr txBox="1"/>
          <p:nvPr/>
        </p:nvSpPr>
        <p:spPr>
          <a:xfrm>
            <a:off x="1248156" y="5629046"/>
            <a:ext cx="4374490" cy="409651"/>
          </a:xfrm>
          <a:prstGeom prst="rect">
            <a:avLst/>
          </a:prstGeom>
          <a:noFill/>
          <a:ln/>
        </p:spPr>
        <p:txBody>
          <a:bodyPr wrap="square" lIns="0" tIns="0" rIns="0" bIns="0" rtlCol="0" anchor="ctr"/>
          <a:lstStyle/>
          <a:p>
            <a:pPr algn="l" indent="0" marL="0">
              <a:buNone/>
            </a:pPr>
            <a:r>
              <a:rPr lang="en-US" sz="1100" dirty="0">
                <a:solidFill>
                  <a:srgbClr val="605E5C"/>
                </a:solidFill>
                <a:latin typeface="Segoe UI" pitchFamily="34" charset="0"/>
                <a:ea typeface="Segoe UI" pitchFamily="34" charset="-122"/>
                <a:cs typeface="Segoe UI" pitchFamily="34" charset="-120"/>
              </a:rPr>
              <a:t>Generate and attach detailed audit logs in standard formats (PDF or Excel) for offline review.</a:t>
            </a:r>
            <a:endParaRPr lang="en-US" sz="1100" dirty="0"/>
          </a:p>
        </p:txBody>
      </p:sp>
      <p:pic>
        <p:nvPicPr>
          <p:cNvPr id="22" name="Image 5" descr="preencoded.png">    </p:cNvPr>
          <p:cNvPicPr>
            <a:picLocks noChangeAspect="1"/>
          </p:cNvPicPr>
          <p:nvPr/>
        </p:nvPicPr>
        <p:blipFill>
          <a:blip r:embed="rId6"/>
          <a:srcRect l="-2571" r="-2571" t="0" b="0"/>
          <a:stretch/>
        </p:blipFill>
        <p:spPr>
          <a:xfrm>
            <a:off x="929030" y="6353251"/>
            <a:ext cx="105156" cy="114300"/>
          </a:xfrm>
          <a:prstGeom prst="rect">
            <a:avLst/>
          </a:prstGeom>
        </p:spPr>
      </p:pic>
      <p:sp>
        <p:nvSpPr>
          <p:cNvPr id="23" name="Text 15"/>
          <p:cNvSpPr txBox="1"/>
          <p:nvPr/>
        </p:nvSpPr>
        <p:spPr>
          <a:xfrm>
            <a:off x="1248156" y="6286500"/>
            <a:ext cx="1815084" cy="228600"/>
          </a:xfrm>
          <a:prstGeom prst="rect">
            <a:avLst/>
          </a:prstGeom>
          <a:noFill/>
          <a:ln/>
        </p:spPr>
        <p:txBody>
          <a:bodyPr wrap="square" lIns="0" tIns="0" rIns="0" bIns="0" rtlCol="0" anchor="ctr"/>
          <a:lstStyle/>
          <a:p>
            <a:pPr algn="l" indent="0" marL="0">
              <a:buNone/>
            </a:pPr>
            <a:r>
              <a:rPr lang="en-US" sz="1300" b="1" dirty="0">
                <a:solidFill>
                  <a:srgbClr val="323130"/>
                </a:solidFill>
                <a:latin typeface="Segoe UI" pitchFamily="34" charset="0"/>
                <a:ea typeface="Segoe UI" pitchFamily="34" charset="-122"/>
                <a:cs typeface="Segoe UI" pitchFamily="34" charset="-120"/>
              </a:rPr>
              <a:t>Configurable Settings</a:t>
            </a:r>
            <a:endParaRPr lang="en-US" sz="1300" dirty="0"/>
          </a:p>
        </p:txBody>
      </p:sp>
      <p:sp>
        <p:nvSpPr>
          <p:cNvPr id="24" name="Text 16"/>
          <p:cNvSpPr txBox="1"/>
          <p:nvPr/>
        </p:nvSpPr>
        <p:spPr>
          <a:xfrm>
            <a:off x="1248156" y="6581851"/>
            <a:ext cx="4241902" cy="409651"/>
          </a:xfrm>
          <a:prstGeom prst="rect">
            <a:avLst/>
          </a:prstGeom>
          <a:noFill/>
          <a:ln/>
        </p:spPr>
        <p:txBody>
          <a:bodyPr wrap="square" lIns="0" tIns="0" rIns="0" bIns="0" rtlCol="0" anchor="ctr"/>
          <a:lstStyle/>
          <a:p>
            <a:pPr algn="l" indent="0" marL="0">
              <a:buNone/>
            </a:pPr>
            <a:r>
              <a:rPr lang="en-US" sz="1100" dirty="0">
                <a:solidFill>
                  <a:srgbClr val="605E5C"/>
                </a:solidFill>
                <a:latin typeface="Segoe UI" pitchFamily="34" charset="0"/>
                <a:ea typeface="Segoe UI" pitchFamily="34" charset="-122"/>
                <a:cs typeface="Segoe UI" pitchFamily="34" charset="-120"/>
              </a:rPr>
              <a:t>Allow administrators to update recipient lists, schedule times, and report parameters without code changes.</a:t>
            </a:r>
            <a:endParaRPr lang="en-US" sz="1100" dirty="0"/>
          </a:p>
        </p:txBody>
      </p:sp>
      <p:sp>
        <p:nvSpPr>
          <p:cNvPr id="25" name="Shape 17"/>
          <p:cNvSpPr/>
          <p:nvPr/>
        </p:nvSpPr>
        <p:spPr>
          <a:xfrm>
            <a:off x="6286500" y="1362456"/>
            <a:ext cx="5333695" cy="5934456"/>
          </a:xfrm>
          <a:prstGeom prst="roundRect">
            <a:avLst>
              <a:gd name="adj" fmla="val 245"/>
            </a:avLst>
          </a:prstGeom>
          <a:solidFill>
            <a:srgbClr val="FFFFFF"/>
          </a:solidFill>
          <a:ln w="12700">
            <a:solidFill>
              <a:srgbClr val="E1DFDD"/>
            </a:solidFill>
            <a:prstDash val="solid"/>
          </a:ln>
        </p:spPr>
      </p:sp>
      <p:sp>
        <p:nvSpPr>
          <p:cNvPr id="26" name="Shape 18"/>
          <p:cNvSpPr/>
          <p:nvPr/>
        </p:nvSpPr>
        <p:spPr>
          <a:xfrm>
            <a:off x="6295644" y="1371600"/>
            <a:ext cx="5315407" cy="809244"/>
          </a:xfrm>
          <a:prstGeom prst="rect">
            <a:avLst/>
          </a:prstGeom>
          <a:solidFill>
            <a:srgbClr val="FDF3F0"/>
          </a:solidFill>
          <a:ln w="12700">
            <a:solidFill>
              <a:srgbClr val="EDEBE9"/>
            </a:solidFill>
            <a:prstDash val="solid"/>
          </a:ln>
        </p:spPr>
      </p:sp>
      <p:pic>
        <p:nvPicPr>
          <p:cNvPr id="27" name="Image 6" descr="preencoded.png">    </p:cNvPr>
          <p:cNvPicPr>
            <a:picLocks noChangeAspect="1"/>
          </p:cNvPicPr>
          <p:nvPr/>
        </p:nvPicPr>
        <p:blipFill>
          <a:blip r:embed="rId7"/>
          <a:srcRect l="0" r="0" t="0" b="0"/>
          <a:stretch/>
        </p:blipFill>
        <p:spPr>
          <a:xfrm>
            <a:off x="6638544" y="1657807"/>
            <a:ext cx="228600" cy="228600"/>
          </a:xfrm>
          <a:prstGeom prst="rect">
            <a:avLst/>
          </a:prstGeom>
        </p:spPr>
      </p:pic>
      <p:sp>
        <p:nvSpPr>
          <p:cNvPr id="28" name="Text 19"/>
          <p:cNvSpPr txBox="1"/>
          <p:nvPr/>
        </p:nvSpPr>
        <p:spPr>
          <a:xfrm>
            <a:off x="7019849" y="1619402"/>
            <a:ext cx="3286354" cy="305410"/>
          </a:xfrm>
          <a:prstGeom prst="rect">
            <a:avLst/>
          </a:prstGeom>
          <a:noFill/>
          <a:ln/>
        </p:spPr>
        <p:txBody>
          <a:bodyPr wrap="square" lIns="0" tIns="0" rIns="0" bIns="0" rtlCol="0" anchor="ctr"/>
          <a:lstStyle/>
          <a:p>
            <a:pPr algn="l" indent="0" marL="0">
              <a:buNone/>
            </a:pPr>
            <a:r>
              <a:rPr lang="en-US" sz="1800" b="1" dirty="0">
                <a:solidFill>
                  <a:srgbClr val="323130"/>
                </a:solidFill>
                <a:latin typeface="Segoe UI" pitchFamily="34" charset="0"/>
                <a:ea typeface="Segoe UI" pitchFamily="34" charset="-122"/>
                <a:cs typeface="Segoe UI" pitchFamily="34" charset="-120"/>
              </a:rPr>
              <a:t>Non-Functional Requirements</a:t>
            </a:r>
            <a:endParaRPr lang="en-US" sz="1800" dirty="0"/>
          </a:p>
        </p:txBody>
      </p:sp>
      <p:pic>
        <p:nvPicPr>
          <p:cNvPr id="29" name="Image 7" descr="preencoded.png">    </p:cNvPr>
          <p:cNvPicPr>
            <a:picLocks noChangeAspect="1"/>
          </p:cNvPicPr>
          <p:nvPr/>
        </p:nvPicPr>
        <p:blipFill>
          <a:blip r:embed="rId8"/>
          <a:srcRect l="-2571" r="-2571" t="0" b="0"/>
          <a:stretch/>
        </p:blipFill>
        <p:spPr>
          <a:xfrm>
            <a:off x="6644030" y="2542946"/>
            <a:ext cx="105156" cy="114300"/>
          </a:xfrm>
          <a:prstGeom prst="rect">
            <a:avLst/>
          </a:prstGeom>
        </p:spPr>
      </p:pic>
      <p:sp>
        <p:nvSpPr>
          <p:cNvPr id="30" name="Text 20"/>
          <p:cNvSpPr txBox="1"/>
          <p:nvPr/>
        </p:nvSpPr>
        <p:spPr>
          <a:xfrm>
            <a:off x="6963156" y="2476195"/>
            <a:ext cx="1957730" cy="228600"/>
          </a:xfrm>
          <a:prstGeom prst="rect">
            <a:avLst/>
          </a:prstGeom>
          <a:noFill/>
          <a:ln/>
        </p:spPr>
        <p:txBody>
          <a:bodyPr wrap="square" lIns="0" tIns="0" rIns="0" bIns="0" rtlCol="0" anchor="ctr"/>
          <a:lstStyle/>
          <a:p>
            <a:pPr algn="l" indent="0" marL="0">
              <a:buNone/>
            </a:pPr>
            <a:r>
              <a:rPr lang="en-US" sz="1300" b="1" dirty="0">
                <a:solidFill>
                  <a:srgbClr val="323130"/>
                </a:solidFill>
                <a:latin typeface="Segoe UI" pitchFamily="34" charset="0"/>
                <a:ea typeface="Segoe UI" pitchFamily="34" charset="-122"/>
                <a:cs typeface="Segoe UI" pitchFamily="34" charset="-120"/>
              </a:rPr>
              <a:t>Reliability &amp; Availability</a:t>
            </a:r>
            <a:endParaRPr lang="en-US" sz="1300" dirty="0"/>
          </a:p>
        </p:txBody>
      </p:sp>
      <p:sp>
        <p:nvSpPr>
          <p:cNvPr id="31" name="Text 21"/>
          <p:cNvSpPr txBox="1"/>
          <p:nvPr/>
        </p:nvSpPr>
        <p:spPr>
          <a:xfrm>
            <a:off x="6963156" y="2771546"/>
            <a:ext cx="4393692" cy="409651"/>
          </a:xfrm>
          <a:prstGeom prst="rect">
            <a:avLst/>
          </a:prstGeom>
          <a:noFill/>
          <a:ln/>
        </p:spPr>
        <p:txBody>
          <a:bodyPr wrap="square" lIns="0" tIns="0" rIns="0" bIns="0" rtlCol="0" anchor="ctr"/>
          <a:lstStyle/>
          <a:p>
            <a:pPr algn="l" indent="0" marL="0">
              <a:buNone/>
            </a:pPr>
            <a:r>
              <a:rPr lang="en-US" sz="1100" dirty="0">
                <a:solidFill>
                  <a:srgbClr val="605E5C"/>
                </a:solidFill>
                <a:latin typeface="Segoe UI" pitchFamily="34" charset="0"/>
                <a:ea typeface="Segoe UI" pitchFamily="34" charset="-122"/>
                <a:cs typeface="Segoe UI" pitchFamily="34" charset="-120"/>
              </a:rPr>
              <a:t>Ensure 99.9% uptime for the scheduling engine with automatic retry mechanisms for transient failures.</a:t>
            </a:r>
            <a:endParaRPr lang="en-US" sz="1100" dirty="0"/>
          </a:p>
        </p:txBody>
      </p:sp>
      <p:pic>
        <p:nvPicPr>
          <p:cNvPr id="32" name="Image 8" descr="preencoded.png">    </p:cNvPr>
          <p:cNvPicPr>
            <a:picLocks noChangeAspect="1"/>
          </p:cNvPicPr>
          <p:nvPr/>
        </p:nvPicPr>
        <p:blipFill>
          <a:blip r:embed="rId9"/>
          <a:srcRect l="-2571" r="-2571" t="0" b="0"/>
          <a:stretch/>
        </p:blipFill>
        <p:spPr>
          <a:xfrm>
            <a:off x="6644030" y="3495751"/>
            <a:ext cx="105156" cy="114300"/>
          </a:xfrm>
          <a:prstGeom prst="rect">
            <a:avLst/>
          </a:prstGeom>
        </p:spPr>
      </p:pic>
      <p:sp>
        <p:nvSpPr>
          <p:cNvPr id="33" name="Text 22"/>
          <p:cNvSpPr txBox="1"/>
          <p:nvPr/>
        </p:nvSpPr>
        <p:spPr>
          <a:xfrm>
            <a:off x="6963156" y="3429000"/>
            <a:ext cx="1205179" cy="228600"/>
          </a:xfrm>
          <a:prstGeom prst="rect">
            <a:avLst/>
          </a:prstGeom>
          <a:noFill/>
          <a:ln/>
        </p:spPr>
        <p:txBody>
          <a:bodyPr wrap="square" lIns="0" tIns="0" rIns="0" bIns="0" rtlCol="0" anchor="ctr"/>
          <a:lstStyle/>
          <a:p>
            <a:pPr algn="l" indent="0" marL="0">
              <a:buNone/>
            </a:pPr>
            <a:r>
              <a:rPr lang="en-US" sz="1300" b="1" dirty="0">
                <a:solidFill>
                  <a:srgbClr val="323130"/>
                </a:solidFill>
                <a:latin typeface="Segoe UI" pitchFamily="34" charset="0"/>
                <a:ea typeface="Segoe UI" pitchFamily="34" charset="-122"/>
                <a:cs typeface="Segoe UI" pitchFamily="34" charset="-120"/>
              </a:rPr>
              <a:t>Data Integrity</a:t>
            </a:r>
            <a:endParaRPr lang="en-US" sz="1300" dirty="0"/>
          </a:p>
        </p:txBody>
      </p:sp>
      <p:sp>
        <p:nvSpPr>
          <p:cNvPr id="34" name="Text 23"/>
          <p:cNvSpPr txBox="1"/>
          <p:nvPr/>
        </p:nvSpPr>
        <p:spPr>
          <a:xfrm>
            <a:off x="6963156" y="3724351"/>
            <a:ext cx="3879799" cy="409651"/>
          </a:xfrm>
          <a:prstGeom prst="rect">
            <a:avLst/>
          </a:prstGeom>
          <a:noFill/>
          <a:ln/>
        </p:spPr>
        <p:txBody>
          <a:bodyPr wrap="square" lIns="0" tIns="0" rIns="0" bIns="0" rtlCol="0" anchor="ctr"/>
          <a:lstStyle/>
          <a:p>
            <a:pPr algn="l" indent="0" marL="0">
              <a:buNone/>
            </a:pPr>
            <a:r>
              <a:rPr lang="en-US" sz="1100" dirty="0">
                <a:solidFill>
                  <a:srgbClr val="605E5C"/>
                </a:solidFill>
                <a:latin typeface="Segoe UI" pitchFamily="34" charset="0"/>
                <a:ea typeface="Segoe UI" pitchFamily="34" charset="-122"/>
                <a:cs typeface="Segoe UI" pitchFamily="34" charset="-120"/>
              </a:rPr>
              <a:t>Extracted data must match FDO source records exactly, with validation checks before distribution.</a:t>
            </a:r>
            <a:endParaRPr lang="en-US" sz="1100" dirty="0"/>
          </a:p>
        </p:txBody>
      </p:sp>
      <p:pic>
        <p:nvPicPr>
          <p:cNvPr id="35" name="Image 9" descr="preencoded.png">    </p:cNvPr>
          <p:cNvPicPr>
            <a:picLocks noChangeAspect="1"/>
          </p:cNvPicPr>
          <p:nvPr/>
        </p:nvPicPr>
        <p:blipFill>
          <a:blip r:embed="rId10"/>
          <a:srcRect l="-2571" r="-2571" t="0" b="0"/>
          <a:stretch/>
        </p:blipFill>
        <p:spPr>
          <a:xfrm>
            <a:off x="6644030" y="4448556"/>
            <a:ext cx="105156" cy="114300"/>
          </a:xfrm>
          <a:prstGeom prst="rect">
            <a:avLst/>
          </a:prstGeom>
        </p:spPr>
      </p:pic>
      <p:sp>
        <p:nvSpPr>
          <p:cNvPr id="36" name="Text 24"/>
          <p:cNvSpPr txBox="1"/>
          <p:nvPr/>
        </p:nvSpPr>
        <p:spPr>
          <a:xfrm>
            <a:off x="6963156" y="4381805"/>
            <a:ext cx="1491386" cy="228600"/>
          </a:xfrm>
          <a:prstGeom prst="rect">
            <a:avLst/>
          </a:prstGeom>
          <a:noFill/>
          <a:ln/>
        </p:spPr>
        <p:txBody>
          <a:bodyPr wrap="square" lIns="0" tIns="0" rIns="0" bIns="0" rtlCol="0" anchor="ctr"/>
          <a:lstStyle/>
          <a:p>
            <a:pPr algn="l" indent="0" marL="0">
              <a:buNone/>
            </a:pPr>
            <a:r>
              <a:rPr lang="en-US" sz="1300" b="1" dirty="0">
                <a:solidFill>
                  <a:srgbClr val="323130"/>
                </a:solidFill>
                <a:latin typeface="Segoe UI" pitchFamily="34" charset="0"/>
                <a:ea typeface="Segoe UI" pitchFamily="34" charset="-122"/>
                <a:cs typeface="Segoe UI" pitchFamily="34" charset="-120"/>
              </a:rPr>
              <a:t>Security &amp; Access</a:t>
            </a:r>
            <a:endParaRPr lang="en-US" sz="1300" dirty="0"/>
          </a:p>
        </p:txBody>
      </p:sp>
      <p:sp>
        <p:nvSpPr>
          <p:cNvPr id="37" name="Text 25"/>
          <p:cNvSpPr txBox="1"/>
          <p:nvPr/>
        </p:nvSpPr>
        <p:spPr>
          <a:xfrm>
            <a:off x="6963156" y="4677156"/>
            <a:ext cx="4422038" cy="409651"/>
          </a:xfrm>
          <a:prstGeom prst="rect">
            <a:avLst/>
          </a:prstGeom>
          <a:noFill/>
          <a:ln/>
        </p:spPr>
        <p:txBody>
          <a:bodyPr wrap="square" lIns="0" tIns="0" rIns="0" bIns="0" rtlCol="0" anchor="ctr"/>
          <a:lstStyle/>
          <a:p>
            <a:pPr algn="l" indent="0" marL="0">
              <a:buNone/>
            </a:pPr>
            <a:r>
              <a:rPr lang="en-US" sz="1100" dirty="0">
                <a:solidFill>
                  <a:srgbClr val="605E5C"/>
                </a:solidFill>
                <a:latin typeface="Segoe UI" pitchFamily="34" charset="0"/>
                <a:ea typeface="Segoe UI" pitchFamily="34" charset="-122"/>
                <a:cs typeface="Segoe UI" pitchFamily="34" charset="-120"/>
              </a:rPr>
              <a:t>Use secure service principals for API access; ensure data is encrypted in transit and at rest.</a:t>
            </a:r>
            <a:endParaRPr lang="en-US" sz="1100" dirty="0"/>
          </a:p>
        </p:txBody>
      </p:sp>
      <p:pic>
        <p:nvPicPr>
          <p:cNvPr id="38" name="Image 10" descr="preencoded.png">    </p:cNvPr>
          <p:cNvPicPr>
            <a:picLocks noChangeAspect="1"/>
          </p:cNvPicPr>
          <p:nvPr/>
        </p:nvPicPr>
        <p:blipFill>
          <a:blip r:embed="rId11"/>
          <a:srcRect l="-2571" r="-2571" t="0" b="0"/>
          <a:stretch/>
        </p:blipFill>
        <p:spPr>
          <a:xfrm>
            <a:off x="6644030" y="5400446"/>
            <a:ext cx="105156" cy="114300"/>
          </a:xfrm>
          <a:prstGeom prst="rect">
            <a:avLst/>
          </a:prstGeom>
        </p:spPr>
      </p:pic>
      <p:sp>
        <p:nvSpPr>
          <p:cNvPr id="39" name="Text 26"/>
          <p:cNvSpPr txBox="1"/>
          <p:nvPr/>
        </p:nvSpPr>
        <p:spPr>
          <a:xfrm>
            <a:off x="6963156" y="5333695"/>
            <a:ext cx="1672438" cy="228600"/>
          </a:xfrm>
          <a:prstGeom prst="rect">
            <a:avLst/>
          </a:prstGeom>
          <a:noFill/>
          <a:ln/>
        </p:spPr>
        <p:txBody>
          <a:bodyPr wrap="square" lIns="0" tIns="0" rIns="0" bIns="0" rtlCol="0" anchor="ctr"/>
          <a:lstStyle/>
          <a:p>
            <a:pPr algn="l" indent="0" marL="0">
              <a:buNone/>
            </a:pPr>
            <a:r>
              <a:rPr lang="en-US" sz="1300" b="1" dirty="0">
                <a:solidFill>
                  <a:srgbClr val="323130"/>
                </a:solidFill>
                <a:latin typeface="Segoe UI" pitchFamily="34" charset="0"/>
                <a:ea typeface="Segoe UI" pitchFamily="34" charset="-122"/>
                <a:cs typeface="Segoe UI" pitchFamily="34" charset="-120"/>
              </a:rPr>
              <a:t>Compliance Policies</a:t>
            </a:r>
            <a:endParaRPr lang="en-US" sz="1300" dirty="0"/>
          </a:p>
        </p:txBody>
      </p:sp>
      <p:sp>
        <p:nvSpPr>
          <p:cNvPr id="40" name="Text 27"/>
          <p:cNvSpPr txBox="1"/>
          <p:nvPr/>
        </p:nvSpPr>
        <p:spPr>
          <a:xfrm>
            <a:off x="6963156" y="5629046"/>
            <a:ext cx="4432097" cy="409651"/>
          </a:xfrm>
          <a:prstGeom prst="rect">
            <a:avLst/>
          </a:prstGeom>
          <a:noFill/>
          <a:ln/>
        </p:spPr>
        <p:txBody>
          <a:bodyPr wrap="square" lIns="0" tIns="0" rIns="0" bIns="0" rtlCol="0" anchor="ctr"/>
          <a:lstStyle/>
          <a:p>
            <a:pPr algn="l" indent="0" marL="0">
              <a:buNone/>
            </a:pPr>
            <a:r>
              <a:rPr lang="en-US" sz="1100" dirty="0">
                <a:solidFill>
                  <a:srgbClr val="605E5C"/>
                </a:solidFill>
                <a:latin typeface="Segoe UI" pitchFamily="34" charset="0"/>
                <a:ea typeface="Segoe UI" pitchFamily="34" charset="-122"/>
                <a:cs typeface="Segoe UI" pitchFamily="34" charset="-120"/>
              </a:rPr>
              <a:t>Adhere to enterprise email policies (e.g., footer disclaimers) and data classification standards.</a:t>
            </a:r>
            <a:endParaRPr lang="en-US" sz="1100" dirty="0"/>
          </a:p>
        </p:txBody>
      </p:sp>
      <p:pic>
        <p:nvPicPr>
          <p:cNvPr id="41" name="Image 11" descr="preencoded.png">    </p:cNvPr>
          <p:cNvPicPr>
            <a:picLocks noChangeAspect="1"/>
          </p:cNvPicPr>
          <p:nvPr/>
        </p:nvPicPr>
        <p:blipFill>
          <a:blip r:embed="rId12"/>
          <a:srcRect l="-2571" r="-2571" t="0" b="0"/>
          <a:stretch/>
        </p:blipFill>
        <p:spPr>
          <a:xfrm>
            <a:off x="6644030" y="6353251"/>
            <a:ext cx="105156" cy="114300"/>
          </a:xfrm>
          <a:prstGeom prst="rect">
            <a:avLst/>
          </a:prstGeom>
        </p:spPr>
      </p:pic>
      <p:sp>
        <p:nvSpPr>
          <p:cNvPr id="42" name="Text 28"/>
          <p:cNvSpPr txBox="1"/>
          <p:nvPr/>
        </p:nvSpPr>
        <p:spPr>
          <a:xfrm>
            <a:off x="6963156" y="6286500"/>
            <a:ext cx="1129284" cy="228600"/>
          </a:xfrm>
          <a:prstGeom prst="rect">
            <a:avLst/>
          </a:prstGeom>
          <a:noFill/>
          <a:ln/>
        </p:spPr>
        <p:txBody>
          <a:bodyPr wrap="square" lIns="0" tIns="0" rIns="0" bIns="0" rtlCol="0" anchor="ctr"/>
          <a:lstStyle/>
          <a:p>
            <a:pPr algn="l" indent="0" marL="0">
              <a:buNone/>
            </a:pPr>
            <a:r>
              <a:rPr lang="en-US" sz="1300" b="1" dirty="0">
                <a:solidFill>
                  <a:srgbClr val="323130"/>
                </a:solidFill>
                <a:latin typeface="Segoe UI" pitchFamily="34" charset="0"/>
                <a:ea typeface="Segoe UI" pitchFamily="34" charset="-122"/>
                <a:cs typeface="Segoe UI" pitchFamily="34" charset="-120"/>
              </a:rPr>
              <a:t>Performance</a:t>
            </a:r>
            <a:endParaRPr lang="en-US" sz="1300" dirty="0"/>
          </a:p>
        </p:txBody>
      </p:sp>
      <p:sp>
        <p:nvSpPr>
          <p:cNvPr id="43" name="Text 29"/>
          <p:cNvSpPr txBox="1"/>
          <p:nvPr/>
        </p:nvSpPr>
        <p:spPr>
          <a:xfrm>
            <a:off x="6963156" y="6581851"/>
            <a:ext cx="4145890" cy="409651"/>
          </a:xfrm>
          <a:prstGeom prst="rect">
            <a:avLst/>
          </a:prstGeom>
          <a:noFill/>
          <a:ln/>
        </p:spPr>
        <p:txBody>
          <a:bodyPr wrap="square" lIns="0" tIns="0" rIns="0" bIns="0" rtlCol="0" anchor="ctr"/>
          <a:lstStyle/>
          <a:p>
            <a:pPr algn="l" indent="0" marL="0">
              <a:buNone/>
            </a:pPr>
            <a:r>
              <a:rPr lang="en-US" sz="1100" dirty="0">
                <a:solidFill>
                  <a:srgbClr val="605E5C"/>
                </a:solidFill>
                <a:latin typeface="Segoe UI" pitchFamily="34" charset="0"/>
                <a:ea typeface="Segoe UI" pitchFamily="34" charset="-122"/>
                <a:cs typeface="Segoe UI" pitchFamily="34" charset="-120"/>
              </a:rPr>
              <a:t>Report generation and email delivery should complete within 15 minutes of the scheduled trigger time.</a:t>
            </a:r>
            <a:endParaRPr lang="en-US" sz="1100" dirty="0"/>
          </a:p>
        </p:txBody>
      </p:sp>
      <p:sp>
        <p:nvSpPr>
          <p:cNvPr id="44" name="Shape 30"/>
          <p:cNvSpPr/>
          <p:nvPr/>
        </p:nvSpPr>
        <p:spPr>
          <a:xfrm>
            <a:off x="0" y="7772400"/>
            <a:ext cx="12191695" cy="9144"/>
          </a:xfrm>
          <a:prstGeom prst="rect">
            <a:avLst/>
          </a:prstGeom>
          <a:solidFill>
            <a:srgbClr val="EDEBE9"/>
          </a:solidFill>
          <a:ln/>
        </p:spPr>
      </p:sp>
      <p:sp>
        <p:nvSpPr>
          <p:cNvPr id="45" name="Text 31"/>
          <p:cNvSpPr txBox="1"/>
          <p:nvPr/>
        </p:nvSpPr>
        <p:spPr>
          <a:xfrm>
            <a:off x="8825789" y="7791602"/>
            <a:ext cx="2886761" cy="152705"/>
          </a:xfrm>
          <a:prstGeom prst="rect">
            <a:avLst/>
          </a:prstGeom>
          <a:noFill/>
          <a:ln/>
        </p:spPr>
        <p:txBody>
          <a:bodyPr wrap="square" lIns="0" tIns="0" rIns="0" bIns="0" rtlCol="0" anchor="ctr"/>
          <a:lstStyle/>
          <a:p>
            <a:pPr algn="l" indent="0" marL="0">
              <a:buNone/>
            </a:pPr>
            <a:r>
              <a:rPr lang="en-US" sz="900" dirty="0">
                <a:solidFill>
                  <a:srgbClr val="A19F9D"/>
                </a:solidFill>
                <a:latin typeface="Segoe UI" pitchFamily="34" charset="0"/>
                <a:ea typeface="Segoe UI" pitchFamily="34" charset="-122"/>
                <a:cs typeface="Segoe UI" pitchFamily="34" charset="-120"/>
              </a:rPr>
              <a:t>Confidential | Factory Delivery Orchestrator Automation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FFFFF"/>
          </a:solidFill>
          <a:ln/>
        </p:spPr>
      </p:sp>
      <p:sp>
        <p:nvSpPr>
          <p:cNvPr id="4" name="Text 2"/>
          <p:cNvSpPr txBox="1"/>
          <p:nvPr/>
        </p:nvSpPr>
        <p:spPr>
          <a:xfrm>
            <a:off x="571500" y="409651"/>
            <a:ext cx="5558638" cy="534010"/>
          </a:xfrm>
          <a:prstGeom prst="rect">
            <a:avLst/>
          </a:prstGeom>
          <a:noFill/>
          <a:ln/>
        </p:spPr>
        <p:txBody>
          <a:bodyPr wrap="square" lIns="0" tIns="0" rIns="0" bIns="0" rtlCol="0" anchor="ctr"/>
          <a:lstStyle/>
          <a:p>
            <a:pPr algn="l" indent="0" marL="0">
              <a:buNone/>
            </a:pPr>
            <a:r>
              <a:rPr lang="en-US" sz="3100" b="1" dirty="0">
                <a:solidFill>
                  <a:srgbClr val="242424"/>
                </a:solidFill>
                <a:latin typeface="Segoe UI" pitchFamily="34" charset="0"/>
                <a:ea typeface="Segoe UI" pitchFamily="34" charset="-122"/>
                <a:cs typeface="Segoe UI" pitchFamily="34" charset="-120"/>
              </a:rPr>
              <a:t>Key Metrics &amp; Business Value</a:t>
            </a:r>
            <a:endParaRPr lang="en-US" sz="3100" dirty="0"/>
          </a:p>
        </p:txBody>
      </p:sp>
      <p:sp>
        <p:nvSpPr>
          <p:cNvPr id="5" name="Text 3"/>
          <p:cNvSpPr txBox="1"/>
          <p:nvPr/>
        </p:nvSpPr>
        <p:spPr>
          <a:xfrm>
            <a:off x="9357055" y="576072"/>
            <a:ext cx="2382012" cy="200254"/>
          </a:xfrm>
          <a:prstGeom prst="rect">
            <a:avLst/>
          </a:prstGeom>
          <a:noFill/>
          <a:ln/>
        </p:spPr>
        <p:txBody>
          <a:bodyPr wrap="square" lIns="0" tIns="0" rIns="0" bIns="0" rtlCol="0" anchor="ctr"/>
          <a:lstStyle/>
          <a:p>
            <a:pPr algn="l" indent="0" marL="0">
              <a:buNone/>
            </a:pPr>
            <a:r>
              <a:rPr lang="en-US" sz="1200" dirty="0">
                <a:solidFill>
                  <a:srgbClr val="666666"/>
                </a:solidFill>
                <a:latin typeface="Segoe UI" pitchFamily="34" charset="0"/>
                <a:ea typeface="Segoe UI" pitchFamily="34" charset="-122"/>
                <a:cs typeface="Segoe UI" pitchFamily="34" charset="-120"/>
              </a:rPr>
              <a:t>FDO Automation / ROI &amp; Benefits</a:t>
            </a:r>
            <a:endParaRPr lang="en-US" sz="1200" dirty="0"/>
          </a:p>
        </p:txBody>
      </p:sp>
      <p:sp>
        <p:nvSpPr>
          <p:cNvPr id="6" name="Shape 4"/>
          <p:cNvSpPr/>
          <p:nvPr/>
        </p:nvSpPr>
        <p:spPr>
          <a:xfrm>
            <a:off x="571500" y="1362456"/>
            <a:ext cx="4362602" cy="5514746"/>
          </a:xfrm>
          <a:prstGeom prst="roundRect">
            <a:avLst>
              <a:gd name="adj" fmla="val 549"/>
            </a:avLst>
          </a:prstGeom>
          <a:solidFill>
            <a:srgbClr val="0078D4"/>
          </a:solidFill>
          <a:ln/>
          <a:effectLst>
            <a:outerShdw sx="100000" sy="100000" kx="0" ky="0" algn="bl" rotWithShape="0" blurRad="114300" dist="38100" dir="5400000">
              <a:srgbClr val="0078d4">
                <a:alpha val="20000"/>
              </a:srgbClr>
            </a:outerShdw>
          </a:effectLst>
        </p:spPr>
      </p:sp>
      <p:pic>
        <p:nvPicPr>
          <p:cNvPr id="7" name="Image 0" descr="preencoded.png">    </p:cNvPr>
          <p:cNvPicPr>
            <a:picLocks noChangeAspect="1"/>
          </p:cNvPicPr>
          <p:nvPr/>
        </p:nvPicPr>
        <p:blipFill>
          <a:blip r:embed="rId1"/>
          <a:srcRect l="0" r="0" t="-2496" b="-2496"/>
          <a:stretch/>
        </p:blipFill>
        <p:spPr>
          <a:xfrm>
            <a:off x="2557577" y="4673498"/>
            <a:ext cx="2562149" cy="2391156"/>
          </a:xfrm>
          <a:prstGeom prst="rect">
            <a:avLst/>
          </a:prstGeom>
        </p:spPr>
      </p:pic>
      <p:sp>
        <p:nvSpPr>
          <p:cNvPr id="8" name="Text 5"/>
          <p:cNvSpPr txBox="1"/>
          <p:nvPr/>
        </p:nvSpPr>
        <p:spPr>
          <a:xfrm>
            <a:off x="1836115" y="5806440"/>
            <a:ext cx="1914754" cy="152705"/>
          </a:xfrm>
          <a:prstGeom prst="rect">
            <a:avLst/>
          </a:prstGeom>
          <a:noFill/>
          <a:ln/>
        </p:spPr>
        <p:txBody>
          <a:bodyPr wrap="square" lIns="0" tIns="0" rIns="0" bIns="0" rtlCol="0" anchor="ctr"/>
          <a:lstStyle/>
          <a:p>
            <a:pPr algn="ctr" indent="0" marL="0">
              <a:buNone/>
            </a:pPr>
            <a:r>
              <a:rPr lang="en-US" sz="900" dirty="0">
                <a:solidFill>
                  <a:srgbClr val="FFFFFF">
                    <a:alpha val="70000"/>
                  </a:srgbClr>
                </a:solidFill>
                <a:latin typeface="Segoe UI" pitchFamily="34" charset="0"/>
                <a:ea typeface="Segoe UI" pitchFamily="34" charset="-122"/>
                <a:cs typeface="Segoe UI" pitchFamily="34" charset="-120"/>
              </a:rPr>
              <a:t>Weekly Audit Report Volume (Trend)</a:t>
            </a:r>
            <a:endParaRPr lang="en-US" sz="900" dirty="0"/>
          </a:p>
        </p:txBody>
      </p:sp>
      <p:sp>
        <p:nvSpPr>
          <p:cNvPr id="9" name="Shape 6"/>
          <p:cNvSpPr/>
          <p:nvPr/>
        </p:nvSpPr>
        <p:spPr>
          <a:xfrm>
            <a:off x="2179015" y="6416345"/>
            <a:ext cx="75895" cy="171907"/>
          </a:xfrm>
          <a:prstGeom prst="rect">
            <a:avLst/>
          </a:prstGeom>
          <a:solidFill>
            <a:srgbClr val="FFFFFF">
              <a:alpha val="40000"/>
            </a:srgbClr>
          </a:solidFill>
          <a:ln/>
        </p:spPr>
      </p:sp>
      <p:sp>
        <p:nvSpPr>
          <p:cNvPr id="10" name="Shape 7"/>
          <p:cNvSpPr/>
          <p:nvPr/>
        </p:nvSpPr>
        <p:spPr>
          <a:xfrm>
            <a:off x="2330806" y="6330391"/>
            <a:ext cx="75895" cy="256946"/>
          </a:xfrm>
          <a:prstGeom prst="rect">
            <a:avLst/>
          </a:prstGeom>
          <a:solidFill>
            <a:srgbClr val="FFFFFF">
              <a:alpha val="40000"/>
            </a:srgbClr>
          </a:solidFill>
          <a:ln/>
        </p:spPr>
      </p:sp>
      <p:sp>
        <p:nvSpPr>
          <p:cNvPr id="11" name="Shape 8"/>
          <p:cNvSpPr/>
          <p:nvPr/>
        </p:nvSpPr>
        <p:spPr>
          <a:xfrm>
            <a:off x="2483510" y="6387998"/>
            <a:ext cx="75895" cy="200254"/>
          </a:xfrm>
          <a:prstGeom prst="rect">
            <a:avLst/>
          </a:prstGeom>
          <a:solidFill>
            <a:srgbClr val="FFFFFF">
              <a:alpha val="40000"/>
            </a:srgbClr>
          </a:solidFill>
          <a:ln/>
        </p:spPr>
      </p:sp>
      <p:sp>
        <p:nvSpPr>
          <p:cNvPr id="12" name="Shape 9"/>
          <p:cNvSpPr/>
          <p:nvPr/>
        </p:nvSpPr>
        <p:spPr>
          <a:xfrm>
            <a:off x="2636215" y="6244438"/>
            <a:ext cx="75895" cy="342900"/>
          </a:xfrm>
          <a:prstGeom prst="rect">
            <a:avLst/>
          </a:prstGeom>
          <a:solidFill>
            <a:srgbClr val="FFFFFF">
              <a:alpha val="40000"/>
            </a:srgbClr>
          </a:solidFill>
          <a:ln/>
        </p:spPr>
      </p:sp>
      <p:sp>
        <p:nvSpPr>
          <p:cNvPr id="13" name="Shape 10"/>
          <p:cNvSpPr/>
          <p:nvPr/>
        </p:nvSpPr>
        <p:spPr>
          <a:xfrm>
            <a:off x="2788006" y="6302045"/>
            <a:ext cx="75895" cy="286207"/>
          </a:xfrm>
          <a:prstGeom prst="rect">
            <a:avLst/>
          </a:prstGeom>
          <a:solidFill>
            <a:srgbClr val="FFFFFF">
              <a:alpha val="40000"/>
            </a:srgbClr>
          </a:solidFill>
          <a:ln/>
        </p:spPr>
      </p:sp>
      <p:sp>
        <p:nvSpPr>
          <p:cNvPr id="14" name="Shape 11"/>
          <p:cNvSpPr/>
          <p:nvPr/>
        </p:nvSpPr>
        <p:spPr>
          <a:xfrm>
            <a:off x="2940710" y="6159398"/>
            <a:ext cx="75895" cy="428854"/>
          </a:xfrm>
          <a:prstGeom prst="rect">
            <a:avLst/>
          </a:prstGeom>
          <a:solidFill>
            <a:srgbClr val="FFFFFF">
              <a:alpha val="40000"/>
            </a:srgbClr>
          </a:solidFill>
          <a:ln/>
        </p:spPr>
      </p:sp>
      <p:sp>
        <p:nvSpPr>
          <p:cNvPr id="15" name="Shape 12"/>
          <p:cNvSpPr/>
          <p:nvPr/>
        </p:nvSpPr>
        <p:spPr>
          <a:xfrm>
            <a:off x="3093415" y="6216091"/>
            <a:ext cx="75895" cy="371246"/>
          </a:xfrm>
          <a:prstGeom prst="rect">
            <a:avLst/>
          </a:prstGeom>
          <a:solidFill>
            <a:srgbClr val="FFFFFF">
              <a:alpha val="40000"/>
            </a:srgbClr>
          </a:solidFill>
          <a:ln/>
        </p:spPr>
      </p:sp>
      <p:sp>
        <p:nvSpPr>
          <p:cNvPr id="16" name="Shape 13"/>
          <p:cNvSpPr/>
          <p:nvPr/>
        </p:nvSpPr>
        <p:spPr>
          <a:xfrm>
            <a:off x="3245206" y="6073445"/>
            <a:ext cx="75895" cy="514807"/>
          </a:xfrm>
          <a:prstGeom prst="rect">
            <a:avLst/>
          </a:prstGeom>
          <a:solidFill>
            <a:srgbClr val="FFFFFF"/>
          </a:solidFill>
          <a:ln/>
        </p:spPr>
      </p:sp>
      <p:sp>
        <p:nvSpPr>
          <p:cNvPr id="17" name="Text 14"/>
          <p:cNvSpPr txBox="1"/>
          <p:nvPr/>
        </p:nvSpPr>
        <p:spPr>
          <a:xfrm>
            <a:off x="5309921" y="1380744"/>
            <a:ext cx="1686154" cy="305410"/>
          </a:xfrm>
          <a:prstGeom prst="rect">
            <a:avLst/>
          </a:prstGeom>
          <a:noFill/>
          <a:ln/>
        </p:spPr>
        <p:txBody>
          <a:bodyPr wrap="square" lIns="0" tIns="0" rIns="0" bIns="0" rtlCol="0" anchor="ctr"/>
          <a:lstStyle/>
          <a:p>
            <a:pPr algn="l" indent="0" marL="0">
              <a:buNone/>
            </a:pPr>
            <a:r>
              <a:rPr lang="en-US" sz="1800" b="1" dirty="0">
                <a:solidFill>
                  <a:srgbClr val="323130"/>
                </a:solidFill>
                <a:latin typeface="Segoe UI" pitchFamily="34" charset="0"/>
                <a:ea typeface="Segoe UI" pitchFamily="34" charset="-122"/>
                <a:cs typeface="Segoe UI" pitchFamily="34" charset="-120"/>
              </a:rPr>
              <a:t>Business Value</a:t>
            </a:r>
            <a:endParaRPr lang="en-US" sz="1800" dirty="0"/>
          </a:p>
        </p:txBody>
      </p:sp>
      <p:sp>
        <p:nvSpPr>
          <p:cNvPr id="18" name="Text 15"/>
          <p:cNvSpPr txBox="1"/>
          <p:nvPr/>
        </p:nvSpPr>
        <p:spPr>
          <a:xfrm>
            <a:off x="5309921" y="1762049"/>
            <a:ext cx="3183941" cy="191110"/>
          </a:xfrm>
          <a:prstGeom prst="rect">
            <a:avLst/>
          </a:prstGeom>
          <a:noFill/>
          <a:ln/>
        </p:spPr>
        <p:txBody>
          <a:bodyPr wrap="square" lIns="0" tIns="0" rIns="0" bIns="0" rtlCol="0" anchor="ctr"/>
          <a:lstStyle/>
          <a:p>
            <a:pPr algn="l" indent="0" marL="0">
              <a:buNone/>
            </a:pPr>
            <a:r>
              <a:rPr lang="en-US" sz="1100" dirty="0">
                <a:solidFill>
                  <a:srgbClr val="605E5C"/>
                </a:solidFill>
                <a:latin typeface="Segoe UI" pitchFamily="34" charset="0"/>
                <a:ea typeface="Segoe UI" pitchFamily="34" charset="-122"/>
                <a:cs typeface="Segoe UI" pitchFamily="34" charset="-120"/>
              </a:rPr>
              <a:t>Strategic impact of automating the audit process</a:t>
            </a:r>
            <a:endParaRPr lang="en-US" sz="1100" dirty="0"/>
          </a:p>
        </p:txBody>
      </p:sp>
      <p:sp>
        <p:nvSpPr>
          <p:cNvPr id="19" name="Shape 16"/>
          <p:cNvSpPr/>
          <p:nvPr/>
        </p:nvSpPr>
        <p:spPr>
          <a:xfrm>
            <a:off x="5309921" y="2204618"/>
            <a:ext cx="3066898" cy="2247595"/>
          </a:xfrm>
          <a:prstGeom prst="roundRect">
            <a:avLst>
              <a:gd name="adj" fmla="val 1379"/>
            </a:avLst>
          </a:prstGeom>
          <a:solidFill>
            <a:srgbClr val="FFFFFF"/>
          </a:solidFill>
          <a:ln w="12700">
            <a:solidFill>
              <a:srgbClr val="E1DFDD"/>
            </a:solidFill>
            <a:prstDash val="solid"/>
          </a:ln>
        </p:spPr>
      </p:sp>
      <p:sp>
        <p:nvSpPr>
          <p:cNvPr id="20" name="Shape 17"/>
          <p:cNvSpPr/>
          <p:nvPr/>
        </p:nvSpPr>
        <p:spPr>
          <a:xfrm>
            <a:off x="5309921" y="2443277"/>
            <a:ext cx="38405" cy="1743761"/>
          </a:xfrm>
          <a:prstGeom prst="rect">
            <a:avLst/>
          </a:prstGeom>
          <a:solidFill>
            <a:srgbClr val="0078D4"/>
          </a:solidFill>
          <a:ln/>
        </p:spPr>
      </p:sp>
      <p:sp>
        <p:nvSpPr>
          <p:cNvPr id="21" name="Shape 18"/>
          <p:cNvSpPr/>
          <p:nvPr/>
        </p:nvSpPr>
        <p:spPr>
          <a:xfrm>
            <a:off x="5557723" y="2452421"/>
            <a:ext cx="400507" cy="400507"/>
          </a:xfrm>
          <a:prstGeom prst="ellipse">
            <a:avLst/>
          </a:prstGeom>
          <a:solidFill>
            <a:srgbClr val="EFF6FC"/>
          </a:solidFill>
          <a:ln/>
        </p:spPr>
      </p:sp>
      <p:pic>
        <p:nvPicPr>
          <p:cNvPr id="22" name="Image 1" descr="preencoded.png">    </p:cNvPr>
          <p:cNvPicPr>
            <a:picLocks noChangeAspect="1"/>
          </p:cNvPicPr>
          <p:nvPr/>
        </p:nvPicPr>
        <p:blipFill>
          <a:blip r:embed="rId2"/>
          <a:srcRect l="0" r="0" t="-842" b="-842"/>
          <a:stretch/>
        </p:blipFill>
        <p:spPr>
          <a:xfrm>
            <a:off x="5662879" y="2566721"/>
            <a:ext cx="190195" cy="171907"/>
          </a:xfrm>
          <a:prstGeom prst="rect">
            <a:avLst/>
          </a:prstGeom>
        </p:spPr>
      </p:pic>
      <p:sp>
        <p:nvSpPr>
          <p:cNvPr id="23" name="Text 19"/>
          <p:cNvSpPr txBox="1"/>
          <p:nvPr/>
        </p:nvSpPr>
        <p:spPr>
          <a:xfrm>
            <a:off x="6100877" y="2541118"/>
            <a:ext cx="1570025" cy="210312"/>
          </a:xfrm>
          <a:prstGeom prst="rect">
            <a:avLst/>
          </a:prstGeom>
          <a:noFill/>
          <a:ln/>
        </p:spPr>
        <p:txBody>
          <a:bodyPr wrap="square" lIns="0" tIns="0" rIns="0" bIns="0" rtlCol="0" anchor="ctr"/>
          <a:lstStyle/>
          <a:p>
            <a:pPr algn="l" indent="0" marL="0">
              <a:buNone/>
            </a:pPr>
            <a:r>
              <a:rPr lang="en-US" sz="1200" b="1" dirty="0">
                <a:solidFill>
                  <a:srgbClr val="201F1E"/>
                </a:solidFill>
                <a:latin typeface="Segoe UI" pitchFamily="34" charset="0"/>
                <a:ea typeface="Segoe UI" pitchFamily="34" charset="-122"/>
                <a:cs typeface="Segoe UI" pitchFamily="34" charset="-120"/>
              </a:rPr>
              <a:t>Consistent Visibility</a:t>
            </a:r>
            <a:endParaRPr lang="en-US" sz="1200" dirty="0"/>
          </a:p>
        </p:txBody>
      </p:sp>
      <p:sp>
        <p:nvSpPr>
          <p:cNvPr id="24" name="Text 20"/>
          <p:cNvSpPr txBox="1"/>
          <p:nvPr/>
        </p:nvSpPr>
        <p:spPr>
          <a:xfrm>
            <a:off x="5557723" y="3004718"/>
            <a:ext cx="2662733" cy="581558"/>
          </a:xfrm>
          <a:prstGeom prst="rect">
            <a:avLst/>
          </a:prstGeom>
          <a:noFill/>
          <a:ln/>
        </p:spPr>
        <p:txBody>
          <a:bodyPr wrap="square" lIns="0" tIns="0" rIns="0" bIns="0" rtlCol="0" anchor="ctr"/>
          <a:lstStyle/>
          <a:p>
            <a:pPr algn="l" indent="0" marL="0">
              <a:buNone/>
            </a:pPr>
            <a:r>
              <a:rPr lang="en-US" sz="1000" dirty="0">
                <a:solidFill>
                  <a:srgbClr val="605E5C"/>
                </a:solidFill>
                <a:latin typeface="Segoe UI" pitchFamily="34" charset="0"/>
                <a:ea typeface="Segoe UI" pitchFamily="34" charset="-122"/>
                <a:cs typeface="Segoe UI" pitchFamily="34" charset="-120"/>
              </a:rPr>
              <a:t>Ensures all stakeholders have the same view of compliance status at the same time, eliminating version control issues.</a:t>
            </a:r>
            <a:endParaRPr lang="en-US" sz="1000" dirty="0"/>
          </a:p>
        </p:txBody>
      </p:sp>
      <p:sp>
        <p:nvSpPr>
          <p:cNvPr id="25" name="Shape 21"/>
          <p:cNvSpPr/>
          <p:nvPr/>
        </p:nvSpPr>
        <p:spPr>
          <a:xfrm>
            <a:off x="8560613" y="2204618"/>
            <a:ext cx="3066898" cy="2247595"/>
          </a:xfrm>
          <a:prstGeom prst="roundRect">
            <a:avLst>
              <a:gd name="adj" fmla="val 1379"/>
            </a:avLst>
          </a:prstGeom>
          <a:solidFill>
            <a:srgbClr val="FFFFFF"/>
          </a:solidFill>
          <a:ln w="12700">
            <a:solidFill>
              <a:srgbClr val="E1DFDD"/>
            </a:solidFill>
            <a:prstDash val="solid"/>
          </a:ln>
        </p:spPr>
      </p:sp>
      <p:sp>
        <p:nvSpPr>
          <p:cNvPr id="26" name="Shape 22"/>
          <p:cNvSpPr/>
          <p:nvPr/>
        </p:nvSpPr>
        <p:spPr>
          <a:xfrm>
            <a:off x="8560613" y="2443277"/>
            <a:ext cx="38405" cy="1743761"/>
          </a:xfrm>
          <a:prstGeom prst="rect">
            <a:avLst/>
          </a:prstGeom>
          <a:solidFill>
            <a:srgbClr val="0078D4"/>
          </a:solidFill>
          <a:ln/>
        </p:spPr>
      </p:sp>
      <p:sp>
        <p:nvSpPr>
          <p:cNvPr id="27" name="Shape 23"/>
          <p:cNvSpPr/>
          <p:nvPr/>
        </p:nvSpPr>
        <p:spPr>
          <a:xfrm>
            <a:off x="8808415" y="2452421"/>
            <a:ext cx="400507" cy="400507"/>
          </a:xfrm>
          <a:prstGeom prst="ellipse">
            <a:avLst/>
          </a:prstGeom>
          <a:solidFill>
            <a:srgbClr val="EFF6FC"/>
          </a:solidFill>
          <a:ln/>
        </p:spPr>
      </p:sp>
      <p:pic>
        <p:nvPicPr>
          <p:cNvPr id="28" name="Image 2" descr="preencoded.png">    </p:cNvPr>
          <p:cNvPicPr>
            <a:picLocks noChangeAspect="1"/>
          </p:cNvPicPr>
          <p:nvPr/>
        </p:nvPicPr>
        <p:blipFill>
          <a:blip r:embed="rId3"/>
          <a:srcRect l="-1064" r="-1064" t="0" b="0"/>
          <a:stretch/>
        </p:blipFill>
        <p:spPr>
          <a:xfrm>
            <a:off x="8898941" y="2566721"/>
            <a:ext cx="219456" cy="171907"/>
          </a:xfrm>
          <a:prstGeom prst="rect">
            <a:avLst/>
          </a:prstGeom>
        </p:spPr>
      </p:pic>
      <p:sp>
        <p:nvSpPr>
          <p:cNvPr id="29" name="Text 24"/>
          <p:cNvSpPr txBox="1"/>
          <p:nvPr/>
        </p:nvSpPr>
        <p:spPr>
          <a:xfrm>
            <a:off x="9351569" y="2541118"/>
            <a:ext cx="1731874" cy="210312"/>
          </a:xfrm>
          <a:prstGeom prst="rect">
            <a:avLst/>
          </a:prstGeom>
          <a:noFill/>
          <a:ln/>
        </p:spPr>
        <p:txBody>
          <a:bodyPr wrap="square" lIns="0" tIns="0" rIns="0" bIns="0" rtlCol="0" anchor="ctr"/>
          <a:lstStyle/>
          <a:p>
            <a:pPr algn="l" indent="0" marL="0">
              <a:buNone/>
            </a:pPr>
            <a:r>
              <a:rPr lang="en-US" sz="1200" b="1" dirty="0">
                <a:solidFill>
                  <a:srgbClr val="201F1E"/>
                </a:solidFill>
                <a:latin typeface="Segoe UI" pitchFamily="34" charset="0"/>
                <a:ea typeface="Segoe UI" pitchFamily="34" charset="-122"/>
                <a:cs typeface="Segoe UI" pitchFamily="34" charset="-120"/>
              </a:rPr>
              <a:t>Operational Efficiency</a:t>
            </a:r>
            <a:endParaRPr lang="en-US" sz="1200" dirty="0"/>
          </a:p>
        </p:txBody>
      </p:sp>
      <p:sp>
        <p:nvSpPr>
          <p:cNvPr id="30" name="Text 25"/>
          <p:cNvSpPr txBox="1"/>
          <p:nvPr/>
        </p:nvSpPr>
        <p:spPr>
          <a:xfrm>
            <a:off x="8808415" y="3004718"/>
            <a:ext cx="2348179" cy="581558"/>
          </a:xfrm>
          <a:prstGeom prst="rect">
            <a:avLst/>
          </a:prstGeom>
          <a:noFill/>
          <a:ln/>
        </p:spPr>
        <p:txBody>
          <a:bodyPr wrap="square" lIns="0" tIns="0" rIns="0" bIns="0" rtlCol="0" anchor="ctr"/>
          <a:lstStyle/>
          <a:p>
            <a:pPr algn="l" indent="0" marL="0">
              <a:buNone/>
            </a:pPr>
            <a:r>
              <a:rPr lang="en-US" sz="1000" dirty="0">
                <a:solidFill>
                  <a:srgbClr val="605E5C"/>
                </a:solidFill>
                <a:latin typeface="Segoe UI" pitchFamily="34" charset="0"/>
                <a:ea typeface="Segoe UI" pitchFamily="34" charset="-122"/>
                <a:cs typeface="Segoe UI" pitchFamily="34" charset="-120"/>
              </a:rPr>
              <a:t>Reduces operational overhead by automating repetitive extraction tasks, allowing teams to focus on resolution.</a:t>
            </a:r>
            <a:endParaRPr lang="en-US" sz="1000" dirty="0"/>
          </a:p>
        </p:txBody>
      </p:sp>
      <p:sp>
        <p:nvSpPr>
          <p:cNvPr id="31" name="Shape 26"/>
          <p:cNvSpPr/>
          <p:nvPr/>
        </p:nvSpPr>
        <p:spPr>
          <a:xfrm>
            <a:off x="5309921" y="4634179"/>
            <a:ext cx="3066898" cy="2247595"/>
          </a:xfrm>
          <a:prstGeom prst="roundRect">
            <a:avLst>
              <a:gd name="adj" fmla="val 1379"/>
            </a:avLst>
          </a:prstGeom>
          <a:solidFill>
            <a:srgbClr val="FFFFFF"/>
          </a:solidFill>
          <a:ln w="12700">
            <a:solidFill>
              <a:srgbClr val="E1DFDD"/>
            </a:solidFill>
            <a:prstDash val="solid"/>
          </a:ln>
        </p:spPr>
      </p:sp>
      <p:sp>
        <p:nvSpPr>
          <p:cNvPr id="32" name="Shape 27"/>
          <p:cNvSpPr/>
          <p:nvPr/>
        </p:nvSpPr>
        <p:spPr>
          <a:xfrm>
            <a:off x="5309921" y="4872838"/>
            <a:ext cx="38405" cy="1743761"/>
          </a:xfrm>
          <a:prstGeom prst="rect">
            <a:avLst/>
          </a:prstGeom>
          <a:solidFill>
            <a:srgbClr val="0078D4"/>
          </a:solidFill>
          <a:ln/>
        </p:spPr>
      </p:sp>
      <p:sp>
        <p:nvSpPr>
          <p:cNvPr id="33" name="Shape 28"/>
          <p:cNvSpPr/>
          <p:nvPr/>
        </p:nvSpPr>
        <p:spPr>
          <a:xfrm>
            <a:off x="5557723" y="4881982"/>
            <a:ext cx="400507" cy="400507"/>
          </a:xfrm>
          <a:prstGeom prst="ellipse">
            <a:avLst/>
          </a:prstGeom>
          <a:solidFill>
            <a:srgbClr val="EFF6FC"/>
          </a:solidFill>
          <a:ln/>
        </p:spPr>
      </p:sp>
      <p:pic>
        <p:nvPicPr>
          <p:cNvPr id="34" name="Image 3" descr="preencoded.png">    </p:cNvPr>
          <p:cNvPicPr>
            <a:picLocks noChangeAspect="1"/>
          </p:cNvPicPr>
          <p:nvPr/>
        </p:nvPicPr>
        <p:blipFill>
          <a:blip r:embed="rId4"/>
          <a:srcRect l="-1773" r="-1773" t="0" b="0"/>
          <a:stretch/>
        </p:blipFill>
        <p:spPr>
          <a:xfrm>
            <a:off x="5691226" y="4996282"/>
            <a:ext cx="133502" cy="171907"/>
          </a:xfrm>
          <a:prstGeom prst="rect">
            <a:avLst/>
          </a:prstGeom>
        </p:spPr>
      </p:pic>
      <p:sp>
        <p:nvSpPr>
          <p:cNvPr id="35" name="Text 29"/>
          <p:cNvSpPr txBox="1"/>
          <p:nvPr/>
        </p:nvSpPr>
        <p:spPr>
          <a:xfrm>
            <a:off x="6100877" y="4970678"/>
            <a:ext cx="1741018" cy="210312"/>
          </a:xfrm>
          <a:prstGeom prst="rect">
            <a:avLst/>
          </a:prstGeom>
          <a:noFill/>
          <a:ln/>
        </p:spPr>
        <p:txBody>
          <a:bodyPr wrap="square" lIns="0" tIns="0" rIns="0" bIns="0" rtlCol="0" anchor="ctr"/>
          <a:lstStyle/>
          <a:p>
            <a:pPr algn="l" indent="0" marL="0">
              <a:buNone/>
            </a:pPr>
            <a:r>
              <a:rPr lang="en-US" sz="1200" b="1" dirty="0">
                <a:solidFill>
                  <a:srgbClr val="201F1E"/>
                </a:solidFill>
                <a:latin typeface="Segoe UI" pitchFamily="34" charset="0"/>
                <a:ea typeface="Segoe UI" pitchFamily="34" charset="-122"/>
                <a:cs typeface="Segoe UI" pitchFamily="34" charset="-120"/>
              </a:rPr>
              <a:t>Improved Compliance</a:t>
            </a:r>
            <a:endParaRPr lang="en-US" sz="1200" dirty="0"/>
          </a:p>
        </p:txBody>
      </p:sp>
      <p:sp>
        <p:nvSpPr>
          <p:cNvPr id="36" name="Text 30"/>
          <p:cNvSpPr txBox="1"/>
          <p:nvPr/>
        </p:nvSpPr>
        <p:spPr>
          <a:xfrm>
            <a:off x="5557723" y="5434279"/>
            <a:ext cx="2520086" cy="781812"/>
          </a:xfrm>
          <a:prstGeom prst="rect">
            <a:avLst/>
          </a:prstGeom>
          <a:noFill/>
          <a:ln/>
        </p:spPr>
        <p:txBody>
          <a:bodyPr wrap="square" lIns="0" tIns="0" rIns="0" bIns="0" rtlCol="0" anchor="ctr"/>
          <a:lstStyle/>
          <a:p>
            <a:pPr algn="l" indent="0" marL="0">
              <a:buNone/>
            </a:pPr>
            <a:r>
              <a:rPr lang="en-US" sz="1000" dirty="0">
                <a:solidFill>
                  <a:srgbClr val="605E5C"/>
                </a:solidFill>
                <a:latin typeface="Segoe UI" pitchFamily="34" charset="0"/>
                <a:ea typeface="Segoe UI" pitchFamily="34" charset="-122"/>
                <a:cs typeface="Segoe UI" pitchFamily="34" charset="-120"/>
              </a:rPr>
              <a:t>Enhances compliance monitoring capabilities through regular, reliable reporting that doesn't depend on human availability.</a:t>
            </a:r>
            <a:endParaRPr lang="en-US" sz="1000" dirty="0"/>
          </a:p>
        </p:txBody>
      </p:sp>
      <p:sp>
        <p:nvSpPr>
          <p:cNvPr id="37" name="Shape 31"/>
          <p:cNvSpPr/>
          <p:nvPr/>
        </p:nvSpPr>
        <p:spPr>
          <a:xfrm>
            <a:off x="8560613" y="4634179"/>
            <a:ext cx="3066898" cy="2247595"/>
          </a:xfrm>
          <a:prstGeom prst="roundRect">
            <a:avLst>
              <a:gd name="adj" fmla="val 1379"/>
            </a:avLst>
          </a:prstGeom>
          <a:solidFill>
            <a:srgbClr val="FFFFFF"/>
          </a:solidFill>
          <a:ln w="12700">
            <a:solidFill>
              <a:srgbClr val="E1DFDD"/>
            </a:solidFill>
            <a:prstDash val="solid"/>
          </a:ln>
        </p:spPr>
      </p:sp>
      <p:sp>
        <p:nvSpPr>
          <p:cNvPr id="38" name="Shape 32"/>
          <p:cNvSpPr/>
          <p:nvPr/>
        </p:nvSpPr>
        <p:spPr>
          <a:xfrm>
            <a:off x="8560613" y="4872838"/>
            <a:ext cx="38405" cy="1743761"/>
          </a:xfrm>
          <a:prstGeom prst="rect">
            <a:avLst/>
          </a:prstGeom>
          <a:solidFill>
            <a:srgbClr val="0078D4"/>
          </a:solidFill>
          <a:ln/>
        </p:spPr>
      </p:sp>
      <p:sp>
        <p:nvSpPr>
          <p:cNvPr id="39" name="Shape 33"/>
          <p:cNvSpPr/>
          <p:nvPr/>
        </p:nvSpPr>
        <p:spPr>
          <a:xfrm>
            <a:off x="8808415" y="4881982"/>
            <a:ext cx="400507" cy="400507"/>
          </a:xfrm>
          <a:prstGeom prst="ellipse">
            <a:avLst/>
          </a:prstGeom>
          <a:solidFill>
            <a:srgbClr val="EFF6FC"/>
          </a:solidFill>
          <a:ln/>
        </p:spPr>
      </p:sp>
      <p:pic>
        <p:nvPicPr>
          <p:cNvPr id="40" name="Image 4" descr="preencoded.png">    </p:cNvPr>
          <p:cNvPicPr>
            <a:picLocks noChangeAspect="1"/>
          </p:cNvPicPr>
          <p:nvPr/>
        </p:nvPicPr>
        <p:blipFill>
          <a:blip r:embed="rId5"/>
          <a:srcRect l="0" r="0" t="0" b="0"/>
          <a:stretch/>
        </p:blipFill>
        <p:spPr>
          <a:xfrm>
            <a:off x="8922715" y="4996282"/>
            <a:ext cx="171907" cy="171907"/>
          </a:xfrm>
          <a:prstGeom prst="rect">
            <a:avLst/>
          </a:prstGeom>
        </p:spPr>
      </p:pic>
      <p:sp>
        <p:nvSpPr>
          <p:cNvPr id="41" name="Text 34"/>
          <p:cNvSpPr txBox="1"/>
          <p:nvPr/>
        </p:nvSpPr>
        <p:spPr>
          <a:xfrm>
            <a:off x="9351569" y="4970678"/>
            <a:ext cx="1445666" cy="210312"/>
          </a:xfrm>
          <a:prstGeom prst="rect">
            <a:avLst/>
          </a:prstGeom>
          <a:noFill/>
          <a:ln/>
        </p:spPr>
        <p:txBody>
          <a:bodyPr wrap="square" lIns="0" tIns="0" rIns="0" bIns="0" rtlCol="0" anchor="ctr"/>
          <a:lstStyle/>
          <a:p>
            <a:pPr algn="l" indent="0" marL="0">
              <a:buNone/>
            </a:pPr>
            <a:r>
              <a:rPr lang="en-US" sz="1200" b="1" dirty="0">
                <a:solidFill>
                  <a:srgbClr val="201F1E"/>
                </a:solidFill>
                <a:latin typeface="Segoe UI" pitchFamily="34" charset="0"/>
                <a:ea typeface="Segoe UI" pitchFamily="34" charset="-122"/>
                <a:cs typeface="Segoe UI" pitchFamily="34" charset="-120"/>
              </a:rPr>
              <a:t>Risk Management</a:t>
            </a:r>
            <a:endParaRPr lang="en-US" sz="1200" dirty="0"/>
          </a:p>
        </p:txBody>
      </p:sp>
      <p:sp>
        <p:nvSpPr>
          <p:cNvPr id="42" name="Text 35"/>
          <p:cNvSpPr txBox="1"/>
          <p:nvPr/>
        </p:nvSpPr>
        <p:spPr>
          <a:xfrm>
            <a:off x="8808415" y="5434279"/>
            <a:ext cx="2662733" cy="581558"/>
          </a:xfrm>
          <a:prstGeom prst="rect">
            <a:avLst/>
          </a:prstGeom>
          <a:noFill/>
          <a:ln/>
        </p:spPr>
        <p:txBody>
          <a:bodyPr wrap="square" lIns="0" tIns="0" rIns="0" bIns="0" rtlCol="0" anchor="ctr"/>
          <a:lstStyle/>
          <a:p>
            <a:pPr algn="l" indent="0" marL="0">
              <a:buNone/>
            </a:pPr>
            <a:r>
              <a:rPr lang="en-US" sz="1000" dirty="0">
                <a:solidFill>
                  <a:srgbClr val="605E5C"/>
                </a:solidFill>
                <a:latin typeface="Segoe UI" pitchFamily="34" charset="0"/>
                <a:ea typeface="Segoe UI" pitchFamily="34" charset="-122"/>
                <a:cs typeface="Segoe UI" pitchFamily="34" charset="-120"/>
              </a:rPr>
              <a:t>Enables proactive risk management by surfacing audit findings faster, reducing the window of exposure.</a:t>
            </a:r>
            <a:endParaRPr lang="en-US" sz="1000" dirty="0"/>
          </a:p>
        </p:txBody>
      </p:sp>
      <p:sp>
        <p:nvSpPr>
          <p:cNvPr id="43" name="Shape 36"/>
          <p:cNvSpPr/>
          <p:nvPr/>
        </p:nvSpPr>
        <p:spPr>
          <a:xfrm>
            <a:off x="0" y="7349947"/>
            <a:ext cx="12191695" cy="9144"/>
          </a:xfrm>
          <a:prstGeom prst="rect">
            <a:avLst/>
          </a:prstGeom>
          <a:solidFill>
            <a:srgbClr val="EDEBE9"/>
          </a:solidFill>
          <a:ln/>
        </p:spPr>
      </p:sp>
      <p:sp>
        <p:nvSpPr>
          <p:cNvPr id="44" name="Text 37"/>
          <p:cNvSpPr txBox="1"/>
          <p:nvPr/>
        </p:nvSpPr>
        <p:spPr>
          <a:xfrm>
            <a:off x="8825789" y="7369150"/>
            <a:ext cx="2886761" cy="152705"/>
          </a:xfrm>
          <a:prstGeom prst="rect">
            <a:avLst/>
          </a:prstGeom>
          <a:noFill/>
          <a:ln/>
        </p:spPr>
        <p:txBody>
          <a:bodyPr wrap="square" lIns="0" tIns="0" rIns="0" bIns="0" rtlCol="0" anchor="ctr"/>
          <a:lstStyle/>
          <a:p>
            <a:pPr algn="l" indent="0" marL="0">
              <a:buNone/>
            </a:pPr>
            <a:r>
              <a:rPr lang="en-US" sz="900" dirty="0">
                <a:solidFill>
                  <a:srgbClr val="A19F9D"/>
                </a:solidFill>
                <a:latin typeface="Segoe UI" pitchFamily="34" charset="0"/>
                <a:ea typeface="Segoe UI" pitchFamily="34" charset="-122"/>
                <a:cs typeface="Segoe UI" pitchFamily="34" charset="-120"/>
              </a:rPr>
              <a:t>Confidential | Factory Delivery Orchestrator Automation</a:t>
            </a:r>
            <a:endParaRPr lang="en-US" sz="900" dirty="0"/>
          </a:p>
        </p:txBody>
      </p:sp>
      <p:sp>
        <p:nvSpPr>
          <p:cNvPr id="45" name="Text 38"/>
          <p:cNvSpPr txBox="1"/>
          <p:nvPr/>
        </p:nvSpPr>
        <p:spPr>
          <a:xfrm>
            <a:off x="857707" y="1666951"/>
            <a:ext cx="2039112" cy="305410"/>
          </a:xfrm>
          <a:prstGeom prst="rect">
            <a:avLst/>
          </a:prstGeom>
          <a:noFill/>
          <a:ln/>
        </p:spPr>
        <p:txBody>
          <a:bodyPr wrap="square" lIns="0" tIns="0" rIns="0" bIns="0" rtlCol="0" anchor="ctr"/>
          <a:lstStyle/>
          <a:p>
            <a:pPr algn="l" indent="0" marL="0">
              <a:buNone/>
            </a:pPr>
            <a:r>
              <a:rPr lang="en-US" sz="1800" b="1" dirty="0">
                <a:solidFill>
                  <a:srgbClr val="FFFFFF"/>
                </a:solidFill>
                <a:latin typeface="Segoe UI" pitchFamily="34" charset="0"/>
                <a:ea typeface="Segoe UI" pitchFamily="34" charset="-122"/>
                <a:cs typeface="Segoe UI" pitchFamily="34" charset="-120"/>
              </a:rPr>
              <a:t>Key Metrics / KPIs</a:t>
            </a:r>
            <a:endParaRPr lang="en-US" sz="1800" dirty="0"/>
          </a:p>
        </p:txBody>
      </p:sp>
      <p:sp>
        <p:nvSpPr>
          <p:cNvPr id="46" name="Text 39"/>
          <p:cNvSpPr txBox="1"/>
          <p:nvPr/>
        </p:nvSpPr>
        <p:spPr>
          <a:xfrm>
            <a:off x="857707" y="2048256"/>
            <a:ext cx="1767535" cy="181051"/>
          </a:xfrm>
          <a:prstGeom prst="rect">
            <a:avLst/>
          </a:prstGeom>
          <a:noFill/>
          <a:ln/>
        </p:spPr>
        <p:txBody>
          <a:bodyPr wrap="square" lIns="0" tIns="0" rIns="0" bIns="0" rtlCol="0" anchor="ctr"/>
          <a:lstStyle/>
          <a:p>
            <a:pPr algn="l" indent="0" marL="0">
              <a:buNone/>
            </a:pPr>
            <a:r>
              <a:rPr lang="en-US" sz="1000" dirty="0">
                <a:solidFill>
                  <a:srgbClr val="FFFFFF"/>
                </a:solidFill>
                <a:latin typeface="Segoe UI" pitchFamily="34" charset="0"/>
                <a:ea typeface="Segoe UI" pitchFamily="34" charset="-122"/>
                <a:cs typeface="Segoe UI" pitchFamily="34" charset="-120"/>
              </a:rPr>
              <a:t>Projected Success Indicators</a:t>
            </a:r>
            <a:endParaRPr lang="en-US" sz="1000" dirty="0"/>
          </a:p>
        </p:txBody>
      </p:sp>
      <p:sp>
        <p:nvSpPr>
          <p:cNvPr id="47" name="Shape 40"/>
          <p:cNvSpPr/>
          <p:nvPr/>
        </p:nvSpPr>
        <p:spPr>
          <a:xfrm>
            <a:off x="857707" y="2523744"/>
            <a:ext cx="1800454" cy="1447495"/>
          </a:xfrm>
          <a:prstGeom prst="roundRect">
            <a:avLst>
              <a:gd name="adj" fmla="val 3325"/>
            </a:avLst>
          </a:prstGeom>
          <a:solidFill>
            <a:srgbClr val="FFFFFF">
              <a:alpha val="10000"/>
            </a:srgbClr>
          </a:solidFill>
          <a:ln w="12700">
            <a:solidFill>
              <a:srgbClr val="FFFFFF">
                <a:alpha val="20000"/>
              </a:srgbClr>
            </a:solidFill>
            <a:prstDash val="solid"/>
          </a:ln>
        </p:spPr>
      </p:sp>
      <p:sp>
        <p:nvSpPr>
          <p:cNvPr id="48" name="Shape 41"/>
          <p:cNvSpPr/>
          <p:nvPr/>
        </p:nvSpPr>
        <p:spPr>
          <a:xfrm>
            <a:off x="2845613" y="2523744"/>
            <a:ext cx="1800454" cy="1447495"/>
          </a:xfrm>
          <a:prstGeom prst="roundRect">
            <a:avLst>
              <a:gd name="adj" fmla="val 3325"/>
            </a:avLst>
          </a:prstGeom>
          <a:solidFill>
            <a:srgbClr val="FFFFFF">
              <a:alpha val="10000"/>
            </a:srgbClr>
          </a:solidFill>
          <a:ln w="12700">
            <a:solidFill>
              <a:srgbClr val="FFFFFF">
                <a:alpha val="20000"/>
              </a:srgbClr>
            </a:solidFill>
            <a:prstDash val="solid"/>
          </a:ln>
        </p:spPr>
      </p:sp>
      <p:sp>
        <p:nvSpPr>
          <p:cNvPr id="49" name="Shape 42"/>
          <p:cNvSpPr/>
          <p:nvPr/>
        </p:nvSpPr>
        <p:spPr>
          <a:xfrm>
            <a:off x="857707" y="4160520"/>
            <a:ext cx="1800454" cy="1447495"/>
          </a:xfrm>
          <a:prstGeom prst="roundRect">
            <a:avLst>
              <a:gd name="adj" fmla="val 3325"/>
            </a:avLst>
          </a:prstGeom>
          <a:solidFill>
            <a:srgbClr val="FFFFFF">
              <a:alpha val="10000"/>
            </a:srgbClr>
          </a:solidFill>
          <a:ln w="12700">
            <a:solidFill>
              <a:srgbClr val="FFFFFF">
                <a:alpha val="20000"/>
              </a:srgbClr>
            </a:solidFill>
            <a:prstDash val="solid"/>
          </a:ln>
        </p:spPr>
      </p:sp>
      <p:sp>
        <p:nvSpPr>
          <p:cNvPr id="50" name="Shape 43"/>
          <p:cNvSpPr/>
          <p:nvPr/>
        </p:nvSpPr>
        <p:spPr>
          <a:xfrm>
            <a:off x="2845613" y="4160520"/>
            <a:ext cx="1800454" cy="1447495"/>
          </a:xfrm>
          <a:prstGeom prst="roundRect">
            <a:avLst>
              <a:gd name="adj" fmla="val 3325"/>
            </a:avLst>
          </a:prstGeom>
          <a:solidFill>
            <a:srgbClr val="FFFFFF">
              <a:alpha val="10000"/>
            </a:srgbClr>
          </a:solidFill>
          <a:ln w="12700">
            <a:solidFill>
              <a:srgbClr val="FFFFFF">
                <a:alpha val="20000"/>
              </a:srgbClr>
            </a:solidFill>
            <a:prstDash val="solid"/>
          </a:ln>
        </p:spPr>
      </p:sp>
      <p:sp>
        <p:nvSpPr>
          <p:cNvPr id="51" name="Text 44"/>
          <p:cNvSpPr txBox="1"/>
          <p:nvPr/>
        </p:nvSpPr>
        <p:spPr>
          <a:xfrm>
            <a:off x="1448410" y="3010205"/>
            <a:ext cx="848563" cy="409651"/>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99%</a:t>
            </a:r>
            <a:endParaRPr lang="en-US" sz="2400" dirty="0"/>
          </a:p>
        </p:txBody>
      </p:sp>
      <p:sp>
        <p:nvSpPr>
          <p:cNvPr id="52" name="Text 45"/>
          <p:cNvSpPr txBox="1"/>
          <p:nvPr/>
        </p:nvSpPr>
        <p:spPr>
          <a:xfrm>
            <a:off x="1537106" y="3438144"/>
            <a:ext cx="541325" cy="162763"/>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Delivery</a:t>
            </a:r>
            <a:endParaRPr lang="en-US" sz="900" dirty="0"/>
          </a:p>
        </p:txBody>
      </p:sp>
      <p:sp>
        <p:nvSpPr>
          <p:cNvPr id="53" name="Text 46"/>
          <p:cNvSpPr txBox="1"/>
          <p:nvPr/>
        </p:nvSpPr>
        <p:spPr>
          <a:xfrm>
            <a:off x="1407262" y="3599993"/>
            <a:ext cx="798271" cy="162763"/>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Success Rate</a:t>
            </a:r>
            <a:endParaRPr lang="en-US" sz="900" dirty="0"/>
          </a:p>
        </p:txBody>
      </p:sp>
      <p:sp>
        <p:nvSpPr>
          <p:cNvPr id="54" name="Text 47"/>
          <p:cNvSpPr txBox="1"/>
          <p:nvPr/>
        </p:nvSpPr>
        <p:spPr>
          <a:xfrm>
            <a:off x="3332988" y="3010205"/>
            <a:ext cx="1057961" cy="409651"/>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-8 hrs</a:t>
            </a:r>
            <a:endParaRPr lang="en-US" sz="2400" dirty="0"/>
          </a:p>
        </p:txBody>
      </p:sp>
      <p:sp>
        <p:nvSpPr>
          <p:cNvPr id="55" name="Text 48"/>
          <p:cNvSpPr txBox="1"/>
          <p:nvPr/>
        </p:nvSpPr>
        <p:spPr>
          <a:xfrm>
            <a:off x="3327502" y="3438144"/>
            <a:ext cx="931774" cy="162763"/>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Weekly Manual</a:t>
            </a:r>
            <a:endParaRPr lang="en-US" sz="900" dirty="0"/>
          </a:p>
        </p:txBody>
      </p:sp>
      <p:sp>
        <p:nvSpPr>
          <p:cNvPr id="56" name="Text 49"/>
          <p:cNvSpPr txBox="1"/>
          <p:nvPr/>
        </p:nvSpPr>
        <p:spPr>
          <a:xfrm>
            <a:off x="3342132" y="3599993"/>
            <a:ext cx="902513" cy="162763"/>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Effort Reduced</a:t>
            </a:r>
            <a:endParaRPr lang="en-US" sz="900" dirty="0"/>
          </a:p>
        </p:txBody>
      </p:sp>
      <p:sp>
        <p:nvSpPr>
          <p:cNvPr id="57" name="Text 50"/>
          <p:cNvSpPr txBox="1"/>
          <p:nvPr/>
        </p:nvSpPr>
        <p:spPr>
          <a:xfrm>
            <a:off x="1291133" y="4646066"/>
            <a:ext cx="1162202" cy="409651"/>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&lt; 15m</a:t>
            </a:r>
            <a:endParaRPr lang="en-US" sz="2400" dirty="0"/>
          </a:p>
        </p:txBody>
      </p:sp>
      <p:sp>
        <p:nvSpPr>
          <p:cNvPr id="58" name="Text 51"/>
          <p:cNvSpPr txBox="1"/>
          <p:nvPr/>
        </p:nvSpPr>
        <p:spPr>
          <a:xfrm>
            <a:off x="1486814" y="5074920"/>
            <a:ext cx="636422" cy="162763"/>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Reporting</a:t>
            </a:r>
            <a:endParaRPr lang="en-US" sz="900" dirty="0"/>
          </a:p>
        </p:txBody>
      </p:sp>
      <p:sp>
        <p:nvSpPr>
          <p:cNvPr id="59" name="Text 52"/>
          <p:cNvSpPr txBox="1"/>
          <p:nvPr/>
        </p:nvSpPr>
        <p:spPr>
          <a:xfrm>
            <a:off x="1286561" y="5235854"/>
            <a:ext cx="1036015" cy="162763"/>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Turnaround Time</a:t>
            </a:r>
            <a:endParaRPr lang="en-US" sz="900" dirty="0"/>
          </a:p>
        </p:txBody>
      </p:sp>
      <p:sp>
        <p:nvSpPr>
          <p:cNvPr id="60" name="Text 53"/>
          <p:cNvSpPr txBox="1"/>
          <p:nvPr/>
        </p:nvSpPr>
        <p:spPr>
          <a:xfrm>
            <a:off x="3397910" y="4646066"/>
            <a:ext cx="924458" cy="409651"/>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High</a:t>
            </a:r>
            <a:endParaRPr lang="en-US" sz="2400" dirty="0"/>
          </a:p>
        </p:txBody>
      </p:sp>
      <p:sp>
        <p:nvSpPr>
          <p:cNvPr id="61" name="Text 54"/>
          <p:cNvSpPr txBox="1"/>
          <p:nvPr/>
        </p:nvSpPr>
        <p:spPr>
          <a:xfrm>
            <a:off x="3421685" y="5074920"/>
            <a:ext cx="740664" cy="162763"/>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Stakeholder</a:t>
            </a:r>
            <a:endParaRPr lang="en-US" sz="900" dirty="0"/>
          </a:p>
        </p:txBody>
      </p:sp>
      <p:sp>
        <p:nvSpPr>
          <p:cNvPr id="62" name="Text 55"/>
          <p:cNvSpPr txBox="1"/>
          <p:nvPr/>
        </p:nvSpPr>
        <p:spPr>
          <a:xfrm>
            <a:off x="3430829" y="5235854"/>
            <a:ext cx="722376" cy="162763"/>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Satisfaction</a:t>
            </a:r>
            <a:endParaRPr lang="en-US" sz="900" dirty="0"/>
          </a:p>
        </p:txBody>
      </p:sp>
      <p:pic>
        <p:nvPicPr>
          <p:cNvPr id="63" name="Image 5" descr="preencoded.png">    </p:cNvPr>
          <p:cNvPicPr>
            <a:picLocks noChangeAspect="1"/>
          </p:cNvPicPr>
          <p:nvPr/>
        </p:nvPicPr>
        <p:blipFill>
          <a:blip r:embed="rId6">
            <a:alphaModFix amt="90000"/>
          </a:blip>
          <a:srcRect l="0" r="0" t="0" b="0"/>
          <a:stretch/>
        </p:blipFill>
        <p:spPr>
          <a:xfrm>
            <a:off x="1642262" y="2723998"/>
            <a:ext cx="228600" cy="228600"/>
          </a:xfrm>
          <a:prstGeom prst="rect">
            <a:avLst/>
          </a:prstGeom>
        </p:spPr>
      </p:pic>
      <p:pic>
        <p:nvPicPr>
          <p:cNvPr id="64" name="Image 6" descr="preencoded.png">    </p:cNvPr>
          <p:cNvPicPr>
            <a:picLocks noChangeAspect="1"/>
          </p:cNvPicPr>
          <p:nvPr/>
        </p:nvPicPr>
        <p:blipFill>
          <a:blip r:embed="rId7">
            <a:alphaModFix amt="90000"/>
          </a:blip>
          <a:srcRect l="0" r="0" t="0" b="0"/>
          <a:stretch/>
        </p:blipFill>
        <p:spPr>
          <a:xfrm>
            <a:off x="3630168" y="2723998"/>
            <a:ext cx="228600" cy="228600"/>
          </a:xfrm>
          <a:prstGeom prst="rect">
            <a:avLst/>
          </a:prstGeom>
        </p:spPr>
      </p:pic>
      <p:pic>
        <p:nvPicPr>
          <p:cNvPr id="65" name="Image 7" descr="preencoded.png">    </p:cNvPr>
          <p:cNvPicPr>
            <a:picLocks noChangeAspect="1"/>
          </p:cNvPicPr>
          <p:nvPr/>
        </p:nvPicPr>
        <p:blipFill>
          <a:blip r:embed="rId8">
            <a:alphaModFix amt="90000"/>
          </a:blip>
          <a:srcRect l="-57" r="-57" t="0" b="0"/>
          <a:stretch/>
        </p:blipFill>
        <p:spPr>
          <a:xfrm>
            <a:off x="1655978" y="4360774"/>
            <a:ext cx="200254" cy="228600"/>
          </a:xfrm>
          <a:prstGeom prst="rect">
            <a:avLst/>
          </a:prstGeom>
        </p:spPr>
      </p:pic>
      <p:pic>
        <p:nvPicPr>
          <p:cNvPr id="66" name="Image 8" descr="preencoded.png">    </p:cNvPr>
          <p:cNvPicPr>
            <a:picLocks noChangeAspect="1"/>
          </p:cNvPicPr>
          <p:nvPr/>
        </p:nvPicPr>
        <p:blipFill>
          <a:blip r:embed="rId9">
            <a:alphaModFix amt="90000"/>
          </a:blip>
          <a:srcRect l="0" r="0" t="0" b="0"/>
          <a:stretch/>
        </p:blipFill>
        <p:spPr>
          <a:xfrm>
            <a:off x="3630168" y="4360774"/>
            <a:ext cx="228600" cy="228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0"/>
            <a:ext cx="12191695" cy="75895"/>
          </a:xfrm>
          <a:prstGeom prst="rect">
            <a:avLst/>
          </a:prstGeom>
          <a:solidFill>
            <a:srgbClr val="0078D4"/>
          </a:solidFill>
          <a:ln/>
        </p:spPr>
      </p:sp>
      <p:sp>
        <p:nvSpPr>
          <p:cNvPr id="5" name="Text 3"/>
          <p:cNvSpPr txBox="1"/>
          <p:nvPr/>
        </p:nvSpPr>
        <p:spPr>
          <a:xfrm>
            <a:off x="571500" y="523951"/>
            <a:ext cx="6634886" cy="467258"/>
          </a:xfrm>
          <a:prstGeom prst="rect">
            <a:avLst/>
          </a:prstGeom>
          <a:noFill/>
          <a:ln/>
        </p:spPr>
        <p:txBody>
          <a:bodyPr wrap="square" lIns="0" tIns="0" rIns="0" bIns="0" rtlCol="0" anchor="ctr"/>
          <a:lstStyle/>
          <a:p>
            <a:pPr algn="l" indent="0" marL="0">
              <a:buNone/>
            </a:pPr>
            <a:r>
              <a:rPr lang="en-US" sz="3100" b="1" dirty="0">
                <a:solidFill>
                  <a:srgbClr val="242424"/>
                </a:solidFill>
                <a:latin typeface="Roboto" pitchFamily="34" charset="0"/>
                <a:ea typeface="Roboto" pitchFamily="34" charset="-122"/>
                <a:cs typeface="Roboto" pitchFamily="34" charset="-120"/>
              </a:rPr>
              <a:t>Indicative Technology Stack &amp; Flow</a:t>
            </a:r>
            <a:endParaRPr lang="en-US" sz="3100" dirty="0"/>
          </a:p>
        </p:txBody>
      </p:sp>
      <p:sp>
        <p:nvSpPr>
          <p:cNvPr id="6" name="Text 4"/>
          <p:cNvSpPr txBox="1"/>
          <p:nvPr/>
        </p:nvSpPr>
        <p:spPr>
          <a:xfrm>
            <a:off x="9537192" y="662026"/>
            <a:ext cx="2200961" cy="181051"/>
          </a:xfrm>
          <a:prstGeom prst="rect">
            <a:avLst/>
          </a:prstGeom>
          <a:noFill/>
          <a:ln/>
        </p:spPr>
        <p:txBody>
          <a:bodyPr wrap="square" lIns="0" tIns="0" rIns="0" bIns="0" rtlCol="0" anchor="ctr"/>
          <a:lstStyle/>
          <a:p>
            <a:pPr algn="l" indent="0" marL="0">
              <a:buNone/>
            </a:pPr>
            <a:r>
              <a:rPr lang="en-US" sz="1200" dirty="0">
                <a:solidFill>
                  <a:srgbClr val="666666"/>
                </a:solidFill>
                <a:latin typeface="Roboto" pitchFamily="34" charset="0"/>
                <a:ea typeface="Roboto" pitchFamily="34" charset="-122"/>
                <a:cs typeface="Roboto" pitchFamily="34" charset="-120"/>
              </a:rPr>
              <a:t>FDO Automation / Architecture</a:t>
            </a:r>
            <a:endParaRPr lang="en-US" sz="1200" dirty="0"/>
          </a:p>
        </p:txBody>
      </p:sp>
      <p:sp>
        <p:nvSpPr>
          <p:cNvPr id="7" name="Text 5"/>
          <p:cNvSpPr txBox="1"/>
          <p:nvPr/>
        </p:nvSpPr>
        <p:spPr>
          <a:xfrm>
            <a:off x="619049" y="1595628"/>
            <a:ext cx="1510589" cy="200254"/>
          </a:xfrm>
          <a:prstGeom prst="rect">
            <a:avLst/>
          </a:prstGeom>
          <a:noFill/>
          <a:ln/>
        </p:spPr>
        <p:txBody>
          <a:bodyPr wrap="square" lIns="0" tIns="0" rIns="0" bIns="0" rtlCol="0" anchor="ctr"/>
          <a:lstStyle/>
          <a:p>
            <a:pPr algn="l" indent="0" marL="0">
              <a:buNone/>
            </a:pPr>
            <a:r>
              <a:rPr lang="en-US" sz="1300" dirty="0">
                <a:solidFill>
                  <a:srgbClr val="323130"/>
                </a:solidFill>
                <a:latin typeface="Roboto" pitchFamily="34" charset="0"/>
                <a:ea typeface="Roboto" pitchFamily="34" charset="-122"/>
                <a:cs typeface="Roboto" pitchFamily="34" charset="-120"/>
              </a:rPr>
              <a:t>Core Components</a:t>
            </a:r>
            <a:endParaRPr lang="en-US" sz="1300" dirty="0"/>
          </a:p>
        </p:txBody>
      </p:sp>
      <p:sp>
        <p:nvSpPr>
          <p:cNvPr id="8" name="Shape 6"/>
          <p:cNvSpPr/>
          <p:nvPr/>
        </p:nvSpPr>
        <p:spPr>
          <a:xfrm>
            <a:off x="571500" y="2024482"/>
            <a:ext cx="3047695" cy="647395"/>
          </a:xfrm>
          <a:prstGeom prst="roundRect">
            <a:avLst>
              <a:gd name="adj" fmla="val 8308"/>
            </a:avLst>
          </a:prstGeom>
          <a:solidFill>
            <a:srgbClr val="FFFFFF"/>
          </a:solidFill>
          <a:ln/>
        </p:spPr>
      </p:sp>
      <p:sp>
        <p:nvSpPr>
          <p:cNvPr id="9" name="Shape 7"/>
          <p:cNvSpPr/>
          <p:nvPr/>
        </p:nvSpPr>
        <p:spPr>
          <a:xfrm>
            <a:off x="571500" y="2024482"/>
            <a:ext cx="38405" cy="647395"/>
          </a:xfrm>
          <a:prstGeom prst="rect">
            <a:avLst/>
          </a:prstGeom>
          <a:solidFill>
            <a:srgbClr val="E1DFDD"/>
          </a:solidFill>
          <a:ln/>
        </p:spPr>
      </p:sp>
      <p:sp>
        <p:nvSpPr>
          <p:cNvPr id="10" name="Shape 8"/>
          <p:cNvSpPr/>
          <p:nvPr/>
        </p:nvSpPr>
        <p:spPr>
          <a:xfrm>
            <a:off x="800100" y="2176272"/>
            <a:ext cx="342900" cy="342900"/>
          </a:xfrm>
          <a:prstGeom prst="ellipse">
            <a:avLst/>
          </a:prstGeom>
          <a:solidFill>
            <a:srgbClr val="EFF6FC"/>
          </a:solidFill>
          <a:ln/>
        </p:spPr>
      </p:sp>
      <p:pic>
        <p:nvPicPr>
          <p:cNvPr id="11" name="Image 0" descr="preencoded.png">    </p:cNvPr>
          <p:cNvPicPr>
            <a:picLocks noChangeAspect="1"/>
          </p:cNvPicPr>
          <p:nvPr/>
        </p:nvPicPr>
        <p:blipFill>
          <a:blip r:embed="rId1"/>
          <a:srcRect l="0" r="0" t="-43" b="-43"/>
          <a:stretch/>
        </p:blipFill>
        <p:spPr>
          <a:xfrm>
            <a:off x="905256" y="2271370"/>
            <a:ext cx="133502" cy="152705"/>
          </a:xfrm>
          <a:prstGeom prst="rect">
            <a:avLst/>
          </a:prstGeom>
        </p:spPr>
      </p:pic>
      <p:sp>
        <p:nvSpPr>
          <p:cNvPr id="12" name="Text 9"/>
          <p:cNvSpPr txBox="1"/>
          <p:nvPr/>
        </p:nvSpPr>
        <p:spPr>
          <a:xfrm>
            <a:off x="1285646" y="2157070"/>
            <a:ext cx="888797" cy="171907"/>
          </a:xfrm>
          <a:prstGeom prst="rect">
            <a:avLst/>
          </a:prstGeom>
          <a:noFill/>
          <a:ln/>
        </p:spPr>
        <p:txBody>
          <a:bodyPr wrap="square" lIns="0" tIns="0" rIns="0" bIns="0" rtlCol="0" anchor="ctr"/>
          <a:lstStyle/>
          <a:p>
            <a:pPr algn="l" indent="0" marL="0">
              <a:buNone/>
            </a:pPr>
            <a:r>
              <a:rPr lang="en-US" sz="1100" b="1" dirty="0">
                <a:solidFill>
                  <a:srgbClr val="323130"/>
                </a:solidFill>
                <a:latin typeface="Roboto" pitchFamily="34" charset="0"/>
                <a:ea typeface="Roboto" pitchFamily="34" charset="-122"/>
                <a:cs typeface="Roboto" pitchFamily="34" charset="-120"/>
              </a:rPr>
              <a:t>Data Source</a:t>
            </a:r>
            <a:endParaRPr lang="en-US" sz="1100" dirty="0"/>
          </a:p>
        </p:txBody>
      </p:sp>
      <p:sp>
        <p:nvSpPr>
          <p:cNvPr id="13" name="Text 10"/>
          <p:cNvSpPr txBox="1"/>
          <p:nvPr/>
        </p:nvSpPr>
        <p:spPr>
          <a:xfrm>
            <a:off x="1285646" y="2391156"/>
            <a:ext cx="2045513" cy="143561"/>
          </a:xfrm>
          <a:prstGeom prst="rect">
            <a:avLst/>
          </a:prstGeom>
          <a:noFill/>
          <a:ln/>
        </p:spPr>
        <p:txBody>
          <a:bodyPr wrap="square" lIns="0" tIns="0" rIns="0" bIns="0" rtlCol="0" anchor="ctr"/>
          <a:lstStyle/>
          <a:p>
            <a:pPr algn="l" indent="0" marL="0">
              <a:buNone/>
            </a:pPr>
            <a:r>
              <a:rPr lang="en-US" sz="900" dirty="0">
                <a:solidFill>
                  <a:srgbClr val="605E5C"/>
                </a:solidFill>
                <a:latin typeface="Roboto" pitchFamily="34" charset="0"/>
                <a:ea typeface="Roboto" pitchFamily="34" charset="-122"/>
                <a:cs typeface="Roboto" pitchFamily="34" charset="-120"/>
              </a:rPr>
              <a:t>FDO (Factory Delivery Orchestrator)</a:t>
            </a:r>
            <a:endParaRPr lang="en-US" sz="900" dirty="0"/>
          </a:p>
        </p:txBody>
      </p:sp>
      <p:sp>
        <p:nvSpPr>
          <p:cNvPr id="14" name="Shape 11"/>
          <p:cNvSpPr/>
          <p:nvPr/>
        </p:nvSpPr>
        <p:spPr>
          <a:xfrm>
            <a:off x="571500" y="2824582"/>
            <a:ext cx="3047695" cy="647395"/>
          </a:xfrm>
          <a:prstGeom prst="roundRect">
            <a:avLst>
              <a:gd name="adj" fmla="val 8308"/>
            </a:avLst>
          </a:prstGeom>
          <a:solidFill>
            <a:srgbClr val="FFFFFF"/>
          </a:solidFill>
          <a:ln/>
        </p:spPr>
      </p:sp>
      <p:sp>
        <p:nvSpPr>
          <p:cNvPr id="15" name="Shape 12"/>
          <p:cNvSpPr/>
          <p:nvPr/>
        </p:nvSpPr>
        <p:spPr>
          <a:xfrm>
            <a:off x="571500" y="2824582"/>
            <a:ext cx="38405" cy="647395"/>
          </a:xfrm>
          <a:prstGeom prst="rect">
            <a:avLst/>
          </a:prstGeom>
          <a:solidFill>
            <a:srgbClr val="E1DFDD"/>
          </a:solidFill>
          <a:ln/>
        </p:spPr>
      </p:sp>
      <p:sp>
        <p:nvSpPr>
          <p:cNvPr id="16" name="Shape 13"/>
          <p:cNvSpPr/>
          <p:nvPr/>
        </p:nvSpPr>
        <p:spPr>
          <a:xfrm>
            <a:off x="800100" y="2976372"/>
            <a:ext cx="342900" cy="342900"/>
          </a:xfrm>
          <a:prstGeom prst="ellipse">
            <a:avLst/>
          </a:prstGeom>
          <a:solidFill>
            <a:srgbClr val="EFF6FC"/>
          </a:solidFill>
          <a:ln/>
        </p:spPr>
      </p:sp>
      <p:pic>
        <p:nvPicPr>
          <p:cNvPr id="17" name="Image 1" descr="preencoded.png">    </p:cNvPr>
          <p:cNvPicPr>
            <a:picLocks noChangeAspect="1"/>
          </p:cNvPicPr>
          <p:nvPr/>
        </p:nvPicPr>
        <p:blipFill>
          <a:blip r:embed="rId2"/>
          <a:srcRect l="0" r="0" t="-100" b="-100"/>
          <a:stretch/>
        </p:blipFill>
        <p:spPr>
          <a:xfrm>
            <a:off x="914400" y="3071470"/>
            <a:ext cx="114300" cy="152705"/>
          </a:xfrm>
          <a:prstGeom prst="rect">
            <a:avLst/>
          </a:prstGeom>
        </p:spPr>
      </p:pic>
      <p:sp>
        <p:nvSpPr>
          <p:cNvPr id="18" name="Text 14"/>
          <p:cNvSpPr txBox="1"/>
          <p:nvPr/>
        </p:nvSpPr>
        <p:spPr>
          <a:xfrm>
            <a:off x="1285646" y="2957170"/>
            <a:ext cx="755294" cy="171907"/>
          </a:xfrm>
          <a:prstGeom prst="rect">
            <a:avLst/>
          </a:prstGeom>
          <a:noFill/>
          <a:ln/>
        </p:spPr>
        <p:txBody>
          <a:bodyPr wrap="square" lIns="0" tIns="0" rIns="0" bIns="0" rtlCol="0" anchor="ctr"/>
          <a:lstStyle/>
          <a:p>
            <a:pPr algn="l" indent="0" marL="0">
              <a:buNone/>
            </a:pPr>
            <a:r>
              <a:rPr lang="en-US" sz="1100" b="1" dirty="0">
                <a:solidFill>
                  <a:srgbClr val="323130"/>
                </a:solidFill>
                <a:latin typeface="Roboto" pitchFamily="34" charset="0"/>
                <a:ea typeface="Roboto" pitchFamily="34" charset="-122"/>
                <a:cs typeface="Roboto" pitchFamily="34" charset="-120"/>
              </a:rPr>
              <a:t>Extraction</a:t>
            </a:r>
            <a:endParaRPr lang="en-US" sz="1100" dirty="0"/>
          </a:p>
        </p:txBody>
      </p:sp>
      <p:sp>
        <p:nvSpPr>
          <p:cNvPr id="19" name="Text 15"/>
          <p:cNvSpPr txBox="1"/>
          <p:nvPr/>
        </p:nvSpPr>
        <p:spPr>
          <a:xfrm>
            <a:off x="1285646" y="3191256"/>
            <a:ext cx="1674266" cy="143561"/>
          </a:xfrm>
          <a:prstGeom prst="rect">
            <a:avLst/>
          </a:prstGeom>
          <a:noFill/>
          <a:ln/>
        </p:spPr>
        <p:txBody>
          <a:bodyPr wrap="square" lIns="0" tIns="0" rIns="0" bIns="0" rtlCol="0" anchor="ctr"/>
          <a:lstStyle/>
          <a:p>
            <a:pPr algn="l" indent="0" marL="0">
              <a:buNone/>
            </a:pPr>
            <a:r>
              <a:rPr lang="en-US" sz="900" dirty="0">
                <a:solidFill>
                  <a:srgbClr val="605E5C"/>
                </a:solidFill>
                <a:latin typeface="Roboto" pitchFamily="34" charset="0"/>
                <a:ea typeface="Roboto" pitchFamily="34" charset="-122"/>
                <a:cs typeface="Roboto" pitchFamily="34" charset="-120"/>
              </a:rPr>
              <a:t>Secure API / Data Connector</a:t>
            </a:r>
            <a:endParaRPr lang="en-US" sz="900" dirty="0"/>
          </a:p>
        </p:txBody>
      </p:sp>
      <p:sp>
        <p:nvSpPr>
          <p:cNvPr id="20" name="Shape 16"/>
          <p:cNvSpPr/>
          <p:nvPr/>
        </p:nvSpPr>
        <p:spPr>
          <a:xfrm>
            <a:off x="571500" y="3624682"/>
            <a:ext cx="3047695" cy="647395"/>
          </a:xfrm>
          <a:prstGeom prst="roundRect">
            <a:avLst>
              <a:gd name="adj" fmla="val 8308"/>
            </a:avLst>
          </a:prstGeom>
          <a:solidFill>
            <a:srgbClr val="FFFFFF"/>
          </a:solidFill>
          <a:ln/>
        </p:spPr>
      </p:sp>
      <p:sp>
        <p:nvSpPr>
          <p:cNvPr id="21" name="Shape 17"/>
          <p:cNvSpPr/>
          <p:nvPr/>
        </p:nvSpPr>
        <p:spPr>
          <a:xfrm>
            <a:off x="571500" y="3624682"/>
            <a:ext cx="38405" cy="647395"/>
          </a:xfrm>
          <a:prstGeom prst="rect">
            <a:avLst/>
          </a:prstGeom>
          <a:solidFill>
            <a:srgbClr val="E1DFDD"/>
          </a:solidFill>
          <a:ln/>
        </p:spPr>
      </p:sp>
      <p:sp>
        <p:nvSpPr>
          <p:cNvPr id="22" name="Shape 18"/>
          <p:cNvSpPr/>
          <p:nvPr/>
        </p:nvSpPr>
        <p:spPr>
          <a:xfrm>
            <a:off x="800100" y="3776472"/>
            <a:ext cx="342900" cy="342900"/>
          </a:xfrm>
          <a:prstGeom prst="ellipse">
            <a:avLst/>
          </a:prstGeom>
          <a:solidFill>
            <a:srgbClr val="EFF6FC"/>
          </a:solidFill>
          <a:ln/>
        </p:spPr>
      </p:sp>
      <p:pic>
        <p:nvPicPr>
          <p:cNvPr id="23" name="Image 2" descr="preencoded.png">    </p:cNvPr>
          <p:cNvPicPr>
            <a:picLocks noChangeAspect="1"/>
          </p:cNvPicPr>
          <p:nvPr/>
        </p:nvPicPr>
        <p:blipFill>
          <a:blip r:embed="rId3"/>
          <a:srcRect l="0" r="0" t="-180" b="-180"/>
          <a:stretch/>
        </p:blipFill>
        <p:spPr>
          <a:xfrm>
            <a:off x="875995" y="3871570"/>
            <a:ext cx="190195" cy="152705"/>
          </a:xfrm>
          <a:prstGeom prst="rect">
            <a:avLst/>
          </a:prstGeom>
        </p:spPr>
      </p:pic>
      <p:sp>
        <p:nvSpPr>
          <p:cNvPr id="24" name="Text 19"/>
          <p:cNvSpPr txBox="1"/>
          <p:nvPr/>
        </p:nvSpPr>
        <p:spPr>
          <a:xfrm>
            <a:off x="1285646" y="3757270"/>
            <a:ext cx="983894" cy="171907"/>
          </a:xfrm>
          <a:prstGeom prst="rect">
            <a:avLst/>
          </a:prstGeom>
          <a:noFill/>
          <a:ln/>
        </p:spPr>
        <p:txBody>
          <a:bodyPr wrap="square" lIns="0" tIns="0" rIns="0" bIns="0" rtlCol="0" anchor="ctr"/>
          <a:lstStyle/>
          <a:p>
            <a:pPr algn="l" indent="0" marL="0">
              <a:buNone/>
            </a:pPr>
            <a:r>
              <a:rPr lang="en-US" sz="1100" b="1" dirty="0">
                <a:solidFill>
                  <a:srgbClr val="323130"/>
                </a:solidFill>
                <a:latin typeface="Roboto" pitchFamily="34" charset="0"/>
                <a:ea typeface="Roboto" pitchFamily="34" charset="-122"/>
                <a:cs typeface="Roboto" pitchFamily="34" charset="-120"/>
              </a:rPr>
              <a:t>Orchestration</a:t>
            </a:r>
            <a:endParaRPr lang="en-US" sz="1100" dirty="0"/>
          </a:p>
        </p:txBody>
      </p:sp>
      <p:sp>
        <p:nvSpPr>
          <p:cNvPr id="25" name="Text 20"/>
          <p:cNvSpPr txBox="1"/>
          <p:nvPr/>
        </p:nvSpPr>
        <p:spPr>
          <a:xfrm>
            <a:off x="1285646" y="3991356"/>
            <a:ext cx="1751076" cy="143561"/>
          </a:xfrm>
          <a:prstGeom prst="rect">
            <a:avLst/>
          </a:prstGeom>
          <a:noFill/>
          <a:ln/>
        </p:spPr>
        <p:txBody>
          <a:bodyPr wrap="square" lIns="0" tIns="0" rIns="0" bIns="0" rtlCol="0" anchor="ctr"/>
          <a:lstStyle/>
          <a:p>
            <a:pPr algn="l" indent="0" marL="0">
              <a:buNone/>
            </a:pPr>
            <a:r>
              <a:rPr lang="en-US" sz="900" dirty="0">
                <a:solidFill>
                  <a:srgbClr val="605E5C"/>
                </a:solidFill>
                <a:latin typeface="Roboto" pitchFamily="34" charset="0"/>
                <a:ea typeface="Roboto" pitchFamily="34" charset="-122"/>
                <a:cs typeface="Roboto" pitchFamily="34" charset="-120"/>
              </a:rPr>
              <a:t>Logic Apps / Power Automate</a:t>
            </a:r>
            <a:endParaRPr lang="en-US" sz="900" dirty="0"/>
          </a:p>
        </p:txBody>
      </p:sp>
      <p:sp>
        <p:nvSpPr>
          <p:cNvPr id="26" name="Shape 21"/>
          <p:cNvSpPr/>
          <p:nvPr/>
        </p:nvSpPr>
        <p:spPr>
          <a:xfrm>
            <a:off x="571500" y="4424782"/>
            <a:ext cx="3047695" cy="647395"/>
          </a:xfrm>
          <a:prstGeom prst="roundRect">
            <a:avLst>
              <a:gd name="adj" fmla="val 8308"/>
            </a:avLst>
          </a:prstGeom>
          <a:solidFill>
            <a:srgbClr val="FFFFFF"/>
          </a:solidFill>
          <a:ln/>
        </p:spPr>
      </p:sp>
      <p:sp>
        <p:nvSpPr>
          <p:cNvPr id="27" name="Shape 22"/>
          <p:cNvSpPr/>
          <p:nvPr/>
        </p:nvSpPr>
        <p:spPr>
          <a:xfrm>
            <a:off x="571500" y="4424782"/>
            <a:ext cx="38405" cy="647395"/>
          </a:xfrm>
          <a:prstGeom prst="rect">
            <a:avLst/>
          </a:prstGeom>
          <a:solidFill>
            <a:srgbClr val="E1DFDD"/>
          </a:solidFill>
          <a:ln/>
        </p:spPr>
      </p:sp>
      <p:sp>
        <p:nvSpPr>
          <p:cNvPr id="28" name="Shape 23"/>
          <p:cNvSpPr/>
          <p:nvPr/>
        </p:nvSpPr>
        <p:spPr>
          <a:xfrm>
            <a:off x="800100" y="4576572"/>
            <a:ext cx="342900" cy="342900"/>
          </a:xfrm>
          <a:prstGeom prst="ellipse">
            <a:avLst/>
          </a:prstGeom>
          <a:solidFill>
            <a:srgbClr val="EFF6FC"/>
          </a:solidFill>
          <a:ln/>
        </p:spPr>
      </p:sp>
      <p:pic>
        <p:nvPicPr>
          <p:cNvPr id="29" name="Image 3" descr="preencoded.png">    </p:cNvPr>
          <p:cNvPicPr>
            <a:picLocks noChangeAspect="1"/>
          </p:cNvPicPr>
          <p:nvPr/>
        </p:nvPicPr>
        <p:blipFill>
          <a:blip r:embed="rId4"/>
          <a:srcRect l="0" r="0" t="0" b="0"/>
          <a:stretch/>
        </p:blipFill>
        <p:spPr>
          <a:xfrm>
            <a:off x="895198" y="4671670"/>
            <a:ext cx="152705" cy="152705"/>
          </a:xfrm>
          <a:prstGeom prst="rect">
            <a:avLst/>
          </a:prstGeom>
        </p:spPr>
      </p:pic>
      <p:sp>
        <p:nvSpPr>
          <p:cNvPr id="30" name="Text 24"/>
          <p:cNvSpPr txBox="1"/>
          <p:nvPr/>
        </p:nvSpPr>
        <p:spPr>
          <a:xfrm>
            <a:off x="1285646" y="4557370"/>
            <a:ext cx="1126541" cy="171907"/>
          </a:xfrm>
          <a:prstGeom prst="rect">
            <a:avLst/>
          </a:prstGeom>
          <a:noFill/>
          <a:ln/>
        </p:spPr>
        <p:txBody>
          <a:bodyPr wrap="square" lIns="0" tIns="0" rIns="0" bIns="0" rtlCol="0" anchor="ctr"/>
          <a:lstStyle/>
          <a:p>
            <a:pPr algn="l" indent="0" marL="0">
              <a:buNone/>
            </a:pPr>
            <a:r>
              <a:rPr lang="en-US" sz="1100" b="1" dirty="0">
                <a:solidFill>
                  <a:srgbClr val="323130"/>
                </a:solidFill>
                <a:latin typeface="Roboto" pitchFamily="34" charset="0"/>
                <a:ea typeface="Roboto" pitchFamily="34" charset="-122"/>
                <a:cs typeface="Roboto" pitchFamily="34" charset="-120"/>
              </a:rPr>
              <a:t>Reporting Layer</a:t>
            </a:r>
            <a:endParaRPr lang="en-US" sz="1100" dirty="0"/>
          </a:p>
        </p:txBody>
      </p:sp>
      <p:sp>
        <p:nvSpPr>
          <p:cNvPr id="31" name="Text 25"/>
          <p:cNvSpPr txBox="1"/>
          <p:nvPr/>
        </p:nvSpPr>
        <p:spPr>
          <a:xfrm>
            <a:off x="1285646" y="4791456"/>
            <a:ext cx="1902866" cy="143561"/>
          </a:xfrm>
          <a:prstGeom prst="rect">
            <a:avLst/>
          </a:prstGeom>
          <a:noFill/>
          <a:ln/>
        </p:spPr>
        <p:txBody>
          <a:bodyPr wrap="square" lIns="0" tIns="0" rIns="0" bIns="0" rtlCol="0" anchor="ctr"/>
          <a:lstStyle/>
          <a:p>
            <a:pPr algn="l" indent="0" marL="0">
              <a:buNone/>
            </a:pPr>
            <a:r>
              <a:rPr lang="en-US" sz="900" dirty="0">
                <a:solidFill>
                  <a:srgbClr val="605E5C"/>
                </a:solidFill>
                <a:latin typeface="Roboto" pitchFamily="34" charset="0"/>
                <a:ea typeface="Roboto" pitchFamily="34" charset="-122"/>
                <a:cs typeface="Roboto" pitchFamily="34" charset="-120"/>
              </a:rPr>
              <a:t>Power BI / Excel / PDF Generator</a:t>
            </a:r>
            <a:endParaRPr lang="en-US" sz="900" dirty="0"/>
          </a:p>
        </p:txBody>
      </p:sp>
      <p:sp>
        <p:nvSpPr>
          <p:cNvPr id="32" name="Shape 26"/>
          <p:cNvSpPr/>
          <p:nvPr/>
        </p:nvSpPr>
        <p:spPr>
          <a:xfrm>
            <a:off x="571500" y="5224882"/>
            <a:ext cx="3047695" cy="647395"/>
          </a:xfrm>
          <a:prstGeom prst="roundRect">
            <a:avLst>
              <a:gd name="adj" fmla="val 8308"/>
            </a:avLst>
          </a:prstGeom>
          <a:solidFill>
            <a:srgbClr val="FFFFFF"/>
          </a:solidFill>
          <a:ln/>
        </p:spPr>
      </p:sp>
      <p:sp>
        <p:nvSpPr>
          <p:cNvPr id="33" name="Shape 27"/>
          <p:cNvSpPr/>
          <p:nvPr/>
        </p:nvSpPr>
        <p:spPr>
          <a:xfrm>
            <a:off x="571500" y="5224882"/>
            <a:ext cx="38405" cy="647395"/>
          </a:xfrm>
          <a:prstGeom prst="rect">
            <a:avLst/>
          </a:prstGeom>
          <a:solidFill>
            <a:srgbClr val="E1DFDD"/>
          </a:solidFill>
          <a:ln/>
        </p:spPr>
      </p:sp>
      <p:sp>
        <p:nvSpPr>
          <p:cNvPr id="34" name="Shape 28"/>
          <p:cNvSpPr/>
          <p:nvPr/>
        </p:nvSpPr>
        <p:spPr>
          <a:xfrm>
            <a:off x="800100" y="5376672"/>
            <a:ext cx="342900" cy="342900"/>
          </a:xfrm>
          <a:prstGeom prst="ellipse">
            <a:avLst/>
          </a:prstGeom>
          <a:solidFill>
            <a:srgbClr val="EFF6FC"/>
          </a:solidFill>
          <a:ln/>
        </p:spPr>
      </p:sp>
      <p:pic>
        <p:nvPicPr>
          <p:cNvPr id="35" name="Image 4" descr="preencoded.png">    </p:cNvPr>
          <p:cNvPicPr>
            <a:picLocks noChangeAspect="1"/>
          </p:cNvPicPr>
          <p:nvPr/>
        </p:nvPicPr>
        <p:blipFill>
          <a:blip r:embed="rId5"/>
          <a:srcRect l="0" r="0" t="0" b="0"/>
          <a:stretch/>
        </p:blipFill>
        <p:spPr>
          <a:xfrm>
            <a:off x="895198" y="5471770"/>
            <a:ext cx="152705" cy="152705"/>
          </a:xfrm>
          <a:prstGeom prst="rect">
            <a:avLst/>
          </a:prstGeom>
        </p:spPr>
      </p:pic>
      <p:sp>
        <p:nvSpPr>
          <p:cNvPr id="36" name="Text 29"/>
          <p:cNvSpPr txBox="1"/>
          <p:nvPr/>
        </p:nvSpPr>
        <p:spPr>
          <a:xfrm>
            <a:off x="1285646" y="5357470"/>
            <a:ext cx="860450" cy="171907"/>
          </a:xfrm>
          <a:prstGeom prst="rect">
            <a:avLst/>
          </a:prstGeom>
          <a:noFill/>
          <a:ln/>
        </p:spPr>
        <p:txBody>
          <a:bodyPr wrap="square" lIns="0" tIns="0" rIns="0" bIns="0" rtlCol="0" anchor="ctr"/>
          <a:lstStyle/>
          <a:p>
            <a:pPr algn="l" indent="0" marL="0">
              <a:buNone/>
            </a:pPr>
            <a:r>
              <a:rPr lang="en-US" sz="1100" b="1" dirty="0">
                <a:solidFill>
                  <a:srgbClr val="323130"/>
                </a:solidFill>
                <a:latin typeface="Roboto" pitchFamily="34" charset="0"/>
                <a:ea typeface="Roboto" pitchFamily="34" charset="-122"/>
                <a:cs typeface="Roboto" pitchFamily="34" charset="-120"/>
              </a:rPr>
              <a:t>Distribution</a:t>
            </a:r>
            <a:endParaRPr lang="en-US" sz="1100" dirty="0"/>
          </a:p>
        </p:txBody>
      </p:sp>
      <p:sp>
        <p:nvSpPr>
          <p:cNvPr id="37" name="Text 30"/>
          <p:cNvSpPr txBox="1"/>
          <p:nvPr/>
        </p:nvSpPr>
        <p:spPr>
          <a:xfrm>
            <a:off x="1285646" y="5591556"/>
            <a:ext cx="1779422" cy="143561"/>
          </a:xfrm>
          <a:prstGeom prst="rect">
            <a:avLst/>
          </a:prstGeom>
          <a:noFill/>
          <a:ln/>
        </p:spPr>
        <p:txBody>
          <a:bodyPr wrap="square" lIns="0" tIns="0" rIns="0" bIns="0" rtlCol="0" anchor="ctr"/>
          <a:lstStyle/>
          <a:p>
            <a:pPr algn="l" indent="0" marL="0">
              <a:buNone/>
            </a:pPr>
            <a:r>
              <a:rPr lang="en-US" sz="900" dirty="0">
                <a:solidFill>
                  <a:srgbClr val="605E5C"/>
                </a:solidFill>
                <a:latin typeface="Roboto" pitchFamily="34" charset="0"/>
                <a:ea typeface="Roboto" pitchFamily="34" charset="-122"/>
                <a:cs typeface="Roboto" pitchFamily="34" charset="-120"/>
              </a:rPr>
              <a:t>Exchange Online / SMTP Relay</a:t>
            </a:r>
            <a:endParaRPr lang="en-US" sz="900" dirty="0"/>
          </a:p>
        </p:txBody>
      </p:sp>
      <p:sp>
        <p:nvSpPr>
          <p:cNvPr id="38" name="Shape 31"/>
          <p:cNvSpPr/>
          <p:nvPr/>
        </p:nvSpPr>
        <p:spPr>
          <a:xfrm>
            <a:off x="4000500" y="1438351"/>
            <a:ext cx="7619695" cy="4562856"/>
          </a:xfrm>
          <a:prstGeom prst="roundRect">
            <a:avLst>
              <a:gd name="adj" fmla="val 502"/>
            </a:avLst>
          </a:prstGeom>
          <a:solidFill>
            <a:srgbClr val="F8F9FA"/>
          </a:solidFill>
          <a:ln w="12700">
            <a:solidFill>
              <a:srgbClr val="E1DFDD"/>
            </a:solidFill>
            <a:prstDash val="solid"/>
          </a:ln>
        </p:spPr>
      </p:sp>
      <p:sp>
        <p:nvSpPr>
          <p:cNvPr id="39" name="Shape 32"/>
          <p:cNvSpPr/>
          <p:nvPr/>
        </p:nvSpPr>
        <p:spPr>
          <a:xfrm>
            <a:off x="9811512" y="1638605"/>
            <a:ext cx="1609344" cy="295351"/>
          </a:xfrm>
          <a:prstGeom prst="roundRect">
            <a:avLst>
              <a:gd name="adj" fmla="val 119844"/>
            </a:avLst>
          </a:prstGeom>
          <a:solidFill>
            <a:srgbClr val="FFFFFF"/>
          </a:solidFill>
          <a:ln w="12700">
            <a:solidFill>
              <a:srgbClr val="E1DFDD"/>
            </a:solidFill>
            <a:prstDash val="solid"/>
          </a:ln>
        </p:spPr>
      </p:sp>
      <p:sp>
        <p:nvSpPr>
          <p:cNvPr id="40" name="Text 33"/>
          <p:cNvSpPr txBox="1"/>
          <p:nvPr/>
        </p:nvSpPr>
        <p:spPr>
          <a:xfrm>
            <a:off x="9934956" y="1705356"/>
            <a:ext cx="1462126" cy="152705"/>
          </a:xfrm>
          <a:prstGeom prst="rect">
            <a:avLst/>
          </a:prstGeom>
          <a:noFill/>
          <a:ln/>
        </p:spPr>
        <p:txBody>
          <a:bodyPr wrap="square" lIns="0" tIns="0" rIns="0" bIns="0" rtlCol="0" anchor="ctr"/>
          <a:lstStyle/>
          <a:p>
            <a:pPr algn="l" indent="0" marL="0">
              <a:buNone/>
            </a:pPr>
            <a:r>
              <a:rPr lang="en-US" sz="1000" b="1" dirty="0">
                <a:solidFill>
                  <a:srgbClr val="A19F9D"/>
                </a:solidFill>
                <a:latin typeface="Roboto" pitchFamily="34" charset="0"/>
                <a:ea typeface="Roboto" pitchFamily="34" charset="-122"/>
                <a:cs typeface="Roboto" pitchFamily="34" charset="-120"/>
              </a:rPr>
              <a:t>Data Flow Architecture</a:t>
            </a:r>
            <a:endParaRPr lang="en-US" sz="1000" dirty="0"/>
          </a:p>
        </p:txBody>
      </p:sp>
      <p:sp>
        <p:nvSpPr>
          <p:cNvPr id="41" name="Shape 34"/>
          <p:cNvSpPr/>
          <p:nvPr/>
        </p:nvSpPr>
        <p:spPr>
          <a:xfrm>
            <a:off x="0" y="6476695"/>
            <a:ext cx="12191695" cy="9144"/>
          </a:xfrm>
          <a:prstGeom prst="rect">
            <a:avLst/>
          </a:prstGeom>
          <a:solidFill>
            <a:srgbClr val="EDEBE9"/>
          </a:solidFill>
          <a:ln/>
        </p:spPr>
      </p:sp>
      <p:sp>
        <p:nvSpPr>
          <p:cNvPr id="42" name="Text 35"/>
          <p:cNvSpPr txBox="1"/>
          <p:nvPr/>
        </p:nvSpPr>
        <p:spPr>
          <a:xfrm>
            <a:off x="8833104" y="6605626"/>
            <a:ext cx="2876702" cy="133502"/>
          </a:xfrm>
          <a:prstGeom prst="rect">
            <a:avLst/>
          </a:prstGeom>
          <a:noFill/>
          <a:ln/>
        </p:spPr>
        <p:txBody>
          <a:bodyPr wrap="square" lIns="0" tIns="0" rIns="0" bIns="0" rtlCol="0" anchor="ctr"/>
          <a:lstStyle/>
          <a:p>
            <a:pPr algn="l" indent="0" marL="0">
              <a:buNone/>
            </a:pPr>
            <a:r>
              <a:rPr lang="en-US" sz="900" dirty="0">
                <a:solidFill>
                  <a:srgbClr val="A19F9D"/>
                </a:solidFill>
                <a:latin typeface="Roboto" pitchFamily="34" charset="0"/>
                <a:ea typeface="Roboto" pitchFamily="34" charset="-122"/>
                <a:cs typeface="Roboto" pitchFamily="34" charset="-120"/>
              </a:rPr>
              <a:t>Confidential | Factory Delivery Orchestrator Automation</a:t>
            </a:r>
            <a:endParaRPr lang="en-US" sz="900" dirty="0"/>
          </a:p>
        </p:txBody>
      </p:sp>
      <p:sp>
        <p:nvSpPr>
          <p:cNvPr id="43" name="Shape 36"/>
          <p:cNvSpPr/>
          <p:nvPr/>
        </p:nvSpPr>
        <p:spPr>
          <a:xfrm>
            <a:off x="5238598" y="1543507"/>
            <a:ext cx="5143500" cy="4352544"/>
          </a:xfrm>
          <a:prstGeom prst="roundRect">
            <a:avLst>
              <a:gd name="adj" fmla="val 552"/>
            </a:avLst>
          </a:prstGeom>
          <a:noFill/>
          <a:ln w="25400">
            <a:solidFill>
              <a:srgbClr val="E1DFDD"/>
            </a:solidFill>
            <a:prstDash val="solid"/>
          </a:ln>
        </p:spPr>
      </p:sp>
      <p:sp>
        <p:nvSpPr>
          <p:cNvPr id="44" name="Shape 37"/>
          <p:cNvSpPr/>
          <p:nvPr/>
        </p:nvSpPr>
        <p:spPr>
          <a:xfrm>
            <a:off x="8238744" y="1447495"/>
            <a:ext cx="1943100" cy="161849"/>
          </a:xfrm>
          <a:prstGeom prst="rect">
            <a:avLst/>
          </a:prstGeom>
          <a:solidFill>
            <a:srgbClr val="F8F9FA"/>
          </a:solidFill>
          <a:ln/>
        </p:spPr>
      </p:sp>
      <p:sp>
        <p:nvSpPr>
          <p:cNvPr id="45" name="Text 38"/>
          <p:cNvSpPr txBox="1"/>
          <p:nvPr/>
        </p:nvSpPr>
        <p:spPr>
          <a:xfrm>
            <a:off x="8333842" y="1457554"/>
            <a:ext cx="1831543" cy="124358"/>
          </a:xfrm>
          <a:prstGeom prst="rect">
            <a:avLst/>
          </a:prstGeom>
          <a:noFill/>
          <a:ln/>
        </p:spPr>
        <p:txBody>
          <a:bodyPr wrap="square" lIns="0" tIns="0" rIns="0" bIns="0" rtlCol="0" anchor="ctr"/>
          <a:lstStyle/>
          <a:p>
            <a:pPr algn="l" indent="0" marL="0">
              <a:buNone/>
            </a:pPr>
            <a:r>
              <a:rPr lang="en-US" sz="800" dirty="0">
                <a:solidFill>
                  <a:srgbClr val="A19F9D"/>
                </a:solidFill>
                <a:latin typeface="Roboto" pitchFamily="34" charset="0"/>
                <a:ea typeface="Roboto" pitchFamily="34" charset="-122"/>
                <a:cs typeface="Roboto" pitchFamily="34" charset="-120"/>
              </a:rPr>
              <a:t>Secure Enterprise Cloud Environment</a:t>
            </a:r>
            <a:endParaRPr lang="en-US" sz="800" dirty="0"/>
          </a:p>
        </p:txBody>
      </p:sp>
      <p:sp>
        <p:nvSpPr>
          <p:cNvPr id="46" name="Shape 39"/>
          <p:cNvSpPr/>
          <p:nvPr/>
        </p:nvSpPr>
        <p:spPr>
          <a:xfrm>
            <a:off x="5429707" y="1843430"/>
            <a:ext cx="4762195" cy="724205"/>
          </a:xfrm>
          <a:prstGeom prst="roundRect">
            <a:avLst>
              <a:gd name="adj" fmla="val 13291"/>
            </a:avLst>
          </a:prstGeom>
          <a:solidFill>
            <a:srgbClr val="FFFFFF"/>
          </a:solidFill>
          <a:ln w="12700">
            <a:solidFill>
              <a:srgbClr val="EDEBE9"/>
            </a:solidFill>
            <a:prstDash val="solid"/>
          </a:ln>
          <a:effectLst>
            <a:outerShdw sx="100000" sy="100000" kx="0" ky="0" algn="bl" rotWithShape="0" blurRad="114300" dist="38100" dir="5400000">
              <a:srgbClr val="000000">
                <a:alpha val="8000"/>
              </a:srgbClr>
            </a:outerShdw>
          </a:effectLst>
        </p:spPr>
      </p:sp>
      <p:pic>
        <p:nvPicPr>
          <p:cNvPr id="47" name="Image 5" descr="preencoded.png">    </p:cNvPr>
          <p:cNvPicPr>
            <a:picLocks noChangeAspect="1"/>
          </p:cNvPicPr>
          <p:nvPr/>
        </p:nvPicPr>
        <p:blipFill>
          <a:blip r:embed="rId6"/>
          <a:srcRect l="-33400" r="-33400" t="0" b="0"/>
          <a:stretch/>
        </p:blipFill>
        <p:spPr>
          <a:xfrm>
            <a:off x="5676595" y="2090318"/>
            <a:ext cx="381305" cy="228600"/>
          </a:xfrm>
          <a:prstGeom prst="rect">
            <a:avLst/>
          </a:prstGeom>
        </p:spPr>
      </p:pic>
      <p:sp>
        <p:nvSpPr>
          <p:cNvPr id="48" name="Text 40"/>
          <p:cNvSpPr txBox="1"/>
          <p:nvPr/>
        </p:nvSpPr>
        <p:spPr>
          <a:xfrm>
            <a:off x="6200546" y="2014423"/>
            <a:ext cx="1153058" cy="181051"/>
          </a:xfrm>
          <a:prstGeom prst="rect">
            <a:avLst/>
          </a:prstGeom>
          <a:noFill/>
          <a:ln/>
        </p:spPr>
        <p:txBody>
          <a:bodyPr wrap="square" lIns="0" tIns="0" rIns="0" bIns="0" rtlCol="0" anchor="ctr"/>
          <a:lstStyle/>
          <a:p>
            <a:pPr algn="l" indent="0" marL="0">
              <a:buNone/>
            </a:pPr>
            <a:r>
              <a:rPr lang="en-US" sz="1200" b="1" dirty="0">
                <a:solidFill>
                  <a:srgbClr val="323130"/>
                </a:solidFill>
                <a:latin typeface="Roboto" pitchFamily="34" charset="0"/>
                <a:ea typeface="Roboto" pitchFamily="34" charset="-122"/>
                <a:cs typeface="Roboto" pitchFamily="34" charset="-120"/>
              </a:rPr>
              <a:t>Source System</a:t>
            </a:r>
            <a:endParaRPr lang="en-US" sz="1200" dirty="0"/>
          </a:p>
        </p:txBody>
      </p:sp>
      <p:sp>
        <p:nvSpPr>
          <p:cNvPr id="49" name="Text 41"/>
          <p:cNvSpPr txBox="1"/>
          <p:nvPr/>
        </p:nvSpPr>
        <p:spPr>
          <a:xfrm>
            <a:off x="6200546" y="2262226"/>
            <a:ext cx="2134210" cy="133502"/>
          </a:xfrm>
          <a:prstGeom prst="rect">
            <a:avLst/>
          </a:prstGeom>
          <a:noFill/>
          <a:ln/>
        </p:spPr>
        <p:txBody>
          <a:bodyPr wrap="square" lIns="0" tIns="0" rIns="0" bIns="0" rtlCol="0" anchor="ctr"/>
          <a:lstStyle/>
          <a:p>
            <a:pPr algn="l" indent="0" marL="0">
              <a:buNone/>
            </a:pPr>
            <a:r>
              <a:rPr lang="en-US" sz="900" dirty="0">
                <a:solidFill>
                  <a:srgbClr val="605E5C"/>
                </a:solidFill>
                <a:latin typeface="Roboto" pitchFamily="34" charset="0"/>
                <a:ea typeface="Roboto" pitchFamily="34" charset="-122"/>
                <a:cs typeface="Roboto" pitchFamily="34" charset="-120"/>
              </a:rPr>
              <a:t>Factory Delivery Orchestrator Audit Logs</a:t>
            </a:r>
            <a:endParaRPr lang="en-US" sz="900" dirty="0"/>
          </a:p>
        </p:txBody>
      </p:sp>
      <p:sp>
        <p:nvSpPr>
          <p:cNvPr id="50" name="Shape 42"/>
          <p:cNvSpPr/>
          <p:nvPr/>
        </p:nvSpPr>
        <p:spPr>
          <a:xfrm>
            <a:off x="9315907" y="2078431"/>
            <a:ext cx="676656" cy="256946"/>
          </a:xfrm>
          <a:prstGeom prst="roundRect">
            <a:avLst>
              <a:gd name="adj" fmla="val 52722"/>
            </a:avLst>
          </a:prstGeom>
          <a:solidFill>
            <a:srgbClr val="F3F2F1"/>
          </a:solidFill>
          <a:ln w="12700">
            <a:solidFill>
              <a:srgbClr val="E1DFDD"/>
            </a:solidFill>
            <a:prstDash val="solid"/>
          </a:ln>
        </p:spPr>
      </p:sp>
      <p:sp>
        <p:nvSpPr>
          <p:cNvPr id="51" name="Text 43"/>
          <p:cNvSpPr txBox="1"/>
          <p:nvPr/>
        </p:nvSpPr>
        <p:spPr>
          <a:xfrm>
            <a:off x="9400946" y="2136038"/>
            <a:ext cx="584302" cy="124358"/>
          </a:xfrm>
          <a:prstGeom prst="rect">
            <a:avLst/>
          </a:prstGeom>
          <a:noFill/>
          <a:ln/>
        </p:spPr>
        <p:txBody>
          <a:bodyPr wrap="square" lIns="0" tIns="0" rIns="0" bIns="0" rtlCol="0" anchor="ctr"/>
          <a:lstStyle/>
          <a:p>
            <a:pPr algn="l" indent="0" marL="0">
              <a:buNone/>
            </a:pPr>
            <a:r>
              <a:rPr lang="en-US" sz="800" dirty="0">
                <a:solidFill>
                  <a:srgbClr val="605E5C"/>
                </a:solidFill>
                <a:latin typeface="Consolas" pitchFamily="34" charset="0"/>
                <a:ea typeface="Consolas" pitchFamily="34" charset="-122"/>
                <a:cs typeface="Consolas" pitchFamily="34" charset="-120"/>
              </a:rPr>
              <a:t>REST API</a:t>
            </a:r>
            <a:endParaRPr lang="en-US" sz="800" dirty="0"/>
          </a:p>
        </p:txBody>
      </p:sp>
      <p:sp>
        <p:nvSpPr>
          <p:cNvPr id="52" name="Shape 44"/>
          <p:cNvSpPr/>
          <p:nvPr/>
        </p:nvSpPr>
        <p:spPr>
          <a:xfrm>
            <a:off x="7800746" y="2433218"/>
            <a:ext cx="19202" cy="286207"/>
          </a:xfrm>
          <a:prstGeom prst="rect">
            <a:avLst/>
          </a:prstGeom>
          <a:solidFill>
            <a:srgbClr val="A19F9D"/>
          </a:solidFill>
          <a:ln/>
        </p:spPr>
      </p:sp>
      <p:sp>
        <p:nvSpPr>
          <p:cNvPr id="53" name="Shape 45"/>
          <p:cNvSpPr/>
          <p:nvPr/>
        </p:nvSpPr>
        <p:spPr>
          <a:xfrm>
            <a:off x="5429707" y="2852928"/>
            <a:ext cx="4762195" cy="724205"/>
          </a:xfrm>
          <a:prstGeom prst="roundRect">
            <a:avLst>
              <a:gd name="adj" fmla="val 13291"/>
            </a:avLst>
          </a:prstGeom>
          <a:solidFill>
            <a:srgbClr val="FFFFFF"/>
          </a:solidFill>
          <a:ln w="12700">
            <a:solidFill>
              <a:srgbClr val="EDEBE9"/>
            </a:solidFill>
            <a:prstDash val="solid"/>
          </a:ln>
          <a:effectLst>
            <a:outerShdw sx="100000" sy="100000" kx="0" ky="0" algn="bl" rotWithShape="0" blurRad="114300" dist="38100" dir="5400000">
              <a:srgbClr val="000000">
                <a:alpha val="8000"/>
              </a:srgbClr>
            </a:outerShdw>
          </a:effectLst>
        </p:spPr>
      </p:sp>
      <p:pic>
        <p:nvPicPr>
          <p:cNvPr id="54" name="Image 6" descr="preencoded.png">    </p:cNvPr>
          <p:cNvPicPr>
            <a:picLocks noChangeAspect="1"/>
          </p:cNvPicPr>
          <p:nvPr/>
        </p:nvPicPr>
        <p:blipFill>
          <a:blip r:embed="rId7"/>
          <a:srcRect l="-16720" r="-16720" t="0" b="0"/>
          <a:stretch/>
        </p:blipFill>
        <p:spPr>
          <a:xfrm>
            <a:off x="5676595" y="3100730"/>
            <a:ext cx="381305" cy="228600"/>
          </a:xfrm>
          <a:prstGeom prst="rect">
            <a:avLst/>
          </a:prstGeom>
        </p:spPr>
      </p:pic>
      <p:sp>
        <p:nvSpPr>
          <p:cNvPr id="55" name="Text 46"/>
          <p:cNvSpPr txBox="1"/>
          <p:nvPr/>
        </p:nvSpPr>
        <p:spPr>
          <a:xfrm>
            <a:off x="6200546" y="3023921"/>
            <a:ext cx="1924812" cy="181051"/>
          </a:xfrm>
          <a:prstGeom prst="rect">
            <a:avLst/>
          </a:prstGeom>
          <a:noFill/>
          <a:ln/>
        </p:spPr>
        <p:txBody>
          <a:bodyPr wrap="square" lIns="0" tIns="0" rIns="0" bIns="0" rtlCol="0" anchor="ctr"/>
          <a:lstStyle/>
          <a:p>
            <a:pPr algn="l" indent="0" marL="0">
              <a:buNone/>
            </a:pPr>
            <a:r>
              <a:rPr lang="en-US" sz="1200" b="1" dirty="0">
                <a:solidFill>
                  <a:srgbClr val="323130"/>
                </a:solidFill>
                <a:latin typeface="Roboto" pitchFamily="34" charset="0"/>
                <a:ea typeface="Roboto" pitchFamily="34" charset="-122"/>
                <a:cs typeface="Roboto" pitchFamily="34" charset="-120"/>
              </a:rPr>
              <a:t>Integration &amp; Logic Engine</a:t>
            </a:r>
            <a:endParaRPr lang="en-US" sz="1200" dirty="0"/>
          </a:p>
        </p:txBody>
      </p:sp>
      <p:sp>
        <p:nvSpPr>
          <p:cNvPr id="56" name="Text 47"/>
          <p:cNvSpPr txBox="1"/>
          <p:nvPr/>
        </p:nvSpPr>
        <p:spPr>
          <a:xfrm>
            <a:off x="6200546" y="3271723"/>
            <a:ext cx="2086661" cy="133502"/>
          </a:xfrm>
          <a:prstGeom prst="rect">
            <a:avLst/>
          </a:prstGeom>
          <a:noFill/>
          <a:ln/>
        </p:spPr>
        <p:txBody>
          <a:bodyPr wrap="square" lIns="0" tIns="0" rIns="0" bIns="0" rtlCol="0" anchor="ctr"/>
          <a:lstStyle/>
          <a:p>
            <a:pPr algn="l" indent="0" marL="0">
              <a:buNone/>
            </a:pPr>
            <a:r>
              <a:rPr lang="en-US" sz="900" dirty="0">
                <a:solidFill>
                  <a:srgbClr val="605E5C"/>
                </a:solidFill>
                <a:latin typeface="Roboto" pitchFamily="34" charset="0"/>
                <a:ea typeface="Roboto" pitchFamily="34" charset="-122"/>
                <a:cs typeface="Roboto" pitchFamily="34" charset="-120"/>
              </a:rPr>
              <a:t>Weekly Trigger • Data Fetch • Validation</a:t>
            </a:r>
            <a:endParaRPr lang="en-US" sz="900" dirty="0"/>
          </a:p>
        </p:txBody>
      </p:sp>
      <p:sp>
        <p:nvSpPr>
          <p:cNvPr id="57" name="Shape 48"/>
          <p:cNvSpPr/>
          <p:nvPr/>
        </p:nvSpPr>
        <p:spPr>
          <a:xfrm>
            <a:off x="8748065" y="3088843"/>
            <a:ext cx="1248156" cy="256946"/>
          </a:xfrm>
          <a:prstGeom prst="roundRect">
            <a:avLst>
              <a:gd name="adj" fmla="val 52722"/>
            </a:avLst>
          </a:prstGeom>
          <a:solidFill>
            <a:srgbClr val="F3F2F1"/>
          </a:solidFill>
          <a:ln w="12700">
            <a:solidFill>
              <a:srgbClr val="E1DFDD"/>
            </a:solidFill>
            <a:prstDash val="solid"/>
          </a:ln>
        </p:spPr>
      </p:sp>
      <p:sp>
        <p:nvSpPr>
          <p:cNvPr id="58" name="Text 49"/>
          <p:cNvSpPr txBox="1"/>
          <p:nvPr/>
        </p:nvSpPr>
        <p:spPr>
          <a:xfrm>
            <a:off x="8833104" y="3145536"/>
            <a:ext cx="1155802" cy="124358"/>
          </a:xfrm>
          <a:prstGeom prst="rect">
            <a:avLst/>
          </a:prstGeom>
          <a:noFill/>
          <a:ln/>
        </p:spPr>
        <p:txBody>
          <a:bodyPr wrap="square" lIns="0" tIns="0" rIns="0" bIns="0" rtlCol="0" anchor="ctr"/>
          <a:lstStyle/>
          <a:p>
            <a:pPr algn="l" indent="0" marL="0">
              <a:buNone/>
            </a:pPr>
            <a:r>
              <a:rPr lang="en-US" sz="800" dirty="0">
                <a:solidFill>
                  <a:srgbClr val="605E5C"/>
                </a:solidFill>
                <a:latin typeface="Consolas" pitchFamily="34" charset="0"/>
                <a:ea typeface="Consolas" pitchFamily="34" charset="-122"/>
                <a:cs typeface="Consolas" pitchFamily="34" charset="-120"/>
              </a:rPr>
              <a:t>Logic Apps / Flow</a:t>
            </a:r>
            <a:endParaRPr lang="en-US" sz="800" dirty="0"/>
          </a:p>
        </p:txBody>
      </p:sp>
      <p:sp>
        <p:nvSpPr>
          <p:cNvPr id="59" name="Shape 50"/>
          <p:cNvSpPr/>
          <p:nvPr/>
        </p:nvSpPr>
        <p:spPr>
          <a:xfrm>
            <a:off x="7800746" y="3329330"/>
            <a:ext cx="19202" cy="286207"/>
          </a:xfrm>
          <a:prstGeom prst="rect">
            <a:avLst/>
          </a:prstGeom>
          <a:solidFill>
            <a:srgbClr val="A19F9D"/>
          </a:solidFill>
          <a:ln/>
        </p:spPr>
      </p:sp>
      <p:sp>
        <p:nvSpPr>
          <p:cNvPr id="60" name="Shape 51"/>
          <p:cNvSpPr/>
          <p:nvPr/>
        </p:nvSpPr>
        <p:spPr>
          <a:xfrm>
            <a:off x="5429707" y="3862426"/>
            <a:ext cx="4762195" cy="724205"/>
          </a:xfrm>
          <a:prstGeom prst="roundRect">
            <a:avLst>
              <a:gd name="adj" fmla="val 13291"/>
            </a:avLst>
          </a:prstGeom>
          <a:solidFill>
            <a:srgbClr val="FFFFFF"/>
          </a:solidFill>
          <a:ln w="12700">
            <a:solidFill>
              <a:srgbClr val="EDEBE9"/>
            </a:solidFill>
            <a:prstDash val="solid"/>
          </a:ln>
          <a:effectLst>
            <a:outerShdw sx="100000" sy="100000" kx="0" ky="0" algn="bl" rotWithShape="0" blurRad="114300" dist="38100" dir="5400000">
              <a:srgbClr val="000000">
                <a:alpha val="8000"/>
              </a:srgbClr>
            </a:outerShdw>
          </a:effectLst>
        </p:spPr>
      </p:sp>
      <p:pic>
        <p:nvPicPr>
          <p:cNvPr id="61" name="Image 7" descr="preencoded.png">    </p:cNvPr>
          <p:cNvPicPr>
            <a:picLocks noChangeAspect="1"/>
          </p:cNvPicPr>
          <p:nvPr/>
        </p:nvPicPr>
        <p:blipFill>
          <a:blip r:embed="rId8"/>
          <a:srcRect l="-61200" r="-61200" t="0" b="0"/>
          <a:stretch/>
        </p:blipFill>
        <p:spPr>
          <a:xfrm>
            <a:off x="5676595" y="4110228"/>
            <a:ext cx="381305" cy="228600"/>
          </a:xfrm>
          <a:prstGeom prst="rect">
            <a:avLst/>
          </a:prstGeom>
        </p:spPr>
      </p:pic>
      <p:sp>
        <p:nvSpPr>
          <p:cNvPr id="62" name="Text 52"/>
          <p:cNvSpPr txBox="1"/>
          <p:nvPr/>
        </p:nvSpPr>
        <p:spPr>
          <a:xfrm>
            <a:off x="6200546" y="4033418"/>
            <a:ext cx="1610258" cy="181051"/>
          </a:xfrm>
          <a:prstGeom prst="rect">
            <a:avLst/>
          </a:prstGeom>
          <a:noFill/>
          <a:ln/>
        </p:spPr>
        <p:txBody>
          <a:bodyPr wrap="square" lIns="0" tIns="0" rIns="0" bIns="0" rtlCol="0" anchor="ctr"/>
          <a:lstStyle/>
          <a:p>
            <a:pPr algn="l" indent="0" marL="0">
              <a:buNone/>
            </a:pPr>
            <a:r>
              <a:rPr lang="en-US" sz="1200" b="1" dirty="0">
                <a:solidFill>
                  <a:srgbClr val="323130"/>
                </a:solidFill>
                <a:latin typeface="Roboto" pitchFamily="34" charset="0"/>
                <a:ea typeface="Roboto" pitchFamily="34" charset="-122"/>
                <a:cs typeface="Roboto" pitchFamily="34" charset="-120"/>
              </a:rPr>
              <a:t>Document Generation</a:t>
            </a:r>
            <a:endParaRPr lang="en-US" sz="1200" dirty="0"/>
          </a:p>
        </p:txBody>
      </p:sp>
      <p:sp>
        <p:nvSpPr>
          <p:cNvPr id="63" name="Text 53"/>
          <p:cNvSpPr txBox="1"/>
          <p:nvPr/>
        </p:nvSpPr>
        <p:spPr>
          <a:xfrm>
            <a:off x="6200546" y="4281221"/>
            <a:ext cx="2105863" cy="133502"/>
          </a:xfrm>
          <a:prstGeom prst="rect">
            <a:avLst/>
          </a:prstGeom>
          <a:noFill/>
          <a:ln/>
        </p:spPr>
        <p:txBody>
          <a:bodyPr wrap="square" lIns="0" tIns="0" rIns="0" bIns="0" rtlCol="0" anchor="ctr"/>
          <a:lstStyle/>
          <a:p>
            <a:pPr algn="l" indent="0" marL="0">
              <a:buNone/>
            </a:pPr>
            <a:r>
              <a:rPr lang="en-US" sz="900" dirty="0">
                <a:solidFill>
                  <a:srgbClr val="605E5C"/>
                </a:solidFill>
                <a:latin typeface="Roboto" pitchFamily="34" charset="0"/>
                <a:ea typeface="Roboto" pitchFamily="34" charset="-122"/>
                <a:cs typeface="Roboto" pitchFamily="34" charset="-120"/>
              </a:rPr>
              <a:t>Format Summary • Render Attachments</a:t>
            </a:r>
            <a:endParaRPr lang="en-US" sz="900" dirty="0"/>
          </a:p>
        </p:txBody>
      </p:sp>
      <p:sp>
        <p:nvSpPr>
          <p:cNvPr id="64" name="Shape 54"/>
          <p:cNvSpPr/>
          <p:nvPr/>
        </p:nvSpPr>
        <p:spPr>
          <a:xfrm>
            <a:off x="8811158" y="4098341"/>
            <a:ext cx="1181405" cy="256946"/>
          </a:xfrm>
          <a:prstGeom prst="roundRect">
            <a:avLst>
              <a:gd name="adj" fmla="val 52722"/>
            </a:avLst>
          </a:prstGeom>
          <a:solidFill>
            <a:srgbClr val="F3F2F1"/>
          </a:solidFill>
          <a:ln w="12700">
            <a:solidFill>
              <a:srgbClr val="E1DFDD"/>
            </a:solidFill>
            <a:prstDash val="solid"/>
          </a:ln>
        </p:spPr>
      </p:sp>
      <p:sp>
        <p:nvSpPr>
          <p:cNvPr id="65" name="Text 55"/>
          <p:cNvSpPr txBox="1"/>
          <p:nvPr/>
        </p:nvSpPr>
        <p:spPr>
          <a:xfrm>
            <a:off x="8896198" y="4155034"/>
            <a:ext cx="1089050" cy="124358"/>
          </a:xfrm>
          <a:prstGeom prst="rect">
            <a:avLst/>
          </a:prstGeom>
          <a:noFill/>
          <a:ln/>
        </p:spPr>
        <p:txBody>
          <a:bodyPr wrap="square" lIns="0" tIns="0" rIns="0" bIns="0" rtlCol="0" anchor="ctr"/>
          <a:lstStyle/>
          <a:p>
            <a:pPr algn="l" indent="0" marL="0">
              <a:buNone/>
            </a:pPr>
            <a:r>
              <a:rPr lang="en-US" sz="800" dirty="0">
                <a:solidFill>
                  <a:srgbClr val="605E5C"/>
                </a:solidFill>
                <a:latin typeface="Consolas" pitchFamily="34" charset="0"/>
                <a:ea typeface="Consolas" pitchFamily="34" charset="-122"/>
                <a:cs typeface="Consolas" pitchFamily="34" charset="-120"/>
              </a:rPr>
              <a:t>JSON to PDF/XLSX</a:t>
            </a:r>
            <a:endParaRPr lang="en-US" sz="800" dirty="0"/>
          </a:p>
        </p:txBody>
      </p:sp>
      <p:sp>
        <p:nvSpPr>
          <p:cNvPr id="66" name="Shape 56"/>
          <p:cNvSpPr/>
          <p:nvPr/>
        </p:nvSpPr>
        <p:spPr>
          <a:xfrm>
            <a:off x="7800746" y="4224528"/>
            <a:ext cx="19202" cy="286207"/>
          </a:xfrm>
          <a:prstGeom prst="rect">
            <a:avLst/>
          </a:prstGeom>
          <a:solidFill>
            <a:srgbClr val="A19F9D"/>
          </a:solidFill>
          <a:ln/>
        </p:spPr>
      </p:sp>
      <p:sp>
        <p:nvSpPr>
          <p:cNvPr id="67" name="Shape 57"/>
          <p:cNvSpPr/>
          <p:nvPr/>
        </p:nvSpPr>
        <p:spPr>
          <a:xfrm>
            <a:off x="5429707" y="4871923"/>
            <a:ext cx="4762195" cy="724205"/>
          </a:xfrm>
          <a:prstGeom prst="roundRect">
            <a:avLst>
              <a:gd name="adj" fmla="val 13291"/>
            </a:avLst>
          </a:prstGeom>
          <a:solidFill>
            <a:srgbClr val="FFFFFF"/>
          </a:solidFill>
          <a:ln w="12700">
            <a:solidFill>
              <a:srgbClr val="EDEBE9"/>
            </a:solidFill>
            <a:prstDash val="solid"/>
          </a:ln>
          <a:effectLst>
            <a:outerShdw sx="100000" sy="100000" kx="0" ky="0" algn="bl" rotWithShape="0" blurRad="114300" dist="38100" dir="5400000">
              <a:srgbClr val="000000">
                <a:alpha val="8000"/>
              </a:srgbClr>
            </a:outerShdw>
          </a:effectLst>
        </p:spPr>
      </p:sp>
      <p:pic>
        <p:nvPicPr>
          <p:cNvPr id="68" name="Image 8" descr="preencoded.png">    </p:cNvPr>
          <p:cNvPicPr>
            <a:picLocks noChangeAspect="1"/>
          </p:cNvPicPr>
          <p:nvPr/>
        </p:nvPicPr>
        <p:blipFill>
          <a:blip r:embed="rId9"/>
          <a:srcRect l="-33400" r="-33400" t="0" b="0"/>
          <a:stretch/>
        </p:blipFill>
        <p:spPr>
          <a:xfrm>
            <a:off x="5676595" y="5119726"/>
            <a:ext cx="381305" cy="228600"/>
          </a:xfrm>
          <a:prstGeom prst="rect">
            <a:avLst/>
          </a:prstGeom>
        </p:spPr>
      </p:pic>
      <p:sp>
        <p:nvSpPr>
          <p:cNvPr id="69" name="Text 58"/>
          <p:cNvSpPr txBox="1"/>
          <p:nvPr/>
        </p:nvSpPr>
        <p:spPr>
          <a:xfrm>
            <a:off x="6200546" y="5043830"/>
            <a:ext cx="1467612" cy="181051"/>
          </a:xfrm>
          <a:prstGeom prst="rect">
            <a:avLst/>
          </a:prstGeom>
          <a:noFill/>
          <a:ln/>
        </p:spPr>
        <p:txBody>
          <a:bodyPr wrap="square" lIns="0" tIns="0" rIns="0" bIns="0" rtlCol="0" anchor="ctr"/>
          <a:lstStyle/>
          <a:p>
            <a:pPr algn="l" indent="0" marL="0">
              <a:buNone/>
            </a:pPr>
            <a:r>
              <a:rPr lang="en-US" sz="1200" b="1" dirty="0">
                <a:solidFill>
                  <a:srgbClr val="323130"/>
                </a:solidFill>
                <a:latin typeface="Roboto" pitchFamily="34" charset="0"/>
                <a:ea typeface="Roboto" pitchFamily="34" charset="-122"/>
                <a:cs typeface="Roboto" pitchFamily="34" charset="-120"/>
              </a:rPr>
              <a:t>Distribution Service</a:t>
            </a:r>
            <a:endParaRPr lang="en-US" sz="1200" dirty="0"/>
          </a:p>
        </p:txBody>
      </p:sp>
      <p:sp>
        <p:nvSpPr>
          <p:cNvPr id="70" name="Text 59"/>
          <p:cNvSpPr txBox="1"/>
          <p:nvPr/>
        </p:nvSpPr>
        <p:spPr>
          <a:xfrm>
            <a:off x="6200546" y="5290718"/>
            <a:ext cx="1981505" cy="133502"/>
          </a:xfrm>
          <a:prstGeom prst="rect">
            <a:avLst/>
          </a:prstGeom>
          <a:noFill/>
          <a:ln/>
        </p:spPr>
        <p:txBody>
          <a:bodyPr wrap="square" lIns="0" tIns="0" rIns="0" bIns="0" rtlCol="0" anchor="ctr"/>
          <a:lstStyle/>
          <a:p>
            <a:pPr algn="l" indent="0" marL="0">
              <a:buNone/>
            </a:pPr>
            <a:r>
              <a:rPr lang="en-US" sz="900" dirty="0">
                <a:solidFill>
                  <a:srgbClr val="605E5C"/>
                </a:solidFill>
                <a:latin typeface="Roboto" pitchFamily="34" charset="0"/>
                <a:ea typeface="Roboto" pitchFamily="34" charset="-122"/>
                <a:cs typeface="Roboto" pitchFamily="34" charset="-120"/>
              </a:rPr>
              <a:t>Send to PMs, Audit Team, Leadership</a:t>
            </a:r>
            <a:endParaRPr lang="en-US" sz="900" dirty="0"/>
          </a:p>
        </p:txBody>
      </p:sp>
      <p:sp>
        <p:nvSpPr>
          <p:cNvPr id="71" name="Shape 60"/>
          <p:cNvSpPr/>
          <p:nvPr/>
        </p:nvSpPr>
        <p:spPr>
          <a:xfrm>
            <a:off x="8937346" y="5107838"/>
            <a:ext cx="1057046" cy="256946"/>
          </a:xfrm>
          <a:prstGeom prst="roundRect">
            <a:avLst>
              <a:gd name="adj" fmla="val 52722"/>
            </a:avLst>
          </a:prstGeom>
          <a:solidFill>
            <a:srgbClr val="F3F2F1"/>
          </a:solidFill>
          <a:ln w="12700">
            <a:solidFill>
              <a:srgbClr val="E1DFDD"/>
            </a:solidFill>
            <a:prstDash val="solid"/>
          </a:ln>
        </p:spPr>
      </p:sp>
      <p:sp>
        <p:nvSpPr>
          <p:cNvPr id="72" name="Text 61"/>
          <p:cNvSpPr txBox="1"/>
          <p:nvPr/>
        </p:nvSpPr>
        <p:spPr>
          <a:xfrm>
            <a:off x="9023299" y="5164531"/>
            <a:ext cx="964692" cy="124358"/>
          </a:xfrm>
          <a:prstGeom prst="rect">
            <a:avLst/>
          </a:prstGeom>
          <a:noFill/>
          <a:ln/>
        </p:spPr>
        <p:txBody>
          <a:bodyPr wrap="square" lIns="0" tIns="0" rIns="0" bIns="0" rtlCol="0" anchor="ctr"/>
          <a:lstStyle/>
          <a:p>
            <a:pPr algn="l" indent="0" marL="0">
              <a:buNone/>
            </a:pPr>
            <a:r>
              <a:rPr lang="en-US" sz="800" dirty="0">
                <a:solidFill>
                  <a:srgbClr val="605E5C"/>
                </a:solidFill>
                <a:latin typeface="Consolas" pitchFamily="34" charset="0"/>
                <a:ea typeface="Consolas" pitchFamily="34" charset="-122"/>
                <a:cs typeface="Consolas" pitchFamily="34" charset="-120"/>
              </a:rPr>
              <a:t>Outlook / SMTP</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0"/>
            <a:ext cx="12191695" cy="75895"/>
          </a:xfrm>
          <a:prstGeom prst="rect">
            <a:avLst/>
          </a:prstGeom>
          <a:solidFill>
            <a:srgbClr val="0078D4"/>
          </a:solidFill>
          <a:ln/>
        </p:spPr>
      </p:sp>
      <p:sp>
        <p:nvSpPr>
          <p:cNvPr id="5" name="Text 3"/>
          <p:cNvSpPr txBox="1"/>
          <p:nvPr/>
        </p:nvSpPr>
        <p:spPr>
          <a:xfrm>
            <a:off x="571500" y="523951"/>
            <a:ext cx="4215384" cy="467258"/>
          </a:xfrm>
          <a:prstGeom prst="rect">
            <a:avLst/>
          </a:prstGeom>
          <a:noFill/>
          <a:ln/>
        </p:spPr>
        <p:txBody>
          <a:bodyPr wrap="square" lIns="0" tIns="0" rIns="0" bIns="0" rtlCol="0" anchor="ctr"/>
          <a:lstStyle/>
          <a:p>
            <a:pPr algn="l" indent="0" marL="0">
              <a:buNone/>
            </a:pPr>
            <a:r>
              <a:rPr lang="en-US" sz="3100" b="1" dirty="0">
                <a:solidFill>
                  <a:srgbClr val="242424"/>
                </a:solidFill>
                <a:latin typeface="Roboto" pitchFamily="34" charset="0"/>
                <a:ea typeface="Roboto" pitchFamily="34" charset="-122"/>
                <a:cs typeface="Roboto" pitchFamily="34" charset="-120"/>
              </a:rPr>
              <a:t>Future Enhancements</a:t>
            </a:r>
            <a:endParaRPr lang="en-US" sz="3100" dirty="0"/>
          </a:p>
        </p:txBody>
      </p:sp>
      <p:sp>
        <p:nvSpPr>
          <p:cNvPr id="6" name="Text 4"/>
          <p:cNvSpPr txBox="1"/>
          <p:nvPr/>
        </p:nvSpPr>
        <p:spPr>
          <a:xfrm>
            <a:off x="9710928" y="662026"/>
            <a:ext cx="2029054" cy="181051"/>
          </a:xfrm>
          <a:prstGeom prst="rect">
            <a:avLst/>
          </a:prstGeom>
          <a:noFill/>
          <a:ln/>
        </p:spPr>
        <p:txBody>
          <a:bodyPr wrap="square" lIns="0" tIns="0" rIns="0" bIns="0" rtlCol="0" anchor="ctr"/>
          <a:lstStyle/>
          <a:p>
            <a:pPr algn="l" indent="0" marL="0">
              <a:buNone/>
            </a:pPr>
            <a:r>
              <a:rPr lang="en-US" sz="1200" dirty="0">
                <a:solidFill>
                  <a:srgbClr val="666666"/>
                </a:solidFill>
                <a:latin typeface="Roboto" pitchFamily="34" charset="0"/>
                <a:ea typeface="Roboto" pitchFamily="34" charset="-122"/>
                <a:cs typeface="Roboto" pitchFamily="34" charset="-120"/>
              </a:rPr>
              <a:t>FDO Automation / Roadmap</a:t>
            </a:r>
            <a:endParaRPr lang="en-US" sz="1200" dirty="0"/>
          </a:p>
        </p:txBody>
      </p:sp>
      <p:sp>
        <p:nvSpPr>
          <p:cNvPr id="7" name="Text 5"/>
          <p:cNvSpPr txBox="1"/>
          <p:nvPr/>
        </p:nvSpPr>
        <p:spPr>
          <a:xfrm>
            <a:off x="571500" y="1657807"/>
            <a:ext cx="7444130" cy="457200"/>
          </a:xfrm>
          <a:prstGeom prst="rect">
            <a:avLst/>
          </a:prstGeom>
          <a:noFill/>
          <a:ln/>
        </p:spPr>
        <p:txBody>
          <a:bodyPr wrap="square" lIns="0" tIns="0" rIns="0" bIns="0" rtlCol="0" anchor="ctr"/>
          <a:lstStyle/>
          <a:p>
            <a:pPr algn="l" indent="0" marL="0">
              <a:buNone/>
            </a:pPr>
            <a:r>
              <a:rPr lang="en-US" sz="1300" dirty="0">
                <a:solidFill>
                  <a:srgbClr val="605E5C"/>
                </a:solidFill>
                <a:latin typeface="Roboto" pitchFamily="34" charset="0"/>
                <a:ea typeface="Roboto" pitchFamily="34" charset="-122"/>
                <a:cs typeface="Roboto" pitchFamily="34" charset="-120"/>
              </a:rPr>
              <a:t>While the current implementation focuses on automated weekly reporting, the roadmap includes advanced capabilities for real-time visibility, trend analysis, and predictive insights.</a:t>
            </a:r>
            <a:endParaRPr lang="en-US" sz="1300" dirty="0"/>
          </a:p>
        </p:txBody>
      </p:sp>
      <p:sp>
        <p:nvSpPr>
          <p:cNvPr id="8" name="Shape 6"/>
          <p:cNvSpPr/>
          <p:nvPr/>
        </p:nvSpPr>
        <p:spPr>
          <a:xfrm>
            <a:off x="1047902" y="3238805"/>
            <a:ext cx="10096805" cy="38405"/>
          </a:xfrm>
          <a:prstGeom prst="roundRect">
            <a:avLst>
              <a:gd name="adj" fmla="val 1190470"/>
            </a:avLst>
          </a:prstGeom>
          <a:solidFill>
            <a:srgbClr val="E1DFDD"/>
          </a:solidFill>
          <a:ln/>
        </p:spPr>
      </p:sp>
      <p:sp>
        <p:nvSpPr>
          <p:cNvPr id="9" name="Shape 7"/>
          <p:cNvSpPr/>
          <p:nvPr/>
        </p:nvSpPr>
        <p:spPr>
          <a:xfrm>
            <a:off x="0" y="6476695"/>
            <a:ext cx="12191695" cy="9144"/>
          </a:xfrm>
          <a:prstGeom prst="rect">
            <a:avLst/>
          </a:prstGeom>
          <a:solidFill>
            <a:srgbClr val="EDEBE9"/>
          </a:solidFill>
          <a:ln/>
        </p:spPr>
      </p:sp>
      <p:sp>
        <p:nvSpPr>
          <p:cNvPr id="10" name="Text 8"/>
          <p:cNvSpPr txBox="1"/>
          <p:nvPr/>
        </p:nvSpPr>
        <p:spPr>
          <a:xfrm>
            <a:off x="8833104" y="6605626"/>
            <a:ext cx="2876702" cy="133502"/>
          </a:xfrm>
          <a:prstGeom prst="rect">
            <a:avLst/>
          </a:prstGeom>
          <a:noFill/>
          <a:ln/>
        </p:spPr>
        <p:txBody>
          <a:bodyPr wrap="square" lIns="0" tIns="0" rIns="0" bIns="0" rtlCol="0" anchor="ctr"/>
          <a:lstStyle/>
          <a:p>
            <a:pPr algn="l" indent="0" marL="0">
              <a:buNone/>
            </a:pPr>
            <a:r>
              <a:rPr lang="en-US" sz="900" dirty="0">
                <a:solidFill>
                  <a:srgbClr val="A19F9D"/>
                </a:solidFill>
                <a:latin typeface="Roboto" pitchFamily="34" charset="0"/>
                <a:ea typeface="Roboto" pitchFamily="34" charset="-122"/>
                <a:cs typeface="Roboto" pitchFamily="34" charset="-120"/>
              </a:rPr>
              <a:t>Confidential | Factory Delivery Orchestrator Automation</a:t>
            </a:r>
            <a:endParaRPr lang="en-US" sz="900" dirty="0"/>
          </a:p>
        </p:txBody>
      </p:sp>
      <p:sp>
        <p:nvSpPr>
          <p:cNvPr id="11" name="Shape 9"/>
          <p:cNvSpPr/>
          <p:nvPr/>
        </p:nvSpPr>
        <p:spPr>
          <a:xfrm>
            <a:off x="1552651" y="3000146"/>
            <a:ext cx="514807" cy="514807"/>
          </a:xfrm>
          <a:prstGeom prst="ellipse">
            <a:avLst/>
          </a:prstGeom>
          <a:solidFill>
            <a:srgbClr val="FFFFFF"/>
          </a:solidFill>
          <a:ln w="50800">
            <a:solidFill>
              <a:srgbClr val="0078D4"/>
            </a:solidFill>
            <a:prstDash val="solid"/>
          </a:ln>
          <a:effectLst>
            <a:outerShdw sx="100000" sy="100000" kx="0" ky="0" algn="bl" rotWithShape="0" blurRad="12700" dist="12700" dir="16200000">
              <a:srgbClr val="f3f2f1">
                <a:alpha val="100000"/>
              </a:srgbClr>
            </a:outerShdw>
          </a:effectLst>
        </p:spPr>
      </p:sp>
      <p:pic>
        <p:nvPicPr>
          <p:cNvPr id="12" name="Image 0" descr="preencoded.png">    </p:cNvPr>
          <p:cNvPicPr>
            <a:picLocks noChangeAspect="1"/>
          </p:cNvPicPr>
          <p:nvPr/>
        </p:nvPicPr>
        <p:blipFill>
          <a:blip r:embed="rId1"/>
          <a:srcRect l="-1648" r="-1648" t="0" b="0"/>
          <a:stretch/>
        </p:blipFill>
        <p:spPr>
          <a:xfrm>
            <a:off x="1723644" y="3161995"/>
            <a:ext cx="171907" cy="190195"/>
          </a:xfrm>
          <a:prstGeom prst="rect">
            <a:avLst/>
          </a:prstGeom>
        </p:spPr>
      </p:pic>
      <p:sp>
        <p:nvSpPr>
          <p:cNvPr id="13" name="Shape 10"/>
          <p:cNvSpPr/>
          <p:nvPr/>
        </p:nvSpPr>
        <p:spPr>
          <a:xfrm>
            <a:off x="1448410" y="2619756"/>
            <a:ext cx="724205" cy="247802"/>
          </a:xfrm>
          <a:prstGeom prst="roundRect">
            <a:avLst>
              <a:gd name="adj" fmla="val 170310"/>
            </a:avLst>
          </a:prstGeom>
          <a:solidFill>
            <a:srgbClr val="EFF6FC"/>
          </a:solidFill>
          <a:ln/>
        </p:spPr>
      </p:sp>
      <p:sp>
        <p:nvSpPr>
          <p:cNvPr id="14" name="Text 11"/>
          <p:cNvSpPr txBox="1"/>
          <p:nvPr/>
        </p:nvSpPr>
        <p:spPr>
          <a:xfrm>
            <a:off x="1562710" y="2676449"/>
            <a:ext cx="581558" cy="133502"/>
          </a:xfrm>
          <a:prstGeom prst="rect">
            <a:avLst/>
          </a:prstGeom>
          <a:noFill/>
          <a:ln/>
        </p:spPr>
        <p:txBody>
          <a:bodyPr wrap="square" lIns="0" tIns="0" rIns="0" bIns="0" rtlCol="0" anchor="ctr"/>
          <a:lstStyle/>
          <a:p>
            <a:pPr algn="l" indent="0" marL="0">
              <a:buNone/>
            </a:pPr>
            <a:r>
              <a:rPr lang="en-US" sz="900" b="1" dirty="0">
                <a:solidFill>
                  <a:srgbClr val="0078D4"/>
                </a:solidFill>
                <a:latin typeface="Roboto" pitchFamily="34" charset="0"/>
                <a:ea typeface="Roboto" pitchFamily="34" charset="-122"/>
                <a:cs typeface="Roboto" pitchFamily="34" charset="-120"/>
              </a:rPr>
              <a:t>PHASE 1</a:t>
            </a:r>
            <a:endParaRPr lang="en-US" sz="900" dirty="0"/>
          </a:p>
        </p:txBody>
      </p:sp>
      <p:sp>
        <p:nvSpPr>
          <p:cNvPr id="15" name="Shape 12"/>
          <p:cNvSpPr/>
          <p:nvPr/>
        </p:nvSpPr>
        <p:spPr>
          <a:xfrm>
            <a:off x="571500" y="3752698"/>
            <a:ext cx="2476195" cy="2095805"/>
          </a:xfrm>
          <a:prstGeom prst="roundRect">
            <a:avLst>
              <a:gd name="adj" fmla="val 1587"/>
            </a:avLst>
          </a:prstGeom>
          <a:solidFill>
            <a:srgbClr val="FFFFFF"/>
          </a:solidFill>
          <a:ln w="12700">
            <a:solidFill>
              <a:srgbClr val="E1DFDD"/>
            </a:solidFill>
            <a:prstDash val="solid"/>
          </a:ln>
          <a:effectLst>
            <a:outerShdw sx="100000" sy="100000" kx="0" ky="0" algn="bl" rotWithShape="0" blurRad="76200" dist="25400" dir="5400000">
              <a:srgbClr val="000000">
                <a:alpha val="8000"/>
              </a:srgbClr>
            </a:outerShdw>
          </a:effectLst>
        </p:spPr>
      </p:sp>
      <p:sp>
        <p:nvSpPr>
          <p:cNvPr id="16" name="Shape 13"/>
          <p:cNvSpPr/>
          <p:nvPr/>
        </p:nvSpPr>
        <p:spPr>
          <a:xfrm>
            <a:off x="1800454" y="3676802"/>
            <a:ext cx="152705" cy="152705"/>
          </a:xfrm>
          <a:prstGeom prst="rect">
            <a:avLst/>
          </a:prstGeom>
          <a:solidFill>
            <a:srgbClr val="FFFFFF"/>
          </a:solidFill>
          <a:ln/>
        </p:spPr>
      </p:sp>
      <p:sp>
        <p:nvSpPr>
          <p:cNvPr id="17" name="Text 14"/>
          <p:cNvSpPr txBox="1"/>
          <p:nvPr/>
        </p:nvSpPr>
        <p:spPr>
          <a:xfrm>
            <a:off x="1011326" y="4019702"/>
            <a:ext cx="1729130" cy="200254"/>
          </a:xfrm>
          <a:prstGeom prst="rect">
            <a:avLst/>
          </a:prstGeom>
          <a:noFill/>
          <a:ln/>
        </p:spPr>
        <p:txBody>
          <a:bodyPr wrap="square" lIns="0" tIns="0" rIns="0" bIns="0" rtlCol="0" anchor="ctr"/>
          <a:lstStyle/>
          <a:p>
            <a:pPr algn="ctr" indent="0" marL="0">
              <a:buNone/>
            </a:pPr>
            <a:r>
              <a:rPr lang="en-US" sz="1300" b="1" dirty="0">
                <a:solidFill>
                  <a:srgbClr val="323130"/>
                </a:solidFill>
                <a:latin typeface="Roboto" pitchFamily="34" charset="0"/>
                <a:ea typeface="Roboto" pitchFamily="34" charset="-122"/>
                <a:cs typeface="Roboto" pitchFamily="34" charset="-120"/>
              </a:rPr>
              <a:t>Alert-Based Triggers</a:t>
            </a:r>
            <a:endParaRPr lang="en-US" sz="1300" dirty="0"/>
          </a:p>
        </p:txBody>
      </p:sp>
      <p:sp>
        <p:nvSpPr>
          <p:cNvPr id="18" name="Text 15"/>
          <p:cNvSpPr txBox="1"/>
          <p:nvPr/>
        </p:nvSpPr>
        <p:spPr>
          <a:xfrm>
            <a:off x="853135" y="4381805"/>
            <a:ext cx="2015338" cy="952805"/>
          </a:xfrm>
          <a:prstGeom prst="rect">
            <a:avLst/>
          </a:prstGeom>
          <a:noFill/>
          <a:ln/>
        </p:spPr>
        <p:txBody>
          <a:bodyPr wrap="square" lIns="0" tIns="0" rIns="0" bIns="0" rtlCol="0" anchor="ctr"/>
          <a:lstStyle/>
          <a:p>
            <a:pPr algn="ctr" indent="0" marL="0">
              <a:buNone/>
            </a:pPr>
            <a:r>
              <a:rPr lang="en-US" sz="1000" dirty="0">
                <a:solidFill>
                  <a:srgbClr val="605E5C"/>
                </a:solidFill>
                <a:latin typeface="Roboto" pitchFamily="34" charset="0"/>
                <a:ea typeface="Roboto" pitchFamily="34" charset="-122"/>
                <a:cs typeface="Roboto" pitchFamily="34" charset="-120"/>
              </a:rPr>
              <a:t>Move beyond scheduled reporting to event-driven alerts. Notify stakeholders immediately when critical compliance thresholds are breached.</a:t>
            </a:r>
            <a:endParaRPr lang="en-US" sz="1000" dirty="0"/>
          </a:p>
        </p:txBody>
      </p:sp>
      <p:sp>
        <p:nvSpPr>
          <p:cNvPr id="19" name="Shape 16"/>
          <p:cNvSpPr/>
          <p:nvPr/>
        </p:nvSpPr>
        <p:spPr>
          <a:xfrm>
            <a:off x="809244" y="5514746"/>
            <a:ext cx="2000707" cy="9144"/>
          </a:xfrm>
          <a:prstGeom prst="rect">
            <a:avLst/>
          </a:prstGeom>
          <a:solidFill>
            <a:srgbClr val="F3F2F1"/>
          </a:solidFill>
          <a:ln/>
        </p:spPr>
      </p:sp>
      <p:pic>
        <p:nvPicPr>
          <p:cNvPr id="20" name="Image 1" descr="preencoded.png">    </p:cNvPr>
          <p:cNvPicPr>
            <a:picLocks noChangeAspect="1"/>
          </p:cNvPicPr>
          <p:nvPr/>
        </p:nvPicPr>
        <p:blipFill>
          <a:blip r:embed="rId2"/>
          <a:srcRect l="0" r="0" t="-1359" b="-1359"/>
          <a:stretch/>
        </p:blipFill>
        <p:spPr>
          <a:xfrm>
            <a:off x="1168603" y="5707685"/>
            <a:ext cx="105156" cy="123444"/>
          </a:xfrm>
          <a:prstGeom prst="rect">
            <a:avLst/>
          </a:prstGeom>
        </p:spPr>
      </p:pic>
      <p:sp>
        <p:nvSpPr>
          <p:cNvPr id="21" name="Text 17"/>
          <p:cNvSpPr txBox="1"/>
          <p:nvPr/>
        </p:nvSpPr>
        <p:spPr>
          <a:xfrm>
            <a:off x="1349654" y="5695798"/>
            <a:ext cx="1197864" cy="143561"/>
          </a:xfrm>
          <a:prstGeom prst="rect">
            <a:avLst/>
          </a:prstGeom>
          <a:noFill/>
          <a:ln/>
        </p:spPr>
        <p:txBody>
          <a:bodyPr wrap="square" lIns="0" tIns="0" rIns="0" bIns="0" rtlCol="0" anchor="ctr"/>
          <a:lstStyle/>
          <a:p>
            <a:pPr algn="l" indent="0" marL="0">
              <a:buNone/>
            </a:pPr>
            <a:r>
              <a:rPr lang="en-US" sz="900" dirty="0">
                <a:solidFill>
                  <a:srgbClr val="0078D4"/>
                </a:solidFill>
                <a:latin typeface="Roboto" pitchFamily="34" charset="0"/>
                <a:ea typeface="Roboto" pitchFamily="34" charset="-122"/>
                <a:cs typeface="Roboto" pitchFamily="34" charset="-120"/>
              </a:rPr>
              <a:t>Proactive Response</a:t>
            </a:r>
            <a:endParaRPr lang="en-US" sz="900" dirty="0"/>
          </a:p>
        </p:txBody>
      </p:sp>
      <p:sp>
        <p:nvSpPr>
          <p:cNvPr id="22" name="Shape 18"/>
          <p:cNvSpPr/>
          <p:nvPr/>
        </p:nvSpPr>
        <p:spPr>
          <a:xfrm>
            <a:off x="4410151" y="3000146"/>
            <a:ext cx="514807" cy="514807"/>
          </a:xfrm>
          <a:prstGeom prst="ellipse">
            <a:avLst/>
          </a:prstGeom>
          <a:solidFill>
            <a:srgbClr val="FFFFFF"/>
          </a:solidFill>
          <a:ln w="50800">
            <a:solidFill>
              <a:srgbClr val="5C2D91"/>
            </a:solidFill>
            <a:prstDash val="solid"/>
          </a:ln>
          <a:effectLst>
            <a:outerShdw sx="100000" sy="100000" kx="0" ky="0" algn="bl" rotWithShape="0" blurRad="12700" dist="12700" dir="16200000">
              <a:srgbClr val="f3f2f1">
                <a:alpha val="100000"/>
              </a:srgbClr>
            </a:outerShdw>
          </a:effectLst>
        </p:spPr>
      </p:sp>
      <p:pic>
        <p:nvPicPr>
          <p:cNvPr id="23" name="Image 2" descr="preencoded.png">    </p:cNvPr>
          <p:cNvPicPr>
            <a:picLocks noChangeAspect="1"/>
          </p:cNvPicPr>
          <p:nvPr/>
        </p:nvPicPr>
        <p:blipFill>
          <a:blip r:embed="rId3"/>
          <a:srcRect l="0" r="0" t="0" b="0"/>
          <a:stretch/>
        </p:blipFill>
        <p:spPr>
          <a:xfrm>
            <a:off x="4572000" y="3161995"/>
            <a:ext cx="190195" cy="190195"/>
          </a:xfrm>
          <a:prstGeom prst="rect">
            <a:avLst/>
          </a:prstGeom>
        </p:spPr>
      </p:pic>
      <p:sp>
        <p:nvSpPr>
          <p:cNvPr id="24" name="Shape 19"/>
          <p:cNvSpPr/>
          <p:nvPr/>
        </p:nvSpPr>
        <p:spPr>
          <a:xfrm>
            <a:off x="4305910" y="2619756"/>
            <a:ext cx="724205" cy="247802"/>
          </a:xfrm>
          <a:prstGeom prst="roundRect">
            <a:avLst>
              <a:gd name="adj" fmla="val 170310"/>
            </a:avLst>
          </a:prstGeom>
          <a:solidFill>
            <a:srgbClr val="F4EBF9"/>
          </a:solidFill>
          <a:ln/>
        </p:spPr>
      </p:sp>
      <p:sp>
        <p:nvSpPr>
          <p:cNvPr id="25" name="Text 20"/>
          <p:cNvSpPr txBox="1"/>
          <p:nvPr/>
        </p:nvSpPr>
        <p:spPr>
          <a:xfrm>
            <a:off x="4420210" y="2676449"/>
            <a:ext cx="581558" cy="133502"/>
          </a:xfrm>
          <a:prstGeom prst="rect">
            <a:avLst/>
          </a:prstGeom>
          <a:noFill/>
          <a:ln/>
        </p:spPr>
        <p:txBody>
          <a:bodyPr wrap="square" lIns="0" tIns="0" rIns="0" bIns="0" rtlCol="0" anchor="ctr"/>
          <a:lstStyle/>
          <a:p>
            <a:pPr algn="l" indent="0" marL="0">
              <a:buNone/>
            </a:pPr>
            <a:r>
              <a:rPr lang="en-US" sz="900" b="1" dirty="0">
                <a:solidFill>
                  <a:srgbClr val="5C2D91"/>
                </a:solidFill>
                <a:latin typeface="Roboto" pitchFamily="34" charset="0"/>
                <a:ea typeface="Roboto" pitchFamily="34" charset="-122"/>
                <a:cs typeface="Roboto" pitchFamily="34" charset="-120"/>
              </a:rPr>
              <a:t>PHASE 2</a:t>
            </a:r>
            <a:endParaRPr lang="en-US" sz="900" dirty="0"/>
          </a:p>
        </p:txBody>
      </p:sp>
      <p:sp>
        <p:nvSpPr>
          <p:cNvPr id="26" name="Shape 21"/>
          <p:cNvSpPr/>
          <p:nvPr/>
        </p:nvSpPr>
        <p:spPr>
          <a:xfrm>
            <a:off x="3429000" y="3752698"/>
            <a:ext cx="2476195" cy="2095805"/>
          </a:xfrm>
          <a:prstGeom prst="roundRect">
            <a:avLst>
              <a:gd name="adj" fmla="val 1587"/>
            </a:avLst>
          </a:prstGeom>
          <a:solidFill>
            <a:srgbClr val="FFFFFF"/>
          </a:solidFill>
          <a:ln w="12700">
            <a:solidFill>
              <a:srgbClr val="E1DFDD"/>
            </a:solidFill>
            <a:prstDash val="solid"/>
          </a:ln>
          <a:effectLst>
            <a:outerShdw sx="100000" sy="100000" kx="0" ky="0" algn="bl" rotWithShape="0" blurRad="76200" dist="25400" dir="5400000">
              <a:srgbClr val="000000">
                <a:alpha val="8000"/>
              </a:srgbClr>
            </a:outerShdw>
          </a:effectLst>
        </p:spPr>
      </p:sp>
      <p:sp>
        <p:nvSpPr>
          <p:cNvPr id="27" name="Shape 22"/>
          <p:cNvSpPr/>
          <p:nvPr/>
        </p:nvSpPr>
        <p:spPr>
          <a:xfrm>
            <a:off x="4657954" y="3676802"/>
            <a:ext cx="152705" cy="152705"/>
          </a:xfrm>
          <a:prstGeom prst="rect">
            <a:avLst/>
          </a:prstGeom>
          <a:solidFill>
            <a:srgbClr val="FFFFFF"/>
          </a:solidFill>
          <a:ln/>
        </p:spPr>
      </p:sp>
      <p:sp>
        <p:nvSpPr>
          <p:cNvPr id="28" name="Text 23"/>
          <p:cNvSpPr txBox="1"/>
          <p:nvPr/>
        </p:nvSpPr>
        <p:spPr>
          <a:xfrm>
            <a:off x="3812134" y="4019702"/>
            <a:ext cx="1843430" cy="200254"/>
          </a:xfrm>
          <a:prstGeom prst="rect">
            <a:avLst/>
          </a:prstGeom>
          <a:noFill/>
          <a:ln/>
        </p:spPr>
        <p:txBody>
          <a:bodyPr wrap="square" lIns="0" tIns="0" rIns="0" bIns="0" rtlCol="0" anchor="ctr"/>
          <a:lstStyle/>
          <a:p>
            <a:pPr algn="ctr" indent="0" marL="0">
              <a:buNone/>
            </a:pPr>
            <a:r>
              <a:rPr lang="en-US" sz="1300" b="1" dirty="0">
                <a:solidFill>
                  <a:srgbClr val="323130"/>
                </a:solidFill>
                <a:latin typeface="Roboto" pitchFamily="34" charset="0"/>
                <a:ea typeface="Roboto" pitchFamily="34" charset="-122"/>
                <a:cs typeface="Roboto" pitchFamily="34" charset="-120"/>
              </a:rPr>
              <a:t>Dashboard Integration</a:t>
            </a:r>
            <a:endParaRPr lang="en-US" sz="1300" dirty="0"/>
          </a:p>
        </p:txBody>
      </p:sp>
      <p:sp>
        <p:nvSpPr>
          <p:cNvPr id="29" name="Text 24"/>
          <p:cNvSpPr txBox="1"/>
          <p:nvPr/>
        </p:nvSpPr>
        <p:spPr>
          <a:xfrm>
            <a:off x="3782873" y="4381805"/>
            <a:ext cx="1871777" cy="952805"/>
          </a:xfrm>
          <a:prstGeom prst="rect">
            <a:avLst/>
          </a:prstGeom>
          <a:noFill/>
          <a:ln/>
        </p:spPr>
        <p:txBody>
          <a:bodyPr wrap="square" lIns="0" tIns="0" rIns="0" bIns="0" rtlCol="0" anchor="ctr"/>
          <a:lstStyle/>
          <a:p>
            <a:pPr algn="ctr" indent="0" marL="0">
              <a:buNone/>
            </a:pPr>
            <a:r>
              <a:rPr lang="en-US" sz="1000" dirty="0">
                <a:solidFill>
                  <a:srgbClr val="605E5C"/>
                </a:solidFill>
                <a:latin typeface="Roboto" pitchFamily="34" charset="0"/>
                <a:ea typeface="Roboto" pitchFamily="34" charset="-122"/>
                <a:cs typeface="Roboto" pitchFamily="34" charset="-120"/>
              </a:rPr>
              <a:t>Embed live Power BI visuals directly into the email body or provide deep-links to an interactive FDO dashboard for real-time drill-downs.</a:t>
            </a:r>
            <a:endParaRPr lang="en-US" sz="1000" dirty="0"/>
          </a:p>
        </p:txBody>
      </p:sp>
      <p:sp>
        <p:nvSpPr>
          <p:cNvPr id="30" name="Shape 25"/>
          <p:cNvSpPr/>
          <p:nvPr/>
        </p:nvSpPr>
        <p:spPr>
          <a:xfrm>
            <a:off x="3666744" y="5514746"/>
            <a:ext cx="2000707" cy="9144"/>
          </a:xfrm>
          <a:prstGeom prst="rect">
            <a:avLst/>
          </a:prstGeom>
          <a:solidFill>
            <a:srgbClr val="F3F2F1"/>
          </a:solidFill>
          <a:ln/>
        </p:spPr>
      </p:sp>
      <p:pic>
        <p:nvPicPr>
          <p:cNvPr id="31" name="Image 3" descr="preencoded.png">    </p:cNvPr>
          <p:cNvPicPr>
            <a:picLocks noChangeAspect="1"/>
          </p:cNvPicPr>
          <p:nvPr/>
        </p:nvPicPr>
        <p:blipFill>
          <a:blip r:embed="rId4"/>
          <a:srcRect l="-1358" r="-1358" t="0" b="0"/>
          <a:stretch/>
        </p:blipFill>
        <p:spPr>
          <a:xfrm>
            <a:off x="4193438" y="5707685"/>
            <a:ext cx="142646" cy="123444"/>
          </a:xfrm>
          <a:prstGeom prst="rect">
            <a:avLst/>
          </a:prstGeom>
        </p:spPr>
      </p:pic>
      <p:sp>
        <p:nvSpPr>
          <p:cNvPr id="32" name="Text 26"/>
          <p:cNvSpPr txBox="1"/>
          <p:nvPr/>
        </p:nvSpPr>
        <p:spPr>
          <a:xfrm>
            <a:off x="4411980" y="5695798"/>
            <a:ext cx="826618" cy="143561"/>
          </a:xfrm>
          <a:prstGeom prst="rect">
            <a:avLst/>
          </a:prstGeom>
          <a:noFill/>
          <a:ln/>
        </p:spPr>
        <p:txBody>
          <a:bodyPr wrap="square" lIns="0" tIns="0" rIns="0" bIns="0" rtlCol="0" anchor="ctr"/>
          <a:lstStyle/>
          <a:p>
            <a:pPr algn="l" indent="0" marL="0">
              <a:buNone/>
            </a:pPr>
            <a:r>
              <a:rPr lang="en-US" sz="900" dirty="0">
                <a:solidFill>
                  <a:srgbClr val="5C2D91"/>
                </a:solidFill>
                <a:latin typeface="Roboto" pitchFamily="34" charset="0"/>
                <a:ea typeface="Roboto" pitchFamily="34" charset="-122"/>
                <a:cs typeface="Roboto" pitchFamily="34" charset="-120"/>
              </a:rPr>
              <a:t>Live Visibility</a:t>
            </a:r>
            <a:endParaRPr lang="en-US" sz="900" dirty="0"/>
          </a:p>
        </p:txBody>
      </p:sp>
      <p:sp>
        <p:nvSpPr>
          <p:cNvPr id="33" name="Shape 27"/>
          <p:cNvSpPr/>
          <p:nvPr/>
        </p:nvSpPr>
        <p:spPr>
          <a:xfrm>
            <a:off x="7267651" y="3000146"/>
            <a:ext cx="514807" cy="514807"/>
          </a:xfrm>
          <a:prstGeom prst="ellipse">
            <a:avLst/>
          </a:prstGeom>
          <a:solidFill>
            <a:srgbClr val="FFFFFF"/>
          </a:solidFill>
          <a:ln w="50800">
            <a:solidFill>
              <a:srgbClr val="D83B01"/>
            </a:solidFill>
            <a:prstDash val="solid"/>
          </a:ln>
          <a:effectLst>
            <a:outerShdw sx="100000" sy="100000" kx="0" ky="0" algn="bl" rotWithShape="0" blurRad="12700" dist="12700" dir="16200000">
              <a:srgbClr val="f3f2f1">
                <a:alpha val="100000"/>
              </a:srgbClr>
            </a:outerShdw>
          </a:effectLst>
        </p:spPr>
      </p:sp>
      <p:pic>
        <p:nvPicPr>
          <p:cNvPr id="34" name="Image 4" descr="preencoded.png">    </p:cNvPr>
          <p:cNvPicPr>
            <a:picLocks noChangeAspect="1"/>
          </p:cNvPicPr>
          <p:nvPr/>
        </p:nvPicPr>
        <p:blipFill>
          <a:blip r:embed="rId5"/>
          <a:srcRect l="0" r="0" t="0" b="0"/>
          <a:stretch/>
        </p:blipFill>
        <p:spPr>
          <a:xfrm>
            <a:off x="7429500" y="3161995"/>
            <a:ext cx="190195" cy="190195"/>
          </a:xfrm>
          <a:prstGeom prst="rect">
            <a:avLst/>
          </a:prstGeom>
        </p:spPr>
      </p:pic>
      <p:sp>
        <p:nvSpPr>
          <p:cNvPr id="35" name="Shape 28"/>
          <p:cNvSpPr/>
          <p:nvPr/>
        </p:nvSpPr>
        <p:spPr>
          <a:xfrm>
            <a:off x="7163410" y="2619756"/>
            <a:ext cx="724205" cy="247802"/>
          </a:xfrm>
          <a:prstGeom prst="roundRect">
            <a:avLst>
              <a:gd name="adj" fmla="val 170310"/>
            </a:avLst>
          </a:prstGeom>
          <a:solidFill>
            <a:srgbClr val="FDF3F0"/>
          </a:solidFill>
          <a:ln/>
        </p:spPr>
      </p:sp>
      <p:sp>
        <p:nvSpPr>
          <p:cNvPr id="36" name="Text 29"/>
          <p:cNvSpPr txBox="1"/>
          <p:nvPr/>
        </p:nvSpPr>
        <p:spPr>
          <a:xfrm>
            <a:off x="7277710" y="2676449"/>
            <a:ext cx="581558" cy="133502"/>
          </a:xfrm>
          <a:prstGeom prst="rect">
            <a:avLst/>
          </a:prstGeom>
          <a:noFill/>
          <a:ln/>
        </p:spPr>
        <p:txBody>
          <a:bodyPr wrap="square" lIns="0" tIns="0" rIns="0" bIns="0" rtlCol="0" anchor="ctr"/>
          <a:lstStyle/>
          <a:p>
            <a:pPr algn="l" indent="0" marL="0">
              <a:buNone/>
            </a:pPr>
            <a:r>
              <a:rPr lang="en-US" sz="900" b="1" dirty="0">
                <a:solidFill>
                  <a:srgbClr val="D83B01"/>
                </a:solidFill>
                <a:latin typeface="Roboto" pitchFamily="34" charset="0"/>
                <a:ea typeface="Roboto" pitchFamily="34" charset="-122"/>
                <a:cs typeface="Roboto" pitchFamily="34" charset="-120"/>
              </a:rPr>
              <a:t>PHASE 3</a:t>
            </a:r>
            <a:endParaRPr lang="en-US" sz="900" dirty="0"/>
          </a:p>
        </p:txBody>
      </p:sp>
      <p:sp>
        <p:nvSpPr>
          <p:cNvPr id="37" name="Shape 30"/>
          <p:cNvSpPr/>
          <p:nvPr/>
        </p:nvSpPr>
        <p:spPr>
          <a:xfrm>
            <a:off x="6286500" y="3752698"/>
            <a:ext cx="2476195" cy="2095805"/>
          </a:xfrm>
          <a:prstGeom prst="roundRect">
            <a:avLst>
              <a:gd name="adj" fmla="val 1587"/>
            </a:avLst>
          </a:prstGeom>
          <a:solidFill>
            <a:srgbClr val="FFFFFF"/>
          </a:solidFill>
          <a:ln w="12700">
            <a:solidFill>
              <a:srgbClr val="E1DFDD"/>
            </a:solidFill>
            <a:prstDash val="solid"/>
          </a:ln>
          <a:effectLst>
            <a:outerShdw sx="100000" sy="100000" kx="0" ky="0" algn="bl" rotWithShape="0" blurRad="76200" dist="25400" dir="5400000">
              <a:srgbClr val="000000">
                <a:alpha val="8000"/>
              </a:srgbClr>
            </a:outerShdw>
          </a:effectLst>
        </p:spPr>
      </p:sp>
      <p:sp>
        <p:nvSpPr>
          <p:cNvPr id="38" name="Shape 31"/>
          <p:cNvSpPr/>
          <p:nvPr/>
        </p:nvSpPr>
        <p:spPr>
          <a:xfrm>
            <a:off x="7515454" y="3676802"/>
            <a:ext cx="152705" cy="152705"/>
          </a:xfrm>
          <a:prstGeom prst="rect">
            <a:avLst/>
          </a:prstGeom>
          <a:solidFill>
            <a:srgbClr val="FFFFFF"/>
          </a:solidFill>
          <a:ln/>
        </p:spPr>
      </p:sp>
      <p:sp>
        <p:nvSpPr>
          <p:cNvPr id="39" name="Text 32"/>
          <p:cNvSpPr txBox="1"/>
          <p:nvPr/>
        </p:nvSpPr>
        <p:spPr>
          <a:xfrm>
            <a:off x="6869887" y="4019702"/>
            <a:ext cx="1443838" cy="200254"/>
          </a:xfrm>
          <a:prstGeom prst="rect">
            <a:avLst/>
          </a:prstGeom>
          <a:noFill/>
          <a:ln/>
        </p:spPr>
        <p:txBody>
          <a:bodyPr wrap="square" lIns="0" tIns="0" rIns="0" bIns="0" rtlCol="0" anchor="ctr"/>
          <a:lstStyle/>
          <a:p>
            <a:pPr algn="ctr" indent="0" marL="0">
              <a:buNone/>
            </a:pPr>
            <a:r>
              <a:rPr lang="en-US" sz="1300" b="1" dirty="0">
                <a:solidFill>
                  <a:srgbClr val="323130"/>
                </a:solidFill>
                <a:latin typeface="Roboto" pitchFamily="34" charset="0"/>
                <a:ea typeface="Roboto" pitchFamily="34" charset="-122"/>
                <a:cs typeface="Roboto" pitchFamily="34" charset="-120"/>
              </a:rPr>
              <a:t>Historical Trends</a:t>
            </a:r>
            <a:endParaRPr lang="en-US" sz="1300" dirty="0"/>
          </a:p>
        </p:txBody>
      </p:sp>
      <p:sp>
        <p:nvSpPr>
          <p:cNvPr id="40" name="Text 33"/>
          <p:cNvSpPr txBox="1"/>
          <p:nvPr/>
        </p:nvSpPr>
        <p:spPr>
          <a:xfrm>
            <a:off x="6580022" y="4381805"/>
            <a:ext cx="1996135" cy="952805"/>
          </a:xfrm>
          <a:prstGeom prst="rect">
            <a:avLst/>
          </a:prstGeom>
          <a:noFill/>
          <a:ln/>
        </p:spPr>
        <p:txBody>
          <a:bodyPr wrap="square" lIns="0" tIns="0" rIns="0" bIns="0" rtlCol="0" anchor="ctr"/>
          <a:lstStyle/>
          <a:p>
            <a:pPr algn="ctr" indent="0" marL="0">
              <a:buNone/>
            </a:pPr>
            <a:r>
              <a:rPr lang="en-US" sz="1000" dirty="0">
                <a:solidFill>
                  <a:srgbClr val="605E5C"/>
                </a:solidFill>
                <a:latin typeface="Roboto" pitchFamily="34" charset="0"/>
                <a:ea typeface="Roboto" pitchFamily="34" charset="-122"/>
                <a:cs typeface="Roboto" pitchFamily="34" charset="-120"/>
              </a:rPr>
              <a:t>Implement a data warehouse layer to track audit performance over time, identifying recurring bottlenecks and long-term delivery patterns.</a:t>
            </a:r>
            <a:endParaRPr lang="en-US" sz="1000" dirty="0"/>
          </a:p>
        </p:txBody>
      </p:sp>
      <p:sp>
        <p:nvSpPr>
          <p:cNvPr id="41" name="Shape 34"/>
          <p:cNvSpPr/>
          <p:nvPr/>
        </p:nvSpPr>
        <p:spPr>
          <a:xfrm>
            <a:off x="6524244" y="5514746"/>
            <a:ext cx="2000707" cy="9144"/>
          </a:xfrm>
          <a:prstGeom prst="rect">
            <a:avLst/>
          </a:prstGeom>
          <a:solidFill>
            <a:srgbClr val="F3F2F1"/>
          </a:solidFill>
          <a:ln/>
        </p:spPr>
      </p:sp>
      <p:pic>
        <p:nvPicPr>
          <p:cNvPr id="42" name="Image 5" descr="preencoded.png">    </p:cNvPr>
          <p:cNvPicPr>
            <a:picLocks noChangeAspect="1"/>
          </p:cNvPicPr>
          <p:nvPr/>
        </p:nvPicPr>
        <p:blipFill>
          <a:blip r:embed="rId6"/>
          <a:srcRect l="0" r="0" t="0" b="0"/>
          <a:stretch/>
        </p:blipFill>
        <p:spPr>
          <a:xfrm>
            <a:off x="6857086" y="5707685"/>
            <a:ext cx="123444" cy="123444"/>
          </a:xfrm>
          <a:prstGeom prst="rect">
            <a:avLst/>
          </a:prstGeom>
        </p:spPr>
      </p:pic>
      <p:sp>
        <p:nvSpPr>
          <p:cNvPr id="43" name="Text 35"/>
          <p:cNvSpPr txBox="1"/>
          <p:nvPr/>
        </p:nvSpPr>
        <p:spPr>
          <a:xfrm>
            <a:off x="7056425" y="5695798"/>
            <a:ext cx="1236269" cy="143561"/>
          </a:xfrm>
          <a:prstGeom prst="rect">
            <a:avLst/>
          </a:prstGeom>
          <a:noFill/>
          <a:ln/>
        </p:spPr>
        <p:txBody>
          <a:bodyPr wrap="square" lIns="0" tIns="0" rIns="0" bIns="0" rtlCol="0" anchor="ctr"/>
          <a:lstStyle/>
          <a:p>
            <a:pPr algn="l" indent="0" marL="0">
              <a:buNone/>
            </a:pPr>
            <a:r>
              <a:rPr lang="en-US" sz="900" dirty="0">
                <a:solidFill>
                  <a:srgbClr val="D83B01"/>
                </a:solidFill>
                <a:latin typeface="Roboto" pitchFamily="34" charset="0"/>
                <a:ea typeface="Roboto" pitchFamily="34" charset="-122"/>
                <a:cs typeface="Roboto" pitchFamily="34" charset="-120"/>
              </a:rPr>
              <a:t>Root Cause Analysis</a:t>
            </a:r>
            <a:endParaRPr lang="en-US" sz="900" dirty="0"/>
          </a:p>
        </p:txBody>
      </p:sp>
      <p:sp>
        <p:nvSpPr>
          <p:cNvPr id="44" name="Shape 36"/>
          <p:cNvSpPr/>
          <p:nvPr/>
        </p:nvSpPr>
        <p:spPr>
          <a:xfrm>
            <a:off x="10125151" y="3000146"/>
            <a:ext cx="514807" cy="514807"/>
          </a:xfrm>
          <a:prstGeom prst="ellipse">
            <a:avLst/>
          </a:prstGeom>
          <a:solidFill>
            <a:srgbClr val="FFFFFF"/>
          </a:solidFill>
          <a:ln w="50800">
            <a:solidFill>
              <a:srgbClr val="107C10"/>
            </a:solidFill>
            <a:prstDash val="solid"/>
          </a:ln>
          <a:effectLst>
            <a:outerShdw sx="100000" sy="100000" kx="0" ky="0" algn="bl" rotWithShape="0" blurRad="12700" dist="12700" dir="16200000">
              <a:srgbClr val="f3f2f1">
                <a:alpha val="100000"/>
              </a:srgbClr>
            </a:outerShdw>
          </a:effectLst>
        </p:spPr>
      </p:sp>
      <p:pic>
        <p:nvPicPr>
          <p:cNvPr id="45" name="Image 6" descr="preencoded.png">    </p:cNvPr>
          <p:cNvPicPr>
            <a:picLocks noChangeAspect="1"/>
          </p:cNvPicPr>
          <p:nvPr/>
        </p:nvPicPr>
        <p:blipFill>
          <a:blip r:embed="rId7"/>
          <a:srcRect l="0" r="0" t="0" b="0"/>
          <a:stretch/>
        </p:blipFill>
        <p:spPr>
          <a:xfrm>
            <a:off x="10287000" y="3161995"/>
            <a:ext cx="190195" cy="190195"/>
          </a:xfrm>
          <a:prstGeom prst="rect">
            <a:avLst/>
          </a:prstGeom>
        </p:spPr>
      </p:pic>
      <p:sp>
        <p:nvSpPr>
          <p:cNvPr id="46" name="Shape 37"/>
          <p:cNvSpPr/>
          <p:nvPr/>
        </p:nvSpPr>
        <p:spPr>
          <a:xfrm>
            <a:off x="10042855" y="2619756"/>
            <a:ext cx="685800" cy="247802"/>
          </a:xfrm>
          <a:prstGeom prst="roundRect">
            <a:avLst>
              <a:gd name="adj" fmla="val 170310"/>
            </a:avLst>
          </a:prstGeom>
          <a:solidFill>
            <a:srgbClr val="EBF7EC"/>
          </a:solidFill>
          <a:ln/>
        </p:spPr>
      </p:sp>
      <p:sp>
        <p:nvSpPr>
          <p:cNvPr id="47" name="Text 38"/>
          <p:cNvSpPr txBox="1"/>
          <p:nvPr/>
        </p:nvSpPr>
        <p:spPr>
          <a:xfrm>
            <a:off x="10157155" y="2676449"/>
            <a:ext cx="543154" cy="133502"/>
          </a:xfrm>
          <a:prstGeom prst="rect">
            <a:avLst/>
          </a:prstGeom>
          <a:noFill/>
          <a:ln/>
        </p:spPr>
        <p:txBody>
          <a:bodyPr wrap="square" lIns="0" tIns="0" rIns="0" bIns="0" rtlCol="0" anchor="ctr"/>
          <a:lstStyle/>
          <a:p>
            <a:pPr algn="l" indent="0" marL="0">
              <a:buNone/>
            </a:pPr>
            <a:r>
              <a:rPr lang="en-US" sz="900" b="1" dirty="0">
                <a:solidFill>
                  <a:srgbClr val="107C10"/>
                </a:solidFill>
                <a:latin typeface="Roboto" pitchFamily="34" charset="0"/>
                <a:ea typeface="Roboto" pitchFamily="34" charset="-122"/>
                <a:cs typeface="Roboto" pitchFamily="34" charset="-120"/>
              </a:rPr>
              <a:t>FUTURE</a:t>
            </a:r>
            <a:endParaRPr lang="en-US" sz="900" dirty="0"/>
          </a:p>
        </p:txBody>
      </p:sp>
      <p:sp>
        <p:nvSpPr>
          <p:cNvPr id="48" name="Shape 39"/>
          <p:cNvSpPr/>
          <p:nvPr/>
        </p:nvSpPr>
        <p:spPr>
          <a:xfrm>
            <a:off x="9144000" y="3752698"/>
            <a:ext cx="2476195" cy="2095805"/>
          </a:xfrm>
          <a:prstGeom prst="roundRect">
            <a:avLst>
              <a:gd name="adj" fmla="val 1587"/>
            </a:avLst>
          </a:prstGeom>
          <a:solidFill>
            <a:srgbClr val="FFFFFF"/>
          </a:solidFill>
          <a:ln w="12700">
            <a:solidFill>
              <a:srgbClr val="E1DFDD"/>
            </a:solidFill>
            <a:prstDash val="solid"/>
          </a:ln>
          <a:effectLst>
            <a:outerShdw sx="100000" sy="100000" kx="0" ky="0" algn="bl" rotWithShape="0" blurRad="76200" dist="25400" dir="5400000">
              <a:srgbClr val="000000">
                <a:alpha val="8000"/>
              </a:srgbClr>
            </a:outerShdw>
          </a:effectLst>
        </p:spPr>
      </p:sp>
      <p:sp>
        <p:nvSpPr>
          <p:cNvPr id="49" name="Shape 40"/>
          <p:cNvSpPr/>
          <p:nvPr/>
        </p:nvSpPr>
        <p:spPr>
          <a:xfrm>
            <a:off x="10372954" y="3676802"/>
            <a:ext cx="152705" cy="152705"/>
          </a:xfrm>
          <a:prstGeom prst="rect">
            <a:avLst/>
          </a:prstGeom>
          <a:solidFill>
            <a:srgbClr val="FFFFFF"/>
          </a:solidFill>
          <a:ln/>
        </p:spPr>
      </p:sp>
      <p:sp>
        <p:nvSpPr>
          <p:cNvPr id="50" name="Text 41"/>
          <p:cNvSpPr txBox="1"/>
          <p:nvPr/>
        </p:nvSpPr>
        <p:spPr>
          <a:xfrm>
            <a:off x="9693554" y="4019702"/>
            <a:ext cx="1510589" cy="200254"/>
          </a:xfrm>
          <a:prstGeom prst="rect">
            <a:avLst/>
          </a:prstGeom>
          <a:noFill/>
          <a:ln/>
        </p:spPr>
        <p:txBody>
          <a:bodyPr wrap="square" lIns="0" tIns="0" rIns="0" bIns="0" rtlCol="0" anchor="ctr"/>
          <a:lstStyle/>
          <a:p>
            <a:pPr algn="ctr" indent="0" marL="0">
              <a:buNone/>
            </a:pPr>
            <a:r>
              <a:rPr lang="en-US" sz="1300" b="1" dirty="0">
                <a:solidFill>
                  <a:srgbClr val="323130"/>
                </a:solidFill>
                <a:latin typeface="Roboto" pitchFamily="34" charset="0"/>
                <a:ea typeface="Roboto" pitchFamily="34" charset="-122"/>
                <a:cs typeface="Roboto" pitchFamily="34" charset="-120"/>
              </a:rPr>
              <a:t>AI-Driven Insights</a:t>
            </a:r>
            <a:endParaRPr lang="en-US" sz="1300" dirty="0"/>
          </a:p>
        </p:txBody>
      </p:sp>
      <p:sp>
        <p:nvSpPr>
          <p:cNvPr id="51" name="Text 42"/>
          <p:cNvSpPr txBox="1"/>
          <p:nvPr/>
        </p:nvSpPr>
        <p:spPr>
          <a:xfrm>
            <a:off x="9434779" y="4381805"/>
            <a:ext cx="1996135" cy="952805"/>
          </a:xfrm>
          <a:prstGeom prst="rect">
            <a:avLst/>
          </a:prstGeom>
          <a:noFill/>
          <a:ln/>
        </p:spPr>
        <p:txBody>
          <a:bodyPr wrap="square" lIns="0" tIns="0" rIns="0" bIns="0" rtlCol="0" anchor="ctr"/>
          <a:lstStyle/>
          <a:p>
            <a:pPr algn="ctr" indent="0" marL="0">
              <a:buNone/>
            </a:pPr>
            <a:r>
              <a:rPr lang="en-US" sz="1000" dirty="0">
                <a:solidFill>
                  <a:srgbClr val="605E5C"/>
                </a:solidFill>
                <a:latin typeface="Roboto" pitchFamily="34" charset="0"/>
                <a:ea typeface="Roboto" pitchFamily="34" charset="-122"/>
                <a:cs typeface="Roboto" pitchFamily="34" charset="-120"/>
              </a:rPr>
              <a:t>Leverage machine learning to analyze audit data and provide predictive recommendations to prevent compliance risks before they occur.</a:t>
            </a:r>
            <a:endParaRPr lang="en-US" sz="1000" dirty="0"/>
          </a:p>
        </p:txBody>
      </p:sp>
      <p:sp>
        <p:nvSpPr>
          <p:cNvPr id="52" name="Shape 43"/>
          <p:cNvSpPr/>
          <p:nvPr/>
        </p:nvSpPr>
        <p:spPr>
          <a:xfrm>
            <a:off x="9381744" y="5514746"/>
            <a:ext cx="2000707" cy="9144"/>
          </a:xfrm>
          <a:prstGeom prst="rect">
            <a:avLst/>
          </a:prstGeom>
          <a:solidFill>
            <a:srgbClr val="F3F2F1"/>
          </a:solidFill>
          <a:ln/>
        </p:spPr>
      </p:sp>
      <p:pic>
        <p:nvPicPr>
          <p:cNvPr id="53" name="Image 7" descr="preencoded.png">    </p:cNvPr>
          <p:cNvPicPr>
            <a:picLocks noChangeAspect="1"/>
          </p:cNvPicPr>
          <p:nvPr/>
        </p:nvPicPr>
        <p:blipFill>
          <a:blip r:embed="rId8"/>
          <a:srcRect l="0" r="0" t="0" b="0"/>
          <a:stretch/>
        </p:blipFill>
        <p:spPr>
          <a:xfrm>
            <a:off x="9734702" y="5707685"/>
            <a:ext cx="123444" cy="123444"/>
          </a:xfrm>
          <a:prstGeom prst="rect">
            <a:avLst/>
          </a:prstGeom>
        </p:spPr>
      </p:pic>
      <p:sp>
        <p:nvSpPr>
          <p:cNvPr id="54" name="Text 44"/>
          <p:cNvSpPr txBox="1"/>
          <p:nvPr/>
        </p:nvSpPr>
        <p:spPr>
          <a:xfrm>
            <a:off x="9934956" y="5695798"/>
            <a:ext cx="1188720" cy="143561"/>
          </a:xfrm>
          <a:prstGeom prst="rect">
            <a:avLst/>
          </a:prstGeom>
          <a:noFill/>
          <a:ln/>
        </p:spPr>
        <p:txBody>
          <a:bodyPr wrap="square" lIns="0" tIns="0" rIns="0" bIns="0" rtlCol="0" anchor="ctr"/>
          <a:lstStyle/>
          <a:p>
            <a:pPr algn="l" indent="0" marL="0">
              <a:buNone/>
            </a:pPr>
            <a:r>
              <a:rPr lang="en-US" sz="900" dirty="0">
                <a:solidFill>
                  <a:srgbClr val="107C10"/>
                </a:solidFill>
                <a:latin typeface="Roboto" pitchFamily="34" charset="0"/>
                <a:ea typeface="Roboto" pitchFamily="34" charset="-122"/>
                <a:cs typeface="Roboto" pitchFamily="34" charset="-120"/>
              </a:rPr>
              <a:t>Predictive Analytics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FFFFF"/>
          </a:solidFill>
          <a:ln/>
        </p:spPr>
      </p:sp>
      <p:sp>
        <p:nvSpPr>
          <p:cNvPr id="4" name="Text 2"/>
          <p:cNvSpPr txBox="1"/>
          <p:nvPr/>
        </p:nvSpPr>
        <p:spPr>
          <a:xfrm>
            <a:off x="571500" y="409651"/>
            <a:ext cx="7520026" cy="534010"/>
          </a:xfrm>
          <a:prstGeom prst="rect">
            <a:avLst/>
          </a:prstGeom>
          <a:noFill/>
          <a:ln/>
        </p:spPr>
        <p:txBody>
          <a:bodyPr wrap="square" lIns="0" tIns="0" rIns="0" bIns="0" rtlCol="0" anchor="ctr"/>
          <a:lstStyle/>
          <a:p>
            <a:pPr algn="l" indent="0" marL="0">
              <a:buNone/>
            </a:pPr>
            <a:r>
              <a:rPr lang="en-US" sz="3100" b="1" dirty="0">
                <a:solidFill>
                  <a:srgbClr val="242424"/>
                </a:solidFill>
                <a:latin typeface="Segoe UI" pitchFamily="34" charset="0"/>
                <a:ea typeface="Segoe UI" pitchFamily="34" charset="-122"/>
                <a:cs typeface="Segoe UI" pitchFamily="34" charset="-120"/>
              </a:rPr>
              <a:t>Value Add: Automation vs. Visualization</a:t>
            </a:r>
            <a:endParaRPr lang="en-US" sz="3100" dirty="0"/>
          </a:p>
        </p:txBody>
      </p:sp>
      <p:sp>
        <p:nvSpPr>
          <p:cNvPr id="5" name="Text 3"/>
          <p:cNvSpPr txBox="1"/>
          <p:nvPr/>
        </p:nvSpPr>
        <p:spPr>
          <a:xfrm>
            <a:off x="9528962" y="576072"/>
            <a:ext cx="2210105" cy="200254"/>
          </a:xfrm>
          <a:prstGeom prst="rect">
            <a:avLst/>
          </a:prstGeom>
          <a:noFill/>
          <a:ln/>
        </p:spPr>
        <p:txBody>
          <a:bodyPr wrap="square" lIns="0" tIns="0" rIns="0" bIns="0" rtlCol="0" anchor="ctr"/>
          <a:lstStyle/>
          <a:p>
            <a:pPr algn="l" indent="0" marL="0">
              <a:buNone/>
            </a:pPr>
            <a:r>
              <a:rPr lang="en-US" sz="1200" dirty="0">
                <a:solidFill>
                  <a:srgbClr val="666666"/>
                </a:solidFill>
                <a:latin typeface="Segoe UI" pitchFamily="34" charset="0"/>
                <a:ea typeface="Segoe UI" pitchFamily="34" charset="-122"/>
                <a:cs typeface="Segoe UI" pitchFamily="34" charset="-120"/>
              </a:rPr>
              <a:t>FDO Automation / Comparison</a:t>
            </a:r>
            <a:endParaRPr lang="en-US" sz="1200" dirty="0"/>
          </a:p>
        </p:txBody>
      </p:sp>
      <p:sp>
        <p:nvSpPr>
          <p:cNvPr id="6" name="Text 4"/>
          <p:cNvSpPr txBox="1"/>
          <p:nvPr/>
        </p:nvSpPr>
        <p:spPr>
          <a:xfrm>
            <a:off x="571500" y="1380744"/>
            <a:ext cx="6220663" cy="305410"/>
          </a:xfrm>
          <a:prstGeom prst="rect">
            <a:avLst/>
          </a:prstGeom>
          <a:noFill/>
          <a:ln/>
        </p:spPr>
        <p:txBody>
          <a:bodyPr wrap="square" lIns="0" tIns="0" rIns="0" bIns="0" rtlCol="0" anchor="ctr"/>
          <a:lstStyle/>
          <a:p>
            <a:pPr algn="l" indent="0" marL="0">
              <a:buNone/>
            </a:pPr>
            <a:r>
              <a:rPr lang="en-US" sz="1800" b="1" dirty="0">
                <a:solidFill>
                  <a:srgbClr val="0078D4"/>
                </a:solidFill>
                <a:latin typeface="Segoe UI" pitchFamily="34" charset="0"/>
                <a:ea typeface="Segoe UI" pitchFamily="34" charset="-122"/>
                <a:cs typeface="Segoe UI" pitchFamily="34" charset="-120"/>
              </a:rPr>
              <a:t>What FDO Audit Automation Adds (That Power BI Cannot)</a:t>
            </a:r>
            <a:endParaRPr lang="en-US" sz="1800" dirty="0"/>
          </a:p>
        </p:txBody>
      </p:sp>
      <p:sp>
        <p:nvSpPr>
          <p:cNvPr id="7" name="Text 5"/>
          <p:cNvSpPr txBox="1"/>
          <p:nvPr/>
        </p:nvSpPr>
        <p:spPr>
          <a:xfrm>
            <a:off x="571500" y="1790395"/>
            <a:ext cx="8610905" cy="428854"/>
          </a:xfrm>
          <a:prstGeom prst="rect">
            <a:avLst/>
          </a:prstGeom>
          <a:noFill/>
          <a:ln/>
        </p:spPr>
        <p:txBody>
          <a:bodyPr wrap="square" lIns="0" tIns="0" rIns="0" bIns="0" rtlCol="0" anchor="ctr"/>
          <a:lstStyle/>
          <a:p>
            <a:pPr algn="l" indent="0" marL="0">
              <a:buNone/>
            </a:pPr>
            <a:r>
              <a:rPr lang="en-US" sz="1200" dirty="0">
                <a:solidFill>
                  <a:srgbClr val="605E5C"/>
                </a:solidFill>
                <a:latin typeface="Segoe UI" pitchFamily="34" charset="0"/>
                <a:ea typeface="Segoe UI" pitchFamily="34" charset="-122"/>
                <a:cs typeface="Segoe UI" pitchFamily="34" charset="-120"/>
              </a:rPr>
              <a:t>While Power BI excels at visualizing data, it remains a passive reporting tool. FDO Audit Automation acts as an active execution layer that drives compliance.</a:t>
            </a:r>
            <a:endParaRPr lang="en-US" sz="1200" dirty="0"/>
          </a:p>
        </p:txBody>
      </p:sp>
      <p:sp>
        <p:nvSpPr>
          <p:cNvPr id="8" name="Shape 6"/>
          <p:cNvSpPr/>
          <p:nvPr/>
        </p:nvSpPr>
        <p:spPr>
          <a:xfrm>
            <a:off x="571500" y="2476195"/>
            <a:ext cx="11048695" cy="5286146"/>
          </a:xfrm>
          <a:prstGeom prst="roundRect">
            <a:avLst>
              <a:gd name="adj" fmla="val 249"/>
            </a:avLst>
          </a:prstGeom>
          <a:solidFill>
            <a:srgbClr val="FFFFFF"/>
          </a:solidFill>
          <a:ln w="12700">
            <a:solidFill>
              <a:srgbClr val="E1DFDD"/>
            </a:solidFill>
            <a:prstDash val="solid"/>
          </a:ln>
          <a:effectLst>
            <a:outerShdw sx="100000" sy="100000" kx="0" ky="0" algn="bl" rotWithShape="0" blurRad="114300" dist="38100" dir="5400000">
              <a:srgbClr val="000000">
                <a:alpha val="8000"/>
              </a:srgbClr>
            </a:outerShdw>
          </a:effectLst>
        </p:spPr>
      </p:sp>
      <p:sp>
        <p:nvSpPr>
          <p:cNvPr id="9" name="Shape 7"/>
          <p:cNvSpPr/>
          <p:nvPr/>
        </p:nvSpPr>
        <p:spPr>
          <a:xfrm>
            <a:off x="580644" y="2505456"/>
            <a:ext cx="4419295" cy="599846"/>
          </a:xfrm>
          <a:prstGeom prst="rect">
            <a:avLst/>
          </a:prstGeom>
          <a:solidFill>
            <a:srgbClr val="F8F9FA"/>
          </a:solidFill>
          <a:ln/>
        </p:spPr>
      </p:sp>
      <p:sp>
        <p:nvSpPr>
          <p:cNvPr id="10" name="Shape 8"/>
          <p:cNvSpPr/>
          <p:nvPr/>
        </p:nvSpPr>
        <p:spPr>
          <a:xfrm>
            <a:off x="580644" y="3086100"/>
            <a:ext cx="4419295" cy="19202"/>
          </a:xfrm>
          <a:prstGeom prst="rect">
            <a:avLst/>
          </a:prstGeom>
          <a:solidFill>
            <a:srgbClr val="EDEBE9"/>
          </a:solidFill>
          <a:ln/>
        </p:spPr>
      </p:sp>
      <p:sp>
        <p:nvSpPr>
          <p:cNvPr id="11" name="Text 9"/>
          <p:cNvSpPr txBox="1"/>
          <p:nvPr/>
        </p:nvSpPr>
        <p:spPr>
          <a:xfrm>
            <a:off x="809244" y="2695651"/>
            <a:ext cx="810158" cy="200254"/>
          </a:xfrm>
          <a:prstGeom prst="rect">
            <a:avLst/>
          </a:prstGeom>
          <a:noFill/>
          <a:ln/>
        </p:spPr>
        <p:txBody>
          <a:bodyPr wrap="square" lIns="0" tIns="0" rIns="0" bIns="0" rtlCol="0" anchor="ctr"/>
          <a:lstStyle/>
          <a:p>
            <a:pPr algn="l" indent="0" marL="0">
              <a:buNone/>
            </a:pPr>
            <a:r>
              <a:rPr lang="en-US" sz="1200" b="1" dirty="0">
                <a:solidFill>
                  <a:srgbClr val="323130"/>
                </a:solidFill>
                <a:latin typeface="Segoe UI" pitchFamily="34" charset="0"/>
                <a:ea typeface="Segoe UI" pitchFamily="34" charset="-122"/>
                <a:cs typeface="Segoe UI" pitchFamily="34" charset="-120"/>
              </a:rPr>
              <a:t>Capability</a:t>
            </a:r>
            <a:endParaRPr lang="en-US" sz="1200" dirty="0"/>
          </a:p>
        </p:txBody>
      </p:sp>
      <p:sp>
        <p:nvSpPr>
          <p:cNvPr id="12" name="Shape 10"/>
          <p:cNvSpPr/>
          <p:nvPr/>
        </p:nvSpPr>
        <p:spPr>
          <a:xfrm>
            <a:off x="4992624" y="2505456"/>
            <a:ext cx="3314700" cy="599846"/>
          </a:xfrm>
          <a:prstGeom prst="rect">
            <a:avLst/>
          </a:prstGeom>
          <a:solidFill>
            <a:srgbClr val="F3F2F1"/>
          </a:solidFill>
          <a:ln w="12700">
            <a:solidFill>
              <a:srgbClr val="E1DFDD"/>
            </a:solidFill>
            <a:prstDash val="solid"/>
          </a:ln>
        </p:spPr>
      </p:sp>
      <p:sp>
        <p:nvSpPr>
          <p:cNvPr id="13" name="Text 11"/>
          <p:cNvSpPr txBox="1"/>
          <p:nvPr/>
        </p:nvSpPr>
        <p:spPr>
          <a:xfrm>
            <a:off x="5770778" y="2695651"/>
            <a:ext cx="1867205" cy="200254"/>
          </a:xfrm>
          <a:prstGeom prst="rect">
            <a:avLst/>
          </a:prstGeom>
          <a:noFill/>
          <a:ln/>
        </p:spPr>
        <p:txBody>
          <a:bodyPr wrap="square" lIns="0" tIns="0" rIns="0" bIns="0" rtlCol="0" anchor="ctr"/>
          <a:lstStyle/>
          <a:p>
            <a:pPr algn="ctr" indent="0" marL="0">
              <a:buNone/>
            </a:pPr>
            <a:r>
              <a:rPr lang="en-US" sz="1200" b="1" dirty="0">
                <a:solidFill>
                  <a:srgbClr val="605E5C"/>
                </a:solidFill>
                <a:latin typeface="Segoe UI" pitchFamily="34" charset="0"/>
                <a:ea typeface="Segoe UI" pitchFamily="34" charset="-122"/>
                <a:cs typeface="Segoe UI" pitchFamily="34" charset="-120"/>
              </a:rPr>
              <a:t>Power BI Reporting Layer</a:t>
            </a:r>
            <a:endParaRPr lang="en-US" sz="1200" dirty="0"/>
          </a:p>
        </p:txBody>
      </p:sp>
      <p:sp>
        <p:nvSpPr>
          <p:cNvPr id="14" name="Shape 12"/>
          <p:cNvSpPr/>
          <p:nvPr/>
        </p:nvSpPr>
        <p:spPr>
          <a:xfrm>
            <a:off x="8301838" y="2505456"/>
            <a:ext cx="3314700" cy="599846"/>
          </a:xfrm>
          <a:prstGeom prst="rect">
            <a:avLst/>
          </a:prstGeom>
          <a:solidFill>
            <a:srgbClr val="EFF6FC"/>
          </a:solidFill>
          <a:ln w="50800">
            <a:solidFill>
              <a:srgbClr val="0078D4"/>
            </a:solidFill>
            <a:prstDash val="solid"/>
          </a:ln>
        </p:spPr>
      </p:sp>
      <p:sp>
        <p:nvSpPr>
          <p:cNvPr id="15" name="Text 13"/>
          <p:cNvSpPr txBox="1"/>
          <p:nvPr/>
        </p:nvSpPr>
        <p:spPr>
          <a:xfrm>
            <a:off x="8775497" y="2704795"/>
            <a:ext cx="2486254" cy="200254"/>
          </a:xfrm>
          <a:prstGeom prst="rect">
            <a:avLst/>
          </a:prstGeom>
          <a:noFill/>
          <a:ln/>
        </p:spPr>
        <p:txBody>
          <a:bodyPr wrap="square" lIns="0" tIns="0" rIns="0" bIns="0" rtlCol="0" anchor="ctr"/>
          <a:lstStyle/>
          <a:p>
            <a:pPr algn="ctr" indent="0" marL="0">
              <a:buNone/>
            </a:pPr>
            <a:r>
              <a:rPr lang="en-US" sz="1200" b="1" dirty="0">
                <a:solidFill>
                  <a:srgbClr val="0078D4"/>
                </a:solidFill>
                <a:latin typeface="Segoe UI" pitchFamily="34" charset="0"/>
                <a:ea typeface="Segoe UI" pitchFamily="34" charset="-122"/>
                <a:cs typeface="Segoe UI" pitchFamily="34" charset="-120"/>
              </a:rPr>
              <a:t>Audit Automation Execution Layer</a:t>
            </a:r>
            <a:endParaRPr lang="en-US" sz="1200" dirty="0"/>
          </a:p>
        </p:txBody>
      </p:sp>
      <p:sp>
        <p:nvSpPr>
          <p:cNvPr id="16" name="Shape 14"/>
          <p:cNvSpPr/>
          <p:nvPr/>
        </p:nvSpPr>
        <p:spPr>
          <a:xfrm>
            <a:off x="580644" y="3686861"/>
            <a:ext cx="4419295" cy="9144"/>
          </a:xfrm>
          <a:prstGeom prst="rect">
            <a:avLst/>
          </a:prstGeom>
          <a:solidFill>
            <a:srgbClr val="F3F2F1"/>
          </a:solidFill>
          <a:ln/>
        </p:spPr>
      </p:sp>
      <p:sp>
        <p:nvSpPr>
          <p:cNvPr id="17" name="Text 15"/>
          <p:cNvSpPr txBox="1"/>
          <p:nvPr/>
        </p:nvSpPr>
        <p:spPr>
          <a:xfrm>
            <a:off x="809244" y="3295498"/>
            <a:ext cx="1752905" cy="200254"/>
          </a:xfrm>
          <a:prstGeom prst="rect">
            <a:avLst/>
          </a:prstGeom>
          <a:noFill/>
          <a:ln/>
        </p:spPr>
        <p:txBody>
          <a:bodyPr wrap="square" lIns="0" tIns="0" rIns="0" bIns="0" rtlCol="0" anchor="ctr"/>
          <a:lstStyle/>
          <a:p>
            <a:pPr algn="l" indent="0" marL="0">
              <a:buNone/>
            </a:pPr>
            <a:r>
              <a:rPr lang="en-US" sz="1200" dirty="0">
                <a:solidFill>
                  <a:srgbClr val="201F1E"/>
                </a:solidFill>
                <a:latin typeface="Segoe UI" pitchFamily="34" charset="0"/>
                <a:ea typeface="Segoe UI" pitchFamily="34" charset="-122"/>
                <a:cs typeface="Segoe UI" pitchFamily="34" charset="-120"/>
              </a:rPr>
              <a:t>Automatic audit triggers</a:t>
            </a:r>
            <a:endParaRPr lang="en-US" sz="1200" dirty="0"/>
          </a:p>
        </p:txBody>
      </p:sp>
      <p:sp>
        <p:nvSpPr>
          <p:cNvPr id="18" name="Shape 16"/>
          <p:cNvSpPr/>
          <p:nvPr/>
        </p:nvSpPr>
        <p:spPr>
          <a:xfrm>
            <a:off x="4992624" y="3686861"/>
            <a:ext cx="3314700" cy="9144"/>
          </a:xfrm>
          <a:prstGeom prst="rect">
            <a:avLst/>
          </a:prstGeom>
          <a:solidFill>
            <a:srgbClr val="F3F2F1"/>
          </a:solidFill>
          <a:ln/>
        </p:spPr>
      </p:sp>
      <p:sp>
        <p:nvSpPr>
          <p:cNvPr id="19" name="Shape 17"/>
          <p:cNvSpPr/>
          <p:nvPr/>
        </p:nvSpPr>
        <p:spPr>
          <a:xfrm>
            <a:off x="6494983" y="3247949"/>
            <a:ext cx="304495" cy="304495"/>
          </a:xfrm>
          <a:prstGeom prst="ellipse">
            <a:avLst/>
          </a:prstGeom>
          <a:solidFill>
            <a:srgbClr val="FDF3F4"/>
          </a:solidFill>
          <a:ln/>
        </p:spPr>
      </p:sp>
      <p:pic>
        <p:nvPicPr>
          <p:cNvPr id="20" name="Image 0" descr="preencoded.png">    </p:cNvPr>
          <p:cNvPicPr>
            <a:picLocks noChangeAspect="1"/>
          </p:cNvPicPr>
          <p:nvPr/>
        </p:nvPicPr>
        <p:blipFill>
          <a:blip r:embed="rId1"/>
          <a:srcRect l="0" r="0" t="0" b="0"/>
          <a:stretch/>
        </p:blipFill>
        <p:spPr>
          <a:xfrm>
            <a:off x="6575450" y="3305556"/>
            <a:ext cx="142646" cy="190195"/>
          </a:xfrm>
          <a:prstGeom prst="rect">
            <a:avLst/>
          </a:prstGeom>
        </p:spPr>
      </p:pic>
      <p:sp>
        <p:nvSpPr>
          <p:cNvPr id="21" name="Shape 18"/>
          <p:cNvSpPr/>
          <p:nvPr/>
        </p:nvSpPr>
        <p:spPr>
          <a:xfrm>
            <a:off x="8301838" y="3105302"/>
            <a:ext cx="3314700" cy="590702"/>
          </a:xfrm>
          <a:prstGeom prst="rect">
            <a:avLst/>
          </a:prstGeom>
          <a:solidFill>
            <a:srgbClr val="FCFDFE"/>
          </a:solidFill>
          <a:ln/>
        </p:spPr>
      </p:sp>
      <p:sp>
        <p:nvSpPr>
          <p:cNvPr id="22" name="Shape 19"/>
          <p:cNvSpPr/>
          <p:nvPr/>
        </p:nvSpPr>
        <p:spPr>
          <a:xfrm>
            <a:off x="8301838" y="3686861"/>
            <a:ext cx="3314700" cy="9144"/>
          </a:xfrm>
          <a:prstGeom prst="rect">
            <a:avLst/>
          </a:prstGeom>
          <a:solidFill>
            <a:srgbClr val="F3F2F1"/>
          </a:solidFill>
          <a:ln/>
        </p:spPr>
      </p:sp>
      <p:sp>
        <p:nvSpPr>
          <p:cNvPr id="23" name="Shape 20"/>
          <p:cNvSpPr/>
          <p:nvPr/>
        </p:nvSpPr>
        <p:spPr>
          <a:xfrm>
            <a:off x="9804197" y="3247949"/>
            <a:ext cx="304495" cy="304495"/>
          </a:xfrm>
          <a:prstGeom prst="ellipse">
            <a:avLst/>
          </a:prstGeom>
          <a:solidFill>
            <a:srgbClr val="DFF6DD"/>
          </a:solidFill>
          <a:ln/>
          <a:effectLst>
            <a:outerShdw sx="100000" sy="100000" kx="0" ky="0" algn="bl" rotWithShape="0" blurRad="38100" dist="25400" dir="5400000">
              <a:srgbClr val="107c10">
                <a:alpha val="10000"/>
              </a:srgbClr>
            </a:outerShdw>
          </a:effectLst>
        </p:spPr>
      </p:sp>
      <p:pic>
        <p:nvPicPr>
          <p:cNvPr id="24" name="Image 1" descr="preencoded.png">    </p:cNvPr>
          <p:cNvPicPr>
            <a:picLocks noChangeAspect="1"/>
          </p:cNvPicPr>
          <p:nvPr/>
        </p:nvPicPr>
        <p:blipFill>
          <a:blip r:embed="rId2"/>
          <a:srcRect l="-1648" r="-1648" t="0" b="0"/>
          <a:stretch/>
        </p:blipFill>
        <p:spPr>
          <a:xfrm>
            <a:off x="9870948" y="3305556"/>
            <a:ext cx="171907" cy="190195"/>
          </a:xfrm>
          <a:prstGeom prst="rect">
            <a:avLst/>
          </a:prstGeom>
        </p:spPr>
      </p:pic>
      <p:sp>
        <p:nvSpPr>
          <p:cNvPr id="25" name="Shape 21"/>
          <p:cNvSpPr/>
          <p:nvPr/>
        </p:nvSpPr>
        <p:spPr>
          <a:xfrm>
            <a:off x="580644" y="4262018"/>
            <a:ext cx="4419295" cy="9144"/>
          </a:xfrm>
          <a:prstGeom prst="rect">
            <a:avLst/>
          </a:prstGeom>
          <a:solidFill>
            <a:srgbClr val="F3F2F1"/>
          </a:solidFill>
          <a:ln/>
        </p:spPr>
      </p:sp>
      <p:sp>
        <p:nvSpPr>
          <p:cNvPr id="26" name="Text 22"/>
          <p:cNvSpPr txBox="1"/>
          <p:nvPr/>
        </p:nvSpPr>
        <p:spPr>
          <a:xfrm>
            <a:off x="809244" y="3877056"/>
            <a:ext cx="1953158" cy="200254"/>
          </a:xfrm>
          <a:prstGeom prst="rect">
            <a:avLst/>
          </a:prstGeom>
          <a:noFill/>
          <a:ln/>
        </p:spPr>
        <p:txBody>
          <a:bodyPr wrap="square" lIns="0" tIns="0" rIns="0" bIns="0" rtlCol="0" anchor="ctr"/>
          <a:lstStyle/>
          <a:p>
            <a:pPr algn="l" indent="0" marL="0">
              <a:buNone/>
            </a:pPr>
            <a:r>
              <a:rPr lang="en-US" sz="1200" dirty="0">
                <a:solidFill>
                  <a:srgbClr val="201F1E"/>
                </a:solidFill>
                <a:latin typeface="Segoe UI" pitchFamily="34" charset="0"/>
                <a:ea typeface="Segoe UI" pitchFamily="34" charset="-122"/>
                <a:cs typeface="Segoe UI" pitchFamily="34" charset="-120"/>
              </a:rPr>
              <a:t>Rule-based audit validation</a:t>
            </a:r>
            <a:endParaRPr lang="en-US" sz="1200" dirty="0"/>
          </a:p>
        </p:txBody>
      </p:sp>
      <p:sp>
        <p:nvSpPr>
          <p:cNvPr id="27" name="Shape 23"/>
          <p:cNvSpPr/>
          <p:nvPr/>
        </p:nvSpPr>
        <p:spPr>
          <a:xfrm>
            <a:off x="4992624" y="4262018"/>
            <a:ext cx="3314700" cy="9144"/>
          </a:xfrm>
          <a:prstGeom prst="rect">
            <a:avLst/>
          </a:prstGeom>
          <a:solidFill>
            <a:srgbClr val="F3F2F1"/>
          </a:solidFill>
          <a:ln/>
        </p:spPr>
      </p:sp>
      <p:sp>
        <p:nvSpPr>
          <p:cNvPr id="28" name="Shape 24"/>
          <p:cNvSpPr/>
          <p:nvPr/>
        </p:nvSpPr>
        <p:spPr>
          <a:xfrm>
            <a:off x="6494983" y="3829507"/>
            <a:ext cx="304495" cy="304495"/>
          </a:xfrm>
          <a:prstGeom prst="ellipse">
            <a:avLst/>
          </a:prstGeom>
          <a:solidFill>
            <a:srgbClr val="FDF3F4"/>
          </a:solidFill>
          <a:ln/>
        </p:spPr>
      </p:sp>
      <p:pic>
        <p:nvPicPr>
          <p:cNvPr id="29" name="Image 2" descr="preencoded.png">    </p:cNvPr>
          <p:cNvPicPr>
            <a:picLocks noChangeAspect="1"/>
          </p:cNvPicPr>
          <p:nvPr/>
        </p:nvPicPr>
        <p:blipFill>
          <a:blip r:embed="rId3"/>
          <a:srcRect l="0" r="0" t="0" b="0"/>
          <a:stretch/>
        </p:blipFill>
        <p:spPr>
          <a:xfrm>
            <a:off x="6575450" y="3886200"/>
            <a:ext cx="142646" cy="190195"/>
          </a:xfrm>
          <a:prstGeom prst="rect">
            <a:avLst/>
          </a:prstGeom>
        </p:spPr>
      </p:pic>
      <p:sp>
        <p:nvSpPr>
          <p:cNvPr id="30" name="Shape 25"/>
          <p:cNvSpPr/>
          <p:nvPr/>
        </p:nvSpPr>
        <p:spPr>
          <a:xfrm>
            <a:off x="8301838" y="3690518"/>
            <a:ext cx="3314700" cy="580644"/>
          </a:xfrm>
          <a:prstGeom prst="rect">
            <a:avLst/>
          </a:prstGeom>
          <a:solidFill>
            <a:srgbClr val="FCFDFE"/>
          </a:solidFill>
          <a:ln/>
        </p:spPr>
      </p:sp>
      <p:sp>
        <p:nvSpPr>
          <p:cNvPr id="31" name="Shape 26"/>
          <p:cNvSpPr/>
          <p:nvPr/>
        </p:nvSpPr>
        <p:spPr>
          <a:xfrm>
            <a:off x="8301838" y="4262018"/>
            <a:ext cx="3314700" cy="9144"/>
          </a:xfrm>
          <a:prstGeom prst="rect">
            <a:avLst/>
          </a:prstGeom>
          <a:solidFill>
            <a:srgbClr val="F3F2F1"/>
          </a:solidFill>
          <a:ln/>
        </p:spPr>
      </p:sp>
      <p:sp>
        <p:nvSpPr>
          <p:cNvPr id="32" name="Shape 27"/>
          <p:cNvSpPr/>
          <p:nvPr/>
        </p:nvSpPr>
        <p:spPr>
          <a:xfrm>
            <a:off x="9804197" y="3829507"/>
            <a:ext cx="304495" cy="304495"/>
          </a:xfrm>
          <a:prstGeom prst="ellipse">
            <a:avLst/>
          </a:prstGeom>
          <a:solidFill>
            <a:srgbClr val="DFF6DD"/>
          </a:solidFill>
          <a:ln/>
          <a:effectLst>
            <a:outerShdw sx="100000" sy="100000" kx="0" ky="0" algn="bl" rotWithShape="0" blurRad="38100" dist="25400" dir="5400000">
              <a:srgbClr val="107c10">
                <a:alpha val="10000"/>
              </a:srgbClr>
            </a:outerShdw>
          </a:effectLst>
        </p:spPr>
      </p:sp>
      <p:pic>
        <p:nvPicPr>
          <p:cNvPr id="33" name="Image 3" descr="preencoded.png">    </p:cNvPr>
          <p:cNvPicPr>
            <a:picLocks noChangeAspect="1"/>
          </p:cNvPicPr>
          <p:nvPr/>
        </p:nvPicPr>
        <p:blipFill>
          <a:blip r:embed="rId4"/>
          <a:srcRect l="-1648" r="-1648" t="0" b="0"/>
          <a:stretch/>
        </p:blipFill>
        <p:spPr>
          <a:xfrm>
            <a:off x="9870948" y="3886200"/>
            <a:ext cx="171907" cy="190195"/>
          </a:xfrm>
          <a:prstGeom prst="rect">
            <a:avLst/>
          </a:prstGeom>
        </p:spPr>
      </p:pic>
      <p:sp>
        <p:nvSpPr>
          <p:cNvPr id="34" name="Shape 28"/>
          <p:cNvSpPr/>
          <p:nvPr/>
        </p:nvSpPr>
        <p:spPr>
          <a:xfrm>
            <a:off x="580644" y="4843577"/>
            <a:ext cx="4419295" cy="9144"/>
          </a:xfrm>
          <a:prstGeom prst="rect">
            <a:avLst/>
          </a:prstGeom>
          <a:solidFill>
            <a:srgbClr val="F3F2F1"/>
          </a:solidFill>
          <a:ln/>
        </p:spPr>
      </p:sp>
      <p:sp>
        <p:nvSpPr>
          <p:cNvPr id="35" name="Text 29"/>
          <p:cNvSpPr txBox="1"/>
          <p:nvPr/>
        </p:nvSpPr>
        <p:spPr>
          <a:xfrm>
            <a:off x="809244" y="4457700"/>
            <a:ext cx="2162556" cy="200254"/>
          </a:xfrm>
          <a:prstGeom prst="rect">
            <a:avLst/>
          </a:prstGeom>
          <a:noFill/>
          <a:ln/>
        </p:spPr>
        <p:txBody>
          <a:bodyPr wrap="square" lIns="0" tIns="0" rIns="0" bIns="0" rtlCol="0" anchor="ctr"/>
          <a:lstStyle/>
          <a:p>
            <a:pPr algn="l" indent="0" marL="0">
              <a:buNone/>
            </a:pPr>
            <a:r>
              <a:rPr lang="en-US" sz="1200" dirty="0">
                <a:solidFill>
                  <a:srgbClr val="201F1E"/>
                </a:solidFill>
                <a:latin typeface="Segoe UI" pitchFamily="34" charset="0"/>
                <a:ea typeface="Segoe UI" pitchFamily="34" charset="-122"/>
                <a:cs typeface="Segoe UI" pitchFamily="34" charset="-120"/>
              </a:rPr>
              <a:t>Evidence completeness checks</a:t>
            </a:r>
            <a:endParaRPr lang="en-US" sz="1200" dirty="0"/>
          </a:p>
        </p:txBody>
      </p:sp>
      <p:sp>
        <p:nvSpPr>
          <p:cNvPr id="36" name="Shape 30"/>
          <p:cNvSpPr/>
          <p:nvPr/>
        </p:nvSpPr>
        <p:spPr>
          <a:xfrm>
            <a:off x="4992624" y="4843577"/>
            <a:ext cx="3314700" cy="9144"/>
          </a:xfrm>
          <a:prstGeom prst="rect">
            <a:avLst/>
          </a:prstGeom>
          <a:solidFill>
            <a:srgbClr val="F3F2F1"/>
          </a:solidFill>
          <a:ln/>
        </p:spPr>
      </p:sp>
      <p:sp>
        <p:nvSpPr>
          <p:cNvPr id="37" name="Shape 31"/>
          <p:cNvSpPr/>
          <p:nvPr/>
        </p:nvSpPr>
        <p:spPr>
          <a:xfrm>
            <a:off x="6494983" y="4410151"/>
            <a:ext cx="304495" cy="304495"/>
          </a:xfrm>
          <a:prstGeom prst="ellipse">
            <a:avLst/>
          </a:prstGeom>
          <a:solidFill>
            <a:srgbClr val="FDF3F4"/>
          </a:solidFill>
          <a:ln/>
        </p:spPr>
      </p:sp>
      <p:pic>
        <p:nvPicPr>
          <p:cNvPr id="38" name="Image 4" descr="preencoded.png">    </p:cNvPr>
          <p:cNvPicPr>
            <a:picLocks noChangeAspect="1"/>
          </p:cNvPicPr>
          <p:nvPr/>
        </p:nvPicPr>
        <p:blipFill>
          <a:blip r:embed="rId5"/>
          <a:srcRect l="0" r="0" t="0" b="0"/>
          <a:stretch/>
        </p:blipFill>
        <p:spPr>
          <a:xfrm>
            <a:off x="6575450" y="4466844"/>
            <a:ext cx="142646" cy="190195"/>
          </a:xfrm>
          <a:prstGeom prst="rect">
            <a:avLst/>
          </a:prstGeom>
        </p:spPr>
      </p:pic>
      <p:sp>
        <p:nvSpPr>
          <p:cNvPr id="39" name="Shape 32"/>
          <p:cNvSpPr/>
          <p:nvPr/>
        </p:nvSpPr>
        <p:spPr>
          <a:xfrm>
            <a:off x="8301838" y="4272077"/>
            <a:ext cx="3314700" cy="580644"/>
          </a:xfrm>
          <a:prstGeom prst="rect">
            <a:avLst/>
          </a:prstGeom>
          <a:solidFill>
            <a:srgbClr val="FCFDFE"/>
          </a:solidFill>
          <a:ln/>
        </p:spPr>
      </p:sp>
      <p:sp>
        <p:nvSpPr>
          <p:cNvPr id="40" name="Shape 33"/>
          <p:cNvSpPr/>
          <p:nvPr/>
        </p:nvSpPr>
        <p:spPr>
          <a:xfrm>
            <a:off x="8301838" y="4843577"/>
            <a:ext cx="3314700" cy="9144"/>
          </a:xfrm>
          <a:prstGeom prst="rect">
            <a:avLst/>
          </a:prstGeom>
          <a:solidFill>
            <a:srgbClr val="F3F2F1"/>
          </a:solidFill>
          <a:ln/>
        </p:spPr>
      </p:sp>
      <p:sp>
        <p:nvSpPr>
          <p:cNvPr id="41" name="Shape 34"/>
          <p:cNvSpPr/>
          <p:nvPr/>
        </p:nvSpPr>
        <p:spPr>
          <a:xfrm>
            <a:off x="9804197" y="4410151"/>
            <a:ext cx="304495" cy="304495"/>
          </a:xfrm>
          <a:prstGeom prst="ellipse">
            <a:avLst/>
          </a:prstGeom>
          <a:solidFill>
            <a:srgbClr val="DFF6DD"/>
          </a:solidFill>
          <a:ln/>
          <a:effectLst>
            <a:outerShdw sx="100000" sy="100000" kx="0" ky="0" algn="bl" rotWithShape="0" blurRad="38100" dist="25400" dir="5400000">
              <a:srgbClr val="107c10">
                <a:alpha val="10000"/>
              </a:srgbClr>
            </a:outerShdw>
          </a:effectLst>
        </p:spPr>
      </p:sp>
      <p:pic>
        <p:nvPicPr>
          <p:cNvPr id="42" name="Image 5" descr="preencoded.png">    </p:cNvPr>
          <p:cNvPicPr>
            <a:picLocks noChangeAspect="1"/>
          </p:cNvPicPr>
          <p:nvPr/>
        </p:nvPicPr>
        <p:blipFill>
          <a:blip r:embed="rId6"/>
          <a:srcRect l="-1648" r="-1648" t="0" b="0"/>
          <a:stretch/>
        </p:blipFill>
        <p:spPr>
          <a:xfrm>
            <a:off x="9870948" y="4466844"/>
            <a:ext cx="171907" cy="190195"/>
          </a:xfrm>
          <a:prstGeom prst="rect">
            <a:avLst/>
          </a:prstGeom>
        </p:spPr>
      </p:pic>
      <p:sp>
        <p:nvSpPr>
          <p:cNvPr id="43" name="Shape 35"/>
          <p:cNvSpPr/>
          <p:nvPr/>
        </p:nvSpPr>
        <p:spPr>
          <a:xfrm>
            <a:off x="580644" y="5424221"/>
            <a:ext cx="4419295" cy="9144"/>
          </a:xfrm>
          <a:prstGeom prst="rect">
            <a:avLst/>
          </a:prstGeom>
          <a:solidFill>
            <a:srgbClr val="F3F2F1"/>
          </a:solidFill>
          <a:ln/>
        </p:spPr>
      </p:sp>
      <p:sp>
        <p:nvSpPr>
          <p:cNvPr id="44" name="Text 36"/>
          <p:cNvSpPr txBox="1"/>
          <p:nvPr/>
        </p:nvSpPr>
        <p:spPr>
          <a:xfrm>
            <a:off x="809244" y="5038344"/>
            <a:ext cx="1972361" cy="200254"/>
          </a:xfrm>
          <a:prstGeom prst="rect">
            <a:avLst/>
          </a:prstGeom>
          <a:noFill/>
          <a:ln/>
        </p:spPr>
        <p:txBody>
          <a:bodyPr wrap="square" lIns="0" tIns="0" rIns="0" bIns="0" rtlCol="0" anchor="ctr"/>
          <a:lstStyle/>
          <a:p>
            <a:pPr algn="l" indent="0" marL="0">
              <a:buNone/>
            </a:pPr>
            <a:r>
              <a:rPr lang="en-US" sz="1200" dirty="0">
                <a:solidFill>
                  <a:srgbClr val="201F1E"/>
                </a:solidFill>
                <a:latin typeface="Segoe UI" pitchFamily="34" charset="0"/>
                <a:ea typeface="Segoe UI" pitchFamily="34" charset="-122"/>
                <a:cs typeface="Segoe UI" pitchFamily="34" charset="-120"/>
              </a:rPr>
              <a:t>Auto-notification to owners</a:t>
            </a:r>
            <a:endParaRPr lang="en-US" sz="1200" dirty="0"/>
          </a:p>
        </p:txBody>
      </p:sp>
      <p:sp>
        <p:nvSpPr>
          <p:cNvPr id="45" name="Shape 37"/>
          <p:cNvSpPr/>
          <p:nvPr/>
        </p:nvSpPr>
        <p:spPr>
          <a:xfrm>
            <a:off x="4992624" y="5424221"/>
            <a:ext cx="3314700" cy="9144"/>
          </a:xfrm>
          <a:prstGeom prst="rect">
            <a:avLst/>
          </a:prstGeom>
          <a:solidFill>
            <a:srgbClr val="F3F2F1"/>
          </a:solidFill>
          <a:ln/>
        </p:spPr>
      </p:sp>
      <p:sp>
        <p:nvSpPr>
          <p:cNvPr id="46" name="Shape 38"/>
          <p:cNvSpPr/>
          <p:nvPr/>
        </p:nvSpPr>
        <p:spPr>
          <a:xfrm>
            <a:off x="6494983" y="4990795"/>
            <a:ext cx="304495" cy="304495"/>
          </a:xfrm>
          <a:prstGeom prst="ellipse">
            <a:avLst/>
          </a:prstGeom>
          <a:solidFill>
            <a:srgbClr val="FDF3F4"/>
          </a:solidFill>
          <a:ln/>
        </p:spPr>
      </p:sp>
      <p:pic>
        <p:nvPicPr>
          <p:cNvPr id="47" name="Image 6" descr="preencoded.png">    </p:cNvPr>
          <p:cNvPicPr>
            <a:picLocks noChangeAspect="1"/>
          </p:cNvPicPr>
          <p:nvPr/>
        </p:nvPicPr>
        <p:blipFill>
          <a:blip r:embed="rId7"/>
          <a:srcRect l="0" r="0" t="0" b="0"/>
          <a:stretch/>
        </p:blipFill>
        <p:spPr>
          <a:xfrm>
            <a:off x="6575450" y="5048402"/>
            <a:ext cx="142646" cy="190195"/>
          </a:xfrm>
          <a:prstGeom prst="rect">
            <a:avLst/>
          </a:prstGeom>
        </p:spPr>
      </p:pic>
      <p:sp>
        <p:nvSpPr>
          <p:cNvPr id="48" name="Shape 39"/>
          <p:cNvSpPr/>
          <p:nvPr/>
        </p:nvSpPr>
        <p:spPr>
          <a:xfrm>
            <a:off x="8301838" y="4852721"/>
            <a:ext cx="3314700" cy="580644"/>
          </a:xfrm>
          <a:prstGeom prst="rect">
            <a:avLst/>
          </a:prstGeom>
          <a:solidFill>
            <a:srgbClr val="FCFDFE"/>
          </a:solidFill>
          <a:ln/>
        </p:spPr>
      </p:sp>
      <p:sp>
        <p:nvSpPr>
          <p:cNvPr id="49" name="Shape 40"/>
          <p:cNvSpPr/>
          <p:nvPr/>
        </p:nvSpPr>
        <p:spPr>
          <a:xfrm>
            <a:off x="8301838" y="5424221"/>
            <a:ext cx="3314700" cy="9144"/>
          </a:xfrm>
          <a:prstGeom prst="rect">
            <a:avLst/>
          </a:prstGeom>
          <a:solidFill>
            <a:srgbClr val="F3F2F1"/>
          </a:solidFill>
          <a:ln/>
        </p:spPr>
      </p:sp>
      <p:sp>
        <p:nvSpPr>
          <p:cNvPr id="50" name="Shape 41"/>
          <p:cNvSpPr/>
          <p:nvPr/>
        </p:nvSpPr>
        <p:spPr>
          <a:xfrm>
            <a:off x="9804197" y="4990795"/>
            <a:ext cx="304495" cy="304495"/>
          </a:xfrm>
          <a:prstGeom prst="ellipse">
            <a:avLst/>
          </a:prstGeom>
          <a:solidFill>
            <a:srgbClr val="DFF6DD"/>
          </a:solidFill>
          <a:ln/>
          <a:effectLst>
            <a:outerShdw sx="100000" sy="100000" kx="0" ky="0" algn="bl" rotWithShape="0" blurRad="38100" dist="25400" dir="5400000">
              <a:srgbClr val="107c10">
                <a:alpha val="10000"/>
              </a:srgbClr>
            </a:outerShdw>
          </a:effectLst>
        </p:spPr>
      </p:sp>
      <p:pic>
        <p:nvPicPr>
          <p:cNvPr id="51" name="Image 7" descr="preencoded.png">    </p:cNvPr>
          <p:cNvPicPr>
            <a:picLocks noChangeAspect="1"/>
          </p:cNvPicPr>
          <p:nvPr/>
        </p:nvPicPr>
        <p:blipFill>
          <a:blip r:embed="rId8"/>
          <a:srcRect l="-1648" r="-1648" t="0" b="0"/>
          <a:stretch/>
        </p:blipFill>
        <p:spPr>
          <a:xfrm>
            <a:off x="9870948" y="5048402"/>
            <a:ext cx="171907" cy="190195"/>
          </a:xfrm>
          <a:prstGeom prst="rect">
            <a:avLst/>
          </a:prstGeom>
        </p:spPr>
      </p:pic>
      <p:sp>
        <p:nvSpPr>
          <p:cNvPr id="52" name="Shape 42"/>
          <p:cNvSpPr/>
          <p:nvPr/>
        </p:nvSpPr>
        <p:spPr>
          <a:xfrm>
            <a:off x="580644" y="6005779"/>
            <a:ext cx="4419295" cy="9144"/>
          </a:xfrm>
          <a:prstGeom prst="rect">
            <a:avLst/>
          </a:prstGeom>
          <a:solidFill>
            <a:srgbClr val="F3F2F1"/>
          </a:solidFill>
          <a:ln/>
        </p:spPr>
      </p:sp>
      <p:sp>
        <p:nvSpPr>
          <p:cNvPr id="53" name="Text 43"/>
          <p:cNvSpPr txBox="1"/>
          <p:nvPr/>
        </p:nvSpPr>
        <p:spPr>
          <a:xfrm>
            <a:off x="809244" y="5619902"/>
            <a:ext cx="2429561" cy="200254"/>
          </a:xfrm>
          <a:prstGeom prst="rect">
            <a:avLst/>
          </a:prstGeom>
          <a:noFill/>
          <a:ln/>
        </p:spPr>
        <p:txBody>
          <a:bodyPr wrap="square" lIns="0" tIns="0" rIns="0" bIns="0" rtlCol="0" anchor="ctr"/>
          <a:lstStyle/>
          <a:p>
            <a:pPr algn="l" indent="0" marL="0">
              <a:buNone/>
            </a:pPr>
            <a:r>
              <a:rPr lang="en-US" sz="1200" dirty="0">
                <a:solidFill>
                  <a:srgbClr val="201F1E"/>
                </a:solidFill>
                <a:latin typeface="Segoe UI" pitchFamily="34" charset="0"/>
                <a:ea typeface="Segoe UI" pitchFamily="34" charset="-122"/>
                <a:cs typeface="Segoe UI" pitchFamily="34" charset="-120"/>
              </a:rPr>
              <a:t>SLA-based reminders &amp; escalation</a:t>
            </a:r>
            <a:endParaRPr lang="en-US" sz="1200" dirty="0"/>
          </a:p>
        </p:txBody>
      </p:sp>
      <p:sp>
        <p:nvSpPr>
          <p:cNvPr id="54" name="Shape 44"/>
          <p:cNvSpPr/>
          <p:nvPr/>
        </p:nvSpPr>
        <p:spPr>
          <a:xfrm>
            <a:off x="4992624" y="6005779"/>
            <a:ext cx="3314700" cy="9144"/>
          </a:xfrm>
          <a:prstGeom prst="rect">
            <a:avLst/>
          </a:prstGeom>
          <a:solidFill>
            <a:srgbClr val="F3F2F1"/>
          </a:solidFill>
          <a:ln/>
        </p:spPr>
      </p:sp>
      <p:sp>
        <p:nvSpPr>
          <p:cNvPr id="55" name="Shape 45"/>
          <p:cNvSpPr/>
          <p:nvPr/>
        </p:nvSpPr>
        <p:spPr>
          <a:xfrm>
            <a:off x="6494983" y="5572354"/>
            <a:ext cx="304495" cy="304495"/>
          </a:xfrm>
          <a:prstGeom prst="ellipse">
            <a:avLst/>
          </a:prstGeom>
          <a:solidFill>
            <a:srgbClr val="FDF3F4"/>
          </a:solidFill>
          <a:ln/>
        </p:spPr>
      </p:sp>
      <p:pic>
        <p:nvPicPr>
          <p:cNvPr id="56" name="Image 8" descr="preencoded.png">    </p:cNvPr>
          <p:cNvPicPr>
            <a:picLocks noChangeAspect="1"/>
          </p:cNvPicPr>
          <p:nvPr/>
        </p:nvPicPr>
        <p:blipFill>
          <a:blip r:embed="rId9"/>
          <a:srcRect l="0" r="0" t="0" b="0"/>
          <a:stretch/>
        </p:blipFill>
        <p:spPr>
          <a:xfrm>
            <a:off x="6575450" y="5629046"/>
            <a:ext cx="142646" cy="190195"/>
          </a:xfrm>
          <a:prstGeom prst="rect">
            <a:avLst/>
          </a:prstGeom>
        </p:spPr>
      </p:pic>
      <p:sp>
        <p:nvSpPr>
          <p:cNvPr id="57" name="Shape 46"/>
          <p:cNvSpPr/>
          <p:nvPr/>
        </p:nvSpPr>
        <p:spPr>
          <a:xfrm>
            <a:off x="8301838" y="5434279"/>
            <a:ext cx="3314700" cy="580644"/>
          </a:xfrm>
          <a:prstGeom prst="rect">
            <a:avLst/>
          </a:prstGeom>
          <a:solidFill>
            <a:srgbClr val="FCFDFE"/>
          </a:solidFill>
          <a:ln/>
        </p:spPr>
      </p:sp>
      <p:sp>
        <p:nvSpPr>
          <p:cNvPr id="58" name="Shape 47"/>
          <p:cNvSpPr/>
          <p:nvPr/>
        </p:nvSpPr>
        <p:spPr>
          <a:xfrm>
            <a:off x="8301838" y="6005779"/>
            <a:ext cx="3314700" cy="9144"/>
          </a:xfrm>
          <a:prstGeom prst="rect">
            <a:avLst/>
          </a:prstGeom>
          <a:solidFill>
            <a:srgbClr val="F3F2F1"/>
          </a:solidFill>
          <a:ln/>
        </p:spPr>
      </p:sp>
      <p:sp>
        <p:nvSpPr>
          <p:cNvPr id="59" name="Shape 48"/>
          <p:cNvSpPr/>
          <p:nvPr/>
        </p:nvSpPr>
        <p:spPr>
          <a:xfrm>
            <a:off x="9804197" y="5572354"/>
            <a:ext cx="304495" cy="304495"/>
          </a:xfrm>
          <a:prstGeom prst="ellipse">
            <a:avLst/>
          </a:prstGeom>
          <a:solidFill>
            <a:srgbClr val="DFF6DD"/>
          </a:solidFill>
          <a:ln/>
          <a:effectLst>
            <a:outerShdw sx="100000" sy="100000" kx="0" ky="0" algn="bl" rotWithShape="0" blurRad="38100" dist="25400" dir="5400000">
              <a:srgbClr val="107c10">
                <a:alpha val="10000"/>
              </a:srgbClr>
            </a:outerShdw>
          </a:effectLst>
        </p:spPr>
      </p:sp>
      <p:pic>
        <p:nvPicPr>
          <p:cNvPr id="60" name="Image 9" descr="preencoded.png">    </p:cNvPr>
          <p:cNvPicPr>
            <a:picLocks noChangeAspect="1"/>
          </p:cNvPicPr>
          <p:nvPr/>
        </p:nvPicPr>
        <p:blipFill>
          <a:blip r:embed="rId10"/>
          <a:srcRect l="-1648" r="-1648" t="0" b="0"/>
          <a:stretch/>
        </p:blipFill>
        <p:spPr>
          <a:xfrm>
            <a:off x="9870948" y="5629046"/>
            <a:ext cx="171907" cy="190195"/>
          </a:xfrm>
          <a:prstGeom prst="rect">
            <a:avLst/>
          </a:prstGeom>
        </p:spPr>
      </p:pic>
      <p:sp>
        <p:nvSpPr>
          <p:cNvPr id="61" name="Shape 49"/>
          <p:cNvSpPr/>
          <p:nvPr/>
        </p:nvSpPr>
        <p:spPr>
          <a:xfrm>
            <a:off x="580644" y="6586423"/>
            <a:ext cx="4419295" cy="9144"/>
          </a:xfrm>
          <a:prstGeom prst="rect">
            <a:avLst/>
          </a:prstGeom>
          <a:solidFill>
            <a:srgbClr val="F3F2F1"/>
          </a:solidFill>
          <a:ln/>
        </p:spPr>
      </p:sp>
      <p:sp>
        <p:nvSpPr>
          <p:cNvPr id="62" name="Text 50"/>
          <p:cNvSpPr txBox="1"/>
          <p:nvPr/>
        </p:nvSpPr>
        <p:spPr>
          <a:xfrm>
            <a:off x="809244" y="6200546"/>
            <a:ext cx="1571854" cy="200254"/>
          </a:xfrm>
          <a:prstGeom prst="rect">
            <a:avLst/>
          </a:prstGeom>
          <a:noFill/>
          <a:ln/>
        </p:spPr>
        <p:txBody>
          <a:bodyPr wrap="square" lIns="0" tIns="0" rIns="0" bIns="0" rtlCol="0" anchor="ctr"/>
          <a:lstStyle/>
          <a:p>
            <a:pPr algn="l" indent="0" marL="0">
              <a:buNone/>
            </a:pPr>
            <a:r>
              <a:rPr lang="en-US" sz="1200" dirty="0">
                <a:solidFill>
                  <a:srgbClr val="201F1E"/>
                </a:solidFill>
                <a:latin typeface="Segoe UI" pitchFamily="34" charset="0"/>
                <a:ea typeface="Segoe UI" pitchFamily="34" charset="-122"/>
                <a:cs typeface="Segoe UI" pitchFamily="34" charset="-120"/>
              </a:rPr>
              <a:t>Auto re-audit after fix</a:t>
            </a:r>
            <a:endParaRPr lang="en-US" sz="1200" dirty="0"/>
          </a:p>
        </p:txBody>
      </p:sp>
      <p:sp>
        <p:nvSpPr>
          <p:cNvPr id="63" name="Shape 51"/>
          <p:cNvSpPr/>
          <p:nvPr/>
        </p:nvSpPr>
        <p:spPr>
          <a:xfrm>
            <a:off x="4992624" y="6586423"/>
            <a:ext cx="3314700" cy="9144"/>
          </a:xfrm>
          <a:prstGeom prst="rect">
            <a:avLst/>
          </a:prstGeom>
          <a:solidFill>
            <a:srgbClr val="F3F2F1"/>
          </a:solidFill>
          <a:ln/>
        </p:spPr>
      </p:sp>
      <p:sp>
        <p:nvSpPr>
          <p:cNvPr id="64" name="Shape 52"/>
          <p:cNvSpPr/>
          <p:nvPr/>
        </p:nvSpPr>
        <p:spPr>
          <a:xfrm>
            <a:off x="6494983" y="6152998"/>
            <a:ext cx="304495" cy="304495"/>
          </a:xfrm>
          <a:prstGeom prst="ellipse">
            <a:avLst/>
          </a:prstGeom>
          <a:solidFill>
            <a:srgbClr val="FDF3F4"/>
          </a:solidFill>
          <a:ln/>
        </p:spPr>
      </p:sp>
      <p:pic>
        <p:nvPicPr>
          <p:cNvPr id="65" name="Image 10" descr="preencoded.png">    </p:cNvPr>
          <p:cNvPicPr>
            <a:picLocks noChangeAspect="1"/>
          </p:cNvPicPr>
          <p:nvPr/>
        </p:nvPicPr>
        <p:blipFill>
          <a:blip r:embed="rId11"/>
          <a:srcRect l="0" r="0" t="0" b="0"/>
          <a:stretch/>
        </p:blipFill>
        <p:spPr>
          <a:xfrm>
            <a:off x="6575450" y="6210605"/>
            <a:ext cx="142646" cy="190195"/>
          </a:xfrm>
          <a:prstGeom prst="rect">
            <a:avLst/>
          </a:prstGeom>
        </p:spPr>
      </p:pic>
      <p:sp>
        <p:nvSpPr>
          <p:cNvPr id="66" name="Shape 53"/>
          <p:cNvSpPr/>
          <p:nvPr/>
        </p:nvSpPr>
        <p:spPr>
          <a:xfrm>
            <a:off x="8301838" y="6014923"/>
            <a:ext cx="3314700" cy="580644"/>
          </a:xfrm>
          <a:prstGeom prst="rect">
            <a:avLst/>
          </a:prstGeom>
          <a:solidFill>
            <a:srgbClr val="FCFDFE"/>
          </a:solidFill>
          <a:ln/>
        </p:spPr>
      </p:sp>
      <p:sp>
        <p:nvSpPr>
          <p:cNvPr id="67" name="Shape 54"/>
          <p:cNvSpPr/>
          <p:nvPr/>
        </p:nvSpPr>
        <p:spPr>
          <a:xfrm>
            <a:off x="8301838" y="6586423"/>
            <a:ext cx="3314700" cy="9144"/>
          </a:xfrm>
          <a:prstGeom prst="rect">
            <a:avLst/>
          </a:prstGeom>
          <a:solidFill>
            <a:srgbClr val="F3F2F1"/>
          </a:solidFill>
          <a:ln/>
        </p:spPr>
      </p:sp>
      <p:sp>
        <p:nvSpPr>
          <p:cNvPr id="68" name="Shape 55"/>
          <p:cNvSpPr/>
          <p:nvPr/>
        </p:nvSpPr>
        <p:spPr>
          <a:xfrm>
            <a:off x="9804197" y="6152998"/>
            <a:ext cx="304495" cy="304495"/>
          </a:xfrm>
          <a:prstGeom prst="ellipse">
            <a:avLst/>
          </a:prstGeom>
          <a:solidFill>
            <a:srgbClr val="DFF6DD"/>
          </a:solidFill>
          <a:ln/>
          <a:effectLst>
            <a:outerShdw sx="100000" sy="100000" kx="0" ky="0" algn="bl" rotWithShape="0" blurRad="38100" dist="25400" dir="5400000">
              <a:srgbClr val="107c10">
                <a:alpha val="10000"/>
              </a:srgbClr>
            </a:outerShdw>
          </a:effectLst>
        </p:spPr>
      </p:sp>
      <p:pic>
        <p:nvPicPr>
          <p:cNvPr id="69" name="Image 11" descr="preencoded.png">    </p:cNvPr>
          <p:cNvPicPr>
            <a:picLocks noChangeAspect="1"/>
          </p:cNvPicPr>
          <p:nvPr/>
        </p:nvPicPr>
        <p:blipFill>
          <a:blip r:embed="rId12"/>
          <a:srcRect l="-1648" r="-1648" t="0" b="0"/>
          <a:stretch/>
        </p:blipFill>
        <p:spPr>
          <a:xfrm>
            <a:off x="9870948" y="6210605"/>
            <a:ext cx="171907" cy="190195"/>
          </a:xfrm>
          <a:prstGeom prst="rect">
            <a:avLst/>
          </a:prstGeom>
        </p:spPr>
      </p:pic>
      <p:sp>
        <p:nvSpPr>
          <p:cNvPr id="70" name="Shape 56"/>
          <p:cNvSpPr/>
          <p:nvPr/>
        </p:nvSpPr>
        <p:spPr>
          <a:xfrm>
            <a:off x="580644" y="7167982"/>
            <a:ext cx="4419295" cy="9144"/>
          </a:xfrm>
          <a:prstGeom prst="rect">
            <a:avLst/>
          </a:prstGeom>
          <a:solidFill>
            <a:srgbClr val="F3F2F1"/>
          </a:solidFill>
          <a:ln/>
        </p:spPr>
      </p:sp>
      <p:sp>
        <p:nvSpPr>
          <p:cNvPr id="71" name="Text 57"/>
          <p:cNvSpPr txBox="1"/>
          <p:nvPr/>
        </p:nvSpPr>
        <p:spPr>
          <a:xfrm>
            <a:off x="809244" y="6782105"/>
            <a:ext cx="1848002" cy="200254"/>
          </a:xfrm>
          <a:prstGeom prst="rect">
            <a:avLst/>
          </a:prstGeom>
          <a:noFill/>
          <a:ln/>
        </p:spPr>
        <p:txBody>
          <a:bodyPr wrap="square" lIns="0" tIns="0" rIns="0" bIns="0" rtlCol="0" anchor="ctr"/>
          <a:lstStyle/>
          <a:p>
            <a:pPr algn="l" indent="0" marL="0">
              <a:buNone/>
            </a:pPr>
            <a:r>
              <a:rPr lang="en-US" sz="1200" dirty="0">
                <a:solidFill>
                  <a:srgbClr val="201F1E"/>
                </a:solidFill>
                <a:latin typeface="Segoe UI" pitchFamily="34" charset="0"/>
                <a:ea typeface="Segoe UI" pitchFamily="34" charset="-122"/>
                <a:cs typeface="Segoe UI" pitchFamily="34" charset="-120"/>
              </a:rPr>
              <a:t>Closed-loop audit closure</a:t>
            </a:r>
            <a:endParaRPr lang="en-US" sz="1200" dirty="0"/>
          </a:p>
        </p:txBody>
      </p:sp>
      <p:sp>
        <p:nvSpPr>
          <p:cNvPr id="72" name="Shape 58"/>
          <p:cNvSpPr/>
          <p:nvPr/>
        </p:nvSpPr>
        <p:spPr>
          <a:xfrm>
            <a:off x="4992624" y="7167982"/>
            <a:ext cx="3314700" cy="9144"/>
          </a:xfrm>
          <a:prstGeom prst="rect">
            <a:avLst/>
          </a:prstGeom>
          <a:solidFill>
            <a:srgbClr val="F3F2F1"/>
          </a:solidFill>
          <a:ln/>
        </p:spPr>
      </p:sp>
      <p:sp>
        <p:nvSpPr>
          <p:cNvPr id="73" name="Shape 59"/>
          <p:cNvSpPr/>
          <p:nvPr/>
        </p:nvSpPr>
        <p:spPr>
          <a:xfrm>
            <a:off x="6494983" y="6734556"/>
            <a:ext cx="304495" cy="304495"/>
          </a:xfrm>
          <a:prstGeom prst="ellipse">
            <a:avLst/>
          </a:prstGeom>
          <a:solidFill>
            <a:srgbClr val="FDF3F4"/>
          </a:solidFill>
          <a:ln/>
        </p:spPr>
      </p:sp>
      <p:pic>
        <p:nvPicPr>
          <p:cNvPr id="74" name="Image 12" descr="preencoded.png">    </p:cNvPr>
          <p:cNvPicPr>
            <a:picLocks noChangeAspect="1"/>
          </p:cNvPicPr>
          <p:nvPr/>
        </p:nvPicPr>
        <p:blipFill>
          <a:blip r:embed="rId13"/>
          <a:srcRect l="0" r="0" t="0" b="0"/>
          <a:stretch/>
        </p:blipFill>
        <p:spPr>
          <a:xfrm>
            <a:off x="6575450" y="6791249"/>
            <a:ext cx="142646" cy="190195"/>
          </a:xfrm>
          <a:prstGeom prst="rect">
            <a:avLst/>
          </a:prstGeom>
        </p:spPr>
      </p:pic>
      <p:sp>
        <p:nvSpPr>
          <p:cNvPr id="75" name="Shape 60"/>
          <p:cNvSpPr/>
          <p:nvPr/>
        </p:nvSpPr>
        <p:spPr>
          <a:xfrm>
            <a:off x="8301838" y="6596482"/>
            <a:ext cx="3314700" cy="580644"/>
          </a:xfrm>
          <a:prstGeom prst="rect">
            <a:avLst/>
          </a:prstGeom>
          <a:solidFill>
            <a:srgbClr val="FCFDFE"/>
          </a:solidFill>
          <a:ln/>
        </p:spPr>
      </p:sp>
      <p:sp>
        <p:nvSpPr>
          <p:cNvPr id="76" name="Shape 61"/>
          <p:cNvSpPr/>
          <p:nvPr/>
        </p:nvSpPr>
        <p:spPr>
          <a:xfrm>
            <a:off x="8301838" y="7167982"/>
            <a:ext cx="3314700" cy="9144"/>
          </a:xfrm>
          <a:prstGeom prst="rect">
            <a:avLst/>
          </a:prstGeom>
          <a:solidFill>
            <a:srgbClr val="F3F2F1"/>
          </a:solidFill>
          <a:ln/>
        </p:spPr>
      </p:sp>
      <p:sp>
        <p:nvSpPr>
          <p:cNvPr id="77" name="Shape 62"/>
          <p:cNvSpPr/>
          <p:nvPr/>
        </p:nvSpPr>
        <p:spPr>
          <a:xfrm>
            <a:off x="9804197" y="6734556"/>
            <a:ext cx="304495" cy="304495"/>
          </a:xfrm>
          <a:prstGeom prst="ellipse">
            <a:avLst/>
          </a:prstGeom>
          <a:solidFill>
            <a:srgbClr val="DFF6DD"/>
          </a:solidFill>
          <a:ln/>
          <a:effectLst>
            <a:outerShdw sx="100000" sy="100000" kx="0" ky="0" algn="bl" rotWithShape="0" blurRad="38100" dist="25400" dir="5400000">
              <a:srgbClr val="107c10">
                <a:alpha val="10000"/>
              </a:srgbClr>
            </a:outerShdw>
          </a:effectLst>
        </p:spPr>
      </p:sp>
      <p:pic>
        <p:nvPicPr>
          <p:cNvPr id="78" name="Image 13" descr="preencoded.png">    </p:cNvPr>
          <p:cNvPicPr>
            <a:picLocks noChangeAspect="1"/>
          </p:cNvPicPr>
          <p:nvPr/>
        </p:nvPicPr>
        <p:blipFill>
          <a:blip r:embed="rId14"/>
          <a:srcRect l="-1648" r="-1648" t="0" b="0"/>
          <a:stretch/>
        </p:blipFill>
        <p:spPr>
          <a:xfrm>
            <a:off x="9870948" y="6791249"/>
            <a:ext cx="171907" cy="190195"/>
          </a:xfrm>
          <a:prstGeom prst="rect">
            <a:avLst/>
          </a:prstGeom>
        </p:spPr>
      </p:pic>
      <p:sp>
        <p:nvSpPr>
          <p:cNvPr id="79" name="Text 63"/>
          <p:cNvSpPr txBox="1"/>
          <p:nvPr/>
        </p:nvSpPr>
        <p:spPr>
          <a:xfrm>
            <a:off x="809244" y="7362749"/>
            <a:ext cx="1953158" cy="200254"/>
          </a:xfrm>
          <a:prstGeom prst="rect">
            <a:avLst/>
          </a:prstGeom>
          <a:noFill/>
          <a:ln/>
        </p:spPr>
        <p:txBody>
          <a:bodyPr wrap="square" lIns="0" tIns="0" rIns="0" bIns="0" rtlCol="0" anchor="ctr"/>
          <a:lstStyle/>
          <a:p>
            <a:pPr algn="l" indent="0" marL="0">
              <a:buNone/>
            </a:pPr>
            <a:r>
              <a:rPr lang="en-US" sz="1200" dirty="0">
                <a:solidFill>
                  <a:srgbClr val="201F1E"/>
                </a:solidFill>
                <a:latin typeface="Segoe UI" pitchFamily="34" charset="0"/>
                <a:ea typeface="Segoe UI" pitchFamily="34" charset="-122"/>
                <a:cs typeface="Segoe UI" pitchFamily="34" charset="-120"/>
              </a:rPr>
              <a:t>Continuous audit readiness</a:t>
            </a:r>
            <a:endParaRPr lang="en-US" sz="1200" dirty="0"/>
          </a:p>
        </p:txBody>
      </p:sp>
      <p:sp>
        <p:nvSpPr>
          <p:cNvPr id="80" name="Shape 64"/>
          <p:cNvSpPr/>
          <p:nvPr/>
        </p:nvSpPr>
        <p:spPr>
          <a:xfrm>
            <a:off x="6494983" y="7315200"/>
            <a:ext cx="304495" cy="304495"/>
          </a:xfrm>
          <a:prstGeom prst="ellipse">
            <a:avLst/>
          </a:prstGeom>
          <a:solidFill>
            <a:srgbClr val="FDF3F4"/>
          </a:solidFill>
          <a:ln/>
        </p:spPr>
      </p:sp>
      <p:pic>
        <p:nvPicPr>
          <p:cNvPr id="81" name="Image 14" descr="preencoded.png">    </p:cNvPr>
          <p:cNvPicPr>
            <a:picLocks noChangeAspect="1"/>
          </p:cNvPicPr>
          <p:nvPr/>
        </p:nvPicPr>
        <p:blipFill>
          <a:blip r:embed="rId15"/>
          <a:srcRect l="0" r="0" t="0" b="0"/>
          <a:stretch/>
        </p:blipFill>
        <p:spPr>
          <a:xfrm>
            <a:off x="6575450" y="7372807"/>
            <a:ext cx="142646" cy="190195"/>
          </a:xfrm>
          <a:prstGeom prst="rect">
            <a:avLst/>
          </a:prstGeom>
        </p:spPr>
      </p:pic>
      <p:sp>
        <p:nvSpPr>
          <p:cNvPr id="82" name="Shape 65"/>
          <p:cNvSpPr/>
          <p:nvPr/>
        </p:nvSpPr>
        <p:spPr>
          <a:xfrm>
            <a:off x="8301838" y="7177126"/>
            <a:ext cx="3314700" cy="580644"/>
          </a:xfrm>
          <a:prstGeom prst="rect">
            <a:avLst/>
          </a:prstGeom>
          <a:solidFill>
            <a:srgbClr val="FCFDFE"/>
          </a:solidFill>
          <a:ln/>
        </p:spPr>
      </p:sp>
      <p:sp>
        <p:nvSpPr>
          <p:cNvPr id="83" name="Shape 66"/>
          <p:cNvSpPr/>
          <p:nvPr/>
        </p:nvSpPr>
        <p:spPr>
          <a:xfrm>
            <a:off x="9804197" y="7315200"/>
            <a:ext cx="304495" cy="304495"/>
          </a:xfrm>
          <a:prstGeom prst="ellipse">
            <a:avLst/>
          </a:prstGeom>
          <a:solidFill>
            <a:srgbClr val="DFF6DD"/>
          </a:solidFill>
          <a:ln/>
          <a:effectLst>
            <a:outerShdw sx="100000" sy="100000" kx="0" ky="0" algn="bl" rotWithShape="0" blurRad="38100" dist="25400" dir="5400000">
              <a:srgbClr val="107c10">
                <a:alpha val="10000"/>
              </a:srgbClr>
            </a:outerShdw>
          </a:effectLst>
        </p:spPr>
      </p:sp>
      <p:pic>
        <p:nvPicPr>
          <p:cNvPr id="84" name="Image 15" descr="preencoded.png">    </p:cNvPr>
          <p:cNvPicPr>
            <a:picLocks noChangeAspect="1"/>
          </p:cNvPicPr>
          <p:nvPr/>
        </p:nvPicPr>
        <p:blipFill>
          <a:blip r:embed="rId16"/>
          <a:srcRect l="-1648" r="-1648" t="0" b="0"/>
          <a:stretch/>
        </p:blipFill>
        <p:spPr>
          <a:xfrm>
            <a:off x="9870948" y="7372807"/>
            <a:ext cx="171907" cy="190195"/>
          </a:xfrm>
          <a:prstGeom prst="rect">
            <a:avLst/>
          </a:prstGeom>
        </p:spPr>
      </p:pic>
      <p:sp>
        <p:nvSpPr>
          <p:cNvPr id="85" name="Shape 67"/>
          <p:cNvSpPr/>
          <p:nvPr/>
        </p:nvSpPr>
        <p:spPr>
          <a:xfrm>
            <a:off x="0" y="8143646"/>
            <a:ext cx="12191695" cy="9144"/>
          </a:xfrm>
          <a:prstGeom prst="rect">
            <a:avLst/>
          </a:prstGeom>
          <a:solidFill>
            <a:srgbClr val="EDEBE9"/>
          </a:solidFill>
          <a:ln/>
        </p:spPr>
      </p:sp>
      <p:sp>
        <p:nvSpPr>
          <p:cNvPr id="86" name="Text 68"/>
          <p:cNvSpPr txBox="1"/>
          <p:nvPr/>
        </p:nvSpPr>
        <p:spPr>
          <a:xfrm>
            <a:off x="8825789" y="8162849"/>
            <a:ext cx="2886761" cy="152705"/>
          </a:xfrm>
          <a:prstGeom prst="rect">
            <a:avLst/>
          </a:prstGeom>
          <a:noFill/>
          <a:ln/>
        </p:spPr>
        <p:txBody>
          <a:bodyPr wrap="square" lIns="0" tIns="0" rIns="0" bIns="0" rtlCol="0" anchor="ctr"/>
          <a:lstStyle/>
          <a:p>
            <a:pPr algn="l" indent="0" marL="0">
              <a:buNone/>
            </a:pPr>
            <a:r>
              <a:rPr lang="en-US" sz="900" dirty="0">
                <a:solidFill>
                  <a:srgbClr val="A19F9D"/>
                </a:solidFill>
                <a:latin typeface="Segoe UI" pitchFamily="34" charset="0"/>
                <a:ea typeface="Segoe UI" pitchFamily="34" charset="-122"/>
                <a:cs typeface="Segoe UI" pitchFamily="34" charset="-120"/>
              </a:rPr>
              <a:t>Confidential | Factory Delivery Orchestrator Automation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FFFFF"/>
          </a:solidFill>
          <a:ln/>
        </p:spPr>
      </p:sp>
      <p:sp>
        <p:nvSpPr>
          <p:cNvPr id="4" name="Text 2"/>
          <p:cNvSpPr txBox="1"/>
          <p:nvPr/>
        </p:nvSpPr>
        <p:spPr>
          <a:xfrm>
            <a:off x="571500" y="409651"/>
            <a:ext cx="4500677" cy="534010"/>
          </a:xfrm>
          <a:prstGeom prst="rect">
            <a:avLst/>
          </a:prstGeom>
          <a:noFill/>
          <a:ln/>
        </p:spPr>
        <p:txBody>
          <a:bodyPr wrap="square" lIns="0" tIns="0" rIns="0" bIns="0" rtlCol="0" anchor="ctr"/>
          <a:lstStyle/>
          <a:p>
            <a:pPr algn="l" indent="0" marL="0">
              <a:buNone/>
            </a:pPr>
            <a:r>
              <a:rPr lang="en-US" sz="3100" b="1" dirty="0">
                <a:solidFill>
                  <a:srgbClr val="242424"/>
                </a:solidFill>
                <a:latin typeface="Segoe UI" pitchFamily="34" charset="0"/>
                <a:ea typeface="Segoe UI" pitchFamily="34" charset="-122"/>
                <a:cs typeface="Segoe UI" pitchFamily="34" charset="-120"/>
              </a:rPr>
              <a:t>Summary &amp; Next Steps</a:t>
            </a:r>
            <a:endParaRPr lang="en-US" sz="3100" dirty="0"/>
          </a:p>
        </p:txBody>
      </p:sp>
      <p:sp>
        <p:nvSpPr>
          <p:cNvPr id="5" name="Text 3"/>
          <p:cNvSpPr txBox="1"/>
          <p:nvPr/>
        </p:nvSpPr>
        <p:spPr>
          <a:xfrm>
            <a:off x="9601200" y="576072"/>
            <a:ext cx="2143354" cy="200254"/>
          </a:xfrm>
          <a:prstGeom prst="rect">
            <a:avLst/>
          </a:prstGeom>
          <a:noFill/>
          <a:ln/>
        </p:spPr>
        <p:txBody>
          <a:bodyPr wrap="square" lIns="0" tIns="0" rIns="0" bIns="0" rtlCol="0" anchor="ctr"/>
          <a:lstStyle/>
          <a:p>
            <a:pPr algn="l" indent="0" marL="0">
              <a:buNone/>
            </a:pPr>
            <a:r>
              <a:rPr lang="en-US" sz="1200" dirty="0">
                <a:solidFill>
                  <a:srgbClr val="666666"/>
                </a:solidFill>
                <a:latin typeface="Segoe UI" pitchFamily="34" charset="0"/>
                <a:ea typeface="Segoe UI" pitchFamily="34" charset="-122"/>
                <a:cs typeface="Segoe UI" pitchFamily="34" charset="-120"/>
              </a:rPr>
              <a:t>FDO Automation / Conclusion</a:t>
            </a:r>
            <a:endParaRPr lang="en-US" sz="1200" dirty="0"/>
          </a:p>
        </p:txBody>
      </p:sp>
      <p:sp>
        <p:nvSpPr>
          <p:cNvPr id="6" name="Shape 4"/>
          <p:cNvSpPr/>
          <p:nvPr/>
        </p:nvSpPr>
        <p:spPr>
          <a:xfrm>
            <a:off x="571500" y="1362456"/>
            <a:ext cx="5229454" cy="6543446"/>
          </a:xfrm>
          <a:prstGeom prst="roundRect">
            <a:avLst>
              <a:gd name="adj" fmla="val 382"/>
            </a:avLst>
          </a:prstGeom>
          <a:solidFill>
            <a:srgbClr val="0078D4"/>
          </a:solidFill>
          <a:ln/>
          <a:effectLst>
            <a:outerShdw sx="100000" sy="100000" kx="0" ky="0" algn="bl" rotWithShape="0" blurRad="114300" dist="38100" dir="5400000">
              <a:srgbClr val="0078d4">
                <a:alpha val="25000"/>
              </a:srgbClr>
            </a:outerShdw>
          </a:effectLst>
        </p:spPr>
      </p:sp>
      <p:pic>
        <p:nvPicPr>
          <p:cNvPr id="7" name="Image 0" descr="preencoded.png">    </p:cNvPr>
          <p:cNvPicPr>
            <a:picLocks noChangeAspect="1"/>
          </p:cNvPicPr>
          <p:nvPr/>
        </p:nvPicPr>
        <p:blipFill>
          <a:blip r:embed="rId1">
            <a:alphaModFix amt="90000"/>
          </a:blip>
          <a:srcRect l="-437500" r="-437500" t="0" b="0"/>
          <a:stretch/>
        </p:blipFill>
        <p:spPr>
          <a:xfrm>
            <a:off x="952805" y="2578608"/>
            <a:ext cx="4457700" cy="457200"/>
          </a:xfrm>
          <a:prstGeom prst="rect">
            <a:avLst/>
          </a:prstGeom>
        </p:spPr>
      </p:pic>
      <p:sp>
        <p:nvSpPr>
          <p:cNvPr id="8" name="Text 5"/>
          <p:cNvSpPr txBox="1"/>
          <p:nvPr/>
        </p:nvSpPr>
        <p:spPr>
          <a:xfrm>
            <a:off x="952805" y="3236062"/>
            <a:ext cx="2934310" cy="409651"/>
          </a:xfrm>
          <a:prstGeom prst="rect">
            <a:avLst/>
          </a:prstGeom>
          <a:noFill/>
          <a:ln/>
        </p:spPr>
        <p:txBody>
          <a:bodyPr wrap="square" lIns="0" tIns="0" rIns="0" bIns="0" rtlCol="0" anchor="ctr"/>
          <a:lstStyle/>
          <a:p>
            <a:pPr algn="l" indent="0" marL="0">
              <a:buNone/>
            </a:pPr>
            <a:r>
              <a:rPr lang="en-US" sz="2400" b="1" dirty="0">
                <a:solidFill>
                  <a:srgbClr val="FFFFFF"/>
                </a:solidFill>
                <a:latin typeface="Segoe UI" pitchFamily="34" charset="0"/>
                <a:ea typeface="Segoe UI" pitchFamily="34" charset="-122"/>
                <a:cs typeface="Segoe UI" pitchFamily="34" charset="-120"/>
              </a:rPr>
              <a:t>Executive Summary</a:t>
            </a:r>
            <a:endParaRPr lang="en-US" sz="2400" dirty="0"/>
          </a:p>
        </p:txBody>
      </p:sp>
      <p:sp>
        <p:nvSpPr>
          <p:cNvPr id="9" name="Text 6"/>
          <p:cNvSpPr txBox="1"/>
          <p:nvPr/>
        </p:nvSpPr>
        <p:spPr>
          <a:xfrm>
            <a:off x="952805" y="3801161"/>
            <a:ext cx="4500677" cy="1057961"/>
          </a:xfrm>
          <a:prstGeom prst="rect">
            <a:avLst/>
          </a:prstGeom>
          <a:noFill/>
          <a:ln/>
        </p:spPr>
        <p:txBody>
          <a:bodyPr wrap="square" lIns="0" tIns="0" rIns="0" bIns="0" rtlCol="0" anchor="ctr"/>
          <a:lstStyle/>
          <a:p>
            <a:pPr algn="l" indent="0" marL="0">
              <a:buNone/>
            </a:pPr>
            <a:r>
              <a:rPr lang="en-US" sz="1300" dirty="0">
                <a:solidFill>
                  <a:srgbClr val="FFFFFF">
                    <a:alpha val="95000"/>
                  </a:srgbClr>
                </a:solidFill>
                <a:latin typeface="Segoe UI" pitchFamily="34" charset="0"/>
                <a:ea typeface="Segoe UI" pitchFamily="34" charset="-122"/>
                <a:cs typeface="Segoe UI" pitchFamily="34" charset="-120"/>
              </a:rPr>
              <a:t>Automating weekly FDO audit reporting transforms a manual, error-prone task into a reliable, consistent process. This ensures leadership and project teams always have timely visibility into compliance status.</a:t>
            </a:r>
            <a:endParaRPr lang="en-US" sz="1300" dirty="0"/>
          </a:p>
        </p:txBody>
      </p:sp>
      <p:sp>
        <p:nvSpPr>
          <p:cNvPr id="10" name="Shape 7"/>
          <p:cNvSpPr/>
          <p:nvPr/>
        </p:nvSpPr>
        <p:spPr>
          <a:xfrm>
            <a:off x="952805" y="5165446"/>
            <a:ext cx="267005" cy="267005"/>
          </a:xfrm>
          <a:prstGeom prst="ellipse">
            <a:avLst/>
          </a:prstGeom>
          <a:solidFill>
            <a:srgbClr val="FFFFFF">
              <a:alpha val="20000"/>
            </a:srgbClr>
          </a:solidFill>
          <a:ln/>
        </p:spPr>
      </p:sp>
      <p:pic>
        <p:nvPicPr>
          <p:cNvPr id="11" name="Image 1" descr="preencoded.png">    </p:cNvPr>
          <p:cNvPicPr>
            <a:picLocks noChangeAspect="1"/>
          </p:cNvPicPr>
          <p:nvPr/>
        </p:nvPicPr>
        <p:blipFill>
          <a:blip r:embed="rId2"/>
          <a:srcRect l="0" r="0" t="-1100" b="-1100"/>
          <a:stretch/>
        </p:blipFill>
        <p:spPr>
          <a:xfrm>
            <a:off x="1028700" y="5232197"/>
            <a:ext cx="114300" cy="133502"/>
          </a:xfrm>
          <a:prstGeom prst="rect">
            <a:avLst/>
          </a:prstGeom>
        </p:spPr>
      </p:pic>
      <p:sp>
        <p:nvSpPr>
          <p:cNvPr id="12" name="Text 8"/>
          <p:cNvSpPr txBox="1"/>
          <p:nvPr/>
        </p:nvSpPr>
        <p:spPr>
          <a:xfrm>
            <a:off x="1333195" y="5193792"/>
            <a:ext cx="2220163" cy="200254"/>
          </a:xfrm>
          <a:prstGeom prst="rect">
            <a:avLst/>
          </a:prstGeom>
          <a:noFill/>
          <a:ln/>
        </p:spPr>
        <p:txBody>
          <a:bodyPr wrap="square" lIns="0" tIns="0" rIns="0" bIns="0" rtlCol="0" anchor="ctr"/>
          <a:lstStyle/>
          <a:p>
            <a:pPr algn="l" indent="0" marL="0">
              <a:buNone/>
            </a:pPr>
            <a:r>
              <a:rPr lang="en-US" sz="1200" dirty="0">
                <a:solidFill>
                  <a:srgbClr val="FFFFFF"/>
                </a:solidFill>
                <a:latin typeface="Segoe UI" pitchFamily="34" charset="0"/>
                <a:ea typeface="Segoe UI" pitchFamily="34" charset="-122"/>
                <a:cs typeface="Segoe UI" pitchFamily="34" charset="-120"/>
              </a:rPr>
              <a:t>Standardized Reporting Format</a:t>
            </a:r>
            <a:endParaRPr lang="en-US" sz="1200" dirty="0"/>
          </a:p>
        </p:txBody>
      </p:sp>
      <p:sp>
        <p:nvSpPr>
          <p:cNvPr id="13" name="Shape 9"/>
          <p:cNvSpPr/>
          <p:nvPr/>
        </p:nvSpPr>
        <p:spPr>
          <a:xfrm>
            <a:off x="952805" y="5584241"/>
            <a:ext cx="267005" cy="267005"/>
          </a:xfrm>
          <a:prstGeom prst="ellipse">
            <a:avLst/>
          </a:prstGeom>
          <a:solidFill>
            <a:srgbClr val="FFFFFF">
              <a:alpha val="20000"/>
            </a:srgbClr>
          </a:solidFill>
          <a:ln/>
        </p:spPr>
      </p:sp>
      <p:pic>
        <p:nvPicPr>
          <p:cNvPr id="14" name="Image 2" descr="preencoded.png">    </p:cNvPr>
          <p:cNvPicPr>
            <a:picLocks noChangeAspect="1"/>
          </p:cNvPicPr>
          <p:nvPr/>
        </p:nvPicPr>
        <p:blipFill>
          <a:blip r:embed="rId3"/>
          <a:srcRect l="0" r="0" t="-1100" b="-1100"/>
          <a:stretch/>
        </p:blipFill>
        <p:spPr>
          <a:xfrm>
            <a:off x="1028700" y="5650992"/>
            <a:ext cx="114300" cy="133502"/>
          </a:xfrm>
          <a:prstGeom prst="rect">
            <a:avLst/>
          </a:prstGeom>
        </p:spPr>
      </p:pic>
      <p:sp>
        <p:nvSpPr>
          <p:cNvPr id="15" name="Text 10"/>
          <p:cNvSpPr txBox="1"/>
          <p:nvPr/>
        </p:nvSpPr>
        <p:spPr>
          <a:xfrm>
            <a:off x="1333195" y="5613502"/>
            <a:ext cx="1705356" cy="200254"/>
          </a:xfrm>
          <a:prstGeom prst="rect">
            <a:avLst/>
          </a:prstGeom>
          <a:noFill/>
          <a:ln/>
        </p:spPr>
        <p:txBody>
          <a:bodyPr wrap="square" lIns="0" tIns="0" rIns="0" bIns="0" rtlCol="0" anchor="ctr"/>
          <a:lstStyle/>
          <a:p>
            <a:pPr algn="l" indent="0" marL="0">
              <a:buNone/>
            </a:pPr>
            <a:r>
              <a:rPr lang="en-US" sz="1200" dirty="0">
                <a:solidFill>
                  <a:srgbClr val="FFFFFF"/>
                </a:solidFill>
                <a:latin typeface="Segoe UI" pitchFamily="34" charset="0"/>
                <a:ea typeface="Segoe UI" pitchFamily="34" charset="-122"/>
                <a:cs typeface="Segoe UI" pitchFamily="34" charset="-120"/>
              </a:rPr>
              <a:t>100% On-Time Delivery</a:t>
            </a:r>
            <a:endParaRPr lang="en-US" sz="1200" dirty="0"/>
          </a:p>
        </p:txBody>
      </p:sp>
      <p:sp>
        <p:nvSpPr>
          <p:cNvPr id="16" name="Shape 11"/>
          <p:cNvSpPr/>
          <p:nvPr/>
        </p:nvSpPr>
        <p:spPr>
          <a:xfrm>
            <a:off x="952805" y="6003950"/>
            <a:ext cx="267005" cy="267005"/>
          </a:xfrm>
          <a:prstGeom prst="ellipse">
            <a:avLst/>
          </a:prstGeom>
          <a:solidFill>
            <a:srgbClr val="FFFFFF">
              <a:alpha val="20000"/>
            </a:srgbClr>
          </a:solidFill>
          <a:ln/>
        </p:spPr>
      </p:sp>
      <p:pic>
        <p:nvPicPr>
          <p:cNvPr id="17" name="Image 3" descr="preencoded.png">    </p:cNvPr>
          <p:cNvPicPr>
            <a:picLocks noChangeAspect="1"/>
          </p:cNvPicPr>
          <p:nvPr/>
        </p:nvPicPr>
        <p:blipFill>
          <a:blip r:embed="rId4"/>
          <a:srcRect l="0" r="0" t="-1100" b="-1100"/>
          <a:stretch/>
        </p:blipFill>
        <p:spPr>
          <a:xfrm>
            <a:off x="1028700" y="6070702"/>
            <a:ext cx="114300" cy="133502"/>
          </a:xfrm>
          <a:prstGeom prst="rect">
            <a:avLst/>
          </a:prstGeom>
        </p:spPr>
      </p:pic>
      <p:sp>
        <p:nvSpPr>
          <p:cNvPr id="18" name="Text 12"/>
          <p:cNvSpPr txBox="1"/>
          <p:nvPr/>
        </p:nvSpPr>
        <p:spPr>
          <a:xfrm>
            <a:off x="1333195" y="6032297"/>
            <a:ext cx="1772107" cy="200254"/>
          </a:xfrm>
          <a:prstGeom prst="rect">
            <a:avLst/>
          </a:prstGeom>
          <a:noFill/>
          <a:ln/>
        </p:spPr>
        <p:txBody>
          <a:bodyPr wrap="square" lIns="0" tIns="0" rIns="0" bIns="0" rtlCol="0" anchor="ctr"/>
          <a:lstStyle/>
          <a:p>
            <a:pPr algn="l" indent="0" marL="0">
              <a:buNone/>
            </a:pPr>
            <a:r>
              <a:rPr lang="en-US" sz="1200" dirty="0">
                <a:solidFill>
                  <a:srgbClr val="FFFFFF"/>
                </a:solidFill>
                <a:latin typeface="Segoe UI" pitchFamily="34" charset="0"/>
                <a:ea typeface="Segoe UI" pitchFamily="34" charset="-122"/>
                <a:cs typeface="Segoe UI" pitchFamily="34" charset="-120"/>
              </a:rPr>
              <a:t>Eliminated Manual Effort</a:t>
            </a:r>
            <a:endParaRPr lang="en-US" sz="1200" dirty="0"/>
          </a:p>
        </p:txBody>
      </p:sp>
      <p:sp>
        <p:nvSpPr>
          <p:cNvPr id="19" name="Shape 13"/>
          <p:cNvSpPr/>
          <p:nvPr/>
        </p:nvSpPr>
        <p:spPr>
          <a:xfrm>
            <a:off x="952805" y="6422746"/>
            <a:ext cx="267005" cy="267005"/>
          </a:xfrm>
          <a:prstGeom prst="ellipse">
            <a:avLst/>
          </a:prstGeom>
          <a:solidFill>
            <a:srgbClr val="FFFFFF">
              <a:alpha val="20000"/>
            </a:srgbClr>
          </a:solidFill>
          <a:ln/>
        </p:spPr>
      </p:sp>
      <p:pic>
        <p:nvPicPr>
          <p:cNvPr id="20" name="Image 4" descr="preencoded.png">    </p:cNvPr>
          <p:cNvPicPr>
            <a:picLocks noChangeAspect="1"/>
          </p:cNvPicPr>
          <p:nvPr/>
        </p:nvPicPr>
        <p:blipFill>
          <a:blip r:embed="rId5"/>
          <a:srcRect l="0" r="0" t="-1100" b="-1100"/>
          <a:stretch/>
        </p:blipFill>
        <p:spPr>
          <a:xfrm>
            <a:off x="1028700" y="6489497"/>
            <a:ext cx="114300" cy="133502"/>
          </a:xfrm>
          <a:prstGeom prst="rect">
            <a:avLst/>
          </a:prstGeom>
        </p:spPr>
      </p:pic>
      <p:sp>
        <p:nvSpPr>
          <p:cNvPr id="21" name="Text 14"/>
          <p:cNvSpPr txBox="1"/>
          <p:nvPr/>
        </p:nvSpPr>
        <p:spPr>
          <a:xfrm>
            <a:off x="1333195" y="6451092"/>
            <a:ext cx="1886407" cy="200254"/>
          </a:xfrm>
          <a:prstGeom prst="rect">
            <a:avLst/>
          </a:prstGeom>
          <a:noFill/>
          <a:ln/>
        </p:spPr>
        <p:txBody>
          <a:bodyPr wrap="square" lIns="0" tIns="0" rIns="0" bIns="0" rtlCol="0" anchor="ctr"/>
          <a:lstStyle/>
          <a:p>
            <a:pPr algn="l" indent="0" marL="0">
              <a:buNone/>
            </a:pPr>
            <a:r>
              <a:rPr lang="en-US" sz="1200" dirty="0">
                <a:solidFill>
                  <a:srgbClr val="FFFFFF"/>
                </a:solidFill>
                <a:latin typeface="Segoe UI" pitchFamily="34" charset="0"/>
                <a:ea typeface="Segoe UI" pitchFamily="34" charset="-122"/>
                <a:cs typeface="Segoe UI" pitchFamily="34" charset="-120"/>
              </a:rPr>
              <a:t>Enhanced Audit Readiness</a:t>
            </a:r>
            <a:endParaRPr lang="en-US" sz="1200" dirty="0"/>
          </a:p>
        </p:txBody>
      </p:sp>
      <p:sp>
        <p:nvSpPr>
          <p:cNvPr id="22" name="Shape 15"/>
          <p:cNvSpPr/>
          <p:nvPr/>
        </p:nvSpPr>
        <p:spPr>
          <a:xfrm>
            <a:off x="6269126" y="1362456"/>
            <a:ext cx="5352898" cy="4343400"/>
          </a:xfrm>
          <a:prstGeom prst="roundRect">
            <a:avLst>
              <a:gd name="adj" fmla="val 369"/>
            </a:avLst>
          </a:prstGeom>
          <a:solidFill>
            <a:srgbClr val="FFFFFF"/>
          </a:solidFill>
          <a:ln w="12700">
            <a:solidFill>
              <a:srgbClr val="E1DFDD"/>
            </a:solidFill>
            <a:prstDash val="solid"/>
          </a:ln>
        </p:spPr>
      </p:sp>
      <p:sp>
        <p:nvSpPr>
          <p:cNvPr id="23" name="Shape 16"/>
          <p:cNvSpPr/>
          <p:nvPr/>
        </p:nvSpPr>
        <p:spPr>
          <a:xfrm>
            <a:off x="6564478" y="2086661"/>
            <a:ext cx="4762195" cy="9144"/>
          </a:xfrm>
          <a:prstGeom prst="rect">
            <a:avLst/>
          </a:prstGeom>
          <a:solidFill>
            <a:srgbClr val="F3F2F1"/>
          </a:solidFill>
          <a:ln/>
        </p:spPr>
      </p:sp>
      <p:pic>
        <p:nvPicPr>
          <p:cNvPr id="24" name="Image 5" descr="preencoded.png">    </p:cNvPr>
          <p:cNvPicPr>
            <a:picLocks noChangeAspect="1"/>
          </p:cNvPicPr>
          <p:nvPr/>
        </p:nvPicPr>
        <p:blipFill>
          <a:blip r:embed="rId6"/>
          <a:srcRect l="0" r="0" t="0" b="0"/>
          <a:stretch/>
        </p:blipFill>
        <p:spPr>
          <a:xfrm>
            <a:off x="6564478" y="1705356"/>
            <a:ext cx="190195" cy="190195"/>
          </a:xfrm>
          <a:prstGeom prst="rect">
            <a:avLst/>
          </a:prstGeom>
        </p:spPr>
      </p:pic>
      <p:sp>
        <p:nvSpPr>
          <p:cNvPr id="25" name="Text 17"/>
          <p:cNvSpPr txBox="1"/>
          <p:nvPr/>
        </p:nvSpPr>
        <p:spPr>
          <a:xfrm>
            <a:off x="6868973" y="1666951"/>
            <a:ext cx="1133856" cy="257861"/>
          </a:xfrm>
          <a:prstGeom prst="rect">
            <a:avLst/>
          </a:prstGeom>
          <a:noFill/>
          <a:ln/>
        </p:spPr>
        <p:txBody>
          <a:bodyPr wrap="square" lIns="0" tIns="0" rIns="0" bIns="0" rtlCol="0" anchor="ctr"/>
          <a:lstStyle/>
          <a:p>
            <a:pPr algn="l" indent="0" marL="0">
              <a:buNone/>
            </a:pPr>
            <a:r>
              <a:rPr lang="en-US" sz="1500" b="1" dirty="0">
                <a:solidFill>
                  <a:srgbClr val="323130"/>
                </a:solidFill>
                <a:latin typeface="Segoe UI" pitchFamily="34" charset="0"/>
                <a:ea typeface="Segoe UI" pitchFamily="34" charset="-122"/>
                <a:cs typeface="Segoe UI" pitchFamily="34" charset="-120"/>
              </a:rPr>
              <a:t>Action Plan</a:t>
            </a:r>
            <a:endParaRPr lang="en-US" sz="1500" dirty="0"/>
          </a:p>
        </p:txBody>
      </p:sp>
      <p:sp>
        <p:nvSpPr>
          <p:cNvPr id="26" name="Shape 18"/>
          <p:cNvSpPr/>
          <p:nvPr/>
        </p:nvSpPr>
        <p:spPr>
          <a:xfrm>
            <a:off x="6564478" y="2305202"/>
            <a:ext cx="228600" cy="228600"/>
          </a:xfrm>
          <a:prstGeom prst="roundRect">
            <a:avLst>
              <a:gd name="adj" fmla="val 66667"/>
            </a:avLst>
          </a:prstGeom>
          <a:solidFill>
            <a:srgbClr val="EFF6FC"/>
          </a:solidFill>
          <a:ln/>
        </p:spPr>
      </p:sp>
      <p:sp>
        <p:nvSpPr>
          <p:cNvPr id="27" name="Text 19"/>
          <p:cNvSpPr txBox="1"/>
          <p:nvPr/>
        </p:nvSpPr>
        <p:spPr>
          <a:xfrm>
            <a:off x="6640373" y="2318918"/>
            <a:ext cx="186538" cy="200254"/>
          </a:xfrm>
          <a:prstGeom prst="rect">
            <a:avLst/>
          </a:prstGeom>
          <a:noFill/>
          <a:ln/>
        </p:spPr>
        <p:txBody>
          <a:bodyPr wrap="square" lIns="0" tIns="0" rIns="0" bIns="0" rtlCol="0" anchor="ctr"/>
          <a:lstStyle/>
          <a:p>
            <a:pPr algn="l" indent="0" marL="0">
              <a:buNone/>
            </a:pPr>
            <a:r>
              <a:rPr lang="en-US" sz="1000" b="1" dirty="0">
                <a:solidFill>
                  <a:srgbClr val="0078D4"/>
                </a:solidFill>
                <a:latin typeface="Segoe UI" pitchFamily="34" charset="0"/>
                <a:ea typeface="Segoe UI" pitchFamily="34" charset="-122"/>
                <a:cs typeface="Segoe UI" pitchFamily="34" charset="-120"/>
              </a:rPr>
              <a:t>1</a:t>
            </a:r>
            <a:endParaRPr lang="en-US" sz="1000" dirty="0"/>
          </a:p>
        </p:txBody>
      </p:sp>
      <p:sp>
        <p:nvSpPr>
          <p:cNvPr id="28" name="Text 20"/>
          <p:cNvSpPr txBox="1"/>
          <p:nvPr/>
        </p:nvSpPr>
        <p:spPr>
          <a:xfrm>
            <a:off x="6935724" y="2295144"/>
            <a:ext cx="1677010" cy="200254"/>
          </a:xfrm>
          <a:prstGeom prst="rect">
            <a:avLst/>
          </a:prstGeom>
          <a:noFill/>
          <a:ln/>
        </p:spPr>
        <p:txBody>
          <a:bodyPr wrap="square" lIns="0" tIns="0" rIns="0" bIns="0" rtlCol="0" anchor="ctr"/>
          <a:lstStyle/>
          <a:p>
            <a:pPr algn="l" indent="0" marL="0">
              <a:buNone/>
            </a:pPr>
            <a:r>
              <a:rPr lang="en-US" sz="1200" b="1" dirty="0">
                <a:solidFill>
                  <a:srgbClr val="323130"/>
                </a:solidFill>
                <a:latin typeface="Segoe UI" pitchFamily="34" charset="0"/>
                <a:ea typeface="Segoe UI" pitchFamily="34" charset="-122"/>
                <a:cs typeface="Segoe UI" pitchFamily="34" charset="-120"/>
              </a:rPr>
              <a:t>Confirm Requirements</a:t>
            </a:r>
            <a:endParaRPr lang="en-US" sz="1200" dirty="0"/>
          </a:p>
        </p:txBody>
      </p:sp>
      <p:sp>
        <p:nvSpPr>
          <p:cNvPr id="29" name="Text 21"/>
          <p:cNvSpPr txBox="1"/>
          <p:nvPr/>
        </p:nvSpPr>
        <p:spPr>
          <a:xfrm>
            <a:off x="6935724" y="2562149"/>
            <a:ext cx="4224528" cy="381305"/>
          </a:xfrm>
          <a:prstGeom prst="rect">
            <a:avLst/>
          </a:prstGeom>
          <a:noFill/>
          <a:ln/>
        </p:spPr>
        <p:txBody>
          <a:bodyPr wrap="square" lIns="0" tIns="0" rIns="0" bIns="0" rtlCol="0" anchor="ctr"/>
          <a:lstStyle/>
          <a:p>
            <a:pPr algn="l" indent="0" marL="0">
              <a:buNone/>
            </a:pPr>
            <a:r>
              <a:rPr lang="en-US" sz="1000" dirty="0">
                <a:solidFill>
                  <a:srgbClr val="605E5C"/>
                </a:solidFill>
                <a:latin typeface="Segoe UI" pitchFamily="34" charset="0"/>
                <a:ea typeface="Segoe UI" pitchFamily="34" charset="-122"/>
                <a:cs typeface="Segoe UI" pitchFamily="34" charset="-120"/>
              </a:rPr>
              <a:t>Finalize recipient list, specific FDO fields to extract, and email template design.</a:t>
            </a:r>
            <a:endParaRPr lang="en-US" sz="1000" dirty="0"/>
          </a:p>
        </p:txBody>
      </p:sp>
      <p:sp>
        <p:nvSpPr>
          <p:cNvPr id="30" name="Shape 22"/>
          <p:cNvSpPr/>
          <p:nvPr/>
        </p:nvSpPr>
        <p:spPr>
          <a:xfrm>
            <a:off x="6564478" y="3124505"/>
            <a:ext cx="228600" cy="228600"/>
          </a:xfrm>
          <a:prstGeom prst="roundRect">
            <a:avLst>
              <a:gd name="adj" fmla="val 66667"/>
            </a:avLst>
          </a:prstGeom>
          <a:solidFill>
            <a:srgbClr val="EFF6FC"/>
          </a:solidFill>
          <a:ln/>
        </p:spPr>
      </p:sp>
      <p:sp>
        <p:nvSpPr>
          <p:cNvPr id="31" name="Text 23"/>
          <p:cNvSpPr txBox="1"/>
          <p:nvPr/>
        </p:nvSpPr>
        <p:spPr>
          <a:xfrm>
            <a:off x="6640373" y="3138221"/>
            <a:ext cx="186538" cy="200254"/>
          </a:xfrm>
          <a:prstGeom prst="rect">
            <a:avLst/>
          </a:prstGeom>
          <a:noFill/>
          <a:ln/>
        </p:spPr>
        <p:txBody>
          <a:bodyPr wrap="square" lIns="0" tIns="0" rIns="0" bIns="0" rtlCol="0" anchor="ctr"/>
          <a:lstStyle/>
          <a:p>
            <a:pPr algn="l" indent="0" marL="0">
              <a:buNone/>
            </a:pPr>
            <a:r>
              <a:rPr lang="en-US" sz="1000" b="1" dirty="0">
                <a:solidFill>
                  <a:srgbClr val="0078D4"/>
                </a:solidFill>
                <a:latin typeface="Segoe UI" pitchFamily="34" charset="0"/>
                <a:ea typeface="Segoe UI" pitchFamily="34" charset="-122"/>
                <a:cs typeface="Segoe UI" pitchFamily="34" charset="-120"/>
              </a:rPr>
              <a:t>2</a:t>
            </a:r>
            <a:endParaRPr lang="en-US" sz="1000" dirty="0"/>
          </a:p>
        </p:txBody>
      </p:sp>
      <p:sp>
        <p:nvSpPr>
          <p:cNvPr id="32" name="Text 24"/>
          <p:cNvSpPr txBox="1"/>
          <p:nvPr/>
        </p:nvSpPr>
        <p:spPr>
          <a:xfrm>
            <a:off x="6935724" y="3114446"/>
            <a:ext cx="1724558" cy="200254"/>
          </a:xfrm>
          <a:prstGeom prst="rect">
            <a:avLst/>
          </a:prstGeom>
          <a:noFill/>
          <a:ln/>
        </p:spPr>
        <p:txBody>
          <a:bodyPr wrap="square" lIns="0" tIns="0" rIns="0" bIns="0" rtlCol="0" anchor="ctr"/>
          <a:lstStyle/>
          <a:p>
            <a:pPr algn="l" indent="0" marL="0">
              <a:buNone/>
            </a:pPr>
            <a:r>
              <a:rPr lang="en-US" sz="1200" b="1" dirty="0">
                <a:solidFill>
                  <a:srgbClr val="323130"/>
                </a:solidFill>
                <a:latin typeface="Segoe UI" pitchFamily="34" charset="0"/>
                <a:ea typeface="Segoe UI" pitchFamily="34" charset="-122"/>
                <a:cs typeface="Segoe UI" pitchFamily="34" charset="-120"/>
              </a:rPr>
              <a:t>Access &amp; Configuration</a:t>
            </a:r>
            <a:endParaRPr lang="en-US" sz="1200" dirty="0"/>
          </a:p>
        </p:txBody>
      </p:sp>
      <p:sp>
        <p:nvSpPr>
          <p:cNvPr id="33" name="Text 25"/>
          <p:cNvSpPr txBox="1"/>
          <p:nvPr/>
        </p:nvSpPr>
        <p:spPr>
          <a:xfrm>
            <a:off x="6935724" y="3381451"/>
            <a:ext cx="4253789" cy="381305"/>
          </a:xfrm>
          <a:prstGeom prst="rect">
            <a:avLst/>
          </a:prstGeom>
          <a:noFill/>
          <a:ln/>
        </p:spPr>
        <p:txBody>
          <a:bodyPr wrap="square" lIns="0" tIns="0" rIns="0" bIns="0" rtlCol="0" anchor="ctr"/>
          <a:lstStyle/>
          <a:p>
            <a:pPr algn="l" indent="0" marL="0">
              <a:buNone/>
            </a:pPr>
            <a:r>
              <a:rPr lang="en-US" sz="1000" dirty="0">
                <a:solidFill>
                  <a:srgbClr val="605E5C"/>
                </a:solidFill>
                <a:latin typeface="Segoe UI" pitchFamily="34" charset="0"/>
                <a:ea typeface="Segoe UI" pitchFamily="34" charset="-122"/>
                <a:cs typeface="Segoe UI" pitchFamily="34" charset="-120"/>
              </a:rPr>
              <a:t>Provision Service Principal for FDO API access and configure Logic App permissions.</a:t>
            </a:r>
            <a:endParaRPr lang="en-US" sz="1000" dirty="0"/>
          </a:p>
        </p:txBody>
      </p:sp>
      <p:sp>
        <p:nvSpPr>
          <p:cNvPr id="34" name="Shape 26"/>
          <p:cNvSpPr/>
          <p:nvPr/>
        </p:nvSpPr>
        <p:spPr>
          <a:xfrm>
            <a:off x="6564478" y="3943807"/>
            <a:ext cx="228600" cy="228600"/>
          </a:xfrm>
          <a:prstGeom prst="roundRect">
            <a:avLst>
              <a:gd name="adj" fmla="val 66667"/>
            </a:avLst>
          </a:prstGeom>
          <a:solidFill>
            <a:srgbClr val="EFF6FC"/>
          </a:solidFill>
          <a:ln/>
        </p:spPr>
      </p:sp>
      <p:sp>
        <p:nvSpPr>
          <p:cNvPr id="35" name="Text 27"/>
          <p:cNvSpPr txBox="1"/>
          <p:nvPr/>
        </p:nvSpPr>
        <p:spPr>
          <a:xfrm>
            <a:off x="6640373" y="3957523"/>
            <a:ext cx="186538" cy="200254"/>
          </a:xfrm>
          <a:prstGeom prst="rect">
            <a:avLst/>
          </a:prstGeom>
          <a:noFill/>
          <a:ln/>
        </p:spPr>
        <p:txBody>
          <a:bodyPr wrap="square" lIns="0" tIns="0" rIns="0" bIns="0" rtlCol="0" anchor="ctr"/>
          <a:lstStyle/>
          <a:p>
            <a:pPr algn="l" indent="0" marL="0">
              <a:buNone/>
            </a:pPr>
            <a:r>
              <a:rPr lang="en-US" sz="1000" b="1" dirty="0">
                <a:solidFill>
                  <a:srgbClr val="0078D4"/>
                </a:solidFill>
                <a:latin typeface="Segoe UI" pitchFamily="34" charset="0"/>
                <a:ea typeface="Segoe UI" pitchFamily="34" charset="-122"/>
                <a:cs typeface="Segoe UI" pitchFamily="34" charset="-120"/>
              </a:rPr>
              <a:t>3</a:t>
            </a:r>
            <a:endParaRPr lang="en-US" sz="1000" dirty="0"/>
          </a:p>
        </p:txBody>
      </p:sp>
      <p:sp>
        <p:nvSpPr>
          <p:cNvPr id="36" name="Text 28"/>
          <p:cNvSpPr txBox="1"/>
          <p:nvPr/>
        </p:nvSpPr>
        <p:spPr>
          <a:xfrm>
            <a:off x="6935724" y="3933749"/>
            <a:ext cx="1552651" cy="200254"/>
          </a:xfrm>
          <a:prstGeom prst="rect">
            <a:avLst/>
          </a:prstGeom>
          <a:noFill/>
          <a:ln/>
        </p:spPr>
        <p:txBody>
          <a:bodyPr wrap="square" lIns="0" tIns="0" rIns="0" bIns="0" rtlCol="0" anchor="ctr"/>
          <a:lstStyle/>
          <a:p>
            <a:pPr algn="l" indent="0" marL="0">
              <a:buNone/>
            </a:pPr>
            <a:r>
              <a:rPr lang="en-US" sz="1200" b="1" dirty="0">
                <a:solidFill>
                  <a:srgbClr val="323130"/>
                </a:solidFill>
                <a:latin typeface="Segoe UI" pitchFamily="34" charset="0"/>
                <a:ea typeface="Segoe UI" pitchFamily="34" charset="-122"/>
                <a:cs typeface="Segoe UI" pitchFamily="34" charset="-120"/>
              </a:rPr>
              <a:t>Development &amp; Pilot</a:t>
            </a:r>
            <a:endParaRPr lang="en-US" sz="1200" dirty="0"/>
          </a:p>
        </p:txBody>
      </p:sp>
      <p:sp>
        <p:nvSpPr>
          <p:cNvPr id="37" name="Text 29"/>
          <p:cNvSpPr txBox="1"/>
          <p:nvPr/>
        </p:nvSpPr>
        <p:spPr>
          <a:xfrm>
            <a:off x="6935724" y="4200754"/>
            <a:ext cx="4291279" cy="381305"/>
          </a:xfrm>
          <a:prstGeom prst="rect">
            <a:avLst/>
          </a:prstGeom>
          <a:noFill/>
          <a:ln/>
        </p:spPr>
        <p:txBody>
          <a:bodyPr wrap="square" lIns="0" tIns="0" rIns="0" bIns="0" rtlCol="0" anchor="ctr"/>
          <a:lstStyle/>
          <a:p>
            <a:pPr algn="l" indent="0" marL="0">
              <a:buNone/>
            </a:pPr>
            <a:r>
              <a:rPr lang="en-US" sz="1000" dirty="0">
                <a:solidFill>
                  <a:srgbClr val="605E5C"/>
                </a:solidFill>
                <a:latin typeface="Segoe UI" pitchFamily="34" charset="0"/>
                <a:ea typeface="Segoe UI" pitchFamily="34" charset="-122"/>
                <a:cs typeface="Segoe UI" pitchFamily="34" charset="-120"/>
              </a:rPr>
              <a:t>Build the workflow connectors and run a pilot with the Audit team for 2 weeks.</a:t>
            </a:r>
            <a:endParaRPr lang="en-US" sz="1000" dirty="0"/>
          </a:p>
        </p:txBody>
      </p:sp>
      <p:sp>
        <p:nvSpPr>
          <p:cNvPr id="38" name="Shape 30"/>
          <p:cNvSpPr/>
          <p:nvPr/>
        </p:nvSpPr>
        <p:spPr>
          <a:xfrm>
            <a:off x="6564478" y="4762195"/>
            <a:ext cx="228600" cy="228600"/>
          </a:xfrm>
          <a:prstGeom prst="roundRect">
            <a:avLst>
              <a:gd name="adj" fmla="val 66667"/>
            </a:avLst>
          </a:prstGeom>
          <a:solidFill>
            <a:srgbClr val="EFF6FC"/>
          </a:solidFill>
          <a:ln/>
        </p:spPr>
      </p:sp>
      <p:sp>
        <p:nvSpPr>
          <p:cNvPr id="39" name="Text 31"/>
          <p:cNvSpPr txBox="1"/>
          <p:nvPr/>
        </p:nvSpPr>
        <p:spPr>
          <a:xfrm>
            <a:off x="6640373" y="4776826"/>
            <a:ext cx="186538" cy="200254"/>
          </a:xfrm>
          <a:prstGeom prst="rect">
            <a:avLst/>
          </a:prstGeom>
          <a:noFill/>
          <a:ln/>
        </p:spPr>
        <p:txBody>
          <a:bodyPr wrap="square" lIns="0" tIns="0" rIns="0" bIns="0" rtlCol="0" anchor="ctr"/>
          <a:lstStyle/>
          <a:p>
            <a:pPr algn="l" indent="0" marL="0">
              <a:buNone/>
            </a:pPr>
            <a:r>
              <a:rPr lang="en-US" sz="1000" b="1" dirty="0">
                <a:solidFill>
                  <a:srgbClr val="0078D4"/>
                </a:solidFill>
                <a:latin typeface="Segoe UI" pitchFamily="34" charset="0"/>
                <a:ea typeface="Segoe UI" pitchFamily="34" charset="-122"/>
                <a:cs typeface="Segoe UI" pitchFamily="34" charset="-120"/>
              </a:rPr>
              <a:t>4</a:t>
            </a:r>
            <a:endParaRPr lang="en-US" sz="1000" dirty="0"/>
          </a:p>
        </p:txBody>
      </p:sp>
      <p:sp>
        <p:nvSpPr>
          <p:cNvPr id="40" name="Text 32"/>
          <p:cNvSpPr txBox="1"/>
          <p:nvPr/>
        </p:nvSpPr>
        <p:spPr>
          <a:xfrm>
            <a:off x="6935724" y="4753051"/>
            <a:ext cx="648310" cy="200254"/>
          </a:xfrm>
          <a:prstGeom prst="rect">
            <a:avLst/>
          </a:prstGeom>
          <a:noFill/>
          <a:ln/>
        </p:spPr>
        <p:txBody>
          <a:bodyPr wrap="square" lIns="0" tIns="0" rIns="0" bIns="0" rtlCol="0" anchor="ctr"/>
          <a:lstStyle/>
          <a:p>
            <a:pPr algn="l" indent="0" marL="0">
              <a:buNone/>
            </a:pPr>
            <a:r>
              <a:rPr lang="en-US" sz="1200" b="1" dirty="0">
                <a:solidFill>
                  <a:srgbClr val="323130"/>
                </a:solidFill>
                <a:latin typeface="Segoe UI" pitchFamily="34" charset="0"/>
                <a:ea typeface="Segoe UI" pitchFamily="34" charset="-122"/>
                <a:cs typeface="Segoe UI" pitchFamily="34" charset="-120"/>
              </a:rPr>
              <a:t>Go-Live</a:t>
            </a:r>
            <a:endParaRPr lang="en-US" sz="1200" dirty="0"/>
          </a:p>
        </p:txBody>
      </p:sp>
      <p:sp>
        <p:nvSpPr>
          <p:cNvPr id="41" name="Text 33"/>
          <p:cNvSpPr txBox="1"/>
          <p:nvPr/>
        </p:nvSpPr>
        <p:spPr>
          <a:xfrm>
            <a:off x="6935724" y="5020056"/>
            <a:ext cx="4176979" cy="381305"/>
          </a:xfrm>
          <a:prstGeom prst="rect">
            <a:avLst/>
          </a:prstGeom>
          <a:noFill/>
          <a:ln/>
        </p:spPr>
        <p:txBody>
          <a:bodyPr wrap="square" lIns="0" tIns="0" rIns="0" bIns="0" rtlCol="0" anchor="ctr"/>
          <a:lstStyle/>
          <a:p>
            <a:pPr algn="l" indent="0" marL="0">
              <a:buNone/>
            </a:pPr>
            <a:r>
              <a:rPr lang="en-US" sz="1000" dirty="0">
                <a:solidFill>
                  <a:srgbClr val="605E5C"/>
                </a:solidFill>
                <a:latin typeface="Segoe UI" pitchFamily="34" charset="0"/>
                <a:ea typeface="Segoe UI" pitchFamily="34" charset="-122"/>
                <a:cs typeface="Segoe UI" pitchFamily="34" charset="-120"/>
              </a:rPr>
              <a:t>Enable full automation for all project stakeholders and decommission manual reports.</a:t>
            </a:r>
            <a:endParaRPr lang="en-US" sz="1000" dirty="0"/>
          </a:p>
        </p:txBody>
      </p:sp>
      <p:sp>
        <p:nvSpPr>
          <p:cNvPr id="42" name="Shape 34"/>
          <p:cNvSpPr/>
          <p:nvPr/>
        </p:nvSpPr>
        <p:spPr>
          <a:xfrm>
            <a:off x="6269126" y="5991149"/>
            <a:ext cx="5352898" cy="1914754"/>
          </a:xfrm>
          <a:prstGeom prst="roundRect">
            <a:avLst>
              <a:gd name="adj" fmla="val 1901"/>
            </a:avLst>
          </a:prstGeom>
          <a:solidFill>
            <a:srgbClr val="FFFFFF"/>
          </a:solidFill>
          <a:ln w="12700">
            <a:solidFill>
              <a:srgbClr val="E1DFDD"/>
            </a:solidFill>
            <a:prstDash val="solid"/>
          </a:ln>
        </p:spPr>
      </p:sp>
      <p:sp>
        <p:nvSpPr>
          <p:cNvPr id="43" name="Shape 35"/>
          <p:cNvSpPr/>
          <p:nvPr/>
        </p:nvSpPr>
        <p:spPr>
          <a:xfrm>
            <a:off x="6564478" y="6715354"/>
            <a:ext cx="4762195" cy="9144"/>
          </a:xfrm>
          <a:prstGeom prst="rect">
            <a:avLst/>
          </a:prstGeom>
          <a:solidFill>
            <a:srgbClr val="F3F2F1"/>
          </a:solidFill>
          <a:ln/>
        </p:spPr>
      </p:sp>
      <p:pic>
        <p:nvPicPr>
          <p:cNvPr id="44" name="Image 6" descr="preencoded.png">    </p:cNvPr>
          <p:cNvPicPr>
            <a:picLocks noChangeAspect="1"/>
          </p:cNvPicPr>
          <p:nvPr/>
        </p:nvPicPr>
        <p:blipFill>
          <a:blip r:embed="rId7"/>
          <a:srcRect l="0" r="0" t="0" b="0"/>
          <a:stretch/>
        </p:blipFill>
        <p:spPr>
          <a:xfrm>
            <a:off x="6564478" y="6334049"/>
            <a:ext cx="237744" cy="190195"/>
          </a:xfrm>
          <a:prstGeom prst="rect">
            <a:avLst/>
          </a:prstGeom>
        </p:spPr>
      </p:pic>
      <p:sp>
        <p:nvSpPr>
          <p:cNvPr id="45" name="Text 36"/>
          <p:cNvSpPr txBox="1"/>
          <p:nvPr/>
        </p:nvSpPr>
        <p:spPr>
          <a:xfrm>
            <a:off x="6916522" y="6295644"/>
            <a:ext cx="1733702" cy="257861"/>
          </a:xfrm>
          <a:prstGeom prst="rect">
            <a:avLst/>
          </a:prstGeom>
          <a:noFill/>
          <a:ln/>
        </p:spPr>
        <p:txBody>
          <a:bodyPr wrap="square" lIns="0" tIns="0" rIns="0" bIns="0" rtlCol="0" anchor="ctr"/>
          <a:lstStyle/>
          <a:p>
            <a:pPr algn="l" indent="0" marL="0">
              <a:buNone/>
            </a:pPr>
            <a:r>
              <a:rPr lang="en-US" sz="1500" b="1" dirty="0">
                <a:solidFill>
                  <a:srgbClr val="323130"/>
                </a:solidFill>
                <a:latin typeface="Segoe UI" pitchFamily="34" charset="0"/>
                <a:ea typeface="Segoe UI" pitchFamily="34" charset="-122"/>
                <a:cs typeface="Segoe UI" pitchFamily="34" charset="-120"/>
              </a:rPr>
              <a:t>Project Ownership</a:t>
            </a:r>
            <a:endParaRPr lang="en-US" sz="1500" dirty="0"/>
          </a:p>
        </p:txBody>
      </p:sp>
      <p:sp>
        <p:nvSpPr>
          <p:cNvPr id="46" name="Shape 37"/>
          <p:cNvSpPr/>
          <p:nvPr/>
        </p:nvSpPr>
        <p:spPr>
          <a:xfrm>
            <a:off x="6564478" y="6915607"/>
            <a:ext cx="2286000" cy="694944"/>
          </a:xfrm>
          <a:prstGeom prst="roundRect">
            <a:avLst>
              <a:gd name="adj" fmla="val 10815"/>
            </a:avLst>
          </a:prstGeom>
          <a:solidFill>
            <a:srgbClr val="F8F9FA"/>
          </a:solidFill>
          <a:ln w="12700">
            <a:solidFill>
              <a:srgbClr val="EDEBE9"/>
            </a:solidFill>
            <a:prstDash val="solid"/>
          </a:ln>
        </p:spPr>
      </p:sp>
      <p:sp>
        <p:nvSpPr>
          <p:cNvPr id="47" name="Shape 38"/>
          <p:cNvSpPr/>
          <p:nvPr/>
        </p:nvSpPr>
        <p:spPr>
          <a:xfrm>
            <a:off x="6717182" y="7071970"/>
            <a:ext cx="381305" cy="381305"/>
          </a:xfrm>
          <a:prstGeom prst="ellipse">
            <a:avLst/>
          </a:prstGeom>
          <a:solidFill>
            <a:srgbClr val="0078D4"/>
          </a:solidFill>
          <a:ln/>
        </p:spPr>
      </p:sp>
      <p:sp>
        <p:nvSpPr>
          <p:cNvPr id="48" name="Text 39"/>
          <p:cNvSpPr txBox="1"/>
          <p:nvPr/>
        </p:nvSpPr>
        <p:spPr>
          <a:xfrm>
            <a:off x="6818681" y="7148779"/>
            <a:ext cx="295351" cy="228600"/>
          </a:xfrm>
          <a:prstGeom prst="rect">
            <a:avLst/>
          </a:prstGeom>
          <a:noFill/>
          <a:ln/>
        </p:spPr>
        <p:txBody>
          <a:bodyPr wrap="square" lIns="0" tIns="0" rIns="0" bIns="0" rtlCol="0" anchor="ctr"/>
          <a:lstStyle/>
          <a:p>
            <a:pPr algn="l" indent="0" marL="0">
              <a:buNone/>
            </a:pPr>
            <a:r>
              <a:rPr lang="en-US" sz="1200" b="1" dirty="0">
                <a:solidFill>
                  <a:srgbClr val="FFFFFF"/>
                </a:solidFill>
                <a:latin typeface="Segoe UI" pitchFamily="34" charset="0"/>
                <a:ea typeface="Segoe UI" pitchFamily="34" charset="-122"/>
                <a:cs typeface="Segoe UI" pitchFamily="34" charset="-120"/>
              </a:rPr>
              <a:t>AL</a:t>
            </a:r>
            <a:endParaRPr lang="en-US" sz="1200" dirty="0"/>
          </a:p>
        </p:txBody>
      </p:sp>
      <p:sp>
        <p:nvSpPr>
          <p:cNvPr id="49" name="Text 40"/>
          <p:cNvSpPr txBox="1"/>
          <p:nvPr/>
        </p:nvSpPr>
        <p:spPr>
          <a:xfrm>
            <a:off x="7211873" y="7077456"/>
            <a:ext cx="758038" cy="181051"/>
          </a:xfrm>
          <a:prstGeom prst="rect">
            <a:avLst/>
          </a:prstGeom>
          <a:noFill/>
          <a:ln/>
        </p:spPr>
        <p:txBody>
          <a:bodyPr wrap="square" lIns="0" tIns="0" rIns="0" bIns="0" rtlCol="0" anchor="ctr"/>
          <a:lstStyle/>
          <a:p>
            <a:pPr algn="l" indent="0" marL="0">
              <a:buNone/>
            </a:pPr>
            <a:r>
              <a:rPr lang="en-US" sz="1000" b="1" dirty="0">
                <a:solidFill>
                  <a:srgbClr val="323130"/>
                </a:solidFill>
                <a:latin typeface="Segoe UI" pitchFamily="34" charset="0"/>
                <a:ea typeface="Segoe UI" pitchFamily="34" charset="-122"/>
                <a:cs typeface="Segoe UI" pitchFamily="34" charset="-120"/>
              </a:rPr>
              <a:t>Audit Lead</a:t>
            </a:r>
            <a:endParaRPr lang="en-US" sz="1000" dirty="0"/>
          </a:p>
        </p:txBody>
      </p:sp>
      <p:sp>
        <p:nvSpPr>
          <p:cNvPr id="50" name="Text 41"/>
          <p:cNvSpPr txBox="1"/>
          <p:nvPr/>
        </p:nvSpPr>
        <p:spPr>
          <a:xfrm>
            <a:off x="7211873" y="7295998"/>
            <a:ext cx="886054" cy="152705"/>
          </a:xfrm>
          <a:prstGeom prst="rect">
            <a:avLst/>
          </a:prstGeom>
          <a:noFill/>
          <a:ln/>
        </p:spPr>
        <p:txBody>
          <a:bodyPr wrap="square" lIns="0" tIns="0" rIns="0" bIns="0" rtlCol="0" anchor="ctr"/>
          <a:lstStyle/>
          <a:p>
            <a:pPr algn="l" indent="0" marL="0">
              <a:buNone/>
            </a:pPr>
            <a:r>
              <a:rPr lang="en-US" sz="900" dirty="0">
                <a:solidFill>
                  <a:srgbClr val="605E5C"/>
                </a:solidFill>
                <a:latin typeface="Segoe UI" pitchFamily="34" charset="0"/>
                <a:ea typeface="Segoe UI" pitchFamily="34" charset="-122"/>
                <a:cs typeface="Segoe UI" pitchFamily="34" charset="-120"/>
              </a:rPr>
              <a:t>Business Owner</a:t>
            </a:r>
            <a:endParaRPr lang="en-US" sz="900" dirty="0"/>
          </a:p>
        </p:txBody>
      </p:sp>
      <p:sp>
        <p:nvSpPr>
          <p:cNvPr id="51" name="Shape 42"/>
          <p:cNvSpPr/>
          <p:nvPr/>
        </p:nvSpPr>
        <p:spPr>
          <a:xfrm>
            <a:off x="9039758" y="6915607"/>
            <a:ext cx="2286000" cy="694944"/>
          </a:xfrm>
          <a:prstGeom prst="roundRect">
            <a:avLst>
              <a:gd name="adj" fmla="val 10815"/>
            </a:avLst>
          </a:prstGeom>
          <a:solidFill>
            <a:srgbClr val="F8F9FA"/>
          </a:solidFill>
          <a:ln w="12700">
            <a:solidFill>
              <a:srgbClr val="EDEBE9"/>
            </a:solidFill>
            <a:prstDash val="solid"/>
          </a:ln>
        </p:spPr>
      </p:sp>
      <p:sp>
        <p:nvSpPr>
          <p:cNvPr id="52" name="Shape 43"/>
          <p:cNvSpPr/>
          <p:nvPr/>
        </p:nvSpPr>
        <p:spPr>
          <a:xfrm>
            <a:off x="9192463" y="7071970"/>
            <a:ext cx="381305" cy="381305"/>
          </a:xfrm>
          <a:prstGeom prst="ellipse">
            <a:avLst/>
          </a:prstGeom>
          <a:solidFill>
            <a:srgbClr val="0078D4"/>
          </a:solidFill>
          <a:ln/>
        </p:spPr>
      </p:sp>
      <p:sp>
        <p:nvSpPr>
          <p:cNvPr id="53" name="Text 44"/>
          <p:cNvSpPr txBox="1"/>
          <p:nvPr/>
        </p:nvSpPr>
        <p:spPr>
          <a:xfrm>
            <a:off x="9318650" y="7148779"/>
            <a:ext cx="247802" cy="228600"/>
          </a:xfrm>
          <a:prstGeom prst="rect">
            <a:avLst/>
          </a:prstGeom>
          <a:noFill/>
          <a:ln/>
        </p:spPr>
        <p:txBody>
          <a:bodyPr wrap="square" lIns="0" tIns="0" rIns="0" bIns="0" rtlCol="0" anchor="ctr"/>
          <a:lstStyle/>
          <a:p>
            <a:pPr algn="l" indent="0" marL="0">
              <a:buNone/>
            </a:pPr>
            <a:r>
              <a:rPr lang="en-US" sz="1200" b="1" dirty="0">
                <a:solidFill>
                  <a:srgbClr val="FFFFFF"/>
                </a:solidFill>
                <a:latin typeface="Segoe UI" pitchFamily="34" charset="0"/>
                <a:ea typeface="Segoe UI" pitchFamily="34" charset="-122"/>
                <a:cs typeface="Segoe UI" pitchFamily="34" charset="-120"/>
              </a:rPr>
              <a:t>IT</a:t>
            </a:r>
            <a:endParaRPr lang="en-US" sz="1200" dirty="0"/>
          </a:p>
        </p:txBody>
      </p:sp>
      <p:sp>
        <p:nvSpPr>
          <p:cNvPr id="54" name="Text 45"/>
          <p:cNvSpPr txBox="1"/>
          <p:nvPr/>
        </p:nvSpPr>
        <p:spPr>
          <a:xfrm>
            <a:off x="9688068" y="7077456"/>
            <a:ext cx="1185977" cy="181051"/>
          </a:xfrm>
          <a:prstGeom prst="rect">
            <a:avLst/>
          </a:prstGeom>
          <a:noFill/>
          <a:ln/>
        </p:spPr>
        <p:txBody>
          <a:bodyPr wrap="square" lIns="0" tIns="0" rIns="0" bIns="0" rtlCol="0" anchor="ctr"/>
          <a:lstStyle/>
          <a:p>
            <a:pPr algn="l" indent="0" marL="0">
              <a:buNone/>
            </a:pPr>
            <a:r>
              <a:rPr lang="en-US" sz="1000" b="1" dirty="0">
                <a:solidFill>
                  <a:srgbClr val="323130"/>
                </a:solidFill>
                <a:latin typeface="Segoe UI" pitchFamily="34" charset="0"/>
                <a:ea typeface="Segoe UI" pitchFamily="34" charset="-122"/>
                <a:cs typeface="Segoe UI" pitchFamily="34" charset="-120"/>
              </a:rPr>
              <a:t>Automation Team</a:t>
            </a:r>
            <a:endParaRPr lang="en-US" sz="1000" dirty="0"/>
          </a:p>
        </p:txBody>
      </p:sp>
      <p:sp>
        <p:nvSpPr>
          <p:cNvPr id="55" name="Text 46"/>
          <p:cNvSpPr txBox="1"/>
          <p:nvPr/>
        </p:nvSpPr>
        <p:spPr>
          <a:xfrm>
            <a:off x="9688068" y="7295998"/>
            <a:ext cx="1381658" cy="152705"/>
          </a:xfrm>
          <a:prstGeom prst="rect">
            <a:avLst/>
          </a:prstGeom>
          <a:noFill/>
          <a:ln/>
        </p:spPr>
        <p:txBody>
          <a:bodyPr wrap="square" lIns="0" tIns="0" rIns="0" bIns="0" rtlCol="0" anchor="ctr"/>
          <a:lstStyle/>
          <a:p>
            <a:pPr algn="l" indent="0" marL="0">
              <a:buNone/>
            </a:pPr>
            <a:r>
              <a:rPr lang="en-US" sz="900" dirty="0">
                <a:solidFill>
                  <a:srgbClr val="605E5C"/>
                </a:solidFill>
                <a:latin typeface="Segoe UI" pitchFamily="34" charset="0"/>
                <a:ea typeface="Segoe UI" pitchFamily="34" charset="-122"/>
                <a:cs typeface="Segoe UI" pitchFamily="34" charset="-120"/>
              </a:rPr>
              <a:t>Technical Implementation</a:t>
            </a:r>
            <a:endParaRPr lang="en-US" sz="900" dirty="0"/>
          </a:p>
        </p:txBody>
      </p:sp>
      <p:sp>
        <p:nvSpPr>
          <p:cNvPr id="56" name="Shape 47"/>
          <p:cNvSpPr/>
          <p:nvPr/>
        </p:nvSpPr>
        <p:spPr>
          <a:xfrm>
            <a:off x="0" y="8382305"/>
            <a:ext cx="12191695" cy="9144"/>
          </a:xfrm>
          <a:prstGeom prst="rect">
            <a:avLst/>
          </a:prstGeom>
          <a:solidFill>
            <a:srgbClr val="EDEBE9"/>
          </a:solidFill>
          <a:ln/>
        </p:spPr>
      </p:sp>
      <p:sp>
        <p:nvSpPr>
          <p:cNvPr id="57" name="Text 48"/>
          <p:cNvSpPr txBox="1"/>
          <p:nvPr/>
        </p:nvSpPr>
        <p:spPr>
          <a:xfrm>
            <a:off x="8825789" y="8401507"/>
            <a:ext cx="2886761" cy="152705"/>
          </a:xfrm>
          <a:prstGeom prst="rect">
            <a:avLst/>
          </a:prstGeom>
          <a:noFill/>
          <a:ln/>
        </p:spPr>
        <p:txBody>
          <a:bodyPr wrap="square" lIns="0" tIns="0" rIns="0" bIns="0" rtlCol="0" anchor="ctr"/>
          <a:lstStyle/>
          <a:p>
            <a:pPr algn="l" indent="0" marL="0">
              <a:buNone/>
            </a:pPr>
            <a:r>
              <a:rPr lang="en-US" sz="900" dirty="0">
                <a:solidFill>
                  <a:srgbClr val="A19F9D"/>
                </a:solidFill>
                <a:latin typeface="Segoe UI" pitchFamily="34" charset="0"/>
                <a:ea typeface="Segoe UI" pitchFamily="34" charset="-122"/>
                <a:cs typeface="Segoe UI" pitchFamily="34" charset="-120"/>
              </a:rPr>
              <a:t>Confidential | Factory Delivery Orchestrator Automation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78D4"/>
          </a:solidFill>
          <a:ln/>
        </p:spPr>
      </p:sp>
      <p:sp>
        <p:nvSpPr>
          <p:cNvPr id="3" name="Shape 1"/>
          <p:cNvSpPr/>
          <p:nvPr/>
        </p:nvSpPr>
        <p:spPr>
          <a:xfrm>
            <a:off x="-952805" y="-952805"/>
            <a:ext cx="5715000" cy="5715000"/>
          </a:xfrm>
          <a:prstGeom prst="ellipse">
            <a:avLst/>
          </a:prstGeom>
          <a:solidFill>
            <a:srgbClr val="FFFFFF">
              <a:alpha val="5000"/>
            </a:srgbClr>
          </a:solidFill>
          <a:ln/>
        </p:spPr>
      </p:sp>
      <p:sp>
        <p:nvSpPr>
          <p:cNvPr id="4" name="Shape 2"/>
          <p:cNvSpPr/>
          <p:nvPr/>
        </p:nvSpPr>
        <p:spPr>
          <a:xfrm>
            <a:off x="4876495" y="3524098"/>
            <a:ext cx="2857500" cy="2857500"/>
          </a:xfrm>
          <a:prstGeom prst="ellipse">
            <a:avLst/>
          </a:prstGeom>
          <a:solidFill>
            <a:srgbClr val="FFFFFF">
              <a:alpha val="5000"/>
            </a:srgbClr>
          </a:solidFill>
          <a:ln/>
        </p:spPr>
      </p:sp>
      <p:sp>
        <p:nvSpPr>
          <p:cNvPr id="5" name="Shape 3"/>
          <p:cNvSpPr/>
          <p:nvPr/>
        </p:nvSpPr>
        <p:spPr>
          <a:xfrm>
            <a:off x="7315200" y="0"/>
            <a:ext cx="4876495" cy="6858000"/>
          </a:xfrm>
          <a:prstGeom prst="rect">
            <a:avLst/>
          </a:prstGeom>
          <a:solidFill>
            <a:srgbClr val="005A9E"/>
          </a:solidFill>
          <a:ln/>
        </p:spPr>
      </p:sp>
      <p:pic>
        <p:nvPicPr>
          <p:cNvPr id="6" name="Image 0" descr="preencoded.png">    </p:cNvPr>
          <p:cNvPicPr>
            <a:picLocks noChangeAspect="1"/>
          </p:cNvPicPr>
          <p:nvPr/>
        </p:nvPicPr>
        <p:blipFill>
          <a:blip r:embed="rId1"/>
          <a:srcRect l="-5" r="-5" t="0" b="0"/>
          <a:stretch/>
        </p:blipFill>
        <p:spPr>
          <a:xfrm>
            <a:off x="8682228" y="2572207"/>
            <a:ext cx="2143354" cy="1714500"/>
          </a:xfrm>
          <a:prstGeom prst="rect">
            <a:avLst/>
          </a:prstGeom>
        </p:spPr>
      </p:pic>
      <p:sp>
        <p:nvSpPr>
          <p:cNvPr id="7" name="Shape 4"/>
          <p:cNvSpPr/>
          <p:nvPr/>
        </p:nvSpPr>
        <p:spPr>
          <a:xfrm>
            <a:off x="761695" y="3442716"/>
            <a:ext cx="6096305" cy="2305202"/>
          </a:xfrm>
          <a:prstGeom prst="roundRect">
            <a:avLst>
              <a:gd name="adj" fmla="val 1311"/>
            </a:avLst>
          </a:prstGeom>
          <a:solidFill>
            <a:srgbClr val="000000">
              <a:alpha val="10000"/>
            </a:srgbClr>
          </a:solidFill>
          <a:ln/>
        </p:spPr>
      </p:sp>
      <p:sp>
        <p:nvSpPr>
          <p:cNvPr id="8" name="Shape 5"/>
          <p:cNvSpPr/>
          <p:nvPr/>
        </p:nvSpPr>
        <p:spPr>
          <a:xfrm>
            <a:off x="761695" y="3442716"/>
            <a:ext cx="9144" cy="2305202"/>
          </a:xfrm>
          <a:prstGeom prst="rect">
            <a:avLst/>
          </a:prstGeom>
          <a:solidFill>
            <a:srgbClr val="FFFFFF">
              <a:alpha val="20000"/>
            </a:srgbClr>
          </a:solidFill>
          <a:ln/>
        </p:spPr>
      </p:sp>
      <p:pic>
        <p:nvPicPr>
          <p:cNvPr id="9" name="Image 1" descr="preencoded.png">    </p:cNvPr>
          <p:cNvPicPr>
            <a:picLocks noChangeAspect="1"/>
          </p:cNvPicPr>
          <p:nvPr/>
        </p:nvPicPr>
        <p:blipFill>
          <a:blip r:embed="rId2"/>
          <a:srcRect l="0" r="0" t="0" b="0"/>
          <a:stretch/>
        </p:blipFill>
        <p:spPr>
          <a:xfrm>
            <a:off x="1000354" y="3671316"/>
            <a:ext cx="171907" cy="171907"/>
          </a:xfrm>
          <a:prstGeom prst="rect">
            <a:avLst/>
          </a:prstGeom>
        </p:spPr>
      </p:pic>
      <p:pic>
        <p:nvPicPr>
          <p:cNvPr id="10" name="Image 2" descr="preencoded.png">    </p:cNvPr>
          <p:cNvPicPr>
            <a:picLocks noChangeAspect="1"/>
          </p:cNvPicPr>
          <p:nvPr/>
        </p:nvPicPr>
        <p:blipFill>
          <a:blip r:embed="rId3"/>
          <a:srcRect l="-25988" r="-25988" t="0" b="0"/>
          <a:stretch/>
        </p:blipFill>
        <p:spPr>
          <a:xfrm>
            <a:off x="1000354" y="4337914"/>
            <a:ext cx="228600" cy="171907"/>
          </a:xfrm>
          <a:prstGeom prst="rect">
            <a:avLst/>
          </a:prstGeom>
        </p:spPr>
      </p:pic>
      <p:pic>
        <p:nvPicPr>
          <p:cNvPr id="11" name="Image 3" descr="preencoded.png">    </p:cNvPr>
          <p:cNvPicPr>
            <a:picLocks noChangeAspect="1"/>
          </p:cNvPicPr>
          <p:nvPr/>
        </p:nvPicPr>
        <p:blipFill>
          <a:blip r:embed="rId4"/>
          <a:srcRect l="-20213" r="-20213" t="0" b="0"/>
          <a:stretch/>
        </p:blipFill>
        <p:spPr>
          <a:xfrm>
            <a:off x="1000354" y="5004511"/>
            <a:ext cx="181051" cy="171907"/>
          </a:xfrm>
          <a:prstGeom prst="rect">
            <a:avLst/>
          </a:prstGeom>
        </p:spPr>
      </p:pic>
      <p:sp>
        <p:nvSpPr>
          <p:cNvPr id="12" name="Text 6"/>
          <p:cNvSpPr txBox="1"/>
          <p:nvPr/>
        </p:nvSpPr>
        <p:spPr>
          <a:xfrm>
            <a:off x="761695" y="501091"/>
            <a:ext cx="5600700" cy="1752905"/>
          </a:xfrm>
          <a:prstGeom prst="rect">
            <a:avLst/>
          </a:prstGeom>
          <a:noFill/>
          <a:ln/>
        </p:spPr>
        <p:txBody>
          <a:bodyPr wrap="square" lIns="0" tIns="0" rIns="0" bIns="0" rtlCol="0" anchor="ctr"/>
          <a:lstStyle/>
          <a:p>
            <a:pPr algn="l" indent="0" marL="0">
              <a:buNone/>
            </a:pPr>
            <a:r>
              <a:rPr lang="en-US" sz="3900" b="1" dirty="0">
                <a:solidFill>
                  <a:srgbClr val="FFFFFF"/>
                </a:solidFill>
                <a:latin typeface="Segoe UI" pitchFamily="34" charset="0"/>
                <a:ea typeface="Segoe UI" pitchFamily="34" charset="-122"/>
                <a:cs typeface="Segoe UI" pitchFamily="34" charset="-120"/>
              </a:rPr>
              <a:t>Prototype: Automated Weekly Audit Report Email Distribution</a:t>
            </a:r>
            <a:endParaRPr lang="en-US" sz="3900" dirty="0"/>
          </a:p>
        </p:txBody>
      </p:sp>
      <p:sp>
        <p:nvSpPr>
          <p:cNvPr id="13" name="Text 7"/>
          <p:cNvSpPr txBox="1"/>
          <p:nvPr/>
        </p:nvSpPr>
        <p:spPr>
          <a:xfrm>
            <a:off x="1324051" y="3680460"/>
            <a:ext cx="662026" cy="228600"/>
          </a:xfrm>
          <a:prstGeom prst="rect">
            <a:avLst/>
          </a:prstGeom>
          <a:noFill/>
          <a:ln/>
        </p:spPr>
        <p:txBody>
          <a:bodyPr wrap="square" lIns="0" tIns="0" rIns="0" bIns="0" rtlCol="0" anchor="ctr"/>
          <a:lstStyle/>
          <a:p>
            <a:pPr algn="l" indent="0" marL="0">
              <a:buNone/>
            </a:pPr>
            <a:r>
              <a:rPr lang="en-US" sz="1300" b="1" dirty="0">
                <a:solidFill>
                  <a:srgbClr val="FFFFFF"/>
                </a:solidFill>
                <a:latin typeface="Segoe UI" pitchFamily="34" charset="0"/>
                <a:ea typeface="Segoe UI" pitchFamily="34" charset="-122"/>
                <a:cs typeface="Segoe UI" pitchFamily="34" charset="-120"/>
              </a:rPr>
              <a:t>Scope:</a:t>
            </a:r>
            <a:endParaRPr lang="en-US" sz="1300" dirty="0"/>
          </a:p>
        </p:txBody>
      </p:sp>
      <p:sp>
        <p:nvSpPr>
          <p:cNvPr id="14" name="Text 8"/>
          <p:cNvSpPr txBox="1"/>
          <p:nvPr/>
        </p:nvSpPr>
        <p:spPr>
          <a:xfrm>
            <a:off x="1324051" y="3680460"/>
            <a:ext cx="5310835" cy="486461"/>
          </a:xfrm>
          <a:prstGeom prst="rect">
            <a:avLst/>
          </a:prstGeom>
          <a:noFill/>
          <a:ln/>
        </p:spPr>
        <p:txBody>
          <a:bodyPr wrap="square" lIns="0" tIns="0" rIns="0" bIns="0" rtlCol="0" anchor="ctr"/>
          <a:lstStyle/>
          <a:p>
            <a:pPr algn="l" indent="0" marL="0">
              <a:buNone/>
            </a:pPr>
            <a:r>
              <a:rPr lang="en-US" sz="1300" dirty="0">
                <a:solidFill>
                  <a:srgbClr val="FFFFFF"/>
                </a:solidFill>
                <a:latin typeface="Segoe UI" pitchFamily="34" charset="0"/>
                <a:ea typeface="Segoe UI" pitchFamily="34" charset="-122"/>
                <a:cs typeface="Segoe UI" pitchFamily="34" charset="-120"/>
              </a:rPr>
              <a:t>Covers extraction, transformation, summary generation, email composition, and delivery metrics.</a:t>
            </a:r>
            <a:endParaRPr lang="en-US" sz="1300" dirty="0"/>
          </a:p>
        </p:txBody>
      </p:sp>
      <p:sp>
        <p:nvSpPr>
          <p:cNvPr id="15" name="Text 9"/>
          <p:cNvSpPr txBox="1"/>
          <p:nvPr/>
        </p:nvSpPr>
        <p:spPr>
          <a:xfrm>
            <a:off x="1380744" y="4347058"/>
            <a:ext cx="1090879" cy="228600"/>
          </a:xfrm>
          <a:prstGeom prst="rect">
            <a:avLst/>
          </a:prstGeom>
          <a:noFill/>
          <a:ln/>
        </p:spPr>
        <p:txBody>
          <a:bodyPr wrap="square" lIns="0" tIns="0" rIns="0" bIns="0" rtlCol="0" anchor="ctr"/>
          <a:lstStyle/>
          <a:p>
            <a:pPr algn="l" indent="0" marL="0">
              <a:buNone/>
            </a:pPr>
            <a:r>
              <a:rPr lang="en-US" sz="1300" b="1" dirty="0">
                <a:solidFill>
                  <a:srgbClr val="FFFFFF"/>
                </a:solidFill>
                <a:latin typeface="Segoe UI" pitchFamily="34" charset="0"/>
                <a:ea typeface="Segoe UI" pitchFamily="34" charset="-122"/>
                <a:cs typeface="Segoe UI" pitchFamily="34" charset="-120"/>
              </a:rPr>
              <a:t>How to use:</a:t>
            </a:r>
            <a:endParaRPr lang="en-US" sz="1300" dirty="0"/>
          </a:p>
        </p:txBody>
      </p:sp>
      <p:sp>
        <p:nvSpPr>
          <p:cNvPr id="16" name="Text 10"/>
          <p:cNvSpPr txBox="1"/>
          <p:nvPr/>
        </p:nvSpPr>
        <p:spPr>
          <a:xfrm>
            <a:off x="1380744" y="4347058"/>
            <a:ext cx="5110582" cy="486461"/>
          </a:xfrm>
          <a:prstGeom prst="rect">
            <a:avLst/>
          </a:prstGeom>
          <a:noFill/>
          <a:ln/>
        </p:spPr>
        <p:txBody>
          <a:bodyPr wrap="square" lIns="0" tIns="0" rIns="0" bIns="0" rtlCol="0" anchor="ctr"/>
          <a:lstStyle/>
          <a:p>
            <a:pPr algn="l" indent="0" marL="0">
              <a:buNone/>
            </a:pPr>
            <a:r>
              <a:rPr lang="en-US" sz="1300" dirty="0">
                <a:solidFill>
                  <a:srgbClr val="FFFFFF"/>
                </a:solidFill>
                <a:latin typeface="Segoe UI" pitchFamily="34" charset="0"/>
                <a:ea typeface="Segoe UI" pitchFamily="34" charset="-122"/>
                <a:cs typeface="Segoe UI" pitchFamily="34" charset="-120"/>
              </a:rPr>
              <a:t>Follow the visual flow to simulate a weekly scheduled run.</a:t>
            </a:r>
            <a:endParaRPr lang="en-US" sz="1300" dirty="0"/>
          </a:p>
        </p:txBody>
      </p:sp>
      <p:sp>
        <p:nvSpPr>
          <p:cNvPr id="17" name="Text 11"/>
          <p:cNvSpPr txBox="1"/>
          <p:nvPr/>
        </p:nvSpPr>
        <p:spPr>
          <a:xfrm>
            <a:off x="1333195" y="5013655"/>
            <a:ext cx="1215238" cy="228600"/>
          </a:xfrm>
          <a:prstGeom prst="rect">
            <a:avLst/>
          </a:prstGeom>
          <a:noFill/>
          <a:ln/>
        </p:spPr>
        <p:txBody>
          <a:bodyPr wrap="square" lIns="0" tIns="0" rIns="0" bIns="0" rtlCol="0" anchor="ctr"/>
          <a:lstStyle/>
          <a:p>
            <a:pPr algn="l" indent="0" marL="0">
              <a:buNone/>
            </a:pPr>
            <a:r>
              <a:rPr lang="en-US" sz="1300" b="1" dirty="0">
                <a:solidFill>
                  <a:srgbClr val="FFFFFF"/>
                </a:solidFill>
                <a:latin typeface="Segoe UI" pitchFamily="34" charset="0"/>
                <a:ea typeface="Segoe UI" pitchFamily="34" charset="-122"/>
                <a:cs typeface="Segoe UI" pitchFamily="34" charset="-120"/>
              </a:rPr>
              <a:t>Assumptions:</a:t>
            </a:r>
            <a:endParaRPr lang="en-US" sz="1300" dirty="0"/>
          </a:p>
        </p:txBody>
      </p:sp>
      <p:sp>
        <p:nvSpPr>
          <p:cNvPr id="18" name="Text 12"/>
          <p:cNvSpPr txBox="1"/>
          <p:nvPr/>
        </p:nvSpPr>
        <p:spPr>
          <a:xfrm>
            <a:off x="1333195" y="5013655"/>
            <a:ext cx="5300777" cy="486461"/>
          </a:xfrm>
          <a:prstGeom prst="rect">
            <a:avLst/>
          </a:prstGeom>
          <a:noFill/>
          <a:ln/>
        </p:spPr>
        <p:txBody>
          <a:bodyPr wrap="square" lIns="0" tIns="0" rIns="0" bIns="0" rtlCol="0" anchor="ctr"/>
          <a:lstStyle/>
          <a:p>
            <a:pPr algn="l" indent="0" marL="0">
              <a:buNone/>
            </a:pPr>
            <a:r>
              <a:rPr lang="en-US" sz="1300" dirty="0">
                <a:solidFill>
                  <a:srgbClr val="FFFFFF"/>
                </a:solidFill>
                <a:latin typeface="Segoe UI" pitchFamily="34" charset="0"/>
                <a:ea typeface="Segoe UI" pitchFamily="34" charset="-122"/>
                <a:cs typeface="Segoe UI" pitchFamily="34" charset="-120"/>
              </a:rPr>
              <a:t>Uses sample audit data, simulated execution logs, and enterprise theme.</a:t>
            </a:r>
            <a:endParaRPr lang="en-US" sz="1300" dirty="0"/>
          </a:p>
        </p:txBody>
      </p:sp>
      <p:pic>
        <p:nvPicPr>
          <p:cNvPr id="19" name="Image 4" descr="preencoded.png">    </p:cNvPr>
          <p:cNvPicPr>
            <a:picLocks noChangeAspect="1"/>
          </p:cNvPicPr>
          <p:nvPr/>
        </p:nvPicPr>
        <p:blipFill>
          <a:blip r:embed="rId5">
            <a:alphaModFix amt="90000"/>
          </a:blip>
          <a:srcRect l="0" r="0" t="0" b="0"/>
          <a:stretch/>
        </p:blipFill>
        <p:spPr>
          <a:xfrm>
            <a:off x="761695" y="-12802"/>
            <a:ext cx="228600" cy="228600"/>
          </a:xfrm>
          <a:prstGeom prst="rect">
            <a:avLst/>
          </a:prstGeom>
        </p:spPr>
      </p:pic>
      <p:sp>
        <p:nvSpPr>
          <p:cNvPr id="20" name="Text 13"/>
          <p:cNvSpPr txBox="1"/>
          <p:nvPr/>
        </p:nvSpPr>
        <p:spPr>
          <a:xfrm>
            <a:off x="1104595" y="-51206"/>
            <a:ext cx="3219602" cy="305410"/>
          </a:xfrm>
          <a:prstGeom prst="rect">
            <a:avLst/>
          </a:prstGeom>
          <a:noFill/>
          <a:ln/>
        </p:spPr>
        <p:txBody>
          <a:bodyPr wrap="square" lIns="0" tIns="0" rIns="0" bIns="0" rtlCol="0" anchor="ctr"/>
          <a:lstStyle/>
          <a:p>
            <a:pPr algn="l" indent="0" marL="0">
              <a:buNone/>
            </a:pPr>
            <a:r>
              <a:rPr lang="en-US" sz="1800" b="1" dirty="0">
                <a:solidFill>
                  <a:srgbClr val="FFFFFF">
                    <a:alpha val="90000"/>
                  </a:srgbClr>
                </a:solidFill>
                <a:latin typeface="Segoe UI" pitchFamily="34" charset="0"/>
                <a:ea typeface="Segoe UI" pitchFamily="34" charset="-122"/>
                <a:cs typeface="Segoe UI" pitchFamily="34" charset="-120"/>
              </a:rPr>
              <a:t>Factory Delivery Orchestrator</a:t>
            </a:r>
            <a:endParaRPr lang="en-US" sz="1800" dirty="0"/>
          </a:p>
        </p:txBody>
      </p:sp>
      <p:sp>
        <p:nvSpPr>
          <p:cNvPr id="21" name="Shape 14"/>
          <p:cNvSpPr/>
          <p:nvPr/>
        </p:nvSpPr>
        <p:spPr>
          <a:xfrm>
            <a:off x="761695" y="2421331"/>
            <a:ext cx="38405" cy="647395"/>
          </a:xfrm>
          <a:prstGeom prst="rect">
            <a:avLst/>
          </a:prstGeom>
          <a:solidFill>
            <a:srgbClr val="50E6FF"/>
          </a:solidFill>
          <a:ln/>
        </p:spPr>
      </p:sp>
      <p:sp>
        <p:nvSpPr>
          <p:cNvPr id="22" name="Text 15"/>
          <p:cNvSpPr txBox="1"/>
          <p:nvPr/>
        </p:nvSpPr>
        <p:spPr>
          <a:xfrm>
            <a:off x="990295" y="2421331"/>
            <a:ext cx="5906110" cy="629107"/>
          </a:xfrm>
          <a:prstGeom prst="rect">
            <a:avLst/>
          </a:prstGeom>
          <a:noFill/>
          <a:ln/>
        </p:spPr>
        <p:txBody>
          <a:bodyPr wrap="square" lIns="0" tIns="0" rIns="0" bIns="0" rtlCol="0" anchor="ctr"/>
          <a:lstStyle/>
          <a:p>
            <a:pPr algn="l" indent="0" marL="0">
              <a:buNone/>
            </a:pPr>
            <a:r>
              <a:rPr lang="en-US" sz="1800" dirty="0">
                <a:solidFill>
                  <a:srgbClr val="FFFFFF">
                    <a:alpha val="95000"/>
                  </a:srgbClr>
                </a:solidFill>
                <a:latin typeface="Segoe UI" pitchFamily="34" charset="0"/>
                <a:ea typeface="Segoe UI" pitchFamily="34" charset="-122"/>
                <a:cs typeface="Segoe UI" pitchFamily="34" charset="-120"/>
              </a:rPr>
              <a:t>Experience the end-to-end automation flow: from FDO data extraction and processing to final email delivery.</a:t>
            </a:r>
            <a:endParaRPr lang="en-US" sz="1800" dirty="0"/>
          </a:p>
        </p:txBody>
      </p:sp>
      <p:pic>
        <p:nvPicPr>
          <p:cNvPr id="23" name="Image 5" descr="preencoded.png">    </p:cNvPr>
          <p:cNvPicPr>
            <a:picLocks noChangeAspect="1"/>
          </p:cNvPicPr>
          <p:nvPr/>
        </p:nvPicPr>
        <p:blipFill>
          <a:blip r:embed="rId6">
            <a:alphaModFix amt="80000"/>
          </a:blip>
          <a:srcRect l="0" r="0" t="0" b="0"/>
          <a:stretch/>
        </p:blipFill>
        <p:spPr>
          <a:xfrm>
            <a:off x="761695" y="6166714"/>
            <a:ext cx="152705" cy="152705"/>
          </a:xfrm>
          <a:prstGeom prst="rect">
            <a:avLst/>
          </a:prstGeom>
        </p:spPr>
      </p:pic>
      <p:pic>
        <p:nvPicPr>
          <p:cNvPr id="24" name="Image 6" descr="preencoded.png">    </p:cNvPr>
          <p:cNvPicPr>
            <a:picLocks noChangeAspect="1"/>
          </p:cNvPicPr>
          <p:nvPr/>
        </p:nvPicPr>
        <p:blipFill>
          <a:blip r:embed="rId7">
            <a:alphaModFix amt="80000"/>
          </a:blip>
          <a:srcRect l="0" r="0" t="-43" b="-43"/>
          <a:stretch/>
        </p:blipFill>
        <p:spPr>
          <a:xfrm>
            <a:off x="2540203" y="6166714"/>
            <a:ext cx="133502" cy="152705"/>
          </a:xfrm>
          <a:prstGeom prst="rect">
            <a:avLst/>
          </a:prstGeom>
        </p:spPr>
      </p:pic>
      <p:sp>
        <p:nvSpPr>
          <p:cNvPr id="25" name="Text 16"/>
          <p:cNvSpPr txBox="1"/>
          <p:nvPr/>
        </p:nvSpPr>
        <p:spPr>
          <a:xfrm>
            <a:off x="1009498" y="6138367"/>
            <a:ext cx="1267358" cy="200254"/>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Segoe UI" pitchFamily="34" charset="0"/>
                <a:ea typeface="Segoe UI" pitchFamily="34" charset="-122"/>
                <a:cs typeface="Segoe UI" pitchFamily="34" charset="-120"/>
              </a:rPr>
              <a:t>Interactive Demo</a:t>
            </a:r>
            <a:endParaRPr lang="en-US" sz="1200" dirty="0"/>
          </a:p>
        </p:txBody>
      </p:sp>
      <p:sp>
        <p:nvSpPr>
          <p:cNvPr id="26" name="Text 17"/>
          <p:cNvSpPr txBox="1"/>
          <p:nvPr/>
        </p:nvSpPr>
        <p:spPr>
          <a:xfrm>
            <a:off x="2768803" y="6138367"/>
            <a:ext cx="1381658" cy="200254"/>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Segoe UI" pitchFamily="34" charset="0"/>
                <a:ea typeface="Segoe UI" pitchFamily="34" charset="-122"/>
                <a:cs typeface="Segoe UI" pitchFamily="34" charset="-120"/>
              </a:rPr>
              <a:t>Concept Prototype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0F2F5"/>
          </a:solidFill>
          <a:ln/>
        </p:spPr>
      </p:sp>
      <p:sp>
        <p:nvSpPr>
          <p:cNvPr id="4" name="Shape 2"/>
          <p:cNvSpPr/>
          <p:nvPr/>
        </p:nvSpPr>
        <p:spPr>
          <a:xfrm>
            <a:off x="190195" y="190195"/>
            <a:ext cx="11811305" cy="6476695"/>
          </a:xfrm>
          <a:prstGeom prst="roundRect">
            <a:avLst>
              <a:gd name="adj" fmla="val 166"/>
            </a:avLst>
          </a:prstGeom>
          <a:solidFill>
            <a:srgbClr val="FFFFFF"/>
          </a:solidFill>
          <a:ln/>
          <a:effectLst>
            <a:outerShdw sx="100000" sy="100000" kx="0" ky="0" algn="bl" rotWithShape="0" blurRad="292100" dist="101600" dir="5400000">
              <a:srgbClr val="000000">
                <a:alpha val="10000"/>
              </a:srgbClr>
            </a:outerShdw>
          </a:effectLst>
        </p:spPr>
      </p:sp>
      <p:sp>
        <p:nvSpPr>
          <p:cNvPr id="5" name="Shape 3"/>
          <p:cNvSpPr/>
          <p:nvPr/>
        </p:nvSpPr>
        <p:spPr>
          <a:xfrm>
            <a:off x="190195" y="190195"/>
            <a:ext cx="11811305" cy="533095"/>
          </a:xfrm>
          <a:prstGeom prst="rect">
            <a:avLst/>
          </a:prstGeom>
          <a:solidFill>
            <a:srgbClr val="0078D4"/>
          </a:solidFill>
          <a:ln/>
        </p:spPr>
      </p:sp>
      <p:pic>
        <p:nvPicPr>
          <p:cNvPr id="6" name="Image 0" descr="preencoded.png">    </p:cNvPr>
          <p:cNvPicPr>
            <a:picLocks noChangeAspect="1"/>
          </p:cNvPicPr>
          <p:nvPr/>
        </p:nvPicPr>
        <p:blipFill>
          <a:blip r:embed="rId1"/>
          <a:srcRect l="0" r="0" t="0" b="0"/>
          <a:stretch/>
        </p:blipFill>
        <p:spPr>
          <a:xfrm>
            <a:off x="381305" y="371246"/>
            <a:ext cx="171907" cy="171907"/>
          </a:xfrm>
          <a:prstGeom prst="rect">
            <a:avLst/>
          </a:prstGeom>
        </p:spPr>
      </p:pic>
      <p:sp>
        <p:nvSpPr>
          <p:cNvPr id="7" name="Text 4"/>
          <p:cNvSpPr txBox="1"/>
          <p:nvPr/>
        </p:nvSpPr>
        <p:spPr>
          <a:xfrm>
            <a:off x="666598" y="357530"/>
            <a:ext cx="2586838" cy="200254"/>
          </a:xfrm>
          <a:prstGeom prst="rect">
            <a:avLst/>
          </a:prstGeom>
          <a:noFill/>
          <a:ln/>
        </p:spPr>
        <p:txBody>
          <a:bodyPr wrap="square" lIns="0" tIns="0" rIns="0" bIns="0" rtlCol="0" anchor="ctr"/>
          <a:lstStyle/>
          <a:p>
            <a:pPr algn="l" indent="0" marL="0">
              <a:buNone/>
            </a:pPr>
            <a:r>
              <a:rPr lang="en-US" sz="1300" b="1" dirty="0">
                <a:solidFill>
                  <a:srgbClr val="FFFFFF"/>
                </a:solidFill>
                <a:latin typeface="Inter" pitchFamily="34" charset="0"/>
                <a:ea typeface="Inter" pitchFamily="34" charset="-122"/>
                <a:cs typeface="Inter" pitchFamily="34" charset="-120"/>
              </a:rPr>
              <a:t>Factory Delivery Orchestrator</a:t>
            </a:r>
            <a:endParaRPr lang="en-US" sz="1300" dirty="0"/>
          </a:p>
        </p:txBody>
      </p:sp>
      <p:sp>
        <p:nvSpPr>
          <p:cNvPr id="8" name="Text 5"/>
          <p:cNvSpPr txBox="1"/>
          <p:nvPr/>
        </p:nvSpPr>
        <p:spPr>
          <a:xfrm>
            <a:off x="5318150" y="347472"/>
            <a:ext cx="614477" cy="162763"/>
          </a:xfrm>
          <a:prstGeom prst="rect">
            <a:avLst/>
          </a:prstGeom>
          <a:noFill/>
          <a:ln/>
        </p:spPr>
        <p:txBody>
          <a:bodyPr wrap="square" lIns="0" tIns="0" rIns="0" bIns="0" rtlCol="0" anchor="ctr"/>
          <a:lstStyle/>
          <a:p>
            <a:pPr algn="l" indent="0" marL="0">
              <a:buNone/>
            </a:pPr>
            <a:r>
              <a:rPr lang="en-US" sz="1000" dirty="0">
                <a:solidFill>
                  <a:srgbClr val="FFFFFF">
                    <a:alpha val="80000"/>
                  </a:srgbClr>
                </a:solidFill>
                <a:latin typeface="Inter" pitchFamily="34" charset="0"/>
                <a:ea typeface="Inter" pitchFamily="34" charset="-122"/>
                <a:cs typeface="Inter" pitchFamily="34" charset="-120"/>
              </a:rPr>
              <a:t>Projects</a:t>
            </a:r>
            <a:endParaRPr lang="en-US" sz="1000" dirty="0"/>
          </a:p>
        </p:txBody>
      </p:sp>
      <p:sp>
        <p:nvSpPr>
          <p:cNvPr id="9" name="Shape 6"/>
          <p:cNvSpPr/>
          <p:nvPr/>
        </p:nvSpPr>
        <p:spPr>
          <a:xfrm>
            <a:off x="6058814" y="566014"/>
            <a:ext cx="1238098" cy="19202"/>
          </a:xfrm>
          <a:prstGeom prst="rect">
            <a:avLst/>
          </a:prstGeom>
          <a:solidFill>
            <a:srgbClr val="FFFFFF"/>
          </a:solidFill>
          <a:ln/>
        </p:spPr>
      </p:sp>
      <p:sp>
        <p:nvSpPr>
          <p:cNvPr id="10" name="Text 7"/>
          <p:cNvSpPr txBox="1"/>
          <p:nvPr/>
        </p:nvSpPr>
        <p:spPr>
          <a:xfrm>
            <a:off x="6058814" y="347472"/>
            <a:ext cx="1338682" cy="162763"/>
          </a:xfrm>
          <a:prstGeom prst="rect">
            <a:avLst/>
          </a:prstGeom>
          <a:noFill/>
          <a:ln/>
        </p:spPr>
        <p:txBody>
          <a:bodyPr wrap="square" lIns="0" tIns="0" rIns="0" bIns="0" rtlCol="0" anchor="ctr"/>
          <a:lstStyle/>
          <a:p>
            <a:pPr algn="l" indent="0" marL="0">
              <a:buNone/>
            </a:pPr>
            <a:r>
              <a:rPr lang="en-US" sz="1000" dirty="0">
                <a:solidFill>
                  <a:srgbClr val="FFFFFF"/>
                </a:solidFill>
                <a:latin typeface="Inter" pitchFamily="34" charset="0"/>
                <a:ea typeface="Inter" pitchFamily="34" charset="-122"/>
                <a:cs typeface="Inter" pitchFamily="34" charset="-120"/>
              </a:rPr>
              <a:t>Audit &amp; Compliance</a:t>
            </a:r>
            <a:endParaRPr lang="en-US" sz="1000" dirty="0"/>
          </a:p>
        </p:txBody>
      </p:sp>
      <p:sp>
        <p:nvSpPr>
          <p:cNvPr id="11" name="Text 8"/>
          <p:cNvSpPr txBox="1"/>
          <p:nvPr/>
        </p:nvSpPr>
        <p:spPr>
          <a:xfrm>
            <a:off x="7524598" y="347472"/>
            <a:ext cx="596189" cy="162763"/>
          </a:xfrm>
          <a:prstGeom prst="rect">
            <a:avLst/>
          </a:prstGeom>
          <a:noFill/>
          <a:ln/>
        </p:spPr>
        <p:txBody>
          <a:bodyPr wrap="square" lIns="0" tIns="0" rIns="0" bIns="0" rtlCol="0" anchor="ctr"/>
          <a:lstStyle/>
          <a:p>
            <a:pPr algn="l" indent="0" marL="0">
              <a:buNone/>
            </a:pPr>
            <a:r>
              <a:rPr lang="en-US" sz="1000" dirty="0">
                <a:solidFill>
                  <a:srgbClr val="FFFFFF">
                    <a:alpha val="80000"/>
                  </a:srgbClr>
                </a:solidFill>
                <a:latin typeface="Inter" pitchFamily="34" charset="0"/>
                <a:ea typeface="Inter" pitchFamily="34" charset="-122"/>
                <a:cs typeface="Inter" pitchFamily="34" charset="-120"/>
              </a:rPr>
              <a:t>Reports</a:t>
            </a:r>
            <a:endParaRPr lang="en-US" sz="1000" dirty="0"/>
          </a:p>
        </p:txBody>
      </p:sp>
      <p:sp>
        <p:nvSpPr>
          <p:cNvPr id="12" name="Text 9"/>
          <p:cNvSpPr txBox="1"/>
          <p:nvPr/>
        </p:nvSpPr>
        <p:spPr>
          <a:xfrm>
            <a:off x="8242402" y="347472"/>
            <a:ext cx="510235" cy="162763"/>
          </a:xfrm>
          <a:prstGeom prst="rect">
            <a:avLst/>
          </a:prstGeom>
          <a:noFill/>
          <a:ln/>
        </p:spPr>
        <p:txBody>
          <a:bodyPr wrap="square" lIns="0" tIns="0" rIns="0" bIns="0" rtlCol="0" anchor="ctr"/>
          <a:lstStyle/>
          <a:p>
            <a:pPr algn="l" indent="0" marL="0">
              <a:buNone/>
            </a:pPr>
            <a:r>
              <a:rPr lang="en-US" sz="1000" dirty="0">
                <a:solidFill>
                  <a:srgbClr val="FFFFFF">
                    <a:alpha val="80000"/>
                  </a:srgbClr>
                </a:solidFill>
                <a:latin typeface="Inter" pitchFamily="34" charset="0"/>
                <a:ea typeface="Inter" pitchFamily="34" charset="-122"/>
                <a:cs typeface="Inter" pitchFamily="34" charset="-120"/>
              </a:rPr>
              <a:t>Admin</a:t>
            </a:r>
            <a:endParaRPr lang="en-US" sz="1000" dirty="0"/>
          </a:p>
        </p:txBody>
      </p:sp>
      <p:pic>
        <p:nvPicPr>
          <p:cNvPr id="13" name="Image 1" descr="preencoded.png">    </p:cNvPr>
          <p:cNvPicPr>
            <a:picLocks noChangeAspect="1"/>
          </p:cNvPicPr>
          <p:nvPr/>
        </p:nvPicPr>
        <p:blipFill>
          <a:blip r:embed="rId2"/>
          <a:srcRect l="0" r="0" t="-43" b="-43"/>
          <a:stretch/>
        </p:blipFill>
        <p:spPr>
          <a:xfrm>
            <a:off x="10839298" y="381305"/>
            <a:ext cx="133502" cy="152705"/>
          </a:xfrm>
          <a:prstGeom prst="rect">
            <a:avLst/>
          </a:prstGeom>
        </p:spPr>
      </p:pic>
      <p:pic>
        <p:nvPicPr>
          <p:cNvPr id="14" name="Image 2" descr="preencoded.png">    </p:cNvPr>
          <p:cNvPicPr>
            <a:picLocks noChangeAspect="1"/>
          </p:cNvPicPr>
          <p:nvPr/>
        </p:nvPicPr>
        <p:blipFill>
          <a:blip r:embed="rId3"/>
          <a:srcRect l="0" r="0" t="0" b="0"/>
          <a:stretch/>
        </p:blipFill>
        <p:spPr>
          <a:xfrm>
            <a:off x="11162995" y="381305"/>
            <a:ext cx="152705" cy="152705"/>
          </a:xfrm>
          <a:prstGeom prst="rect">
            <a:avLst/>
          </a:prstGeom>
        </p:spPr>
      </p:pic>
      <p:sp>
        <p:nvSpPr>
          <p:cNvPr id="15" name="Shape 10"/>
          <p:cNvSpPr/>
          <p:nvPr/>
        </p:nvSpPr>
        <p:spPr>
          <a:xfrm>
            <a:off x="11505895" y="304495"/>
            <a:ext cx="304495" cy="304495"/>
          </a:xfrm>
          <a:prstGeom prst="ellipse">
            <a:avLst/>
          </a:prstGeom>
          <a:solidFill>
            <a:srgbClr val="FFFFFF">
              <a:alpha val="20000"/>
            </a:srgbClr>
          </a:solidFill>
          <a:ln/>
        </p:spPr>
      </p:sp>
      <p:sp>
        <p:nvSpPr>
          <p:cNvPr id="16" name="Text 11"/>
          <p:cNvSpPr txBox="1"/>
          <p:nvPr/>
        </p:nvSpPr>
        <p:spPr>
          <a:xfrm>
            <a:off x="11564417" y="357530"/>
            <a:ext cx="290779" cy="200254"/>
          </a:xfrm>
          <a:prstGeom prst="rect">
            <a:avLst/>
          </a:prstGeom>
          <a:noFill/>
          <a:ln/>
        </p:spPr>
        <p:txBody>
          <a:bodyPr wrap="square" lIns="0" tIns="0" rIns="0" bIns="0" rtlCol="0" anchor="ctr"/>
          <a:lstStyle/>
          <a:p>
            <a:pPr algn="l" indent="0" marL="0">
              <a:buNone/>
            </a:pPr>
            <a:r>
              <a:rPr lang="en-US" sz="1000" dirty="0">
                <a:solidFill>
                  <a:srgbClr val="FFFFFF"/>
                </a:solidFill>
                <a:latin typeface="Inter" pitchFamily="34" charset="0"/>
                <a:ea typeface="Inter" pitchFamily="34" charset="-122"/>
                <a:cs typeface="Inter" pitchFamily="34" charset="-120"/>
              </a:rPr>
              <a:t>AD</a:t>
            </a:r>
            <a:endParaRPr lang="en-US" sz="1000" dirty="0"/>
          </a:p>
        </p:txBody>
      </p:sp>
      <p:sp>
        <p:nvSpPr>
          <p:cNvPr id="17" name="Shape 12"/>
          <p:cNvSpPr/>
          <p:nvPr/>
        </p:nvSpPr>
        <p:spPr>
          <a:xfrm>
            <a:off x="190195" y="724205"/>
            <a:ext cx="11811305" cy="476402"/>
          </a:xfrm>
          <a:prstGeom prst="rect">
            <a:avLst/>
          </a:prstGeom>
          <a:solidFill>
            <a:srgbClr val="FFFFFF"/>
          </a:solidFill>
          <a:ln/>
        </p:spPr>
      </p:sp>
      <p:sp>
        <p:nvSpPr>
          <p:cNvPr id="18" name="Shape 13"/>
          <p:cNvSpPr/>
          <p:nvPr/>
        </p:nvSpPr>
        <p:spPr>
          <a:xfrm>
            <a:off x="190195" y="1191463"/>
            <a:ext cx="11811305" cy="9144"/>
          </a:xfrm>
          <a:prstGeom prst="rect">
            <a:avLst/>
          </a:prstGeom>
          <a:solidFill>
            <a:srgbClr val="E1DFDD"/>
          </a:solidFill>
          <a:ln/>
        </p:spPr>
      </p:sp>
      <p:sp>
        <p:nvSpPr>
          <p:cNvPr id="19" name="Shape 14"/>
          <p:cNvSpPr/>
          <p:nvPr/>
        </p:nvSpPr>
        <p:spPr>
          <a:xfrm>
            <a:off x="418795" y="807415"/>
            <a:ext cx="1628546" cy="304495"/>
          </a:xfrm>
          <a:prstGeom prst="roundRect">
            <a:avLst>
              <a:gd name="adj" fmla="val 37538"/>
            </a:avLst>
          </a:prstGeom>
          <a:solidFill>
            <a:srgbClr val="F3F2F1"/>
          </a:solidFill>
          <a:ln/>
        </p:spPr>
      </p:sp>
      <p:pic>
        <p:nvPicPr>
          <p:cNvPr id="20" name="Image 3" descr="preencoded.png">    </p:cNvPr>
          <p:cNvPicPr>
            <a:picLocks noChangeAspect="1"/>
          </p:cNvPicPr>
          <p:nvPr/>
        </p:nvPicPr>
        <p:blipFill>
          <a:blip r:embed="rId4"/>
          <a:srcRect l="0" r="0" t="0" b="0"/>
          <a:stretch/>
        </p:blipFill>
        <p:spPr>
          <a:xfrm>
            <a:off x="533095" y="895198"/>
            <a:ext cx="123444" cy="123444"/>
          </a:xfrm>
          <a:prstGeom prst="rect">
            <a:avLst/>
          </a:prstGeom>
        </p:spPr>
      </p:pic>
      <p:sp>
        <p:nvSpPr>
          <p:cNvPr id="21" name="Text 15"/>
          <p:cNvSpPr txBox="1"/>
          <p:nvPr/>
        </p:nvSpPr>
        <p:spPr>
          <a:xfrm>
            <a:off x="733349" y="874166"/>
            <a:ext cx="1121969" cy="152705"/>
          </a:xfrm>
          <a:prstGeom prst="rect">
            <a:avLst/>
          </a:prstGeom>
          <a:noFill/>
          <a:ln/>
        </p:spPr>
        <p:txBody>
          <a:bodyPr wrap="square" lIns="0" tIns="0" rIns="0" bIns="0" rtlCol="0" anchor="ctr"/>
          <a:lstStyle/>
          <a:p>
            <a:pPr algn="l" indent="0" marL="0">
              <a:buNone/>
            </a:pPr>
            <a:r>
              <a:rPr lang="en-US" sz="900" dirty="0">
                <a:solidFill>
                  <a:srgbClr val="323130"/>
                </a:solidFill>
                <a:latin typeface="Inter" pitchFamily="34" charset="0"/>
                <a:ea typeface="Inter" pitchFamily="34" charset="-122"/>
                <a:cs typeface="Inter" pitchFamily="34" charset="-120"/>
              </a:rPr>
              <a:t>Project: All Active</a:t>
            </a:r>
            <a:endParaRPr lang="en-US" sz="900" dirty="0"/>
          </a:p>
        </p:txBody>
      </p:sp>
      <p:pic>
        <p:nvPicPr>
          <p:cNvPr id="22" name="Image 4" descr="preencoded.png">    </p:cNvPr>
          <p:cNvPicPr>
            <a:picLocks noChangeAspect="1"/>
          </p:cNvPicPr>
          <p:nvPr/>
        </p:nvPicPr>
        <p:blipFill>
          <a:blip r:embed="rId5"/>
          <a:srcRect l="0" r="0" t="0" b="0"/>
          <a:stretch/>
        </p:blipFill>
        <p:spPr>
          <a:xfrm>
            <a:off x="1837944" y="909828"/>
            <a:ext cx="95098" cy="95098"/>
          </a:xfrm>
          <a:prstGeom prst="rect">
            <a:avLst/>
          </a:prstGeom>
        </p:spPr>
      </p:pic>
      <p:sp>
        <p:nvSpPr>
          <p:cNvPr id="23" name="Shape 16"/>
          <p:cNvSpPr/>
          <p:nvPr/>
        </p:nvSpPr>
        <p:spPr>
          <a:xfrm>
            <a:off x="2200046" y="807415"/>
            <a:ext cx="1248156" cy="304495"/>
          </a:xfrm>
          <a:prstGeom prst="roundRect">
            <a:avLst>
              <a:gd name="adj" fmla="val 37538"/>
            </a:avLst>
          </a:prstGeom>
          <a:solidFill>
            <a:srgbClr val="F3F2F1"/>
          </a:solidFill>
          <a:ln/>
        </p:spPr>
      </p:sp>
      <p:sp>
        <p:nvSpPr>
          <p:cNvPr id="24" name="Text 17"/>
          <p:cNvSpPr txBox="1"/>
          <p:nvPr/>
        </p:nvSpPr>
        <p:spPr>
          <a:xfrm>
            <a:off x="2314346" y="874166"/>
            <a:ext cx="940918" cy="152705"/>
          </a:xfrm>
          <a:prstGeom prst="rect">
            <a:avLst/>
          </a:prstGeom>
          <a:noFill/>
          <a:ln/>
        </p:spPr>
        <p:txBody>
          <a:bodyPr wrap="square" lIns="0" tIns="0" rIns="0" bIns="0" rtlCol="0" anchor="ctr"/>
          <a:lstStyle/>
          <a:p>
            <a:pPr algn="l" indent="0" marL="0">
              <a:buNone/>
            </a:pPr>
            <a:r>
              <a:rPr lang="en-US" sz="900" dirty="0">
                <a:solidFill>
                  <a:srgbClr val="323130"/>
                </a:solidFill>
                <a:latin typeface="Inter" pitchFamily="34" charset="0"/>
                <a:ea typeface="Inter" pitchFamily="34" charset="-122"/>
                <a:cs typeface="Inter" pitchFamily="34" charset="-120"/>
              </a:rPr>
              <a:t>Region: Global</a:t>
            </a:r>
            <a:endParaRPr lang="en-US" sz="900" dirty="0"/>
          </a:p>
        </p:txBody>
      </p:sp>
      <p:pic>
        <p:nvPicPr>
          <p:cNvPr id="25" name="Image 5" descr="preencoded.png">    </p:cNvPr>
          <p:cNvPicPr>
            <a:picLocks noChangeAspect="1"/>
          </p:cNvPicPr>
          <p:nvPr/>
        </p:nvPicPr>
        <p:blipFill>
          <a:blip r:embed="rId6"/>
          <a:srcRect l="0" r="0" t="0" b="0"/>
          <a:stretch/>
        </p:blipFill>
        <p:spPr>
          <a:xfrm>
            <a:off x="3236976" y="909828"/>
            <a:ext cx="95098" cy="95098"/>
          </a:xfrm>
          <a:prstGeom prst="rect">
            <a:avLst/>
          </a:prstGeom>
        </p:spPr>
      </p:pic>
      <p:sp>
        <p:nvSpPr>
          <p:cNvPr id="26" name="Shape 18"/>
          <p:cNvSpPr/>
          <p:nvPr/>
        </p:nvSpPr>
        <p:spPr>
          <a:xfrm>
            <a:off x="3599078" y="807415"/>
            <a:ext cx="1009498" cy="304495"/>
          </a:xfrm>
          <a:prstGeom prst="roundRect">
            <a:avLst>
              <a:gd name="adj" fmla="val 37538"/>
            </a:avLst>
          </a:prstGeom>
          <a:solidFill>
            <a:srgbClr val="F3F2F1"/>
          </a:solidFill>
          <a:ln/>
        </p:spPr>
      </p:sp>
      <p:sp>
        <p:nvSpPr>
          <p:cNvPr id="27" name="Text 19"/>
          <p:cNvSpPr txBox="1"/>
          <p:nvPr/>
        </p:nvSpPr>
        <p:spPr>
          <a:xfrm>
            <a:off x="3713378" y="874166"/>
            <a:ext cx="703174" cy="152705"/>
          </a:xfrm>
          <a:prstGeom prst="rect">
            <a:avLst/>
          </a:prstGeom>
          <a:noFill/>
          <a:ln/>
        </p:spPr>
        <p:txBody>
          <a:bodyPr wrap="square" lIns="0" tIns="0" rIns="0" bIns="0" rtlCol="0" anchor="ctr"/>
          <a:lstStyle/>
          <a:p>
            <a:pPr algn="l" indent="0" marL="0">
              <a:buNone/>
            </a:pPr>
            <a:r>
              <a:rPr lang="en-US" sz="900" dirty="0">
                <a:solidFill>
                  <a:srgbClr val="323130"/>
                </a:solidFill>
                <a:latin typeface="Inter" pitchFamily="34" charset="0"/>
                <a:ea typeface="Inter" pitchFamily="34" charset="-122"/>
                <a:cs typeface="Inter" pitchFamily="34" charset="-120"/>
              </a:rPr>
              <a:t>Owner: All</a:t>
            </a:r>
            <a:endParaRPr lang="en-US" sz="900" dirty="0"/>
          </a:p>
        </p:txBody>
      </p:sp>
      <p:pic>
        <p:nvPicPr>
          <p:cNvPr id="28" name="Image 6" descr="preencoded.png">    </p:cNvPr>
          <p:cNvPicPr>
            <a:picLocks noChangeAspect="1"/>
          </p:cNvPicPr>
          <p:nvPr/>
        </p:nvPicPr>
        <p:blipFill>
          <a:blip r:embed="rId7"/>
          <a:srcRect l="0" r="0" t="0" b="0"/>
          <a:stretch/>
        </p:blipFill>
        <p:spPr>
          <a:xfrm>
            <a:off x="4393692" y="909828"/>
            <a:ext cx="95098" cy="95098"/>
          </a:xfrm>
          <a:prstGeom prst="rect">
            <a:avLst/>
          </a:prstGeom>
        </p:spPr>
      </p:pic>
      <p:sp>
        <p:nvSpPr>
          <p:cNvPr id="29" name="Shape 20"/>
          <p:cNvSpPr/>
          <p:nvPr/>
        </p:nvSpPr>
        <p:spPr>
          <a:xfrm>
            <a:off x="9543593" y="797357"/>
            <a:ext cx="2238451" cy="323698"/>
          </a:xfrm>
          <a:prstGeom prst="roundRect">
            <a:avLst>
              <a:gd name="adj" fmla="val 33234"/>
            </a:avLst>
          </a:prstGeom>
          <a:solidFill>
            <a:srgbClr val="EFF6FC"/>
          </a:solidFill>
          <a:ln w="12700">
            <a:solidFill>
              <a:srgbClr val="0078D4"/>
            </a:solidFill>
            <a:prstDash val="solid"/>
          </a:ln>
        </p:spPr>
      </p:sp>
      <p:pic>
        <p:nvPicPr>
          <p:cNvPr id="30" name="Image 7" descr="preencoded.png">    </p:cNvPr>
          <p:cNvPicPr>
            <a:picLocks noChangeAspect="1"/>
          </p:cNvPicPr>
          <p:nvPr/>
        </p:nvPicPr>
        <p:blipFill>
          <a:blip r:embed="rId8"/>
          <a:srcRect l="0" r="0" t="-1359" b="-1359"/>
          <a:stretch/>
        </p:blipFill>
        <p:spPr>
          <a:xfrm>
            <a:off x="9667037" y="895198"/>
            <a:ext cx="105156" cy="123444"/>
          </a:xfrm>
          <a:prstGeom prst="rect">
            <a:avLst/>
          </a:prstGeom>
        </p:spPr>
      </p:pic>
      <p:sp>
        <p:nvSpPr>
          <p:cNvPr id="31" name="Text 21"/>
          <p:cNvSpPr txBox="1"/>
          <p:nvPr/>
        </p:nvSpPr>
        <p:spPr>
          <a:xfrm>
            <a:off x="9848088" y="874166"/>
            <a:ext cx="1731874" cy="152705"/>
          </a:xfrm>
          <a:prstGeom prst="rect">
            <a:avLst/>
          </a:prstGeom>
          <a:noFill/>
          <a:ln/>
        </p:spPr>
        <p:txBody>
          <a:bodyPr wrap="square" lIns="0" tIns="0" rIns="0" bIns="0" rtlCol="0" anchor="ctr"/>
          <a:lstStyle/>
          <a:p>
            <a:pPr algn="l" indent="0" marL="0">
              <a:buNone/>
            </a:pPr>
            <a:r>
              <a:rPr lang="en-US" sz="900" b="1" dirty="0">
                <a:solidFill>
                  <a:srgbClr val="0078D4"/>
                </a:solidFill>
                <a:latin typeface="Inter" pitchFamily="34" charset="0"/>
                <a:ea typeface="Inter" pitchFamily="34" charset="-122"/>
                <a:cs typeface="Inter" pitchFamily="34" charset="-120"/>
              </a:rPr>
              <a:t>Week Ending: Dec 14, 2025</a:t>
            </a:r>
            <a:endParaRPr lang="en-US" sz="900" dirty="0"/>
          </a:p>
        </p:txBody>
      </p:sp>
      <p:pic>
        <p:nvPicPr>
          <p:cNvPr id="32" name="Image 8" descr="preencoded.png">    </p:cNvPr>
          <p:cNvPicPr>
            <a:picLocks noChangeAspect="1"/>
          </p:cNvPicPr>
          <p:nvPr/>
        </p:nvPicPr>
        <p:blipFill>
          <a:blip r:embed="rId9"/>
          <a:srcRect l="0" r="0" t="0" b="0"/>
          <a:stretch/>
        </p:blipFill>
        <p:spPr>
          <a:xfrm>
            <a:off x="11553444" y="909828"/>
            <a:ext cx="95098" cy="95098"/>
          </a:xfrm>
          <a:prstGeom prst="rect">
            <a:avLst/>
          </a:prstGeom>
        </p:spPr>
      </p:pic>
      <p:sp>
        <p:nvSpPr>
          <p:cNvPr id="33" name="Shape 22"/>
          <p:cNvSpPr/>
          <p:nvPr/>
        </p:nvSpPr>
        <p:spPr>
          <a:xfrm>
            <a:off x="190195" y="1200607"/>
            <a:ext cx="11811305" cy="5467198"/>
          </a:xfrm>
          <a:prstGeom prst="rect">
            <a:avLst/>
          </a:prstGeom>
          <a:solidFill>
            <a:srgbClr val="FAF9F8"/>
          </a:solidFill>
          <a:ln/>
        </p:spPr>
      </p:sp>
      <p:sp>
        <p:nvSpPr>
          <p:cNvPr id="34" name="Shape 23"/>
          <p:cNvSpPr/>
          <p:nvPr/>
        </p:nvSpPr>
        <p:spPr>
          <a:xfrm>
            <a:off x="381305" y="1390802"/>
            <a:ext cx="2714854" cy="952805"/>
          </a:xfrm>
          <a:prstGeom prst="roundRect">
            <a:avLst>
              <a:gd name="adj" fmla="val 3839"/>
            </a:avLst>
          </a:prstGeom>
          <a:solidFill>
            <a:srgbClr val="FFFFFF"/>
          </a:solidFill>
          <a:ln/>
          <a:effectLst>
            <a:outerShdw sx="100000" sy="100000" kx="0" ky="0" algn="bl" rotWithShape="0" blurRad="38100" dist="25400" dir="5400000">
              <a:srgbClr val="000000">
                <a:alpha val="5000"/>
              </a:srgbClr>
            </a:outerShdw>
          </a:effectLst>
        </p:spPr>
      </p:sp>
      <p:sp>
        <p:nvSpPr>
          <p:cNvPr id="35" name="Shape 24"/>
          <p:cNvSpPr/>
          <p:nvPr/>
        </p:nvSpPr>
        <p:spPr>
          <a:xfrm>
            <a:off x="381305" y="1390802"/>
            <a:ext cx="38405" cy="952805"/>
          </a:xfrm>
          <a:prstGeom prst="rect">
            <a:avLst/>
          </a:prstGeom>
          <a:solidFill>
            <a:srgbClr val="0078D4"/>
          </a:solidFill>
          <a:ln/>
        </p:spPr>
      </p:sp>
      <p:sp>
        <p:nvSpPr>
          <p:cNvPr id="36" name="Text 25"/>
          <p:cNvSpPr txBox="1"/>
          <p:nvPr/>
        </p:nvSpPr>
        <p:spPr>
          <a:xfrm>
            <a:off x="571500" y="1441094"/>
            <a:ext cx="1617574" cy="152705"/>
          </a:xfrm>
          <a:prstGeom prst="rect">
            <a:avLst/>
          </a:prstGeom>
          <a:noFill/>
          <a:ln/>
        </p:spPr>
        <p:txBody>
          <a:bodyPr wrap="square" lIns="0" tIns="0" rIns="0" bIns="0" rtlCol="0" anchor="ctr"/>
          <a:lstStyle/>
          <a:p>
            <a:pPr algn="l" indent="0" marL="0">
              <a:buNone/>
            </a:pPr>
            <a:r>
              <a:rPr lang="en-US" sz="900" dirty="0">
                <a:solidFill>
                  <a:srgbClr val="605E5C"/>
                </a:solidFill>
                <a:latin typeface="Inter" pitchFamily="34" charset="0"/>
                <a:ea typeface="Inter" pitchFamily="34" charset="-122"/>
                <a:cs typeface="Inter" pitchFamily="34" charset="-120"/>
              </a:rPr>
              <a:t>Overall Compliance Score</a:t>
            </a:r>
            <a:endParaRPr lang="en-US" sz="900" dirty="0"/>
          </a:p>
        </p:txBody>
      </p:sp>
      <p:sp>
        <p:nvSpPr>
          <p:cNvPr id="37" name="Text 26"/>
          <p:cNvSpPr txBox="1"/>
          <p:nvPr/>
        </p:nvSpPr>
        <p:spPr>
          <a:xfrm>
            <a:off x="571500" y="1730959"/>
            <a:ext cx="1067105" cy="324612"/>
          </a:xfrm>
          <a:prstGeom prst="rect">
            <a:avLst/>
          </a:prstGeom>
          <a:noFill/>
          <a:ln/>
        </p:spPr>
        <p:txBody>
          <a:bodyPr wrap="square" lIns="0" tIns="0" rIns="0" bIns="0" rtlCol="0" anchor="ctr"/>
          <a:lstStyle/>
          <a:p>
            <a:pPr algn="l" indent="0" marL="0">
              <a:buNone/>
            </a:pPr>
            <a:r>
              <a:rPr lang="en-US" sz="2100" b="1" dirty="0">
                <a:solidFill>
                  <a:srgbClr val="201F1E"/>
                </a:solidFill>
                <a:latin typeface="Inter" pitchFamily="34" charset="0"/>
                <a:ea typeface="Inter" pitchFamily="34" charset="-122"/>
                <a:cs typeface="Inter" pitchFamily="34" charset="-120"/>
              </a:rPr>
              <a:t>94.2%</a:t>
            </a:r>
            <a:endParaRPr lang="en-US" sz="2100" dirty="0"/>
          </a:p>
        </p:txBody>
      </p:sp>
      <p:pic>
        <p:nvPicPr>
          <p:cNvPr id="38" name="Image 9" descr="preencoded.png">    </p:cNvPr>
          <p:cNvPicPr>
            <a:picLocks noChangeAspect="1"/>
          </p:cNvPicPr>
          <p:nvPr/>
        </p:nvPicPr>
        <p:blipFill>
          <a:blip r:embed="rId10"/>
          <a:srcRect l="-133" r="-133" t="0" b="0"/>
          <a:stretch/>
        </p:blipFill>
        <p:spPr>
          <a:xfrm>
            <a:off x="571500" y="2159813"/>
            <a:ext cx="85954" cy="114300"/>
          </a:xfrm>
          <a:prstGeom prst="rect">
            <a:avLst/>
          </a:prstGeom>
        </p:spPr>
      </p:pic>
      <p:sp>
        <p:nvSpPr>
          <p:cNvPr id="39" name="Text 27"/>
          <p:cNvSpPr txBox="1"/>
          <p:nvPr/>
        </p:nvSpPr>
        <p:spPr>
          <a:xfrm>
            <a:off x="694944" y="2131466"/>
            <a:ext cx="1047902" cy="171907"/>
          </a:xfrm>
          <a:prstGeom prst="rect">
            <a:avLst/>
          </a:prstGeom>
          <a:noFill/>
          <a:ln/>
        </p:spPr>
        <p:txBody>
          <a:bodyPr wrap="square" lIns="0" tIns="0" rIns="0" bIns="0" rtlCol="0" anchor="ctr"/>
          <a:lstStyle/>
          <a:p>
            <a:pPr algn="l" indent="0" marL="0">
              <a:buNone/>
            </a:pPr>
            <a:r>
              <a:rPr lang="en-US" sz="900" dirty="0">
                <a:solidFill>
                  <a:srgbClr val="107C10"/>
                </a:solidFill>
                <a:latin typeface="Inter" pitchFamily="34" charset="0"/>
                <a:ea typeface="Inter" pitchFamily="34" charset="-122"/>
                <a:cs typeface="Inter" pitchFamily="34" charset="-120"/>
              </a:rPr>
              <a:t>1.5% vs last week</a:t>
            </a:r>
            <a:endParaRPr lang="en-US" sz="900" dirty="0"/>
          </a:p>
        </p:txBody>
      </p:sp>
      <p:sp>
        <p:nvSpPr>
          <p:cNvPr id="40" name="Shape 28"/>
          <p:cNvSpPr/>
          <p:nvPr/>
        </p:nvSpPr>
        <p:spPr>
          <a:xfrm>
            <a:off x="3286354" y="1390802"/>
            <a:ext cx="2714854" cy="952805"/>
          </a:xfrm>
          <a:prstGeom prst="roundRect">
            <a:avLst>
              <a:gd name="adj" fmla="val 3839"/>
            </a:avLst>
          </a:prstGeom>
          <a:solidFill>
            <a:srgbClr val="FFFFFF"/>
          </a:solidFill>
          <a:ln/>
          <a:effectLst>
            <a:outerShdw sx="100000" sy="100000" kx="0" ky="0" algn="bl" rotWithShape="0" blurRad="38100" dist="25400" dir="5400000">
              <a:srgbClr val="000000">
                <a:alpha val="5000"/>
              </a:srgbClr>
            </a:outerShdw>
          </a:effectLst>
        </p:spPr>
      </p:sp>
      <p:sp>
        <p:nvSpPr>
          <p:cNvPr id="41" name="Shape 29"/>
          <p:cNvSpPr/>
          <p:nvPr/>
        </p:nvSpPr>
        <p:spPr>
          <a:xfrm>
            <a:off x="3286354" y="1390802"/>
            <a:ext cx="38405" cy="952805"/>
          </a:xfrm>
          <a:prstGeom prst="rect">
            <a:avLst/>
          </a:prstGeom>
          <a:solidFill>
            <a:srgbClr val="D83B01"/>
          </a:solidFill>
          <a:ln/>
        </p:spPr>
      </p:sp>
      <p:sp>
        <p:nvSpPr>
          <p:cNvPr id="42" name="Text 30"/>
          <p:cNvSpPr txBox="1"/>
          <p:nvPr/>
        </p:nvSpPr>
        <p:spPr>
          <a:xfrm>
            <a:off x="3476549" y="1441094"/>
            <a:ext cx="1197864" cy="152705"/>
          </a:xfrm>
          <a:prstGeom prst="rect">
            <a:avLst/>
          </a:prstGeom>
          <a:noFill/>
          <a:ln/>
        </p:spPr>
        <p:txBody>
          <a:bodyPr wrap="square" lIns="0" tIns="0" rIns="0" bIns="0" rtlCol="0" anchor="ctr"/>
          <a:lstStyle/>
          <a:p>
            <a:pPr algn="l" indent="0" marL="0">
              <a:buNone/>
            </a:pPr>
            <a:r>
              <a:rPr lang="en-US" sz="900" dirty="0">
                <a:solidFill>
                  <a:srgbClr val="605E5C"/>
                </a:solidFill>
                <a:latin typeface="Inter" pitchFamily="34" charset="0"/>
                <a:ea typeface="Inter" pitchFamily="34" charset="-122"/>
                <a:cs typeface="Inter" pitchFamily="34" charset="-120"/>
              </a:rPr>
              <a:t>Open Critical Risks</a:t>
            </a:r>
            <a:endParaRPr lang="en-US" sz="900" dirty="0"/>
          </a:p>
        </p:txBody>
      </p:sp>
      <p:sp>
        <p:nvSpPr>
          <p:cNvPr id="43" name="Text 31"/>
          <p:cNvSpPr txBox="1"/>
          <p:nvPr/>
        </p:nvSpPr>
        <p:spPr>
          <a:xfrm>
            <a:off x="3476549" y="1730959"/>
            <a:ext cx="486461" cy="324612"/>
          </a:xfrm>
          <a:prstGeom prst="rect">
            <a:avLst/>
          </a:prstGeom>
          <a:noFill/>
          <a:ln/>
        </p:spPr>
        <p:txBody>
          <a:bodyPr wrap="square" lIns="0" tIns="0" rIns="0" bIns="0" rtlCol="0" anchor="ctr"/>
          <a:lstStyle/>
          <a:p>
            <a:pPr algn="l" indent="0" marL="0">
              <a:buNone/>
            </a:pPr>
            <a:r>
              <a:rPr lang="en-US" sz="2100" b="1" dirty="0">
                <a:solidFill>
                  <a:srgbClr val="201F1E"/>
                </a:solidFill>
                <a:latin typeface="Inter" pitchFamily="34" charset="0"/>
                <a:ea typeface="Inter" pitchFamily="34" charset="-122"/>
                <a:cs typeface="Inter" pitchFamily="34" charset="-120"/>
              </a:rPr>
              <a:t>12</a:t>
            </a:r>
            <a:endParaRPr lang="en-US" sz="2100" dirty="0"/>
          </a:p>
        </p:txBody>
      </p:sp>
      <p:pic>
        <p:nvPicPr>
          <p:cNvPr id="44" name="Image 10" descr="preencoded.png">    </p:cNvPr>
          <p:cNvPicPr>
            <a:picLocks noChangeAspect="1"/>
          </p:cNvPicPr>
          <p:nvPr/>
        </p:nvPicPr>
        <p:blipFill>
          <a:blip r:embed="rId11"/>
          <a:srcRect l="-133" r="-133" t="0" b="0"/>
          <a:stretch/>
        </p:blipFill>
        <p:spPr>
          <a:xfrm>
            <a:off x="3476549" y="2159813"/>
            <a:ext cx="85954" cy="114300"/>
          </a:xfrm>
          <a:prstGeom prst="rect">
            <a:avLst/>
          </a:prstGeom>
        </p:spPr>
      </p:pic>
      <p:sp>
        <p:nvSpPr>
          <p:cNvPr id="45" name="Text 32"/>
          <p:cNvSpPr txBox="1"/>
          <p:nvPr/>
        </p:nvSpPr>
        <p:spPr>
          <a:xfrm>
            <a:off x="3600907" y="2131466"/>
            <a:ext cx="743407" cy="171907"/>
          </a:xfrm>
          <a:prstGeom prst="rect">
            <a:avLst/>
          </a:prstGeom>
          <a:noFill/>
          <a:ln/>
        </p:spPr>
        <p:txBody>
          <a:bodyPr wrap="square" lIns="0" tIns="0" rIns="0" bIns="0" rtlCol="0" anchor="ctr"/>
          <a:lstStyle/>
          <a:p>
            <a:pPr algn="l" indent="0" marL="0">
              <a:buNone/>
            </a:pPr>
            <a:r>
              <a:rPr lang="en-US" sz="900" dirty="0">
                <a:solidFill>
                  <a:srgbClr val="D83B01"/>
                </a:solidFill>
                <a:latin typeface="Inter" pitchFamily="34" charset="0"/>
                <a:ea typeface="Inter" pitchFamily="34" charset="-122"/>
                <a:cs typeface="Inter" pitchFamily="34" charset="-120"/>
              </a:rPr>
              <a:t>3 new items</a:t>
            </a:r>
            <a:endParaRPr lang="en-US" sz="900" dirty="0"/>
          </a:p>
        </p:txBody>
      </p:sp>
      <p:sp>
        <p:nvSpPr>
          <p:cNvPr id="46" name="Shape 33"/>
          <p:cNvSpPr/>
          <p:nvPr/>
        </p:nvSpPr>
        <p:spPr>
          <a:xfrm>
            <a:off x="6191402" y="1390802"/>
            <a:ext cx="2714854" cy="952805"/>
          </a:xfrm>
          <a:prstGeom prst="roundRect">
            <a:avLst>
              <a:gd name="adj" fmla="val 3839"/>
            </a:avLst>
          </a:prstGeom>
          <a:solidFill>
            <a:srgbClr val="FFFFFF"/>
          </a:solidFill>
          <a:ln/>
          <a:effectLst>
            <a:outerShdw sx="100000" sy="100000" kx="0" ky="0" algn="bl" rotWithShape="0" blurRad="38100" dist="25400" dir="5400000">
              <a:srgbClr val="000000">
                <a:alpha val="5000"/>
              </a:srgbClr>
            </a:outerShdw>
          </a:effectLst>
        </p:spPr>
      </p:sp>
      <p:sp>
        <p:nvSpPr>
          <p:cNvPr id="47" name="Shape 34"/>
          <p:cNvSpPr/>
          <p:nvPr/>
        </p:nvSpPr>
        <p:spPr>
          <a:xfrm>
            <a:off x="6191402" y="1390802"/>
            <a:ext cx="38405" cy="952805"/>
          </a:xfrm>
          <a:prstGeom prst="rect">
            <a:avLst/>
          </a:prstGeom>
          <a:solidFill>
            <a:srgbClr val="FFB900"/>
          </a:solidFill>
          <a:ln/>
        </p:spPr>
      </p:sp>
      <p:sp>
        <p:nvSpPr>
          <p:cNvPr id="48" name="Text 35"/>
          <p:cNvSpPr txBox="1"/>
          <p:nvPr/>
        </p:nvSpPr>
        <p:spPr>
          <a:xfrm>
            <a:off x="6381598" y="1441094"/>
            <a:ext cx="1074420" cy="152705"/>
          </a:xfrm>
          <a:prstGeom prst="rect">
            <a:avLst/>
          </a:prstGeom>
          <a:noFill/>
          <a:ln/>
        </p:spPr>
        <p:txBody>
          <a:bodyPr wrap="square" lIns="0" tIns="0" rIns="0" bIns="0" rtlCol="0" anchor="ctr"/>
          <a:lstStyle/>
          <a:p>
            <a:pPr algn="l" indent="0" marL="0">
              <a:buNone/>
            </a:pPr>
            <a:r>
              <a:rPr lang="en-US" sz="900" dirty="0">
                <a:solidFill>
                  <a:srgbClr val="605E5C"/>
                </a:solidFill>
                <a:latin typeface="Inter" pitchFamily="34" charset="0"/>
                <a:ea typeface="Inter" pitchFamily="34" charset="-122"/>
                <a:cs typeface="Inter" pitchFamily="34" charset="-120"/>
              </a:rPr>
              <a:t>Overdue Actions</a:t>
            </a:r>
            <a:endParaRPr lang="en-US" sz="900" dirty="0"/>
          </a:p>
        </p:txBody>
      </p:sp>
      <p:sp>
        <p:nvSpPr>
          <p:cNvPr id="49" name="Text 36"/>
          <p:cNvSpPr txBox="1"/>
          <p:nvPr/>
        </p:nvSpPr>
        <p:spPr>
          <a:xfrm>
            <a:off x="6381598" y="1730959"/>
            <a:ext cx="543154" cy="324612"/>
          </a:xfrm>
          <a:prstGeom prst="rect">
            <a:avLst/>
          </a:prstGeom>
          <a:noFill/>
          <a:ln/>
        </p:spPr>
        <p:txBody>
          <a:bodyPr wrap="square" lIns="0" tIns="0" rIns="0" bIns="0" rtlCol="0" anchor="ctr"/>
          <a:lstStyle/>
          <a:p>
            <a:pPr algn="l" indent="0" marL="0">
              <a:buNone/>
            </a:pPr>
            <a:r>
              <a:rPr lang="en-US" sz="2100" b="1" dirty="0">
                <a:solidFill>
                  <a:srgbClr val="201F1E"/>
                </a:solidFill>
                <a:latin typeface="Inter" pitchFamily="34" charset="0"/>
                <a:ea typeface="Inter" pitchFamily="34" charset="-122"/>
                <a:cs typeface="Inter" pitchFamily="34" charset="-120"/>
              </a:rPr>
              <a:t>28</a:t>
            </a:r>
            <a:endParaRPr lang="en-US" sz="2100" dirty="0"/>
          </a:p>
        </p:txBody>
      </p:sp>
      <p:pic>
        <p:nvPicPr>
          <p:cNvPr id="50" name="Image 11" descr="preencoded.png">    </p:cNvPr>
          <p:cNvPicPr>
            <a:picLocks noChangeAspect="1"/>
          </p:cNvPicPr>
          <p:nvPr/>
        </p:nvPicPr>
        <p:blipFill>
          <a:blip r:embed="rId12"/>
          <a:srcRect l="-2571" r="-2571" t="0" b="0"/>
          <a:stretch/>
        </p:blipFill>
        <p:spPr>
          <a:xfrm>
            <a:off x="6381598" y="2159813"/>
            <a:ext cx="105156" cy="114300"/>
          </a:xfrm>
          <a:prstGeom prst="rect">
            <a:avLst/>
          </a:prstGeom>
        </p:spPr>
      </p:pic>
      <p:sp>
        <p:nvSpPr>
          <p:cNvPr id="51" name="Text 37"/>
          <p:cNvSpPr txBox="1"/>
          <p:nvPr/>
        </p:nvSpPr>
        <p:spPr>
          <a:xfrm>
            <a:off x="6524244" y="2131466"/>
            <a:ext cx="676656" cy="171907"/>
          </a:xfrm>
          <a:prstGeom prst="rect">
            <a:avLst/>
          </a:prstGeom>
          <a:noFill/>
          <a:ln/>
        </p:spPr>
        <p:txBody>
          <a:bodyPr wrap="square" lIns="0" tIns="0" rIns="0" bIns="0" rtlCol="0" anchor="ctr"/>
          <a:lstStyle/>
          <a:p>
            <a:pPr algn="l" indent="0" marL="0">
              <a:buNone/>
            </a:pPr>
            <a:r>
              <a:rPr lang="en-US" sz="900" dirty="0">
                <a:solidFill>
                  <a:srgbClr val="605E5C"/>
                </a:solidFill>
                <a:latin typeface="Inter" pitchFamily="34" charset="0"/>
                <a:ea typeface="Inter" pitchFamily="34" charset="-122"/>
                <a:cs typeface="Inter" pitchFamily="34" charset="-120"/>
              </a:rPr>
              <a:t>No change</a:t>
            </a:r>
            <a:endParaRPr lang="en-US" sz="900" dirty="0"/>
          </a:p>
        </p:txBody>
      </p:sp>
      <p:sp>
        <p:nvSpPr>
          <p:cNvPr id="52" name="Shape 38"/>
          <p:cNvSpPr/>
          <p:nvPr/>
        </p:nvSpPr>
        <p:spPr>
          <a:xfrm>
            <a:off x="9096451" y="1390802"/>
            <a:ext cx="2714854" cy="952805"/>
          </a:xfrm>
          <a:prstGeom prst="roundRect">
            <a:avLst>
              <a:gd name="adj" fmla="val 3839"/>
            </a:avLst>
          </a:prstGeom>
          <a:solidFill>
            <a:srgbClr val="FFFFFF"/>
          </a:solidFill>
          <a:ln/>
          <a:effectLst>
            <a:outerShdw sx="100000" sy="100000" kx="0" ky="0" algn="bl" rotWithShape="0" blurRad="38100" dist="25400" dir="5400000">
              <a:srgbClr val="000000">
                <a:alpha val="5000"/>
              </a:srgbClr>
            </a:outerShdw>
          </a:effectLst>
        </p:spPr>
      </p:sp>
      <p:sp>
        <p:nvSpPr>
          <p:cNvPr id="53" name="Shape 39"/>
          <p:cNvSpPr/>
          <p:nvPr/>
        </p:nvSpPr>
        <p:spPr>
          <a:xfrm>
            <a:off x="9096451" y="1390802"/>
            <a:ext cx="38405" cy="952805"/>
          </a:xfrm>
          <a:prstGeom prst="rect">
            <a:avLst/>
          </a:prstGeom>
          <a:solidFill>
            <a:srgbClr val="107C10"/>
          </a:solidFill>
          <a:ln/>
        </p:spPr>
      </p:sp>
      <p:sp>
        <p:nvSpPr>
          <p:cNvPr id="54" name="Text 40"/>
          <p:cNvSpPr txBox="1"/>
          <p:nvPr/>
        </p:nvSpPr>
        <p:spPr>
          <a:xfrm>
            <a:off x="9286646" y="1441094"/>
            <a:ext cx="1141171" cy="152705"/>
          </a:xfrm>
          <a:prstGeom prst="rect">
            <a:avLst/>
          </a:prstGeom>
          <a:noFill/>
          <a:ln/>
        </p:spPr>
        <p:txBody>
          <a:bodyPr wrap="square" lIns="0" tIns="0" rIns="0" bIns="0" rtlCol="0" anchor="ctr"/>
          <a:lstStyle/>
          <a:p>
            <a:pPr algn="l" indent="0" marL="0">
              <a:buNone/>
            </a:pPr>
            <a:r>
              <a:rPr lang="en-US" sz="900" dirty="0">
                <a:solidFill>
                  <a:srgbClr val="605E5C"/>
                </a:solidFill>
                <a:latin typeface="Inter" pitchFamily="34" charset="0"/>
                <a:ea typeface="Inter" pitchFamily="34" charset="-122"/>
                <a:cs typeface="Inter" pitchFamily="34" charset="-120"/>
              </a:rPr>
              <a:t>Audits Completed</a:t>
            </a:r>
            <a:endParaRPr lang="en-US" sz="900" dirty="0"/>
          </a:p>
        </p:txBody>
      </p:sp>
      <p:sp>
        <p:nvSpPr>
          <p:cNvPr id="55" name="Text 41"/>
          <p:cNvSpPr txBox="1"/>
          <p:nvPr/>
        </p:nvSpPr>
        <p:spPr>
          <a:xfrm>
            <a:off x="9286646" y="1730959"/>
            <a:ext cx="648310" cy="324612"/>
          </a:xfrm>
          <a:prstGeom prst="rect">
            <a:avLst/>
          </a:prstGeom>
          <a:noFill/>
          <a:ln/>
        </p:spPr>
        <p:txBody>
          <a:bodyPr wrap="square" lIns="0" tIns="0" rIns="0" bIns="0" rtlCol="0" anchor="ctr"/>
          <a:lstStyle/>
          <a:p>
            <a:pPr algn="l" indent="0" marL="0">
              <a:buNone/>
            </a:pPr>
            <a:r>
              <a:rPr lang="en-US" sz="2100" b="1" dirty="0">
                <a:solidFill>
                  <a:srgbClr val="201F1E"/>
                </a:solidFill>
                <a:latin typeface="Inter" pitchFamily="34" charset="0"/>
                <a:ea typeface="Inter" pitchFamily="34" charset="-122"/>
                <a:cs typeface="Inter" pitchFamily="34" charset="-120"/>
              </a:rPr>
              <a:t>156</a:t>
            </a:r>
            <a:endParaRPr lang="en-US" sz="2100" dirty="0"/>
          </a:p>
        </p:txBody>
      </p:sp>
      <p:pic>
        <p:nvPicPr>
          <p:cNvPr id="56" name="Image 12" descr="preencoded.png">    </p:cNvPr>
          <p:cNvPicPr>
            <a:picLocks noChangeAspect="1"/>
          </p:cNvPicPr>
          <p:nvPr/>
        </p:nvPicPr>
        <p:blipFill>
          <a:blip r:embed="rId13"/>
          <a:srcRect l="-2571" r="-2571" t="0" b="0"/>
          <a:stretch/>
        </p:blipFill>
        <p:spPr>
          <a:xfrm>
            <a:off x="9286646" y="2159813"/>
            <a:ext cx="105156" cy="114300"/>
          </a:xfrm>
          <a:prstGeom prst="rect">
            <a:avLst/>
          </a:prstGeom>
        </p:spPr>
      </p:pic>
      <p:sp>
        <p:nvSpPr>
          <p:cNvPr id="57" name="Text 42"/>
          <p:cNvSpPr txBox="1"/>
          <p:nvPr/>
        </p:nvSpPr>
        <p:spPr>
          <a:xfrm>
            <a:off x="9430207" y="2131466"/>
            <a:ext cx="981151" cy="171907"/>
          </a:xfrm>
          <a:prstGeom prst="rect">
            <a:avLst/>
          </a:prstGeom>
          <a:noFill/>
          <a:ln/>
        </p:spPr>
        <p:txBody>
          <a:bodyPr wrap="square" lIns="0" tIns="0" rIns="0" bIns="0" rtlCol="0" anchor="ctr"/>
          <a:lstStyle/>
          <a:p>
            <a:pPr algn="l" indent="0" marL="0">
              <a:buNone/>
            </a:pPr>
            <a:r>
              <a:rPr lang="en-US" sz="900" dirty="0">
                <a:solidFill>
                  <a:srgbClr val="107C10"/>
                </a:solidFill>
                <a:latin typeface="Inter" pitchFamily="34" charset="0"/>
                <a:ea typeface="Inter" pitchFamily="34" charset="-122"/>
                <a:cs typeface="Inter" pitchFamily="34" charset="-120"/>
              </a:rPr>
              <a:t>100% target met</a:t>
            </a:r>
            <a:endParaRPr lang="en-US" sz="900" dirty="0"/>
          </a:p>
        </p:txBody>
      </p:sp>
      <p:sp>
        <p:nvSpPr>
          <p:cNvPr id="58" name="Shape 43"/>
          <p:cNvSpPr/>
          <p:nvPr/>
        </p:nvSpPr>
        <p:spPr>
          <a:xfrm>
            <a:off x="381305" y="2486254"/>
            <a:ext cx="7391095" cy="2286000"/>
          </a:xfrm>
          <a:prstGeom prst="roundRect">
            <a:avLst>
              <a:gd name="adj" fmla="val 667"/>
            </a:avLst>
          </a:prstGeom>
          <a:solidFill>
            <a:srgbClr val="FFFFFF"/>
          </a:solidFill>
          <a:ln/>
          <a:effectLst>
            <a:outerShdw sx="100000" sy="100000" kx="0" ky="0" algn="bl" rotWithShape="0" blurRad="38100" dist="25400" dir="5400000">
              <a:srgbClr val="000000">
                <a:alpha val="5000"/>
              </a:srgbClr>
            </a:outerShdw>
          </a:effectLst>
        </p:spPr>
      </p:sp>
      <p:sp>
        <p:nvSpPr>
          <p:cNvPr id="59" name="Text 44"/>
          <p:cNvSpPr txBox="1"/>
          <p:nvPr/>
        </p:nvSpPr>
        <p:spPr>
          <a:xfrm>
            <a:off x="533095" y="2617013"/>
            <a:ext cx="2260397" cy="181051"/>
          </a:xfrm>
          <a:prstGeom prst="rect">
            <a:avLst/>
          </a:prstGeom>
          <a:noFill/>
          <a:ln/>
        </p:spPr>
        <p:txBody>
          <a:bodyPr wrap="square" lIns="0" tIns="0" rIns="0" bIns="0" rtlCol="0" anchor="ctr"/>
          <a:lstStyle/>
          <a:p>
            <a:pPr algn="l" indent="0" marL="0">
              <a:buNone/>
            </a:pPr>
            <a:r>
              <a:rPr lang="en-US" sz="1100" b="1" dirty="0">
                <a:solidFill>
                  <a:srgbClr val="323130"/>
                </a:solidFill>
                <a:latin typeface="Inter" pitchFamily="34" charset="0"/>
                <a:ea typeface="Inter" pitchFamily="34" charset="-122"/>
                <a:cs typeface="Inter" pitchFamily="34" charset="-120"/>
              </a:rPr>
              <a:t>Findings Trend (Last 12 Weeks)</a:t>
            </a:r>
            <a:endParaRPr lang="en-US" sz="1100" dirty="0"/>
          </a:p>
        </p:txBody>
      </p:sp>
      <p:pic>
        <p:nvPicPr>
          <p:cNvPr id="60" name="Image 13" descr="preencoded.png">    </p:cNvPr>
          <p:cNvPicPr>
            <a:picLocks noChangeAspect="1"/>
          </p:cNvPicPr>
          <p:nvPr/>
        </p:nvPicPr>
        <p:blipFill>
          <a:blip r:embed="rId14"/>
          <a:srcRect l="0" r="0" t="-43" b="-43"/>
          <a:stretch/>
        </p:blipFill>
        <p:spPr>
          <a:xfrm>
            <a:off x="7487107" y="2638044"/>
            <a:ext cx="133502" cy="152705"/>
          </a:xfrm>
          <a:prstGeom prst="rect">
            <a:avLst/>
          </a:prstGeom>
        </p:spPr>
      </p:pic>
      <p:pic>
        <p:nvPicPr>
          <p:cNvPr id="61" name="Image 14" descr="preencoded.png">    </p:cNvPr>
          <p:cNvPicPr>
            <a:picLocks noChangeAspect="1"/>
          </p:cNvPicPr>
          <p:nvPr/>
        </p:nvPicPr>
        <p:blipFill>
          <a:blip r:embed="rId15"/>
          <a:srcRect l="0" r="0" t="-9" b="-9"/>
          <a:stretch/>
        </p:blipFill>
        <p:spPr>
          <a:xfrm>
            <a:off x="533095" y="2905049"/>
            <a:ext cx="7086600" cy="1752905"/>
          </a:xfrm>
          <a:prstGeom prst="rect">
            <a:avLst/>
          </a:prstGeom>
        </p:spPr>
      </p:pic>
      <p:sp>
        <p:nvSpPr>
          <p:cNvPr id="62" name="Shape 45"/>
          <p:cNvSpPr/>
          <p:nvPr/>
        </p:nvSpPr>
        <p:spPr>
          <a:xfrm>
            <a:off x="7962595" y="2486254"/>
            <a:ext cx="3847795" cy="2286000"/>
          </a:xfrm>
          <a:prstGeom prst="roundRect">
            <a:avLst>
              <a:gd name="adj" fmla="val 667"/>
            </a:avLst>
          </a:prstGeom>
          <a:solidFill>
            <a:srgbClr val="FFFFFF"/>
          </a:solidFill>
          <a:ln/>
          <a:effectLst>
            <a:outerShdw sx="100000" sy="100000" kx="0" ky="0" algn="bl" rotWithShape="0" blurRad="38100" dist="25400" dir="5400000">
              <a:srgbClr val="000000">
                <a:alpha val="5000"/>
              </a:srgbClr>
            </a:outerShdw>
          </a:effectLst>
        </p:spPr>
      </p:sp>
      <p:sp>
        <p:nvSpPr>
          <p:cNvPr id="63" name="Text 46"/>
          <p:cNvSpPr txBox="1"/>
          <p:nvPr/>
        </p:nvSpPr>
        <p:spPr>
          <a:xfrm>
            <a:off x="8115300" y="2617013"/>
            <a:ext cx="1613002" cy="181051"/>
          </a:xfrm>
          <a:prstGeom prst="rect">
            <a:avLst/>
          </a:prstGeom>
          <a:noFill/>
          <a:ln/>
        </p:spPr>
        <p:txBody>
          <a:bodyPr wrap="square" lIns="0" tIns="0" rIns="0" bIns="0" rtlCol="0" anchor="ctr"/>
          <a:lstStyle/>
          <a:p>
            <a:pPr algn="l" indent="0" marL="0">
              <a:buNone/>
            </a:pPr>
            <a:r>
              <a:rPr lang="en-US" sz="1100" b="1" dirty="0">
                <a:solidFill>
                  <a:srgbClr val="323130"/>
                </a:solidFill>
                <a:latin typeface="Inter" pitchFamily="34" charset="0"/>
                <a:ea typeface="Inter" pitchFamily="34" charset="-122"/>
                <a:cs typeface="Inter" pitchFamily="34" charset="-120"/>
              </a:rPr>
              <a:t>Top 5 Risk Categories</a:t>
            </a:r>
            <a:endParaRPr lang="en-US" sz="1100" dirty="0"/>
          </a:p>
        </p:txBody>
      </p:sp>
      <p:pic>
        <p:nvPicPr>
          <p:cNvPr id="64" name="Image 15" descr="preencoded.png">    </p:cNvPr>
          <p:cNvPicPr>
            <a:picLocks noChangeAspect="1"/>
          </p:cNvPicPr>
          <p:nvPr/>
        </p:nvPicPr>
        <p:blipFill>
          <a:blip r:embed="rId16"/>
          <a:srcRect l="0" r="0" t="-9" b="-9"/>
          <a:stretch/>
        </p:blipFill>
        <p:spPr>
          <a:xfrm>
            <a:off x="8115300" y="2905049"/>
            <a:ext cx="3543300" cy="1752905"/>
          </a:xfrm>
          <a:prstGeom prst="rect">
            <a:avLst/>
          </a:prstGeom>
        </p:spPr>
      </p:pic>
      <p:sp>
        <p:nvSpPr>
          <p:cNvPr id="65" name="Shape 47"/>
          <p:cNvSpPr/>
          <p:nvPr/>
        </p:nvSpPr>
        <p:spPr>
          <a:xfrm>
            <a:off x="381305" y="4914900"/>
            <a:ext cx="11430000" cy="1561795"/>
          </a:xfrm>
          <a:prstGeom prst="roundRect">
            <a:avLst>
              <a:gd name="adj" fmla="val 1428"/>
            </a:avLst>
          </a:prstGeom>
          <a:solidFill>
            <a:srgbClr val="FFFFFF"/>
          </a:solidFill>
          <a:ln/>
          <a:effectLst>
            <a:outerShdw sx="100000" sy="100000" kx="0" ky="0" algn="bl" rotWithShape="0" blurRad="38100" dist="25400" dir="5400000">
              <a:srgbClr val="000000">
                <a:alpha val="5000"/>
              </a:srgbClr>
            </a:outerShdw>
          </a:effectLst>
        </p:spPr>
      </p:sp>
      <p:sp>
        <p:nvSpPr>
          <p:cNvPr id="66" name="Shape 48"/>
          <p:cNvSpPr/>
          <p:nvPr/>
        </p:nvSpPr>
        <p:spPr>
          <a:xfrm>
            <a:off x="381305" y="4914900"/>
            <a:ext cx="11430000" cy="371246"/>
          </a:xfrm>
          <a:prstGeom prst="rect">
            <a:avLst/>
          </a:prstGeom>
          <a:solidFill>
            <a:srgbClr val="F8F9FA"/>
          </a:solidFill>
          <a:ln/>
        </p:spPr>
      </p:sp>
      <p:sp>
        <p:nvSpPr>
          <p:cNvPr id="67" name="Shape 49"/>
          <p:cNvSpPr/>
          <p:nvPr/>
        </p:nvSpPr>
        <p:spPr>
          <a:xfrm>
            <a:off x="381305" y="5277002"/>
            <a:ext cx="11430000" cy="9144"/>
          </a:xfrm>
          <a:prstGeom prst="rect">
            <a:avLst/>
          </a:prstGeom>
          <a:solidFill>
            <a:srgbClr val="EDEBE9"/>
          </a:solidFill>
          <a:ln/>
        </p:spPr>
      </p:sp>
      <p:sp>
        <p:nvSpPr>
          <p:cNvPr id="68" name="Text 50"/>
          <p:cNvSpPr txBox="1"/>
          <p:nvPr/>
        </p:nvSpPr>
        <p:spPr>
          <a:xfrm>
            <a:off x="571500" y="5020056"/>
            <a:ext cx="590702" cy="143561"/>
          </a:xfrm>
          <a:prstGeom prst="rect">
            <a:avLst/>
          </a:prstGeom>
          <a:noFill/>
          <a:ln/>
        </p:spPr>
        <p:txBody>
          <a:bodyPr wrap="square" lIns="0" tIns="0" rIns="0" bIns="0" rtlCol="0" anchor="ctr"/>
          <a:lstStyle/>
          <a:p>
            <a:pPr algn="l" indent="0" marL="0">
              <a:buNone/>
            </a:pPr>
            <a:r>
              <a:rPr lang="en-US" sz="900" b="1" dirty="0">
                <a:solidFill>
                  <a:srgbClr val="605E5C"/>
                </a:solidFill>
                <a:latin typeface="Inter" pitchFamily="34" charset="0"/>
                <a:ea typeface="Inter" pitchFamily="34" charset="-122"/>
                <a:cs typeface="Inter" pitchFamily="34" charset="-120"/>
              </a:rPr>
              <a:t>AUDIT ID</a:t>
            </a:r>
            <a:endParaRPr lang="en-US" sz="900" dirty="0"/>
          </a:p>
        </p:txBody>
      </p:sp>
      <p:sp>
        <p:nvSpPr>
          <p:cNvPr id="69" name="Text 51"/>
          <p:cNvSpPr txBox="1"/>
          <p:nvPr/>
        </p:nvSpPr>
        <p:spPr>
          <a:xfrm>
            <a:off x="2441448" y="5020056"/>
            <a:ext cx="991210" cy="143561"/>
          </a:xfrm>
          <a:prstGeom prst="rect">
            <a:avLst/>
          </a:prstGeom>
          <a:noFill/>
          <a:ln/>
        </p:spPr>
        <p:txBody>
          <a:bodyPr wrap="square" lIns="0" tIns="0" rIns="0" bIns="0" rtlCol="0" anchor="ctr"/>
          <a:lstStyle/>
          <a:p>
            <a:pPr algn="l" indent="0" marL="0">
              <a:buNone/>
            </a:pPr>
            <a:r>
              <a:rPr lang="en-US" sz="900" b="1" dirty="0">
                <a:solidFill>
                  <a:srgbClr val="605E5C"/>
                </a:solidFill>
                <a:latin typeface="Inter" pitchFamily="34" charset="0"/>
                <a:ea typeface="Inter" pitchFamily="34" charset="-122"/>
                <a:cs typeface="Inter" pitchFamily="34" charset="-120"/>
              </a:rPr>
              <a:t>PROJECT NAME</a:t>
            </a:r>
            <a:endParaRPr lang="en-US" sz="900" dirty="0"/>
          </a:p>
        </p:txBody>
      </p:sp>
      <p:sp>
        <p:nvSpPr>
          <p:cNvPr id="70" name="Text 52"/>
          <p:cNvSpPr txBox="1"/>
          <p:nvPr/>
        </p:nvSpPr>
        <p:spPr>
          <a:xfrm>
            <a:off x="5247742" y="5020056"/>
            <a:ext cx="523951" cy="143561"/>
          </a:xfrm>
          <a:prstGeom prst="rect">
            <a:avLst/>
          </a:prstGeom>
          <a:noFill/>
          <a:ln/>
        </p:spPr>
        <p:txBody>
          <a:bodyPr wrap="square" lIns="0" tIns="0" rIns="0" bIns="0" rtlCol="0" anchor="ctr"/>
          <a:lstStyle/>
          <a:p>
            <a:pPr algn="l" indent="0" marL="0">
              <a:buNone/>
            </a:pPr>
            <a:r>
              <a:rPr lang="en-US" sz="900" b="1" dirty="0">
                <a:solidFill>
                  <a:srgbClr val="605E5C"/>
                </a:solidFill>
                <a:latin typeface="Inter" pitchFamily="34" charset="0"/>
                <a:ea typeface="Inter" pitchFamily="34" charset="-122"/>
                <a:cs typeface="Inter" pitchFamily="34" charset="-120"/>
              </a:rPr>
              <a:t>OWNER</a:t>
            </a:r>
            <a:endParaRPr lang="en-US" sz="900" dirty="0"/>
          </a:p>
        </p:txBody>
      </p:sp>
      <p:sp>
        <p:nvSpPr>
          <p:cNvPr id="71" name="Text 53"/>
          <p:cNvSpPr txBox="1"/>
          <p:nvPr/>
        </p:nvSpPr>
        <p:spPr>
          <a:xfrm>
            <a:off x="7117690" y="5020056"/>
            <a:ext cx="648310" cy="143561"/>
          </a:xfrm>
          <a:prstGeom prst="rect">
            <a:avLst/>
          </a:prstGeom>
          <a:noFill/>
          <a:ln/>
        </p:spPr>
        <p:txBody>
          <a:bodyPr wrap="square" lIns="0" tIns="0" rIns="0" bIns="0" rtlCol="0" anchor="ctr"/>
          <a:lstStyle/>
          <a:p>
            <a:pPr algn="l" indent="0" marL="0">
              <a:buNone/>
            </a:pPr>
            <a:r>
              <a:rPr lang="en-US" sz="900" b="1" dirty="0">
                <a:solidFill>
                  <a:srgbClr val="605E5C"/>
                </a:solidFill>
                <a:latin typeface="Inter" pitchFamily="34" charset="0"/>
                <a:ea typeface="Inter" pitchFamily="34" charset="-122"/>
                <a:cs typeface="Inter" pitchFamily="34" charset="-120"/>
              </a:rPr>
              <a:t>DUE DATE</a:t>
            </a:r>
            <a:endParaRPr lang="en-US" sz="900" dirty="0"/>
          </a:p>
        </p:txBody>
      </p:sp>
      <p:sp>
        <p:nvSpPr>
          <p:cNvPr id="72" name="Text 54"/>
          <p:cNvSpPr txBox="1"/>
          <p:nvPr/>
        </p:nvSpPr>
        <p:spPr>
          <a:xfrm>
            <a:off x="8987638" y="5020056"/>
            <a:ext cx="734263" cy="143561"/>
          </a:xfrm>
          <a:prstGeom prst="rect">
            <a:avLst/>
          </a:prstGeom>
          <a:noFill/>
          <a:ln/>
        </p:spPr>
        <p:txBody>
          <a:bodyPr wrap="square" lIns="0" tIns="0" rIns="0" bIns="0" rtlCol="0" anchor="ctr"/>
          <a:lstStyle/>
          <a:p>
            <a:pPr algn="l" indent="0" marL="0">
              <a:buNone/>
            </a:pPr>
            <a:r>
              <a:rPr lang="en-US" sz="900" b="1" dirty="0">
                <a:solidFill>
                  <a:srgbClr val="605E5C"/>
                </a:solidFill>
                <a:latin typeface="Inter" pitchFamily="34" charset="0"/>
                <a:ea typeface="Inter" pitchFamily="34" charset="-122"/>
                <a:cs typeface="Inter" pitchFamily="34" charset="-120"/>
              </a:rPr>
              <a:t>RISK LEVEL</a:t>
            </a:r>
            <a:endParaRPr lang="en-US" sz="900" dirty="0"/>
          </a:p>
        </p:txBody>
      </p:sp>
      <p:sp>
        <p:nvSpPr>
          <p:cNvPr id="73" name="Text 55"/>
          <p:cNvSpPr txBox="1"/>
          <p:nvPr/>
        </p:nvSpPr>
        <p:spPr>
          <a:xfrm>
            <a:off x="10858500" y="5020056"/>
            <a:ext cx="534010" cy="143561"/>
          </a:xfrm>
          <a:prstGeom prst="rect">
            <a:avLst/>
          </a:prstGeom>
          <a:noFill/>
          <a:ln/>
        </p:spPr>
        <p:txBody>
          <a:bodyPr wrap="square" lIns="0" tIns="0" rIns="0" bIns="0" rtlCol="0" anchor="ctr"/>
          <a:lstStyle/>
          <a:p>
            <a:pPr algn="l" indent="0" marL="0">
              <a:buNone/>
            </a:pPr>
            <a:r>
              <a:rPr lang="en-US" sz="900" b="1" dirty="0">
                <a:solidFill>
                  <a:srgbClr val="605E5C"/>
                </a:solidFill>
                <a:latin typeface="Inter" pitchFamily="34" charset="0"/>
                <a:ea typeface="Inter" pitchFamily="34" charset="-122"/>
                <a:cs typeface="Inter" pitchFamily="34" charset="-120"/>
              </a:rPr>
              <a:t>STATUS</a:t>
            </a:r>
            <a:endParaRPr lang="en-US" sz="900" dirty="0"/>
          </a:p>
        </p:txBody>
      </p:sp>
      <p:sp>
        <p:nvSpPr>
          <p:cNvPr id="74" name="Shape 56"/>
          <p:cNvSpPr/>
          <p:nvPr/>
        </p:nvSpPr>
        <p:spPr>
          <a:xfrm>
            <a:off x="381305" y="6562649"/>
            <a:ext cx="11430000" cy="9144"/>
          </a:xfrm>
          <a:prstGeom prst="rect">
            <a:avLst/>
          </a:prstGeom>
          <a:solidFill>
            <a:srgbClr val="F3F2F1"/>
          </a:solidFill>
          <a:ln/>
        </p:spPr>
      </p:sp>
      <p:sp>
        <p:nvSpPr>
          <p:cNvPr id="75" name="Text 57"/>
          <p:cNvSpPr txBox="1"/>
          <p:nvPr/>
        </p:nvSpPr>
        <p:spPr>
          <a:xfrm>
            <a:off x="571500" y="5381244"/>
            <a:ext cx="988466" cy="143561"/>
          </a:xfrm>
          <a:prstGeom prst="rect">
            <a:avLst/>
          </a:prstGeom>
          <a:noFill/>
          <a:ln/>
        </p:spPr>
        <p:txBody>
          <a:bodyPr wrap="square" lIns="0" tIns="0" rIns="0" bIns="0" rtlCol="0" anchor="ctr"/>
          <a:lstStyle/>
          <a:p>
            <a:pPr algn="l" indent="0" marL="0">
              <a:buNone/>
            </a:pPr>
            <a:r>
              <a:rPr lang="en-US" sz="900" dirty="0">
                <a:solidFill>
                  <a:srgbClr val="0078D4"/>
                </a:solidFill>
                <a:latin typeface="Courier New" pitchFamily="34" charset="0"/>
                <a:ea typeface="Courier New" pitchFamily="34" charset="-122"/>
                <a:cs typeface="Courier New" pitchFamily="34" charset="-120"/>
              </a:rPr>
              <a:t>AUD-2025-891</a:t>
            </a:r>
            <a:endParaRPr lang="en-US" sz="900" dirty="0"/>
          </a:p>
        </p:txBody>
      </p:sp>
      <p:sp>
        <p:nvSpPr>
          <p:cNvPr id="76" name="Text 58"/>
          <p:cNvSpPr txBox="1"/>
          <p:nvPr/>
        </p:nvSpPr>
        <p:spPr>
          <a:xfrm>
            <a:off x="571500" y="5557723"/>
            <a:ext cx="1474013" cy="152705"/>
          </a:xfrm>
          <a:prstGeom prst="rect">
            <a:avLst/>
          </a:prstGeom>
          <a:noFill/>
          <a:ln/>
        </p:spPr>
        <p:txBody>
          <a:bodyPr wrap="square" lIns="0" tIns="0" rIns="0" bIns="0" rtlCol="0" anchor="ctr"/>
          <a:lstStyle/>
          <a:p>
            <a:pPr algn="l" indent="0" marL="0">
              <a:buNone/>
            </a:pPr>
            <a:r>
              <a:rPr lang="en-US" sz="900" dirty="0">
                <a:solidFill>
                  <a:srgbClr val="201F1E"/>
                </a:solidFill>
                <a:latin typeface="Inter" pitchFamily="34" charset="0"/>
                <a:ea typeface="Inter" pitchFamily="34" charset="-122"/>
                <a:cs typeface="Inter" pitchFamily="34" charset="-120"/>
              </a:rPr>
              <a:t>Project Alpha - Phase 2</a:t>
            </a:r>
            <a:endParaRPr lang="en-US" sz="900" dirty="0"/>
          </a:p>
        </p:txBody>
      </p:sp>
      <p:sp>
        <p:nvSpPr>
          <p:cNvPr id="77" name="Text 59"/>
          <p:cNvSpPr txBox="1"/>
          <p:nvPr/>
        </p:nvSpPr>
        <p:spPr>
          <a:xfrm>
            <a:off x="571500" y="5743346"/>
            <a:ext cx="921715" cy="152705"/>
          </a:xfrm>
          <a:prstGeom prst="rect">
            <a:avLst/>
          </a:prstGeom>
          <a:noFill/>
          <a:ln/>
        </p:spPr>
        <p:txBody>
          <a:bodyPr wrap="square" lIns="0" tIns="0" rIns="0" bIns="0" rtlCol="0" anchor="ctr"/>
          <a:lstStyle/>
          <a:p>
            <a:pPr algn="l" indent="0" marL="0">
              <a:buNone/>
            </a:pPr>
            <a:r>
              <a:rPr lang="en-US" sz="900" dirty="0">
                <a:solidFill>
                  <a:srgbClr val="201F1E"/>
                </a:solidFill>
                <a:latin typeface="Inter" pitchFamily="34" charset="0"/>
                <a:ea typeface="Inter" pitchFamily="34" charset="-122"/>
                <a:cs typeface="Inter" pitchFamily="34" charset="-120"/>
              </a:rPr>
              <a:t>Sarah Jenkins</a:t>
            </a:r>
            <a:endParaRPr lang="en-US" sz="900" dirty="0"/>
          </a:p>
        </p:txBody>
      </p:sp>
      <p:sp>
        <p:nvSpPr>
          <p:cNvPr id="78" name="Text 60"/>
          <p:cNvSpPr txBox="1"/>
          <p:nvPr/>
        </p:nvSpPr>
        <p:spPr>
          <a:xfrm>
            <a:off x="571500" y="5928970"/>
            <a:ext cx="865022" cy="152705"/>
          </a:xfrm>
          <a:prstGeom prst="rect">
            <a:avLst/>
          </a:prstGeom>
          <a:noFill/>
          <a:ln/>
        </p:spPr>
        <p:txBody>
          <a:bodyPr wrap="square" lIns="0" tIns="0" rIns="0" bIns="0" rtlCol="0" anchor="ctr"/>
          <a:lstStyle/>
          <a:p>
            <a:pPr algn="l" indent="0" marL="0">
              <a:buNone/>
            </a:pPr>
            <a:r>
              <a:rPr lang="en-US" sz="900" dirty="0">
                <a:solidFill>
                  <a:srgbClr val="201F1E"/>
                </a:solidFill>
                <a:latin typeface="Inter" pitchFamily="34" charset="0"/>
                <a:ea typeface="Inter" pitchFamily="34" charset="-122"/>
                <a:cs typeface="Inter" pitchFamily="34" charset="-120"/>
              </a:rPr>
              <a:t>Dec 12, 2025</a:t>
            </a:r>
            <a:endParaRPr lang="en-US" sz="900" dirty="0"/>
          </a:p>
        </p:txBody>
      </p:sp>
      <p:sp>
        <p:nvSpPr>
          <p:cNvPr id="79" name="Text 61"/>
          <p:cNvSpPr txBox="1"/>
          <p:nvPr/>
        </p:nvSpPr>
        <p:spPr>
          <a:xfrm>
            <a:off x="571500" y="6115507"/>
            <a:ext cx="522122" cy="152705"/>
          </a:xfrm>
          <a:prstGeom prst="rect">
            <a:avLst/>
          </a:prstGeom>
          <a:noFill/>
          <a:ln/>
        </p:spPr>
        <p:txBody>
          <a:bodyPr wrap="square" lIns="0" tIns="0" rIns="0" bIns="0" rtlCol="0" anchor="ctr"/>
          <a:lstStyle/>
          <a:p>
            <a:pPr algn="l" indent="0" marL="0">
              <a:buNone/>
            </a:pPr>
            <a:r>
              <a:rPr lang="en-US" sz="900" b="1" dirty="0">
                <a:solidFill>
                  <a:srgbClr val="D83B01"/>
                </a:solidFill>
                <a:latin typeface="Inter" pitchFamily="34" charset="0"/>
                <a:ea typeface="Inter" pitchFamily="34" charset="-122"/>
                <a:cs typeface="Inter" pitchFamily="34" charset="-120"/>
              </a:rPr>
              <a:t>Critical</a:t>
            </a:r>
            <a:endParaRPr lang="en-US" sz="900" dirty="0"/>
          </a:p>
        </p:txBody>
      </p:sp>
      <p:sp>
        <p:nvSpPr>
          <p:cNvPr id="80" name="Shape 62"/>
          <p:cNvSpPr/>
          <p:nvPr/>
        </p:nvSpPr>
        <p:spPr>
          <a:xfrm>
            <a:off x="571500" y="6291072"/>
            <a:ext cx="428854" cy="200254"/>
          </a:xfrm>
          <a:prstGeom prst="roundRect">
            <a:avLst>
              <a:gd name="adj" fmla="val 260926"/>
            </a:avLst>
          </a:prstGeom>
          <a:solidFill>
            <a:srgbClr val="FDE7E9"/>
          </a:solidFill>
          <a:ln/>
        </p:spPr>
      </p:sp>
      <p:sp>
        <p:nvSpPr>
          <p:cNvPr id="81" name="Text 63"/>
          <p:cNvSpPr txBox="1"/>
          <p:nvPr/>
        </p:nvSpPr>
        <p:spPr>
          <a:xfrm>
            <a:off x="647395" y="6319418"/>
            <a:ext cx="355702" cy="133502"/>
          </a:xfrm>
          <a:prstGeom prst="rect">
            <a:avLst/>
          </a:prstGeom>
          <a:noFill/>
          <a:ln/>
        </p:spPr>
        <p:txBody>
          <a:bodyPr wrap="square" lIns="0" tIns="0" rIns="0" bIns="0" rtlCol="0" anchor="ctr"/>
          <a:lstStyle/>
          <a:p>
            <a:pPr algn="ctr" indent="0" marL="0">
              <a:buNone/>
            </a:pPr>
            <a:r>
              <a:rPr lang="en-US" sz="800" b="1" dirty="0">
                <a:solidFill>
                  <a:srgbClr val="A80000"/>
                </a:solidFill>
                <a:latin typeface="Inter" pitchFamily="34" charset="0"/>
                <a:ea typeface="Inter" pitchFamily="34" charset="-122"/>
                <a:cs typeface="Inter" pitchFamily="34" charset="-120"/>
              </a:rPr>
              <a:t>Open</a:t>
            </a:r>
            <a:endParaRPr lang="en-US" sz="800" dirty="0"/>
          </a:p>
        </p:txBody>
      </p:sp>
      <p:sp>
        <p:nvSpPr>
          <p:cNvPr id="82" name="Shape 64"/>
          <p:cNvSpPr/>
          <p:nvPr/>
        </p:nvSpPr>
        <p:spPr>
          <a:xfrm>
            <a:off x="381305" y="7849210"/>
            <a:ext cx="11430000" cy="9144"/>
          </a:xfrm>
          <a:prstGeom prst="rect">
            <a:avLst/>
          </a:prstGeom>
          <a:solidFill>
            <a:srgbClr val="F3F2F1"/>
          </a:solidFill>
          <a:ln/>
        </p:spPr>
      </p:sp>
      <p:sp>
        <p:nvSpPr>
          <p:cNvPr id="83" name="Text 65"/>
          <p:cNvSpPr txBox="1"/>
          <p:nvPr/>
        </p:nvSpPr>
        <p:spPr>
          <a:xfrm>
            <a:off x="571500" y="6667805"/>
            <a:ext cx="988466" cy="143561"/>
          </a:xfrm>
          <a:prstGeom prst="rect">
            <a:avLst/>
          </a:prstGeom>
          <a:noFill/>
          <a:ln/>
        </p:spPr>
        <p:txBody>
          <a:bodyPr wrap="square" lIns="0" tIns="0" rIns="0" bIns="0" rtlCol="0" anchor="ctr"/>
          <a:lstStyle/>
          <a:p>
            <a:pPr algn="l" indent="0" marL="0">
              <a:buNone/>
            </a:pPr>
            <a:r>
              <a:rPr lang="en-US" sz="900" dirty="0">
                <a:solidFill>
                  <a:srgbClr val="0078D4"/>
                </a:solidFill>
                <a:latin typeface="Courier New" pitchFamily="34" charset="0"/>
                <a:ea typeface="Courier New" pitchFamily="34" charset="-122"/>
                <a:cs typeface="Courier New" pitchFamily="34" charset="-120"/>
              </a:rPr>
              <a:t>AUD-2025-892</a:t>
            </a:r>
            <a:endParaRPr lang="en-US" sz="900" dirty="0"/>
          </a:p>
        </p:txBody>
      </p:sp>
      <p:sp>
        <p:nvSpPr>
          <p:cNvPr id="84" name="Text 66"/>
          <p:cNvSpPr txBox="1"/>
          <p:nvPr/>
        </p:nvSpPr>
        <p:spPr>
          <a:xfrm>
            <a:off x="571500" y="6843370"/>
            <a:ext cx="1731874" cy="152705"/>
          </a:xfrm>
          <a:prstGeom prst="rect">
            <a:avLst/>
          </a:prstGeom>
          <a:noFill/>
          <a:ln/>
        </p:spPr>
        <p:txBody>
          <a:bodyPr wrap="square" lIns="0" tIns="0" rIns="0" bIns="0" rtlCol="0" anchor="ctr"/>
          <a:lstStyle/>
          <a:p>
            <a:pPr algn="l" indent="0" marL="0">
              <a:buNone/>
            </a:pPr>
            <a:r>
              <a:rPr lang="en-US" sz="900" dirty="0">
                <a:solidFill>
                  <a:srgbClr val="201F1E"/>
                </a:solidFill>
                <a:latin typeface="Inter" pitchFamily="34" charset="0"/>
                <a:ea typeface="Inter" pitchFamily="34" charset="-122"/>
                <a:cs typeface="Inter" pitchFamily="34" charset="-120"/>
              </a:rPr>
              <a:t>Infrastructure Upgrade - EU</a:t>
            </a:r>
            <a:endParaRPr lang="en-US" sz="900" dirty="0"/>
          </a:p>
        </p:txBody>
      </p:sp>
      <p:sp>
        <p:nvSpPr>
          <p:cNvPr id="85" name="Text 67"/>
          <p:cNvSpPr txBox="1"/>
          <p:nvPr/>
        </p:nvSpPr>
        <p:spPr>
          <a:xfrm>
            <a:off x="571500" y="7029907"/>
            <a:ext cx="874166" cy="152705"/>
          </a:xfrm>
          <a:prstGeom prst="rect">
            <a:avLst/>
          </a:prstGeom>
          <a:noFill/>
          <a:ln/>
        </p:spPr>
        <p:txBody>
          <a:bodyPr wrap="square" lIns="0" tIns="0" rIns="0" bIns="0" rtlCol="0" anchor="ctr"/>
          <a:lstStyle/>
          <a:p>
            <a:pPr algn="l" indent="0" marL="0">
              <a:buNone/>
            </a:pPr>
            <a:r>
              <a:rPr lang="en-US" sz="900" dirty="0">
                <a:solidFill>
                  <a:srgbClr val="201F1E"/>
                </a:solidFill>
                <a:latin typeface="Inter" pitchFamily="34" charset="0"/>
                <a:ea typeface="Inter" pitchFamily="34" charset="-122"/>
                <a:cs typeface="Inter" pitchFamily="34" charset="-120"/>
              </a:rPr>
              <a:t>Marcus Chen</a:t>
            </a:r>
            <a:endParaRPr lang="en-US" sz="900" dirty="0"/>
          </a:p>
        </p:txBody>
      </p:sp>
      <p:sp>
        <p:nvSpPr>
          <p:cNvPr id="86" name="Text 68"/>
          <p:cNvSpPr txBox="1"/>
          <p:nvPr/>
        </p:nvSpPr>
        <p:spPr>
          <a:xfrm>
            <a:off x="571500" y="7215530"/>
            <a:ext cx="865022" cy="152705"/>
          </a:xfrm>
          <a:prstGeom prst="rect">
            <a:avLst/>
          </a:prstGeom>
          <a:noFill/>
          <a:ln/>
        </p:spPr>
        <p:txBody>
          <a:bodyPr wrap="square" lIns="0" tIns="0" rIns="0" bIns="0" rtlCol="0" anchor="ctr"/>
          <a:lstStyle/>
          <a:p>
            <a:pPr algn="l" indent="0" marL="0">
              <a:buNone/>
            </a:pPr>
            <a:r>
              <a:rPr lang="en-US" sz="900" dirty="0">
                <a:solidFill>
                  <a:srgbClr val="201F1E"/>
                </a:solidFill>
                <a:latin typeface="Inter" pitchFamily="34" charset="0"/>
                <a:ea typeface="Inter" pitchFamily="34" charset="-122"/>
                <a:cs typeface="Inter" pitchFamily="34" charset="-120"/>
              </a:rPr>
              <a:t>Dec 13, 2025</a:t>
            </a:r>
            <a:endParaRPr lang="en-US" sz="900" dirty="0"/>
          </a:p>
        </p:txBody>
      </p:sp>
      <p:sp>
        <p:nvSpPr>
          <p:cNvPr id="87" name="Text 69"/>
          <p:cNvSpPr txBox="1"/>
          <p:nvPr/>
        </p:nvSpPr>
        <p:spPr>
          <a:xfrm>
            <a:off x="571500" y="7401154"/>
            <a:ext cx="379476" cy="152705"/>
          </a:xfrm>
          <a:prstGeom prst="rect">
            <a:avLst/>
          </a:prstGeom>
          <a:noFill/>
          <a:ln/>
        </p:spPr>
        <p:txBody>
          <a:bodyPr wrap="square" lIns="0" tIns="0" rIns="0" bIns="0" rtlCol="0" anchor="ctr"/>
          <a:lstStyle/>
          <a:p>
            <a:pPr algn="l" indent="0" marL="0">
              <a:buNone/>
            </a:pPr>
            <a:r>
              <a:rPr lang="en-US" sz="900" b="1" dirty="0">
                <a:solidFill>
                  <a:srgbClr val="FFB900"/>
                </a:solidFill>
                <a:latin typeface="Inter" pitchFamily="34" charset="0"/>
                <a:ea typeface="Inter" pitchFamily="34" charset="-122"/>
                <a:cs typeface="Inter" pitchFamily="34" charset="-120"/>
              </a:rPr>
              <a:t>High</a:t>
            </a:r>
            <a:endParaRPr lang="en-US" sz="900" dirty="0"/>
          </a:p>
        </p:txBody>
      </p:sp>
      <p:sp>
        <p:nvSpPr>
          <p:cNvPr id="88" name="Shape 70"/>
          <p:cNvSpPr/>
          <p:nvPr/>
        </p:nvSpPr>
        <p:spPr>
          <a:xfrm>
            <a:off x="571500" y="7576718"/>
            <a:ext cx="638251" cy="200254"/>
          </a:xfrm>
          <a:prstGeom prst="roundRect">
            <a:avLst>
              <a:gd name="adj" fmla="val 260926"/>
            </a:avLst>
          </a:prstGeom>
          <a:solidFill>
            <a:srgbClr val="FFF4CE"/>
          </a:solidFill>
          <a:ln/>
        </p:spPr>
      </p:sp>
      <p:sp>
        <p:nvSpPr>
          <p:cNvPr id="89" name="Text 71"/>
          <p:cNvSpPr txBox="1"/>
          <p:nvPr/>
        </p:nvSpPr>
        <p:spPr>
          <a:xfrm>
            <a:off x="647395" y="7605979"/>
            <a:ext cx="565099" cy="133502"/>
          </a:xfrm>
          <a:prstGeom prst="rect">
            <a:avLst/>
          </a:prstGeom>
          <a:noFill/>
          <a:ln/>
        </p:spPr>
        <p:txBody>
          <a:bodyPr wrap="square" lIns="0" tIns="0" rIns="0" bIns="0" rtlCol="0" anchor="ctr"/>
          <a:lstStyle/>
          <a:p>
            <a:pPr algn="ctr" indent="0" marL="0">
              <a:buNone/>
            </a:pPr>
            <a:r>
              <a:rPr lang="en-US" sz="800" b="1" dirty="0">
                <a:solidFill>
                  <a:srgbClr val="797775"/>
                </a:solidFill>
                <a:latin typeface="Inter" pitchFamily="34" charset="0"/>
                <a:ea typeface="Inter" pitchFamily="34" charset="-122"/>
                <a:cs typeface="Inter" pitchFamily="34" charset="-120"/>
              </a:rPr>
              <a:t>In Review</a:t>
            </a:r>
            <a:endParaRPr lang="en-US" sz="800" dirty="0"/>
          </a:p>
        </p:txBody>
      </p:sp>
      <p:sp>
        <p:nvSpPr>
          <p:cNvPr id="90" name="Shape 72"/>
          <p:cNvSpPr/>
          <p:nvPr/>
        </p:nvSpPr>
        <p:spPr>
          <a:xfrm>
            <a:off x="381305" y="9134856"/>
            <a:ext cx="11430000" cy="9144"/>
          </a:xfrm>
          <a:prstGeom prst="rect">
            <a:avLst/>
          </a:prstGeom>
          <a:solidFill>
            <a:srgbClr val="F3F2F1"/>
          </a:solidFill>
          <a:ln/>
        </p:spPr>
      </p:sp>
      <p:sp>
        <p:nvSpPr>
          <p:cNvPr id="91" name="Text 73"/>
          <p:cNvSpPr txBox="1"/>
          <p:nvPr/>
        </p:nvSpPr>
        <p:spPr>
          <a:xfrm>
            <a:off x="571500" y="7953451"/>
            <a:ext cx="988466" cy="143561"/>
          </a:xfrm>
          <a:prstGeom prst="rect">
            <a:avLst/>
          </a:prstGeom>
          <a:noFill/>
          <a:ln/>
        </p:spPr>
        <p:txBody>
          <a:bodyPr wrap="square" lIns="0" tIns="0" rIns="0" bIns="0" rtlCol="0" anchor="ctr"/>
          <a:lstStyle/>
          <a:p>
            <a:pPr algn="l" indent="0" marL="0">
              <a:buNone/>
            </a:pPr>
            <a:r>
              <a:rPr lang="en-US" sz="900" dirty="0">
                <a:solidFill>
                  <a:srgbClr val="0078D4"/>
                </a:solidFill>
                <a:latin typeface="Courier New" pitchFamily="34" charset="0"/>
                <a:ea typeface="Courier New" pitchFamily="34" charset="-122"/>
                <a:cs typeface="Courier New" pitchFamily="34" charset="-120"/>
              </a:rPr>
              <a:t>AUD-2025-893</a:t>
            </a:r>
            <a:endParaRPr lang="en-US" sz="900" dirty="0"/>
          </a:p>
        </p:txBody>
      </p:sp>
      <p:sp>
        <p:nvSpPr>
          <p:cNvPr id="92" name="Text 74"/>
          <p:cNvSpPr txBox="1"/>
          <p:nvPr/>
        </p:nvSpPr>
        <p:spPr>
          <a:xfrm>
            <a:off x="571500" y="8129930"/>
            <a:ext cx="1484071" cy="152705"/>
          </a:xfrm>
          <a:prstGeom prst="rect">
            <a:avLst/>
          </a:prstGeom>
          <a:noFill/>
          <a:ln/>
        </p:spPr>
        <p:txBody>
          <a:bodyPr wrap="square" lIns="0" tIns="0" rIns="0" bIns="0" rtlCol="0" anchor="ctr"/>
          <a:lstStyle/>
          <a:p>
            <a:pPr algn="l" indent="0" marL="0">
              <a:buNone/>
            </a:pPr>
            <a:r>
              <a:rPr lang="en-US" sz="900" dirty="0">
                <a:solidFill>
                  <a:srgbClr val="201F1E"/>
                </a:solidFill>
                <a:latin typeface="Inter" pitchFamily="34" charset="0"/>
                <a:ea typeface="Inter" pitchFamily="34" charset="-122"/>
                <a:cs typeface="Inter" pitchFamily="34" charset="-120"/>
              </a:rPr>
              <a:t>Cloud Migration - APAC</a:t>
            </a:r>
            <a:endParaRPr lang="en-US" sz="900" dirty="0"/>
          </a:p>
        </p:txBody>
      </p:sp>
      <p:sp>
        <p:nvSpPr>
          <p:cNvPr id="93" name="Text 75"/>
          <p:cNvSpPr txBox="1"/>
          <p:nvPr/>
        </p:nvSpPr>
        <p:spPr>
          <a:xfrm>
            <a:off x="571500" y="8315554"/>
            <a:ext cx="788213" cy="152705"/>
          </a:xfrm>
          <a:prstGeom prst="rect">
            <a:avLst/>
          </a:prstGeom>
          <a:noFill/>
          <a:ln/>
        </p:spPr>
        <p:txBody>
          <a:bodyPr wrap="square" lIns="0" tIns="0" rIns="0" bIns="0" rtlCol="0" anchor="ctr"/>
          <a:lstStyle/>
          <a:p>
            <a:pPr algn="l" indent="0" marL="0">
              <a:buNone/>
            </a:pPr>
            <a:r>
              <a:rPr lang="en-US" sz="900" dirty="0">
                <a:solidFill>
                  <a:srgbClr val="201F1E"/>
                </a:solidFill>
                <a:latin typeface="Inter" pitchFamily="34" charset="0"/>
                <a:ea typeface="Inter" pitchFamily="34" charset="-122"/>
                <a:cs typeface="Inter" pitchFamily="34" charset="-120"/>
              </a:rPr>
              <a:t>David Miller</a:t>
            </a:r>
            <a:endParaRPr lang="en-US" sz="900" dirty="0"/>
          </a:p>
        </p:txBody>
      </p:sp>
      <p:sp>
        <p:nvSpPr>
          <p:cNvPr id="94" name="Text 76"/>
          <p:cNvSpPr txBox="1"/>
          <p:nvPr/>
        </p:nvSpPr>
        <p:spPr>
          <a:xfrm>
            <a:off x="571500" y="8501177"/>
            <a:ext cx="865022" cy="152705"/>
          </a:xfrm>
          <a:prstGeom prst="rect">
            <a:avLst/>
          </a:prstGeom>
          <a:noFill/>
          <a:ln/>
        </p:spPr>
        <p:txBody>
          <a:bodyPr wrap="square" lIns="0" tIns="0" rIns="0" bIns="0" rtlCol="0" anchor="ctr"/>
          <a:lstStyle/>
          <a:p>
            <a:pPr algn="l" indent="0" marL="0">
              <a:buNone/>
            </a:pPr>
            <a:r>
              <a:rPr lang="en-US" sz="900" dirty="0">
                <a:solidFill>
                  <a:srgbClr val="201F1E"/>
                </a:solidFill>
                <a:latin typeface="Inter" pitchFamily="34" charset="0"/>
                <a:ea typeface="Inter" pitchFamily="34" charset="-122"/>
                <a:cs typeface="Inter" pitchFamily="34" charset="-120"/>
              </a:rPr>
              <a:t>Dec 14, 2025</a:t>
            </a:r>
            <a:endParaRPr lang="en-US" sz="900" dirty="0"/>
          </a:p>
        </p:txBody>
      </p:sp>
      <p:sp>
        <p:nvSpPr>
          <p:cNvPr id="95" name="Text 77"/>
          <p:cNvSpPr txBox="1"/>
          <p:nvPr/>
        </p:nvSpPr>
        <p:spPr>
          <a:xfrm>
            <a:off x="571500" y="8686800"/>
            <a:ext cx="341071" cy="152705"/>
          </a:xfrm>
          <a:prstGeom prst="rect">
            <a:avLst/>
          </a:prstGeom>
          <a:noFill/>
          <a:ln/>
        </p:spPr>
        <p:txBody>
          <a:bodyPr wrap="square" lIns="0" tIns="0" rIns="0" bIns="0" rtlCol="0" anchor="ctr"/>
          <a:lstStyle/>
          <a:p>
            <a:pPr algn="l" indent="0" marL="0">
              <a:buNone/>
            </a:pPr>
            <a:r>
              <a:rPr lang="en-US" sz="900" b="1" dirty="0">
                <a:solidFill>
                  <a:srgbClr val="107C10"/>
                </a:solidFill>
                <a:latin typeface="Inter" pitchFamily="34" charset="0"/>
                <a:ea typeface="Inter" pitchFamily="34" charset="-122"/>
                <a:cs typeface="Inter" pitchFamily="34" charset="-120"/>
              </a:rPr>
              <a:t>Low</a:t>
            </a:r>
            <a:endParaRPr lang="en-US" sz="900" dirty="0"/>
          </a:p>
        </p:txBody>
      </p:sp>
      <p:sp>
        <p:nvSpPr>
          <p:cNvPr id="96" name="Shape 78"/>
          <p:cNvSpPr/>
          <p:nvPr/>
        </p:nvSpPr>
        <p:spPr>
          <a:xfrm>
            <a:off x="571500" y="8863279"/>
            <a:ext cx="514807" cy="200254"/>
          </a:xfrm>
          <a:prstGeom prst="roundRect">
            <a:avLst>
              <a:gd name="adj" fmla="val 260926"/>
            </a:avLst>
          </a:prstGeom>
          <a:solidFill>
            <a:srgbClr val="E6F5E9"/>
          </a:solidFill>
          <a:ln/>
        </p:spPr>
      </p:sp>
      <p:sp>
        <p:nvSpPr>
          <p:cNvPr id="97" name="Text 79"/>
          <p:cNvSpPr txBox="1"/>
          <p:nvPr/>
        </p:nvSpPr>
        <p:spPr>
          <a:xfrm>
            <a:off x="647395" y="8891626"/>
            <a:ext cx="440741" cy="133502"/>
          </a:xfrm>
          <a:prstGeom prst="rect">
            <a:avLst/>
          </a:prstGeom>
          <a:noFill/>
          <a:ln/>
        </p:spPr>
        <p:txBody>
          <a:bodyPr wrap="square" lIns="0" tIns="0" rIns="0" bIns="0" rtlCol="0" anchor="ctr"/>
          <a:lstStyle/>
          <a:p>
            <a:pPr algn="ctr" indent="0" marL="0">
              <a:buNone/>
            </a:pPr>
            <a:r>
              <a:rPr lang="en-US" sz="800" b="1" dirty="0">
                <a:solidFill>
                  <a:srgbClr val="0E700E"/>
                </a:solidFill>
                <a:latin typeface="Inter" pitchFamily="34" charset="0"/>
                <a:ea typeface="Inter" pitchFamily="34" charset="-122"/>
                <a:cs typeface="Inter" pitchFamily="34" charset="-120"/>
              </a:rPr>
              <a:t>Closed</a:t>
            </a:r>
            <a:endParaRPr lang="en-US" sz="800" dirty="0"/>
          </a:p>
        </p:txBody>
      </p:sp>
      <p:sp>
        <p:nvSpPr>
          <p:cNvPr id="98" name="Shape 80"/>
          <p:cNvSpPr/>
          <p:nvPr/>
        </p:nvSpPr>
        <p:spPr>
          <a:xfrm>
            <a:off x="9444838" y="1047902"/>
            <a:ext cx="2523744" cy="352044"/>
          </a:xfrm>
          <a:prstGeom prst="roundRect">
            <a:avLst>
              <a:gd name="adj" fmla="val 28080"/>
            </a:avLst>
          </a:prstGeom>
          <a:solidFill>
            <a:srgbClr val="0078D4"/>
          </a:solidFill>
          <a:ln/>
          <a:effectLst>
            <a:outerShdw sx="100000" sy="100000" kx="0" ky="0" algn="bl" rotWithShape="0" blurRad="76200" dist="38100" dir="5400000">
              <a:srgbClr val="000000">
                <a:alpha val="20000"/>
              </a:srgbClr>
            </a:outerShdw>
          </a:effectLst>
        </p:spPr>
      </p:sp>
      <p:sp>
        <p:nvSpPr>
          <p:cNvPr id="99" name="Text 81"/>
          <p:cNvSpPr txBox="1"/>
          <p:nvPr/>
        </p:nvSpPr>
        <p:spPr>
          <a:xfrm>
            <a:off x="9596628" y="1143000"/>
            <a:ext cx="2319833" cy="162763"/>
          </a:xfrm>
          <a:prstGeom prst="rect">
            <a:avLst/>
          </a:prstGeom>
          <a:noFill/>
          <a:ln/>
        </p:spPr>
        <p:txBody>
          <a:bodyPr wrap="square" lIns="0" tIns="0" rIns="0" bIns="0" rtlCol="0" anchor="ctr"/>
          <a:lstStyle/>
          <a:p>
            <a:pPr algn="l" indent="0" marL="0">
              <a:buNone/>
            </a:pPr>
            <a:r>
              <a:rPr lang="en-US" sz="1000" dirty="0">
                <a:solidFill>
                  <a:srgbClr val="FFFFFF"/>
                </a:solidFill>
                <a:latin typeface="Inter" pitchFamily="34" charset="0"/>
                <a:ea typeface="Inter" pitchFamily="34" charset="-122"/>
                <a:cs typeface="Inter" pitchFamily="34" charset="-120"/>
              </a:rPr>
              <a:t>Click to select Week Ending Dec 14</a:t>
            </a:r>
            <a:endParaRPr lang="en-US" sz="1000" dirty="0"/>
          </a:p>
        </p:txBody>
      </p:sp>
      <p:pic>
        <p:nvPicPr>
          <p:cNvPr id="100" name="Image 16" descr="preencoded.png">    </p:cNvPr>
          <p:cNvPicPr>
            <a:picLocks noChangeAspect="1"/>
          </p:cNvPicPr>
          <p:nvPr/>
        </p:nvPicPr>
        <p:blipFill>
          <a:blip r:embed="rId17"/>
          <a:srcRect l="0" r="0" t="-30" b="-30"/>
          <a:stretch/>
        </p:blipFill>
        <p:spPr>
          <a:xfrm>
            <a:off x="11620195" y="714146"/>
            <a:ext cx="190195" cy="3044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1E1E1E"/>
          </a:solidFill>
          <a:ln/>
        </p:spPr>
      </p:sp>
      <p:sp>
        <p:nvSpPr>
          <p:cNvPr id="4" name="Shape 2"/>
          <p:cNvSpPr/>
          <p:nvPr/>
        </p:nvSpPr>
        <p:spPr>
          <a:xfrm>
            <a:off x="0" y="0"/>
            <a:ext cx="12191695" cy="514807"/>
          </a:xfrm>
          <a:prstGeom prst="rect">
            <a:avLst/>
          </a:prstGeom>
          <a:solidFill>
            <a:srgbClr val="333333"/>
          </a:solidFill>
          <a:ln/>
        </p:spPr>
      </p:sp>
      <p:sp>
        <p:nvSpPr>
          <p:cNvPr id="5" name="Shape 3"/>
          <p:cNvSpPr/>
          <p:nvPr/>
        </p:nvSpPr>
        <p:spPr>
          <a:xfrm>
            <a:off x="0" y="505663"/>
            <a:ext cx="12191695" cy="9144"/>
          </a:xfrm>
          <a:prstGeom prst="rect">
            <a:avLst/>
          </a:prstGeom>
          <a:solidFill>
            <a:srgbClr val="0078D4"/>
          </a:solidFill>
          <a:ln/>
        </p:spPr>
      </p:sp>
      <p:pic>
        <p:nvPicPr>
          <p:cNvPr id="6" name="Image 0" descr="preencoded.png">    </p:cNvPr>
          <p:cNvPicPr>
            <a:picLocks noChangeAspect="1"/>
          </p:cNvPicPr>
          <p:nvPr/>
        </p:nvPicPr>
        <p:blipFill>
          <a:blip r:embed="rId1"/>
          <a:srcRect l="0" r="0" t="-842" b="-842"/>
          <a:stretch/>
        </p:blipFill>
        <p:spPr>
          <a:xfrm>
            <a:off x="228600" y="166421"/>
            <a:ext cx="190195" cy="171907"/>
          </a:xfrm>
          <a:prstGeom prst="rect">
            <a:avLst/>
          </a:prstGeom>
        </p:spPr>
      </p:pic>
      <p:sp>
        <p:nvSpPr>
          <p:cNvPr id="7" name="Text 4"/>
          <p:cNvSpPr txBox="1"/>
          <p:nvPr/>
        </p:nvSpPr>
        <p:spPr>
          <a:xfrm>
            <a:off x="533095" y="133502"/>
            <a:ext cx="2529230" cy="228600"/>
          </a:xfrm>
          <a:prstGeom prst="rect">
            <a:avLst/>
          </a:prstGeom>
          <a:noFill/>
          <a:ln/>
        </p:spPr>
        <p:txBody>
          <a:bodyPr wrap="square" lIns="0" tIns="0" rIns="0" bIns="0" rtlCol="0" anchor="ctr"/>
          <a:lstStyle/>
          <a:p>
            <a:pPr algn="l" indent="0" marL="0">
              <a:buNone/>
            </a:pPr>
            <a:r>
              <a:rPr lang="en-US" sz="1300" b="1" dirty="0">
                <a:solidFill>
                  <a:srgbClr val="FFFFFF"/>
                </a:solidFill>
                <a:latin typeface="Segoe UI" pitchFamily="34" charset="0"/>
                <a:ea typeface="Segoe UI" pitchFamily="34" charset="-122"/>
                <a:cs typeface="Segoe UI" pitchFamily="34" charset="-120"/>
              </a:rPr>
              <a:t>Workflow Automation Console</a:t>
            </a:r>
            <a:endParaRPr lang="en-US" sz="1300" dirty="0"/>
          </a:p>
        </p:txBody>
      </p:sp>
      <p:sp>
        <p:nvSpPr>
          <p:cNvPr id="8" name="Shape 5"/>
          <p:cNvSpPr/>
          <p:nvPr/>
        </p:nvSpPr>
        <p:spPr>
          <a:xfrm>
            <a:off x="4965192" y="105156"/>
            <a:ext cx="2190902" cy="295351"/>
          </a:xfrm>
          <a:prstGeom prst="roundRect">
            <a:avLst>
              <a:gd name="adj" fmla="val 39948"/>
            </a:avLst>
          </a:prstGeom>
          <a:solidFill>
            <a:srgbClr val="3C3C3C"/>
          </a:solidFill>
          <a:ln w="12700">
            <a:solidFill>
              <a:srgbClr val="505050"/>
            </a:solidFill>
            <a:prstDash val="solid"/>
          </a:ln>
        </p:spPr>
      </p:sp>
      <p:pic>
        <p:nvPicPr>
          <p:cNvPr id="9" name="Image 1" descr="preencoded.png">    </p:cNvPr>
          <p:cNvPicPr>
            <a:picLocks noChangeAspect="1"/>
          </p:cNvPicPr>
          <p:nvPr/>
        </p:nvPicPr>
        <p:blipFill>
          <a:blip r:embed="rId2"/>
          <a:srcRect l="0" r="0" t="0" b="0"/>
          <a:stretch/>
        </p:blipFill>
        <p:spPr>
          <a:xfrm>
            <a:off x="5070348" y="188366"/>
            <a:ext cx="133502" cy="133502"/>
          </a:xfrm>
          <a:prstGeom prst="rect">
            <a:avLst/>
          </a:prstGeom>
        </p:spPr>
      </p:pic>
      <p:sp>
        <p:nvSpPr>
          <p:cNvPr id="10" name="Text 6"/>
          <p:cNvSpPr txBox="1"/>
          <p:nvPr/>
        </p:nvSpPr>
        <p:spPr>
          <a:xfrm>
            <a:off x="5202936" y="161849"/>
            <a:ext cx="1948586" cy="181051"/>
          </a:xfrm>
          <a:prstGeom prst="rect">
            <a:avLst/>
          </a:prstGeom>
          <a:noFill/>
          <a:ln/>
        </p:spPr>
        <p:txBody>
          <a:bodyPr wrap="square" lIns="0" tIns="0" rIns="0" bIns="0" rtlCol="0" anchor="ctr"/>
          <a:lstStyle/>
          <a:p>
            <a:pPr algn="l" indent="0" marL="0">
              <a:buNone/>
            </a:pPr>
            <a:r>
              <a:rPr lang="en-US" sz="1000" dirty="0">
                <a:solidFill>
                  <a:srgbClr val="CCCCCC"/>
                </a:solidFill>
                <a:latin typeface="Courier New" pitchFamily="34" charset="0"/>
                <a:ea typeface="Courier New" pitchFamily="34" charset="-122"/>
                <a:cs typeface="Courier New" pitchFamily="34" charset="-120"/>
              </a:rPr>
              <a:t>Run ID: 2025-12-15-0900</a:t>
            </a:r>
            <a:endParaRPr lang="en-US" sz="1000" dirty="0"/>
          </a:p>
        </p:txBody>
      </p:sp>
      <p:sp>
        <p:nvSpPr>
          <p:cNvPr id="11" name="Shape 7"/>
          <p:cNvSpPr/>
          <p:nvPr/>
        </p:nvSpPr>
        <p:spPr>
          <a:xfrm>
            <a:off x="7377379" y="105156"/>
            <a:ext cx="2809951" cy="295351"/>
          </a:xfrm>
          <a:prstGeom prst="roundRect">
            <a:avLst>
              <a:gd name="adj" fmla="val 39948"/>
            </a:avLst>
          </a:prstGeom>
          <a:solidFill>
            <a:srgbClr val="3C3C3C"/>
          </a:solidFill>
          <a:ln w="12700">
            <a:solidFill>
              <a:srgbClr val="505050"/>
            </a:solidFill>
            <a:prstDash val="solid"/>
          </a:ln>
        </p:spPr>
      </p:sp>
      <p:pic>
        <p:nvPicPr>
          <p:cNvPr id="12" name="Image 2" descr="preencoded.png">    </p:cNvPr>
          <p:cNvPicPr>
            <a:picLocks noChangeAspect="1"/>
          </p:cNvPicPr>
          <p:nvPr/>
        </p:nvPicPr>
        <p:blipFill>
          <a:blip r:embed="rId3"/>
          <a:srcRect l="0" r="0" t="-1100" b="-1100"/>
          <a:stretch/>
        </p:blipFill>
        <p:spPr>
          <a:xfrm>
            <a:off x="7481621" y="188366"/>
            <a:ext cx="114300" cy="133502"/>
          </a:xfrm>
          <a:prstGeom prst="rect">
            <a:avLst/>
          </a:prstGeom>
        </p:spPr>
      </p:pic>
      <p:sp>
        <p:nvSpPr>
          <p:cNvPr id="13" name="Text 8"/>
          <p:cNvSpPr txBox="1"/>
          <p:nvPr/>
        </p:nvSpPr>
        <p:spPr>
          <a:xfrm>
            <a:off x="7595921" y="161849"/>
            <a:ext cx="2586838" cy="181051"/>
          </a:xfrm>
          <a:prstGeom prst="rect">
            <a:avLst/>
          </a:prstGeom>
          <a:noFill/>
          <a:ln/>
        </p:spPr>
        <p:txBody>
          <a:bodyPr wrap="square" lIns="0" tIns="0" rIns="0" bIns="0" rtlCol="0" anchor="ctr"/>
          <a:lstStyle/>
          <a:p>
            <a:pPr algn="l" indent="0" marL="0">
              <a:buNone/>
            </a:pPr>
            <a:r>
              <a:rPr lang="en-US" sz="1000" dirty="0">
                <a:solidFill>
                  <a:srgbClr val="CCCCCC"/>
                </a:solidFill>
                <a:latin typeface="Courier New" pitchFamily="34" charset="0"/>
                <a:ea typeface="Courier New" pitchFamily="34" charset="-122"/>
                <a:cs typeface="Courier New" pitchFamily="34" charset="-120"/>
              </a:rPr>
              <a:t>Schedule: Weekly (Mon 09:00 AM)</a:t>
            </a:r>
            <a:endParaRPr lang="en-US" sz="1000" dirty="0"/>
          </a:p>
        </p:txBody>
      </p:sp>
      <p:sp>
        <p:nvSpPr>
          <p:cNvPr id="14" name="Shape 9"/>
          <p:cNvSpPr/>
          <p:nvPr/>
        </p:nvSpPr>
        <p:spPr>
          <a:xfrm>
            <a:off x="10410444" y="105156"/>
            <a:ext cx="1561795" cy="295351"/>
          </a:xfrm>
          <a:prstGeom prst="roundRect">
            <a:avLst>
              <a:gd name="adj" fmla="val 39948"/>
            </a:avLst>
          </a:prstGeom>
          <a:solidFill>
            <a:srgbClr val="3C3C3C"/>
          </a:solidFill>
          <a:ln w="12700">
            <a:solidFill>
              <a:srgbClr val="0078D4"/>
            </a:solidFill>
            <a:prstDash val="solid"/>
          </a:ln>
        </p:spPr>
      </p:sp>
      <p:pic>
        <p:nvPicPr>
          <p:cNvPr id="15" name="Image 3" descr="preencoded.png">    </p:cNvPr>
          <p:cNvPicPr>
            <a:picLocks noChangeAspect="1"/>
          </p:cNvPicPr>
          <p:nvPr/>
        </p:nvPicPr>
        <p:blipFill>
          <a:blip r:embed="rId4"/>
          <a:srcRect l="0" r="0" t="0" b="0"/>
          <a:stretch/>
        </p:blipFill>
        <p:spPr>
          <a:xfrm>
            <a:off x="10489082" y="152705"/>
            <a:ext cx="200254" cy="200254"/>
          </a:xfrm>
          <a:prstGeom prst="rect">
            <a:avLst/>
          </a:prstGeom>
        </p:spPr>
      </p:pic>
      <p:sp>
        <p:nvSpPr>
          <p:cNvPr id="16" name="Text 10"/>
          <p:cNvSpPr txBox="1"/>
          <p:nvPr/>
        </p:nvSpPr>
        <p:spPr>
          <a:xfrm>
            <a:off x="10658246" y="161849"/>
            <a:ext cx="1310335" cy="181051"/>
          </a:xfrm>
          <a:prstGeom prst="rect">
            <a:avLst/>
          </a:prstGeom>
          <a:noFill/>
          <a:ln/>
        </p:spPr>
        <p:txBody>
          <a:bodyPr wrap="square" lIns="0" tIns="0" rIns="0" bIns="0" rtlCol="0" anchor="ctr"/>
          <a:lstStyle/>
          <a:p>
            <a:pPr algn="l" indent="0" marL="0">
              <a:buNone/>
            </a:pPr>
            <a:r>
              <a:rPr lang="en-US" sz="1000" dirty="0">
                <a:solidFill>
                  <a:srgbClr val="5CBBF5"/>
                </a:solidFill>
                <a:latin typeface="Courier New" pitchFamily="34" charset="0"/>
                <a:ea typeface="Courier New" pitchFamily="34" charset="-122"/>
                <a:cs typeface="Courier New" pitchFamily="34" charset="-120"/>
              </a:rPr>
              <a:t>Status: Running</a:t>
            </a:r>
            <a:endParaRPr lang="en-US" sz="1000" dirty="0"/>
          </a:p>
        </p:txBody>
      </p:sp>
      <p:sp>
        <p:nvSpPr>
          <p:cNvPr id="17" name="Shape 11"/>
          <p:cNvSpPr/>
          <p:nvPr/>
        </p:nvSpPr>
        <p:spPr>
          <a:xfrm>
            <a:off x="190195" y="705002"/>
            <a:ext cx="7420356" cy="5962802"/>
          </a:xfrm>
          <a:prstGeom prst="roundRect">
            <a:avLst>
              <a:gd name="adj" fmla="val 147"/>
            </a:avLst>
          </a:prstGeom>
          <a:solidFill>
            <a:srgbClr val="252526"/>
          </a:solidFill>
          <a:ln w="12700">
            <a:solidFill>
              <a:srgbClr val="3E3E42"/>
            </a:solidFill>
            <a:prstDash val="solid"/>
          </a:ln>
        </p:spPr>
      </p:sp>
      <p:sp>
        <p:nvSpPr>
          <p:cNvPr id="18" name="Text 12"/>
          <p:cNvSpPr txBox="1"/>
          <p:nvPr/>
        </p:nvSpPr>
        <p:spPr>
          <a:xfrm>
            <a:off x="390449" y="914400"/>
            <a:ext cx="1396289" cy="181051"/>
          </a:xfrm>
          <a:prstGeom prst="rect">
            <a:avLst/>
          </a:prstGeom>
          <a:noFill/>
          <a:ln/>
        </p:spPr>
        <p:txBody>
          <a:bodyPr wrap="square" lIns="0" tIns="0" rIns="0" bIns="0" rtlCol="0" anchor="ctr"/>
          <a:lstStyle/>
          <a:p>
            <a:pPr algn="l" indent="0" marL="0">
              <a:buNone/>
            </a:pPr>
            <a:r>
              <a:rPr lang="en-US" sz="1000" b="1" dirty="0">
                <a:solidFill>
                  <a:srgbClr val="858585"/>
                </a:solidFill>
                <a:latin typeface="Segoe UI" pitchFamily="34" charset="0"/>
                <a:ea typeface="Segoe UI" pitchFamily="34" charset="-122"/>
                <a:cs typeface="Segoe UI" pitchFamily="34" charset="-120"/>
              </a:rPr>
              <a:t>EXECUTION PIPELINE</a:t>
            </a:r>
            <a:endParaRPr lang="en-US" sz="1000" dirty="0"/>
          </a:p>
        </p:txBody>
      </p:sp>
      <p:pic>
        <p:nvPicPr>
          <p:cNvPr id="19" name="Image 4" descr="preencoded.png">    </p:cNvPr>
          <p:cNvPicPr>
            <a:picLocks noChangeAspect="1"/>
          </p:cNvPicPr>
          <p:nvPr/>
        </p:nvPicPr>
        <p:blipFill>
          <a:blip r:embed="rId5"/>
          <a:srcRect l="0" r="0" t="0" b="0"/>
          <a:stretch/>
        </p:blipFill>
        <p:spPr>
          <a:xfrm>
            <a:off x="6975958" y="905256"/>
            <a:ext cx="200254" cy="200254"/>
          </a:xfrm>
          <a:prstGeom prst="rect">
            <a:avLst/>
          </a:prstGeom>
        </p:spPr>
      </p:pic>
      <p:sp>
        <p:nvSpPr>
          <p:cNvPr id="20" name="Text 13"/>
          <p:cNvSpPr txBox="1"/>
          <p:nvPr/>
        </p:nvSpPr>
        <p:spPr>
          <a:xfrm>
            <a:off x="7144207" y="914400"/>
            <a:ext cx="367589" cy="181051"/>
          </a:xfrm>
          <a:prstGeom prst="rect">
            <a:avLst/>
          </a:prstGeom>
          <a:noFill/>
          <a:ln/>
        </p:spPr>
        <p:txBody>
          <a:bodyPr wrap="square" lIns="0" tIns="0" rIns="0" bIns="0" rtlCol="0" anchor="ctr"/>
          <a:lstStyle/>
          <a:p>
            <a:pPr algn="l" indent="0" marL="0">
              <a:buNone/>
            </a:pPr>
            <a:r>
              <a:rPr lang="en-US" sz="1000" b="1" dirty="0">
                <a:solidFill>
                  <a:srgbClr val="858585"/>
                </a:solidFill>
                <a:latin typeface="Segoe UI" pitchFamily="34" charset="0"/>
                <a:ea typeface="Segoe UI" pitchFamily="34" charset="-122"/>
                <a:cs typeface="Segoe UI" pitchFamily="34" charset="-120"/>
              </a:rPr>
              <a:t>LIVE</a:t>
            </a:r>
            <a:endParaRPr lang="en-US" sz="1000" dirty="0"/>
          </a:p>
        </p:txBody>
      </p:sp>
      <p:sp>
        <p:nvSpPr>
          <p:cNvPr id="21" name="Shape 14"/>
          <p:cNvSpPr/>
          <p:nvPr/>
        </p:nvSpPr>
        <p:spPr>
          <a:xfrm>
            <a:off x="847649" y="1295705"/>
            <a:ext cx="6562649" cy="676656"/>
          </a:xfrm>
          <a:prstGeom prst="roundRect">
            <a:avLst>
              <a:gd name="adj" fmla="val 7613"/>
            </a:avLst>
          </a:prstGeom>
          <a:solidFill>
            <a:srgbClr val="2D2D30"/>
          </a:solidFill>
          <a:ln w="12700">
            <a:solidFill>
              <a:srgbClr val="3E3E42"/>
            </a:solidFill>
            <a:prstDash val="solid"/>
          </a:ln>
        </p:spPr>
      </p:sp>
      <p:sp>
        <p:nvSpPr>
          <p:cNvPr id="22" name="Text 15"/>
          <p:cNvSpPr txBox="1"/>
          <p:nvPr/>
        </p:nvSpPr>
        <p:spPr>
          <a:xfrm>
            <a:off x="1009498" y="1429207"/>
            <a:ext cx="1708099" cy="191110"/>
          </a:xfrm>
          <a:prstGeom prst="rect">
            <a:avLst/>
          </a:prstGeom>
          <a:noFill/>
          <a:ln/>
        </p:spPr>
        <p:txBody>
          <a:bodyPr wrap="square" lIns="0" tIns="0" rIns="0" bIns="0" rtlCol="0" anchor="ctr"/>
          <a:lstStyle/>
          <a:p>
            <a:pPr algn="l" indent="0" marL="0">
              <a:buNone/>
            </a:pPr>
            <a:r>
              <a:rPr lang="en-US" sz="1100" b="1" dirty="0">
                <a:solidFill>
                  <a:srgbClr val="F1F1F1"/>
                </a:solidFill>
                <a:latin typeface="Segoe UI" pitchFamily="34" charset="0"/>
                <a:ea typeface="Segoe UI" pitchFamily="34" charset="-122"/>
                <a:cs typeface="Segoe UI" pitchFamily="34" charset="-120"/>
              </a:rPr>
              <a:t>Weekly Schedule Trigger</a:t>
            </a:r>
            <a:endParaRPr lang="en-US" sz="1100" dirty="0"/>
          </a:p>
        </p:txBody>
      </p:sp>
      <p:sp>
        <p:nvSpPr>
          <p:cNvPr id="23" name="Text 16"/>
          <p:cNvSpPr txBox="1"/>
          <p:nvPr/>
        </p:nvSpPr>
        <p:spPr>
          <a:xfrm>
            <a:off x="1009498" y="1681582"/>
            <a:ext cx="1791310" cy="152705"/>
          </a:xfrm>
          <a:prstGeom prst="rect">
            <a:avLst/>
          </a:prstGeom>
          <a:noFill/>
          <a:ln/>
        </p:spPr>
        <p:txBody>
          <a:bodyPr wrap="square" lIns="0" tIns="0" rIns="0" bIns="0" rtlCol="0" anchor="ctr"/>
          <a:lstStyle/>
          <a:p>
            <a:pPr algn="l" indent="0" marL="0">
              <a:buNone/>
            </a:pPr>
            <a:r>
              <a:rPr lang="en-US" sz="900" dirty="0">
                <a:solidFill>
                  <a:srgbClr val="A1A1A1"/>
                </a:solidFill>
                <a:latin typeface="Segoe UI" pitchFamily="34" charset="0"/>
                <a:ea typeface="Segoe UI" pitchFamily="34" charset="-122"/>
                <a:cs typeface="Segoe UI" pitchFamily="34" charset="-120"/>
              </a:rPr>
              <a:t>Initiated via Logic Apps Scheduler</a:t>
            </a:r>
            <a:endParaRPr lang="en-US" sz="900" dirty="0"/>
          </a:p>
        </p:txBody>
      </p:sp>
      <p:sp>
        <p:nvSpPr>
          <p:cNvPr id="24" name="Text 17"/>
          <p:cNvSpPr txBox="1"/>
          <p:nvPr/>
        </p:nvSpPr>
        <p:spPr>
          <a:xfrm>
            <a:off x="6692494" y="1438351"/>
            <a:ext cx="638251" cy="152705"/>
          </a:xfrm>
          <a:prstGeom prst="rect">
            <a:avLst/>
          </a:prstGeom>
          <a:noFill/>
          <a:ln/>
        </p:spPr>
        <p:txBody>
          <a:bodyPr wrap="square" lIns="0" tIns="0" rIns="0" bIns="0" rtlCol="0" anchor="ctr"/>
          <a:lstStyle/>
          <a:p>
            <a:pPr algn="r" indent="0" marL="0">
              <a:buNone/>
            </a:pPr>
            <a:r>
              <a:rPr lang="en-US" sz="900" dirty="0">
                <a:solidFill>
                  <a:srgbClr val="858585"/>
                </a:solidFill>
                <a:latin typeface="Courier New" pitchFamily="34" charset="0"/>
                <a:ea typeface="Courier New" pitchFamily="34" charset="-122"/>
                <a:cs typeface="Courier New" pitchFamily="34" charset="-120"/>
              </a:rPr>
              <a:t>09:00:01</a:t>
            </a:r>
            <a:endParaRPr lang="en-US" sz="900" dirty="0"/>
          </a:p>
        </p:txBody>
      </p:sp>
      <p:sp>
        <p:nvSpPr>
          <p:cNvPr id="25" name="Shape 18"/>
          <p:cNvSpPr/>
          <p:nvPr/>
        </p:nvSpPr>
        <p:spPr>
          <a:xfrm>
            <a:off x="6648602" y="1638605"/>
            <a:ext cx="599846" cy="200254"/>
          </a:xfrm>
          <a:prstGeom prst="roundRect">
            <a:avLst>
              <a:gd name="adj" fmla="val 86975"/>
            </a:avLst>
          </a:prstGeom>
          <a:solidFill>
            <a:srgbClr val="107C10">
              <a:alpha val="20000"/>
            </a:srgbClr>
          </a:solidFill>
          <a:ln/>
        </p:spPr>
      </p:sp>
      <p:sp>
        <p:nvSpPr>
          <p:cNvPr id="26" name="Text 19"/>
          <p:cNvSpPr txBox="1"/>
          <p:nvPr/>
        </p:nvSpPr>
        <p:spPr>
          <a:xfrm>
            <a:off x="6724498" y="1657807"/>
            <a:ext cx="526694" cy="143561"/>
          </a:xfrm>
          <a:prstGeom prst="rect">
            <a:avLst/>
          </a:prstGeom>
          <a:noFill/>
          <a:ln/>
        </p:spPr>
        <p:txBody>
          <a:bodyPr wrap="square" lIns="0" tIns="0" rIns="0" bIns="0" rtlCol="0" anchor="ctr"/>
          <a:lstStyle/>
          <a:p>
            <a:pPr algn="r" indent="0" marL="0">
              <a:buNone/>
            </a:pPr>
            <a:r>
              <a:rPr lang="en-US" sz="800" b="1" dirty="0">
                <a:solidFill>
                  <a:srgbClr val="57D457"/>
                </a:solidFill>
                <a:latin typeface="Courier New" pitchFamily="34" charset="0"/>
                <a:ea typeface="Courier New" pitchFamily="34" charset="-122"/>
                <a:cs typeface="Courier New" pitchFamily="34" charset="-120"/>
              </a:rPr>
              <a:t>Success</a:t>
            </a:r>
            <a:endParaRPr lang="en-US" sz="800" dirty="0"/>
          </a:p>
        </p:txBody>
      </p:sp>
      <p:sp>
        <p:nvSpPr>
          <p:cNvPr id="27" name="Shape 20"/>
          <p:cNvSpPr/>
          <p:nvPr/>
        </p:nvSpPr>
        <p:spPr>
          <a:xfrm>
            <a:off x="847649" y="2195474"/>
            <a:ext cx="6562649" cy="676656"/>
          </a:xfrm>
          <a:prstGeom prst="roundRect">
            <a:avLst>
              <a:gd name="adj" fmla="val 7613"/>
            </a:avLst>
          </a:prstGeom>
          <a:solidFill>
            <a:srgbClr val="2D2D30"/>
          </a:solidFill>
          <a:ln w="12700">
            <a:solidFill>
              <a:srgbClr val="3E3E42"/>
            </a:solidFill>
            <a:prstDash val="solid"/>
          </a:ln>
        </p:spPr>
      </p:sp>
      <p:sp>
        <p:nvSpPr>
          <p:cNvPr id="28" name="Text 21"/>
          <p:cNvSpPr txBox="1"/>
          <p:nvPr/>
        </p:nvSpPr>
        <p:spPr>
          <a:xfrm>
            <a:off x="1009498" y="2328977"/>
            <a:ext cx="1441094" cy="191110"/>
          </a:xfrm>
          <a:prstGeom prst="rect">
            <a:avLst/>
          </a:prstGeom>
          <a:noFill/>
          <a:ln/>
        </p:spPr>
        <p:txBody>
          <a:bodyPr wrap="square" lIns="0" tIns="0" rIns="0" bIns="0" rtlCol="0" anchor="ctr"/>
          <a:lstStyle/>
          <a:p>
            <a:pPr algn="l" indent="0" marL="0">
              <a:buNone/>
            </a:pPr>
            <a:r>
              <a:rPr lang="en-US" sz="1100" b="1" dirty="0">
                <a:solidFill>
                  <a:srgbClr val="F1F1F1"/>
                </a:solidFill>
                <a:latin typeface="Segoe UI" pitchFamily="34" charset="0"/>
                <a:ea typeface="Segoe UI" pitchFamily="34" charset="-122"/>
                <a:cs typeface="Segoe UI" pitchFamily="34" charset="-120"/>
              </a:rPr>
              <a:t>Authenticate to FDO</a:t>
            </a:r>
            <a:endParaRPr lang="en-US" sz="1100" dirty="0"/>
          </a:p>
        </p:txBody>
      </p:sp>
      <p:sp>
        <p:nvSpPr>
          <p:cNvPr id="29" name="Text 22"/>
          <p:cNvSpPr txBox="1"/>
          <p:nvPr/>
        </p:nvSpPr>
        <p:spPr>
          <a:xfrm>
            <a:off x="1009498" y="2581351"/>
            <a:ext cx="2229307" cy="152705"/>
          </a:xfrm>
          <a:prstGeom prst="rect">
            <a:avLst/>
          </a:prstGeom>
          <a:noFill/>
          <a:ln/>
        </p:spPr>
        <p:txBody>
          <a:bodyPr wrap="square" lIns="0" tIns="0" rIns="0" bIns="0" rtlCol="0" anchor="ctr"/>
          <a:lstStyle/>
          <a:p>
            <a:pPr algn="l" indent="0" marL="0">
              <a:buNone/>
            </a:pPr>
            <a:r>
              <a:rPr lang="en-US" sz="900" dirty="0">
                <a:solidFill>
                  <a:srgbClr val="A1A1A1"/>
                </a:solidFill>
                <a:latin typeface="Segoe UI" pitchFamily="34" charset="0"/>
                <a:ea typeface="Segoe UI" pitchFamily="34" charset="-122"/>
                <a:cs typeface="Segoe UI" pitchFamily="34" charset="-120"/>
              </a:rPr>
              <a:t>Azure AD Service Principal Token Acquired</a:t>
            </a:r>
            <a:endParaRPr lang="en-US" sz="900" dirty="0"/>
          </a:p>
        </p:txBody>
      </p:sp>
      <p:sp>
        <p:nvSpPr>
          <p:cNvPr id="30" name="Text 23"/>
          <p:cNvSpPr txBox="1"/>
          <p:nvPr/>
        </p:nvSpPr>
        <p:spPr>
          <a:xfrm>
            <a:off x="6692494" y="2338121"/>
            <a:ext cx="638251" cy="152705"/>
          </a:xfrm>
          <a:prstGeom prst="rect">
            <a:avLst/>
          </a:prstGeom>
          <a:noFill/>
          <a:ln/>
        </p:spPr>
        <p:txBody>
          <a:bodyPr wrap="square" lIns="0" tIns="0" rIns="0" bIns="0" rtlCol="0" anchor="ctr"/>
          <a:lstStyle/>
          <a:p>
            <a:pPr algn="r" indent="0" marL="0">
              <a:buNone/>
            </a:pPr>
            <a:r>
              <a:rPr lang="en-US" sz="900" dirty="0">
                <a:solidFill>
                  <a:srgbClr val="858585"/>
                </a:solidFill>
                <a:latin typeface="Courier New" pitchFamily="34" charset="0"/>
                <a:ea typeface="Courier New" pitchFamily="34" charset="-122"/>
                <a:cs typeface="Courier New" pitchFamily="34" charset="-120"/>
              </a:rPr>
              <a:t>09:00:03</a:t>
            </a:r>
            <a:endParaRPr lang="en-US" sz="900" dirty="0"/>
          </a:p>
        </p:txBody>
      </p:sp>
      <p:sp>
        <p:nvSpPr>
          <p:cNvPr id="31" name="Shape 24"/>
          <p:cNvSpPr/>
          <p:nvPr/>
        </p:nvSpPr>
        <p:spPr>
          <a:xfrm>
            <a:off x="6648602" y="2538374"/>
            <a:ext cx="599846" cy="200254"/>
          </a:xfrm>
          <a:prstGeom prst="roundRect">
            <a:avLst>
              <a:gd name="adj" fmla="val 86975"/>
            </a:avLst>
          </a:prstGeom>
          <a:solidFill>
            <a:srgbClr val="107C10">
              <a:alpha val="20000"/>
            </a:srgbClr>
          </a:solidFill>
          <a:ln/>
        </p:spPr>
      </p:sp>
      <p:sp>
        <p:nvSpPr>
          <p:cNvPr id="32" name="Text 25"/>
          <p:cNvSpPr txBox="1"/>
          <p:nvPr/>
        </p:nvSpPr>
        <p:spPr>
          <a:xfrm>
            <a:off x="6724498" y="2557577"/>
            <a:ext cx="526694" cy="143561"/>
          </a:xfrm>
          <a:prstGeom prst="rect">
            <a:avLst/>
          </a:prstGeom>
          <a:noFill/>
          <a:ln/>
        </p:spPr>
        <p:txBody>
          <a:bodyPr wrap="square" lIns="0" tIns="0" rIns="0" bIns="0" rtlCol="0" anchor="ctr"/>
          <a:lstStyle/>
          <a:p>
            <a:pPr algn="r" indent="0" marL="0">
              <a:buNone/>
            </a:pPr>
            <a:r>
              <a:rPr lang="en-US" sz="800" b="1" dirty="0">
                <a:solidFill>
                  <a:srgbClr val="57D457"/>
                </a:solidFill>
                <a:latin typeface="Courier New" pitchFamily="34" charset="0"/>
                <a:ea typeface="Courier New" pitchFamily="34" charset="-122"/>
                <a:cs typeface="Courier New" pitchFamily="34" charset="-120"/>
              </a:rPr>
              <a:t>Success</a:t>
            </a:r>
            <a:endParaRPr lang="en-US" sz="800" dirty="0"/>
          </a:p>
        </p:txBody>
      </p:sp>
      <p:sp>
        <p:nvSpPr>
          <p:cNvPr id="33" name="Shape 26"/>
          <p:cNvSpPr/>
          <p:nvPr/>
        </p:nvSpPr>
        <p:spPr>
          <a:xfrm>
            <a:off x="847649" y="3095244"/>
            <a:ext cx="6562649" cy="676656"/>
          </a:xfrm>
          <a:prstGeom prst="roundRect">
            <a:avLst>
              <a:gd name="adj" fmla="val 7613"/>
            </a:avLst>
          </a:prstGeom>
          <a:solidFill>
            <a:srgbClr val="2D2D30"/>
          </a:solidFill>
          <a:ln w="12700">
            <a:solidFill>
              <a:srgbClr val="3E3E42"/>
            </a:solidFill>
            <a:prstDash val="solid"/>
          </a:ln>
        </p:spPr>
      </p:sp>
      <p:sp>
        <p:nvSpPr>
          <p:cNvPr id="34" name="Text 27"/>
          <p:cNvSpPr txBox="1"/>
          <p:nvPr/>
        </p:nvSpPr>
        <p:spPr>
          <a:xfrm>
            <a:off x="1009498" y="3228746"/>
            <a:ext cx="1288390" cy="191110"/>
          </a:xfrm>
          <a:prstGeom prst="rect">
            <a:avLst/>
          </a:prstGeom>
          <a:noFill/>
          <a:ln/>
        </p:spPr>
        <p:txBody>
          <a:bodyPr wrap="square" lIns="0" tIns="0" rIns="0" bIns="0" rtlCol="0" anchor="ctr"/>
          <a:lstStyle/>
          <a:p>
            <a:pPr algn="l" indent="0" marL="0">
              <a:buNone/>
            </a:pPr>
            <a:r>
              <a:rPr lang="en-US" sz="1100" b="1" dirty="0">
                <a:solidFill>
                  <a:srgbClr val="F1F1F1"/>
                </a:solidFill>
                <a:latin typeface="Segoe UI" pitchFamily="34" charset="0"/>
                <a:ea typeface="Segoe UI" pitchFamily="34" charset="-122"/>
                <a:cs typeface="Segoe UI" pitchFamily="34" charset="-120"/>
              </a:rPr>
              <a:t>Extract Audit Data</a:t>
            </a:r>
            <a:endParaRPr lang="en-US" sz="1100" dirty="0"/>
          </a:p>
        </p:txBody>
      </p:sp>
      <p:sp>
        <p:nvSpPr>
          <p:cNvPr id="35" name="Text 28"/>
          <p:cNvSpPr txBox="1"/>
          <p:nvPr/>
        </p:nvSpPr>
        <p:spPr>
          <a:xfrm>
            <a:off x="1009498" y="3481121"/>
            <a:ext cx="1571854" cy="152705"/>
          </a:xfrm>
          <a:prstGeom prst="rect">
            <a:avLst/>
          </a:prstGeom>
          <a:noFill/>
          <a:ln/>
        </p:spPr>
        <p:txBody>
          <a:bodyPr wrap="square" lIns="0" tIns="0" rIns="0" bIns="0" rtlCol="0" anchor="ctr"/>
          <a:lstStyle/>
          <a:p>
            <a:pPr algn="l" indent="0" marL="0">
              <a:buNone/>
            </a:pPr>
            <a:r>
              <a:rPr lang="en-US" sz="900" dirty="0">
                <a:solidFill>
                  <a:srgbClr val="A1A1A1"/>
                </a:solidFill>
                <a:latin typeface="Segoe UI" pitchFamily="34" charset="0"/>
                <a:ea typeface="Segoe UI" pitchFamily="34" charset="-122"/>
                <a:cs typeface="Segoe UI" pitchFamily="34" charset="-120"/>
              </a:rPr>
              <a:t>Query: Last Week, All Projects</a:t>
            </a:r>
            <a:endParaRPr lang="en-US" sz="900" dirty="0"/>
          </a:p>
        </p:txBody>
      </p:sp>
      <p:sp>
        <p:nvSpPr>
          <p:cNvPr id="36" name="Text 29"/>
          <p:cNvSpPr txBox="1"/>
          <p:nvPr/>
        </p:nvSpPr>
        <p:spPr>
          <a:xfrm>
            <a:off x="6692494" y="3238805"/>
            <a:ext cx="638251" cy="152705"/>
          </a:xfrm>
          <a:prstGeom prst="rect">
            <a:avLst/>
          </a:prstGeom>
          <a:noFill/>
          <a:ln/>
        </p:spPr>
        <p:txBody>
          <a:bodyPr wrap="square" lIns="0" tIns="0" rIns="0" bIns="0" rtlCol="0" anchor="ctr"/>
          <a:lstStyle/>
          <a:p>
            <a:pPr algn="r" indent="0" marL="0">
              <a:buNone/>
            </a:pPr>
            <a:r>
              <a:rPr lang="en-US" sz="900" dirty="0">
                <a:solidFill>
                  <a:srgbClr val="858585"/>
                </a:solidFill>
                <a:latin typeface="Courier New" pitchFamily="34" charset="0"/>
                <a:ea typeface="Courier New" pitchFamily="34" charset="-122"/>
                <a:cs typeface="Courier New" pitchFamily="34" charset="-120"/>
              </a:rPr>
              <a:t>09:00:15</a:t>
            </a:r>
            <a:endParaRPr lang="en-US" sz="900" dirty="0"/>
          </a:p>
        </p:txBody>
      </p:sp>
      <p:sp>
        <p:nvSpPr>
          <p:cNvPr id="37" name="Shape 30"/>
          <p:cNvSpPr/>
          <p:nvPr/>
        </p:nvSpPr>
        <p:spPr>
          <a:xfrm>
            <a:off x="6397142" y="3438144"/>
            <a:ext cx="847649" cy="200254"/>
          </a:xfrm>
          <a:prstGeom prst="roundRect">
            <a:avLst>
              <a:gd name="adj" fmla="val 86975"/>
            </a:avLst>
          </a:prstGeom>
          <a:solidFill>
            <a:srgbClr val="107C10">
              <a:alpha val="20000"/>
            </a:srgbClr>
          </a:solidFill>
          <a:ln/>
        </p:spPr>
      </p:sp>
      <p:sp>
        <p:nvSpPr>
          <p:cNvPr id="38" name="Text 31"/>
          <p:cNvSpPr txBox="1"/>
          <p:nvPr/>
        </p:nvSpPr>
        <p:spPr>
          <a:xfrm>
            <a:off x="6473038" y="3457346"/>
            <a:ext cx="774497" cy="143561"/>
          </a:xfrm>
          <a:prstGeom prst="rect">
            <a:avLst/>
          </a:prstGeom>
          <a:noFill/>
          <a:ln/>
        </p:spPr>
        <p:txBody>
          <a:bodyPr wrap="square" lIns="0" tIns="0" rIns="0" bIns="0" rtlCol="0" anchor="ctr"/>
          <a:lstStyle/>
          <a:p>
            <a:pPr algn="r" indent="0" marL="0">
              <a:buNone/>
            </a:pPr>
            <a:r>
              <a:rPr lang="en-US" sz="800" b="1" dirty="0">
                <a:solidFill>
                  <a:srgbClr val="57D457"/>
                </a:solidFill>
                <a:latin typeface="Courier New" pitchFamily="34" charset="0"/>
                <a:ea typeface="Courier New" pitchFamily="34" charset="-122"/>
                <a:cs typeface="Courier New" pitchFamily="34" charset="-120"/>
              </a:rPr>
              <a:t>156 Records</a:t>
            </a:r>
            <a:endParaRPr lang="en-US" sz="800" dirty="0"/>
          </a:p>
        </p:txBody>
      </p:sp>
      <p:sp>
        <p:nvSpPr>
          <p:cNvPr id="39" name="Shape 32"/>
          <p:cNvSpPr/>
          <p:nvPr/>
        </p:nvSpPr>
        <p:spPr>
          <a:xfrm>
            <a:off x="847649" y="3995928"/>
            <a:ext cx="6562649" cy="676656"/>
          </a:xfrm>
          <a:prstGeom prst="roundRect">
            <a:avLst>
              <a:gd name="adj" fmla="val 7613"/>
            </a:avLst>
          </a:prstGeom>
          <a:solidFill>
            <a:srgbClr val="2D2D30"/>
          </a:solidFill>
          <a:ln w="12700">
            <a:solidFill>
              <a:srgbClr val="0078D4"/>
            </a:solidFill>
            <a:prstDash val="solid"/>
          </a:ln>
        </p:spPr>
      </p:sp>
      <p:sp>
        <p:nvSpPr>
          <p:cNvPr id="40" name="Text 33"/>
          <p:cNvSpPr txBox="1"/>
          <p:nvPr/>
        </p:nvSpPr>
        <p:spPr>
          <a:xfrm>
            <a:off x="1009498" y="4129430"/>
            <a:ext cx="1669694" cy="191110"/>
          </a:xfrm>
          <a:prstGeom prst="rect">
            <a:avLst/>
          </a:prstGeom>
          <a:noFill/>
          <a:ln/>
        </p:spPr>
        <p:txBody>
          <a:bodyPr wrap="square" lIns="0" tIns="0" rIns="0" bIns="0" rtlCol="0" anchor="ctr"/>
          <a:lstStyle/>
          <a:p>
            <a:pPr algn="l" indent="0" marL="0">
              <a:buNone/>
            </a:pPr>
            <a:r>
              <a:rPr lang="en-US" sz="1100" b="1" dirty="0">
                <a:solidFill>
                  <a:srgbClr val="5CBBF5"/>
                </a:solidFill>
                <a:latin typeface="Segoe UI" pitchFamily="34" charset="0"/>
                <a:ea typeface="Segoe UI" pitchFamily="34" charset="-122"/>
                <a:cs typeface="Segoe UI" pitchFamily="34" charset="-120"/>
              </a:rPr>
              <a:t>Transform &amp; Summarize</a:t>
            </a:r>
            <a:endParaRPr lang="en-US" sz="1100" dirty="0"/>
          </a:p>
        </p:txBody>
      </p:sp>
      <p:sp>
        <p:nvSpPr>
          <p:cNvPr id="41" name="Text 34"/>
          <p:cNvSpPr txBox="1"/>
          <p:nvPr/>
        </p:nvSpPr>
        <p:spPr>
          <a:xfrm>
            <a:off x="1009498" y="4381805"/>
            <a:ext cx="2553005" cy="152705"/>
          </a:xfrm>
          <a:prstGeom prst="rect">
            <a:avLst/>
          </a:prstGeom>
          <a:noFill/>
          <a:ln/>
        </p:spPr>
        <p:txBody>
          <a:bodyPr wrap="square" lIns="0" tIns="0" rIns="0" bIns="0" rtlCol="0" anchor="ctr"/>
          <a:lstStyle/>
          <a:p>
            <a:pPr algn="l" indent="0" marL="0">
              <a:buNone/>
            </a:pPr>
            <a:r>
              <a:rPr lang="en-US" sz="900" dirty="0">
                <a:solidFill>
                  <a:srgbClr val="A1A1A1"/>
                </a:solidFill>
                <a:latin typeface="Segoe UI" pitchFamily="34" charset="0"/>
                <a:ea typeface="Segoe UI" pitchFamily="34" charset="-122"/>
                <a:cs typeface="Segoe UI" pitchFamily="34" charset="-120"/>
              </a:rPr>
              <a:t>Calculating compliance scores &amp; grouping risks...</a:t>
            </a:r>
            <a:endParaRPr lang="en-US" sz="900" dirty="0"/>
          </a:p>
        </p:txBody>
      </p:sp>
      <p:sp>
        <p:nvSpPr>
          <p:cNvPr id="42" name="Text 35"/>
          <p:cNvSpPr txBox="1"/>
          <p:nvPr/>
        </p:nvSpPr>
        <p:spPr>
          <a:xfrm>
            <a:off x="6692494" y="4138574"/>
            <a:ext cx="638251" cy="152705"/>
          </a:xfrm>
          <a:prstGeom prst="rect">
            <a:avLst/>
          </a:prstGeom>
          <a:noFill/>
          <a:ln/>
        </p:spPr>
        <p:txBody>
          <a:bodyPr wrap="square" lIns="0" tIns="0" rIns="0" bIns="0" rtlCol="0" anchor="ctr"/>
          <a:lstStyle/>
          <a:p>
            <a:pPr algn="r" indent="0" marL="0">
              <a:buNone/>
            </a:pPr>
            <a:r>
              <a:rPr lang="en-US" sz="900" dirty="0">
                <a:solidFill>
                  <a:srgbClr val="858585"/>
                </a:solidFill>
                <a:latin typeface="Courier New" pitchFamily="34" charset="0"/>
                <a:ea typeface="Courier New" pitchFamily="34" charset="-122"/>
                <a:cs typeface="Courier New" pitchFamily="34" charset="-120"/>
              </a:rPr>
              <a:t>09:00:18</a:t>
            </a:r>
            <a:endParaRPr lang="en-US" sz="900" dirty="0"/>
          </a:p>
        </p:txBody>
      </p:sp>
      <p:sp>
        <p:nvSpPr>
          <p:cNvPr id="43" name="Shape 36"/>
          <p:cNvSpPr/>
          <p:nvPr/>
        </p:nvSpPr>
        <p:spPr>
          <a:xfrm>
            <a:off x="6271870" y="4338828"/>
            <a:ext cx="972007" cy="200254"/>
          </a:xfrm>
          <a:prstGeom prst="roundRect">
            <a:avLst>
              <a:gd name="adj" fmla="val 86975"/>
            </a:avLst>
          </a:prstGeom>
          <a:solidFill>
            <a:srgbClr val="0078D4">
              <a:alpha val="20000"/>
            </a:srgbClr>
          </a:solidFill>
          <a:ln/>
        </p:spPr>
      </p:sp>
      <p:sp>
        <p:nvSpPr>
          <p:cNvPr id="44" name="Text 37"/>
          <p:cNvSpPr txBox="1"/>
          <p:nvPr/>
        </p:nvSpPr>
        <p:spPr>
          <a:xfrm>
            <a:off x="6347765" y="4358030"/>
            <a:ext cx="897941" cy="143561"/>
          </a:xfrm>
          <a:prstGeom prst="rect">
            <a:avLst/>
          </a:prstGeom>
          <a:noFill/>
          <a:ln/>
        </p:spPr>
        <p:txBody>
          <a:bodyPr wrap="square" lIns="0" tIns="0" rIns="0" bIns="0" rtlCol="0" anchor="ctr"/>
          <a:lstStyle/>
          <a:p>
            <a:pPr algn="r" indent="0" marL="0">
              <a:buNone/>
            </a:pPr>
            <a:r>
              <a:rPr lang="en-US" sz="800" b="1" dirty="0">
                <a:solidFill>
                  <a:srgbClr val="5CBBF5"/>
                </a:solidFill>
                <a:latin typeface="Courier New" pitchFamily="34" charset="0"/>
                <a:ea typeface="Courier New" pitchFamily="34" charset="-122"/>
                <a:cs typeface="Courier New" pitchFamily="34" charset="-120"/>
              </a:rPr>
              <a:t>Processing...</a:t>
            </a:r>
            <a:endParaRPr lang="en-US" sz="800" dirty="0"/>
          </a:p>
        </p:txBody>
      </p:sp>
      <p:sp>
        <p:nvSpPr>
          <p:cNvPr id="45" name="Shape 38"/>
          <p:cNvSpPr/>
          <p:nvPr/>
        </p:nvSpPr>
        <p:spPr>
          <a:xfrm>
            <a:off x="847649" y="4895698"/>
            <a:ext cx="6562649" cy="676656"/>
          </a:xfrm>
          <a:prstGeom prst="roundRect">
            <a:avLst>
              <a:gd name="adj" fmla="val 7613"/>
            </a:avLst>
          </a:prstGeom>
          <a:solidFill>
            <a:srgbClr val="2D2D30"/>
          </a:solidFill>
          <a:ln w="12700">
            <a:solidFill>
              <a:srgbClr val="3E3E42"/>
            </a:solidFill>
            <a:prstDash val="solid"/>
          </a:ln>
        </p:spPr>
      </p:sp>
      <p:sp>
        <p:nvSpPr>
          <p:cNvPr id="46" name="Text 39"/>
          <p:cNvSpPr txBox="1"/>
          <p:nvPr/>
        </p:nvSpPr>
        <p:spPr>
          <a:xfrm>
            <a:off x="1009498" y="5029200"/>
            <a:ext cx="1708099" cy="191110"/>
          </a:xfrm>
          <a:prstGeom prst="rect">
            <a:avLst/>
          </a:prstGeom>
          <a:noFill/>
          <a:ln/>
        </p:spPr>
        <p:txBody>
          <a:bodyPr wrap="square" lIns="0" tIns="0" rIns="0" bIns="0" rtlCol="0" anchor="ctr"/>
          <a:lstStyle/>
          <a:p>
            <a:pPr algn="l" indent="0" marL="0">
              <a:buNone/>
            </a:pPr>
            <a:r>
              <a:rPr lang="en-US" sz="1100" b="1" dirty="0">
                <a:solidFill>
                  <a:srgbClr val="F1F1F1"/>
                </a:solidFill>
                <a:latin typeface="Segoe UI" pitchFamily="34" charset="0"/>
                <a:ea typeface="Segoe UI" pitchFamily="34" charset="-122"/>
                <a:cs typeface="Segoe UI" pitchFamily="34" charset="-120"/>
              </a:rPr>
              <a:t>Generate Report &amp; Email</a:t>
            </a:r>
            <a:endParaRPr lang="en-US" sz="1100" dirty="0"/>
          </a:p>
        </p:txBody>
      </p:sp>
      <p:sp>
        <p:nvSpPr>
          <p:cNvPr id="47" name="Text 40"/>
          <p:cNvSpPr txBox="1"/>
          <p:nvPr/>
        </p:nvSpPr>
        <p:spPr>
          <a:xfrm>
            <a:off x="1009498" y="5281574"/>
            <a:ext cx="1600200" cy="152705"/>
          </a:xfrm>
          <a:prstGeom prst="rect">
            <a:avLst/>
          </a:prstGeom>
          <a:noFill/>
          <a:ln/>
        </p:spPr>
        <p:txBody>
          <a:bodyPr wrap="square" lIns="0" tIns="0" rIns="0" bIns="0" rtlCol="0" anchor="ctr"/>
          <a:lstStyle/>
          <a:p>
            <a:pPr algn="l" indent="0" marL="0">
              <a:buNone/>
            </a:pPr>
            <a:r>
              <a:rPr lang="en-US" sz="900" dirty="0">
                <a:solidFill>
                  <a:srgbClr val="A1A1A1"/>
                </a:solidFill>
                <a:latin typeface="Segoe UI" pitchFamily="34" charset="0"/>
                <a:ea typeface="Segoe UI" pitchFamily="34" charset="-122"/>
                <a:cs typeface="Segoe UI" pitchFamily="34" charset="-120"/>
              </a:rPr>
              <a:t>Create PDF/Excel attachments</a:t>
            </a:r>
            <a:endParaRPr lang="en-US" sz="900" dirty="0"/>
          </a:p>
        </p:txBody>
      </p:sp>
      <p:sp>
        <p:nvSpPr>
          <p:cNvPr id="48" name="Text 41"/>
          <p:cNvSpPr txBox="1"/>
          <p:nvPr/>
        </p:nvSpPr>
        <p:spPr>
          <a:xfrm>
            <a:off x="6692494" y="5038344"/>
            <a:ext cx="638251" cy="152705"/>
          </a:xfrm>
          <a:prstGeom prst="rect">
            <a:avLst/>
          </a:prstGeom>
          <a:noFill/>
          <a:ln/>
        </p:spPr>
        <p:txBody>
          <a:bodyPr wrap="square" lIns="0" tIns="0" rIns="0" bIns="0" rtlCol="0" anchor="ctr"/>
          <a:lstStyle/>
          <a:p>
            <a:pPr algn="r" indent="0" marL="0">
              <a:buNone/>
            </a:pPr>
            <a:r>
              <a:rPr lang="en-US" sz="900" dirty="0">
                <a:solidFill>
                  <a:srgbClr val="858585"/>
                </a:solidFill>
                <a:latin typeface="Courier New" pitchFamily="34" charset="0"/>
                <a:ea typeface="Courier New" pitchFamily="34" charset="-122"/>
                <a:cs typeface="Courier New" pitchFamily="34" charset="-120"/>
              </a:rPr>
              <a:t>--:--:--</a:t>
            </a:r>
            <a:endParaRPr lang="en-US" sz="900" dirty="0"/>
          </a:p>
        </p:txBody>
      </p:sp>
      <p:sp>
        <p:nvSpPr>
          <p:cNvPr id="49" name="Shape 42"/>
          <p:cNvSpPr/>
          <p:nvPr/>
        </p:nvSpPr>
        <p:spPr>
          <a:xfrm>
            <a:off x="6648602" y="5238598"/>
            <a:ext cx="599846" cy="200254"/>
          </a:xfrm>
          <a:prstGeom prst="roundRect">
            <a:avLst>
              <a:gd name="adj" fmla="val 86975"/>
            </a:avLst>
          </a:prstGeom>
          <a:solidFill>
            <a:srgbClr val="858585">
              <a:alpha val="20000"/>
            </a:srgbClr>
          </a:solidFill>
          <a:ln/>
        </p:spPr>
      </p:sp>
      <p:sp>
        <p:nvSpPr>
          <p:cNvPr id="50" name="Text 43"/>
          <p:cNvSpPr txBox="1"/>
          <p:nvPr/>
        </p:nvSpPr>
        <p:spPr>
          <a:xfrm>
            <a:off x="6724498" y="5257800"/>
            <a:ext cx="526694" cy="143561"/>
          </a:xfrm>
          <a:prstGeom prst="rect">
            <a:avLst/>
          </a:prstGeom>
          <a:noFill/>
          <a:ln/>
        </p:spPr>
        <p:txBody>
          <a:bodyPr wrap="square" lIns="0" tIns="0" rIns="0" bIns="0" rtlCol="0" anchor="ctr"/>
          <a:lstStyle/>
          <a:p>
            <a:pPr algn="r" indent="0" marL="0">
              <a:buNone/>
            </a:pPr>
            <a:r>
              <a:rPr lang="en-US" sz="800" b="1" dirty="0">
                <a:solidFill>
                  <a:srgbClr val="CCCCCC"/>
                </a:solidFill>
                <a:latin typeface="Courier New" pitchFamily="34" charset="0"/>
                <a:ea typeface="Courier New" pitchFamily="34" charset="-122"/>
                <a:cs typeface="Courier New" pitchFamily="34" charset="-120"/>
              </a:rPr>
              <a:t>Pending</a:t>
            </a:r>
            <a:endParaRPr lang="en-US" sz="800" dirty="0"/>
          </a:p>
        </p:txBody>
      </p:sp>
      <p:sp>
        <p:nvSpPr>
          <p:cNvPr id="51" name="Shape 44"/>
          <p:cNvSpPr/>
          <p:nvPr/>
        </p:nvSpPr>
        <p:spPr>
          <a:xfrm>
            <a:off x="847649" y="5796382"/>
            <a:ext cx="6562649" cy="676656"/>
          </a:xfrm>
          <a:prstGeom prst="roundRect">
            <a:avLst>
              <a:gd name="adj" fmla="val 7613"/>
            </a:avLst>
          </a:prstGeom>
          <a:solidFill>
            <a:srgbClr val="2D2D30"/>
          </a:solidFill>
          <a:ln w="12700">
            <a:solidFill>
              <a:srgbClr val="3E3E42"/>
            </a:solidFill>
            <a:prstDash val="solid"/>
          </a:ln>
        </p:spPr>
      </p:sp>
      <p:sp>
        <p:nvSpPr>
          <p:cNvPr id="52" name="Text 45"/>
          <p:cNvSpPr txBox="1"/>
          <p:nvPr/>
        </p:nvSpPr>
        <p:spPr>
          <a:xfrm>
            <a:off x="1009498" y="5928970"/>
            <a:ext cx="878738" cy="191110"/>
          </a:xfrm>
          <a:prstGeom prst="rect">
            <a:avLst/>
          </a:prstGeom>
          <a:noFill/>
          <a:ln/>
        </p:spPr>
        <p:txBody>
          <a:bodyPr wrap="square" lIns="0" tIns="0" rIns="0" bIns="0" rtlCol="0" anchor="ctr"/>
          <a:lstStyle/>
          <a:p>
            <a:pPr algn="l" indent="0" marL="0">
              <a:buNone/>
            </a:pPr>
            <a:r>
              <a:rPr lang="en-US" sz="1100" b="1" dirty="0">
                <a:solidFill>
                  <a:srgbClr val="F1F1F1"/>
                </a:solidFill>
                <a:latin typeface="Segoe UI" pitchFamily="34" charset="0"/>
                <a:ea typeface="Segoe UI" pitchFamily="34" charset="-122"/>
                <a:cs typeface="Segoe UI" pitchFamily="34" charset="-120"/>
              </a:rPr>
              <a:t>Distribution</a:t>
            </a:r>
            <a:endParaRPr lang="en-US" sz="1100" dirty="0"/>
          </a:p>
        </p:txBody>
      </p:sp>
      <p:sp>
        <p:nvSpPr>
          <p:cNvPr id="53" name="Text 46"/>
          <p:cNvSpPr txBox="1"/>
          <p:nvPr/>
        </p:nvSpPr>
        <p:spPr>
          <a:xfrm>
            <a:off x="1009498" y="6181344"/>
            <a:ext cx="1133856" cy="152705"/>
          </a:xfrm>
          <a:prstGeom prst="rect">
            <a:avLst/>
          </a:prstGeom>
          <a:noFill/>
          <a:ln/>
        </p:spPr>
        <p:txBody>
          <a:bodyPr wrap="square" lIns="0" tIns="0" rIns="0" bIns="0" rtlCol="0" anchor="ctr"/>
          <a:lstStyle/>
          <a:p>
            <a:pPr algn="l" indent="0" marL="0">
              <a:buNone/>
            </a:pPr>
            <a:r>
              <a:rPr lang="en-US" sz="900" dirty="0">
                <a:solidFill>
                  <a:srgbClr val="A1A1A1"/>
                </a:solidFill>
                <a:latin typeface="Segoe UI" pitchFamily="34" charset="0"/>
                <a:ea typeface="Segoe UI" pitchFamily="34" charset="-122"/>
                <a:cs typeface="Segoe UI" pitchFamily="34" charset="-120"/>
              </a:rPr>
              <a:t>Send via SMTP Relay</a:t>
            </a:r>
            <a:endParaRPr lang="en-US" sz="900" dirty="0"/>
          </a:p>
        </p:txBody>
      </p:sp>
      <p:sp>
        <p:nvSpPr>
          <p:cNvPr id="54" name="Text 47"/>
          <p:cNvSpPr txBox="1"/>
          <p:nvPr/>
        </p:nvSpPr>
        <p:spPr>
          <a:xfrm>
            <a:off x="6692494" y="5939028"/>
            <a:ext cx="638251" cy="152705"/>
          </a:xfrm>
          <a:prstGeom prst="rect">
            <a:avLst/>
          </a:prstGeom>
          <a:noFill/>
          <a:ln/>
        </p:spPr>
        <p:txBody>
          <a:bodyPr wrap="square" lIns="0" tIns="0" rIns="0" bIns="0" rtlCol="0" anchor="ctr"/>
          <a:lstStyle/>
          <a:p>
            <a:pPr algn="r" indent="0" marL="0">
              <a:buNone/>
            </a:pPr>
            <a:r>
              <a:rPr lang="en-US" sz="900" dirty="0">
                <a:solidFill>
                  <a:srgbClr val="858585"/>
                </a:solidFill>
                <a:latin typeface="Courier New" pitchFamily="34" charset="0"/>
                <a:ea typeface="Courier New" pitchFamily="34" charset="-122"/>
                <a:cs typeface="Courier New" pitchFamily="34" charset="-120"/>
              </a:rPr>
              <a:t>--:--:--</a:t>
            </a:r>
            <a:endParaRPr lang="en-US" sz="900" dirty="0"/>
          </a:p>
        </p:txBody>
      </p:sp>
      <p:sp>
        <p:nvSpPr>
          <p:cNvPr id="55" name="Shape 48"/>
          <p:cNvSpPr/>
          <p:nvPr/>
        </p:nvSpPr>
        <p:spPr>
          <a:xfrm>
            <a:off x="6648602" y="6139282"/>
            <a:ext cx="599846" cy="200254"/>
          </a:xfrm>
          <a:prstGeom prst="roundRect">
            <a:avLst>
              <a:gd name="adj" fmla="val 86975"/>
            </a:avLst>
          </a:prstGeom>
          <a:solidFill>
            <a:srgbClr val="858585">
              <a:alpha val="20000"/>
            </a:srgbClr>
          </a:solidFill>
          <a:ln/>
        </p:spPr>
      </p:sp>
      <p:sp>
        <p:nvSpPr>
          <p:cNvPr id="56" name="Text 49"/>
          <p:cNvSpPr txBox="1"/>
          <p:nvPr/>
        </p:nvSpPr>
        <p:spPr>
          <a:xfrm>
            <a:off x="6724498" y="6157570"/>
            <a:ext cx="526694" cy="143561"/>
          </a:xfrm>
          <a:prstGeom prst="rect">
            <a:avLst/>
          </a:prstGeom>
          <a:noFill/>
          <a:ln/>
        </p:spPr>
        <p:txBody>
          <a:bodyPr wrap="square" lIns="0" tIns="0" rIns="0" bIns="0" rtlCol="0" anchor="ctr"/>
          <a:lstStyle/>
          <a:p>
            <a:pPr algn="r" indent="0" marL="0">
              <a:buNone/>
            </a:pPr>
            <a:r>
              <a:rPr lang="en-US" sz="800" b="1" dirty="0">
                <a:solidFill>
                  <a:srgbClr val="CCCCCC"/>
                </a:solidFill>
                <a:latin typeface="Courier New" pitchFamily="34" charset="0"/>
                <a:ea typeface="Courier New" pitchFamily="34" charset="-122"/>
                <a:cs typeface="Courier New" pitchFamily="34" charset="-120"/>
              </a:rPr>
              <a:t>Pending</a:t>
            </a:r>
            <a:endParaRPr lang="en-US" sz="800" dirty="0"/>
          </a:p>
        </p:txBody>
      </p:sp>
      <p:sp>
        <p:nvSpPr>
          <p:cNvPr id="57" name="Shape 50"/>
          <p:cNvSpPr/>
          <p:nvPr/>
        </p:nvSpPr>
        <p:spPr>
          <a:xfrm>
            <a:off x="7793431" y="705002"/>
            <a:ext cx="4209898" cy="4438498"/>
          </a:xfrm>
          <a:prstGeom prst="roundRect">
            <a:avLst>
              <a:gd name="adj" fmla="val 295"/>
            </a:avLst>
          </a:prstGeom>
          <a:solidFill>
            <a:srgbClr val="1E1E1E"/>
          </a:solidFill>
          <a:ln w="12700">
            <a:solidFill>
              <a:srgbClr val="3E3E42"/>
            </a:solidFill>
            <a:prstDash val="solid"/>
          </a:ln>
        </p:spPr>
      </p:sp>
      <p:sp>
        <p:nvSpPr>
          <p:cNvPr id="58" name="Shape 51"/>
          <p:cNvSpPr/>
          <p:nvPr/>
        </p:nvSpPr>
        <p:spPr>
          <a:xfrm>
            <a:off x="7803490" y="714146"/>
            <a:ext cx="4190695" cy="390449"/>
          </a:xfrm>
          <a:prstGeom prst="rect">
            <a:avLst/>
          </a:prstGeom>
          <a:solidFill>
            <a:srgbClr val="252526"/>
          </a:solidFill>
          <a:ln/>
        </p:spPr>
      </p:sp>
      <p:sp>
        <p:nvSpPr>
          <p:cNvPr id="59" name="Shape 52"/>
          <p:cNvSpPr/>
          <p:nvPr/>
        </p:nvSpPr>
        <p:spPr>
          <a:xfrm>
            <a:off x="7803490" y="1095451"/>
            <a:ext cx="4190695" cy="9144"/>
          </a:xfrm>
          <a:prstGeom prst="rect">
            <a:avLst/>
          </a:prstGeom>
          <a:solidFill>
            <a:srgbClr val="3E3E42"/>
          </a:solidFill>
          <a:ln/>
        </p:spPr>
      </p:sp>
      <p:pic>
        <p:nvPicPr>
          <p:cNvPr id="60" name="Image 5" descr="preencoded.png">    </p:cNvPr>
          <p:cNvPicPr>
            <a:picLocks noChangeAspect="1"/>
          </p:cNvPicPr>
          <p:nvPr/>
        </p:nvPicPr>
        <p:blipFill>
          <a:blip r:embed="rId6"/>
          <a:srcRect l="-1358" r="-1358" t="0" b="0"/>
          <a:stretch/>
        </p:blipFill>
        <p:spPr>
          <a:xfrm>
            <a:off x="7946136" y="843991"/>
            <a:ext cx="142646" cy="123444"/>
          </a:xfrm>
          <a:prstGeom prst="rect">
            <a:avLst/>
          </a:prstGeom>
        </p:spPr>
      </p:pic>
      <p:sp>
        <p:nvSpPr>
          <p:cNvPr id="61" name="Text 53"/>
          <p:cNvSpPr txBox="1"/>
          <p:nvPr/>
        </p:nvSpPr>
        <p:spPr>
          <a:xfrm>
            <a:off x="8088782" y="819302"/>
            <a:ext cx="884225" cy="162763"/>
          </a:xfrm>
          <a:prstGeom prst="rect">
            <a:avLst/>
          </a:prstGeom>
          <a:noFill/>
          <a:ln/>
        </p:spPr>
        <p:txBody>
          <a:bodyPr wrap="square" lIns="0" tIns="0" rIns="0" bIns="0" rtlCol="0" anchor="ctr"/>
          <a:lstStyle/>
          <a:p>
            <a:pPr algn="l" indent="0" marL="0">
              <a:buNone/>
            </a:pPr>
            <a:r>
              <a:rPr lang="en-US" sz="900" b="1" dirty="0">
                <a:solidFill>
                  <a:srgbClr val="CCCCCC"/>
                </a:solidFill>
                <a:latin typeface="Segoe UI" pitchFamily="34" charset="0"/>
                <a:ea typeface="Segoe UI" pitchFamily="34" charset="-122"/>
                <a:cs typeface="Segoe UI" pitchFamily="34" charset="-120"/>
              </a:rPr>
              <a:t>Execution Log</a:t>
            </a:r>
            <a:endParaRPr lang="en-US" sz="900" dirty="0"/>
          </a:p>
        </p:txBody>
      </p:sp>
      <p:pic>
        <p:nvPicPr>
          <p:cNvPr id="62" name="Image 6" descr="preencoded.png">    </p:cNvPr>
          <p:cNvPicPr>
            <a:picLocks noChangeAspect="1"/>
          </p:cNvPicPr>
          <p:nvPr/>
        </p:nvPicPr>
        <p:blipFill>
          <a:blip r:embed="rId7"/>
          <a:srcRect l="0" r="0" t="-27037" b="-27037"/>
          <a:stretch/>
        </p:blipFill>
        <p:spPr>
          <a:xfrm>
            <a:off x="11525098" y="809244"/>
            <a:ext cx="123444" cy="190195"/>
          </a:xfrm>
          <a:prstGeom prst="rect">
            <a:avLst/>
          </a:prstGeom>
        </p:spPr>
      </p:pic>
      <p:pic>
        <p:nvPicPr>
          <p:cNvPr id="63" name="Image 7" descr="preencoded.png">    </p:cNvPr>
          <p:cNvPicPr>
            <a:picLocks noChangeAspect="1"/>
          </p:cNvPicPr>
          <p:nvPr/>
        </p:nvPicPr>
        <p:blipFill>
          <a:blip r:embed="rId8"/>
          <a:srcRect l="0" r="0" t="-29131" b="-29131"/>
          <a:stretch/>
        </p:blipFill>
        <p:spPr>
          <a:xfrm>
            <a:off x="11744554" y="809244"/>
            <a:ext cx="105156" cy="190195"/>
          </a:xfrm>
          <a:prstGeom prst="rect">
            <a:avLst/>
          </a:prstGeom>
        </p:spPr>
      </p:pic>
      <p:sp>
        <p:nvSpPr>
          <p:cNvPr id="64" name="Text 54"/>
          <p:cNvSpPr txBox="1"/>
          <p:nvPr/>
        </p:nvSpPr>
        <p:spPr>
          <a:xfrm>
            <a:off x="7946136" y="1257300"/>
            <a:ext cx="781812" cy="152705"/>
          </a:xfrm>
          <a:prstGeom prst="rect">
            <a:avLst/>
          </a:prstGeom>
          <a:noFill/>
          <a:ln/>
        </p:spPr>
        <p:txBody>
          <a:bodyPr wrap="square" lIns="0" tIns="0" rIns="0" bIns="0" rtlCol="0" anchor="ctr"/>
          <a:lstStyle/>
          <a:p>
            <a:pPr algn="l" indent="0" marL="0">
              <a:buNone/>
            </a:pPr>
            <a:r>
              <a:rPr lang="en-US" sz="900" dirty="0">
                <a:solidFill>
                  <a:srgbClr val="569CD6"/>
                </a:solidFill>
                <a:latin typeface="Courier New" pitchFamily="34" charset="0"/>
                <a:ea typeface="Courier New" pitchFamily="34" charset="-122"/>
                <a:cs typeface="Courier New" pitchFamily="34" charset="-120"/>
              </a:rPr>
              <a:t>[09:00:01]</a:t>
            </a:r>
            <a:endParaRPr lang="en-US" sz="900" dirty="0"/>
          </a:p>
        </p:txBody>
      </p:sp>
      <p:sp>
        <p:nvSpPr>
          <p:cNvPr id="65" name="Text 55"/>
          <p:cNvSpPr txBox="1"/>
          <p:nvPr/>
        </p:nvSpPr>
        <p:spPr>
          <a:xfrm>
            <a:off x="8727034" y="1257300"/>
            <a:ext cx="362102" cy="152705"/>
          </a:xfrm>
          <a:prstGeom prst="rect">
            <a:avLst/>
          </a:prstGeom>
          <a:noFill/>
          <a:ln/>
        </p:spPr>
        <p:txBody>
          <a:bodyPr wrap="square" lIns="0" tIns="0" rIns="0" bIns="0" rtlCol="0" anchor="ctr"/>
          <a:lstStyle/>
          <a:p>
            <a:pPr algn="l" indent="0" marL="0">
              <a:buNone/>
            </a:pPr>
            <a:r>
              <a:rPr lang="en-US" sz="900" dirty="0">
                <a:solidFill>
                  <a:srgbClr val="4EC9B0"/>
                </a:solidFill>
                <a:latin typeface="Courier New" pitchFamily="34" charset="0"/>
                <a:ea typeface="Courier New" pitchFamily="34" charset="-122"/>
                <a:cs typeface="Courier New" pitchFamily="34" charset="-120"/>
              </a:rPr>
              <a:t>INFO</a:t>
            </a:r>
            <a:endParaRPr lang="en-US" sz="900" dirty="0"/>
          </a:p>
        </p:txBody>
      </p:sp>
      <p:sp>
        <p:nvSpPr>
          <p:cNvPr id="66" name="Text 56"/>
          <p:cNvSpPr txBox="1"/>
          <p:nvPr/>
        </p:nvSpPr>
        <p:spPr>
          <a:xfrm>
            <a:off x="9203436" y="1257300"/>
            <a:ext cx="2563063" cy="152705"/>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Workflow instance 8f9a-2b3c started.</a:t>
            </a:r>
            <a:endParaRPr lang="en-US" sz="900" dirty="0"/>
          </a:p>
        </p:txBody>
      </p:sp>
      <p:sp>
        <p:nvSpPr>
          <p:cNvPr id="67" name="Text 57"/>
          <p:cNvSpPr txBox="1"/>
          <p:nvPr/>
        </p:nvSpPr>
        <p:spPr>
          <a:xfrm>
            <a:off x="7946136" y="1478585"/>
            <a:ext cx="781812" cy="152705"/>
          </a:xfrm>
          <a:prstGeom prst="rect">
            <a:avLst/>
          </a:prstGeom>
          <a:noFill/>
          <a:ln/>
        </p:spPr>
        <p:txBody>
          <a:bodyPr wrap="square" lIns="0" tIns="0" rIns="0" bIns="0" rtlCol="0" anchor="ctr"/>
          <a:lstStyle/>
          <a:p>
            <a:pPr algn="l" indent="0" marL="0">
              <a:buNone/>
            </a:pPr>
            <a:r>
              <a:rPr lang="en-US" sz="900" dirty="0">
                <a:solidFill>
                  <a:srgbClr val="569CD6"/>
                </a:solidFill>
                <a:latin typeface="Courier New" pitchFamily="34" charset="0"/>
                <a:ea typeface="Courier New" pitchFamily="34" charset="-122"/>
                <a:cs typeface="Courier New" pitchFamily="34" charset="-120"/>
              </a:rPr>
              <a:t>[09:00:02]</a:t>
            </a:r>
            <a:endParaRPr lang="en-US" sz="900" dirty="0"/>
          </a:p>
        </p:txBody>
      </p:sp>
      <p:sp>
        <p:nvSpPr>
          <p:cNvPr id="68" name="Text 58"/>
          <p:cNvSpPr txBox="1"/>
          <p:nvPr/>
        </p:nvSpPr>
        <p:spPr>
          <a:xfrm>
            <a:off x="8727034" y="1478585"/>
            <a:ext cx="362102" cy="152705"/>
          </a:xfrm>
          <a:prstGeom prst="rect">
            <a:avLst/>
          </a:prstGeom>
          <a:noFill/>
          <a:ln/>
        </p:spPr>
        <p:txBody>
          <a:bodyPr wrap="square" lIns="0" tIns="0" rIns="0" bIns="0" rtlCol="0" anchor="ctr"/>
          <a:lstStyle/>
          <a:p>
            <a:pPr algn="l" indent="0" marL="0">
              <a:buNone/>
            </a:pPr>
            <a:r>
              <a:rPr lang="en-US" sz="900" dirty="0">
                <a:solidFill>
                  <a:srgbClr val="4EC9B0"/>
                </a:solidFill>
                <a:latin typeface="Courier New" pitchFamily="34" charset="0"/>
                <a:ea typeface="Courier New" pitchFamily="34" charset="-122"/>
                <a:cs typeface="Courier New" pitchFamily="34" charset="-120"/>
              </a:rPr>
              <a:t>INFO</a:t>
            </a:r>
            <a:endParaRPr lang="en-US" sz="900" dirty="0"/>
          </a:p>
        </p:txBody>
      </p:sp>
      <p:sp>
        <p:nvSpPr>
          <p:cNvPr id="69" name="Text 59"/>
          <p:cNvSpPr txBox="1"/>
          <p:nvPr/>
        </p:nvSpPr>
        <p:spPr>
          <a:xfrm>
            <a:off x="9168689" y="1478585"/>
            <a:ext cx="2419502" cy="342900"/>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Requesting OAuth2 token for scope: FDO.Read</a:t>
            </a:r>
            <a:endParaRPr lang="en-US" sz="900" dirty="0"/>
          </a:p>
        </p:txBody>
      </p:sp>
      <p:sp>
        <p:nvSpPr>
          <p:cNvPr id="70" name="Text 60"/>
          <p:cNvSpPr txBox="1"/>
          <p:nvPr/>
        </p:nvSpPr>
        <p:spPr>
          <a:xfrm>
            <a:off x="7946136" y="1881835"/>
            <a:ext cx="781812" cy="152705"/>
          </a:xfrm>
          <a:prstGeom prst="rect">
            <a:avLst/>
          </a:prstGeom>
          <a:noFill/>
          <a:ln/>
        </p:spPr>
        <p:txBody>
          <a:bodyPr wrap="square" lIns="0" tIns="0" rIns="0" bIns="0" rtlCol="0" anchor="ctr"/>
          <a:lstStyle/>
          <a:p>
            <a:pPr algn="l" indent="0" marL="0">
              <a:buNone/>
            </a:pPr>
            <a:r>
              <a:rPr lang="en-US" sz="900" dirty="0">
                <a:solidFill>
                  <a:srgbClr val="569CD6"/>
                </a:solidFill>
                <a:latin typeface="Courier New" pitchFamily="34" charset="0"/>
                <a:ea typeface="Courier New" pitchFamily="34" charset="-122"/>
                <a:cs typeface="Courier New" pitchFamily="34" charset="-120"/>
              </a:rPr>
              <a:t>[09:00:03]</a:t>
            </a:r>
            <a:endParaRPr lang="en-US" sz="900" dirty="0"/>
          </a:p>
        </p:txBody>
      </p:sp>
      <p:sp>
        <p:nvSpPr>
          <p:cNvPr id="71" name="Text 61"/>
          <p:cNvSpPr txBox="1"/>
          <p:nvPr/>
        </p:nvSpPr>
        <p:spPr>
          <a:xfrm>
            <a:off x="8727034" y="1881835"/>
            <a:ext cx="362102" cy="152705"/>
          </a:xfrm>
          <a:prstGeom prst="rect">
            <a:avLst/>
          </a:prstGeom>
          <a:noFill/>
          <a:ln/>
        </p:spPr>
        <p:txBody>
          <a:bodyPr wrap="square" lIns="0" tIns="0" rIns="0" bIns="0" rtlCol="0" anchor="ctr"/>
          <a:lstStyle/>
          <a:p>
            <a:pPr algn="l" indent="0" marL="0">
              <a:buNone/>
            </a:pPr>
            <a:r>
              <a:rPr lang="en-US" sz="900" dirty="0">
                <a:solidFill>
                  <a:srgbClr val="4EC9B0"/>
                </a:solidFill>
                <a:latin typeface="Courier New" pitchFamily="34" charset="0"/>
                <a:ea typeface="Courier New" pitchFamily="34" charset="-122"/>
                <a:cs typeface="Courier New" pitchFamily="34" charset="-120"/>
              </a:rPr>
              <a:t>INFO</a:t>
            </a:r>
            <a:endParaRPr lang="en-US" sz="900" dirty="0"/>
          </a:p>
        </p:txBody>
      </p:sp>
      <p:sp>
        <p:nvSpPr>
          <p:cNvPr id="72" name="Text 62"/>
          <p:cNvSpPr txBox="1"/>
          <p:nvPr/>
        </p:nvSpPr>
        <p:spPr>
          <a:xfrm>
            <a:off x="9203436" y="1881835"/>
            <a:ext cx="2076602" cy="152705"/>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Token acquired. Expiry: 3599s</a:t>
            </a:r>
            <a:endParaRPr lang="en-US" sz="900" dirty="0"/>
          </a:p>
        </p:txBody>
      </p:sp>
      <p:sp>
        <p:nvSpPr>
          <p:cNvPr id="73" name="Text 63"/>
          <p:cNvSpPr txBox="1"/>
          <p:nvPr/>
        </p:nvSpPr>
        <p:spPr>
          <a:xfrm>
            <a:off x="7946136" y="2103120"/>
            <a:ext cx="781812" cy="152705"/>
          </a:xfrm>
          <a:prstGeom prst="rect">
            <a:avLst/>
          </a:prstGeom>
          <a:noFill/>
          <a:ln/>
        </p:spPr>
        <p:txBody>
          <a:bodyPr wrap="square" lIns="0" tIns="0" rIns="0" bIns="0" rtlCol="0" anchor="ctr"/>
          <a:lstStyle/>
          <a:p>
            <a:pPr algn="l" indent="0" marL="0">
              <a:buNone/>
            </a:pPr>
            <a:r>
              <a:rPr lang="en-US" sz="900" dirty="0">
                <a:solidFill>
                  <a:srgbClr val="569CD6"/>
                </a:solidFill>
                <a:latin typeface="Courier New" pitchFamily="34" charset="0"/>
                <a:ea typeface="Courier New" pitchFamily="34" charset="-122"/>
                <a:cs typeface="Courier New" pitchFamily="34" charset="-120"/>
              </a:rPr>
              <a:t>[09:00:04]</a:t>
            </a:r>
            <a:endParaRPr lang="en-US" sz="900" dirty="0"/>
          </a:p>
        </p:txBody>
      </p:sp>
      <p:sp>
        <p:nvSpPr>
          <p:cNvPr id="74" name="Text 64"/>
          <p:cNvSpPr txBox="1"/>
          <p:nvPr/>
        </p:nvSpPr>
        <p:spPr>
          <a:xfrm>
            <a:off x="8727034" y="2103120"/>
            <a:ext cx="362102" cy="152705"/>
          </a:xfrm>
          <a:prstGeom prst="rect">
            <a:avLst/>
          </a:prstGeom>
          <a:noFill/>
          <a:ln/>
        </p:spPr>
        <p:txBody>
          <a:bodyPr wrap="square" lIns="0" tIns="0" rIns="0" bIns="0" rtlCol="0" anchor="ctr"/>
          <a:lstStyle/>
          <a:p>
            <a:pPr algn="l" indent="0" marL="0">
              <a:buNone/>
            </a:pPr>
            <a:r>
              <a:rPr lang="en-US" sz="900" dirty="0">
                <a:solidFill>
                  <a:srgbClr val="4EC9B0"/>
                </a:solidFill>
                <a:latin typeface="Courier New" pitchFamily="34" charset="0"/>
                <a:ea typeface="Courier New" pitchFamily="34" charset="-122"/>
                <a:cs typeface="Courier New" pitchFamily="34" charset="-120"/>
              </a:rPr>
              <a:t>INFO</a:t>
            </a:r>
            <a:endParaRPr lang="en-US" sz="900" dirty="0"/>
          </a:p>
        </p:txBody>
      </p:sp>
      <p:sp>
        <p:nvSpPr>
          <p:cNvPr id="75" name="Text 65"/>
          <p:cNvSpPr txBox="1"/>
          <p:nvPr/>
        </p:nvSpPr>
        <p:spPr>
          <a:xfrm>
            <a:off x="9203436" y="2103120"/>
            <a:ext cx="2695651" cy="152705"/>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Calling API: GET /api/v2/audits/weekly</a:t>
            </a:r>
            <a:endParaRPr lang="en-US" sz="900" dirty="0"/>
          </a:p>
        </p:txBody>
      </p:sp>
      <p:sp>
        <p:nvSpPr>
          <p:cNvPr id="76" name="Text 66"/>
          <p:cNvSpPr txBox="1"/>
          <p:nvPr/>
        </p:nvSpPr>
        <p:spPr>
          <a:xfrm>
            <a:off x="7946136" y="2324405"/>
            <a:ext cx="781812" cy="152705"/>
          </a:xfrm>
          <a:prstGeom prst="rect">
            <a:avLst/>
          </a:prstGeom>
          <a:noFill/>
          <a:ln/>
        </p:spPr>
        <p:txBody>
          <a:bodyPr wrap="square" lIns="0" tIns="0" rIns="0" bIns="0" rtlCol="0" anchor="ctr"/>
          <a:lstStyle/>
          <a:p>
            <a:pPr algn="l" indent="0" marL="0">
              <a:buNone/>
            </a:pPr>
            <a:r>
              <a:rPr lang="en-US" sz="900" dirty="0">
                <a:solidFill>
                  <a:srgbClr val="569CD6"/>
                </a:solidFill>
                <a:latin typeface="Courier New" pitchFamily="34" charset="0"/>
                <a:ea typeface="Courier New" pitchFamily="34" charset="-122"/>
                <a:cs typeface="Courier New" pitchFamily="34" charset="-120"/>
              </a:rPr>
              <a:t>[09:00:15]</a:t>
            </a:r>
            <a:endParaRPr lang="en-US" sz="900" dirty="0"/>
          </a:p>
        </p:txBody>
      </p:sp>
      <p:sp>
        <p:nvSpPr>
          <p:cNvPr id="77" name="Text 67"/>
          <p:cNvSpPr txBox="1"/>
          <p:nvPr/>
        </p:nvSpPr>
        <p:spPr>
          <a:xfrm>
            <a:off x="8727034" y="2324405"/>
            <a:ext cx="362102" cy="152705"/>
          </a:xfrm>
          <a:prstGeom prst="rect">
            <a:avLst/>
          </a:prstGeom>
          <a:noFill/>
          <a:ln/>
        </p:spPr>
        <p:txBody>
          <a:bodyPr wrap="square" lIns="0" tIns="0" rIns="0" bIns="0" rtlCol="0" anchor="ctr"/>
          <a:lstStyle/>
          <a:p>
            <a:pPr algn="l" indent="0" marL="0">
              <a:buNone/>
            </a:pPr>
            <a:r>
              <a:rPr lang="en-US" sz="900" dirty="0">
                <a:solidFill>
                  <a:srgbClr val="4EC9B0"/>
                </a:solidFill>
                <a:latin typeface="Courier New" pitchFamily="34" charset="0"/>
                <a:ea typeface="Courier New" pitchFamily="34" charset="-122"/>
                <a:cs typeface="Courier New" pitchFamily="34" charset="-120"/>
              </a:rPr>
              <a:t>INFO</a:t>
            </a:r>
            <a:endParaRPr lang="en-US" sz="900" dirty="0"/>
          </a:p>
        </p:txBody>
      </p:sp>
      <p:sp>
        <p:nvSpPr>
          <p:cNvPr id="78" name="Text 68"/>
          <p:cNvSpPr txBox="1"/>
          <p:nvPr/>
        </p:nvSpPr>
        <p:spPr>
          <a:xfrm>
            <a:off x="9199778" y="2324405"/>
            <a:ext cx="2352751" cy="342900"/>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Data received: 1.2MB payload, 156 items</a:t>
            </a:r>
            <a:endParaRPr lang="en-US" sz="900" dirty="0"/>
          </a:p>
        </p:txBody>
      </p:sp>
      <p:sp>
        <p:nvSpPr>
          <p:cNvPr id="79" name="Text 69"/>
          <p:cNvSpPr txBox="1"/>
          <p:nvPr/>
        </p:nvSpPr>
        <p:spPr>
          <a:xfrm>
            <a:off x="7946136" y="2728570"/>
            <a:ext cx="781812" cy="152705"/>
          </a:xfrm>
          <a:prstGeom prst="rect">
            <a:avLst/>
          </a:prstGeom>
          <a:noFill/>
          <a:ln/>
        </p:spPr>
        <p:txBody>
          <a:bodyPr wrap="square" lIns="0" tIns="0" rIns="0" bIns="0" rtlCol="0" anchor="ctr"/>
          <a:lstStyle/>
          <a:p>
            <a:pPr algn="l" indent="0" marL="0">
              <a:buNone/>
            </a:pPr>
            <a:r>
              <a:rPr lang="en-US" sz="900" dirty="0">
                <a:solidFill>
                  <a:srgbClr val="569CD6"/>
                </a:solidFill>
                <a:latin typeface="Courier New" pitchFamily="34" charset="0"/>
                <a:ea typeface="Courier New" pitchFamily="34" charset="-122"/>
                <a:cs typeface="Courier New" pitchFamily="34" charset="-120"/>
              </a:rPr>
              <a:t>[09:00:16]</a:t>
            </a:r>
            <a:endParaRPr lang="en-US" sz="900" dirty="0"/>
          </a:p>
        </p:txBody>
      </p:sp>
      <p:sp>
        <p:nvSpPr>
          <p:cNvPr id="80" name="Text 70"/>
          <p:cNvSpPr txBox="1"/>
          <p:nvPr/>
        </p:nvSpPr>
        <p:spPr>
          <a:xfrm>
            <a:off x="8727034" y="2728570"/>
            <a:ext cx="362102" cy="152705"/>
          </a:xfrm>
          <a:prstGeom prst="rect">
            <a:avLst/>
          </a:prstGeom>
          <a:noFill/>
          <a:ln/>
        </p:spPr>
        <p:txBody>
          <a:bodyPr wrap="square" lIns="0" tIns="0" rIns="0" bIns="0" rtlCol="0" anchor="ctr"/>
          <a:lstStyle/>
          <a:p>
            <a:pPr algn="l" indent="0" marL="0">
              <a:buNone/>
            </a:pPr>
            <a:r>
              <a:rPr lang="en-US" sz="900" dirty="0">
                <a:solidFill>
                  <a:srgbClr val="4EC9B0"/>
                </a:solidFill>
                <a:latin typeface="Courier New" pitchFamily="34" charset="0"/>
                <a:ea typeface="Courier New" pitchFamily="34" charset="-122"/>
                <a:cs typeface="Courier New" pitchFamily="34" charset="-120"/>
              </a:rPr>
              <a:t>INFO</a:t>
            </a:r>
            <a:endParaRPr lang="en-US" sz="900" dirty="0"/>
          </a:p>
        </p:txBody>
      </p:sp>
      <p:sp>
        <p:nvSpPr>
          <p:cNvPr id="81" name="Text 71"/>
          <p:cNvSpPr txBox="1"/>
          <p:nvPr/>
        </p:nvSpPr>
        <p:spPr>
          <a:xfrm>
            <a:off x="9203436" y="2728570"/>
            <a:ext cx="1666951" cy="152705"/>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Starting ETL process...</a:t>
            </a:r>
            <a:endParaRPr lang="en-US" sz="900" dirty="0"/>
          </a:p>
        </p:txBody>
      </p:sp>
      <p:sp>
        <p:nvSpPr>
          <p:cNvPr id="82" name="Text 72"/>
          <p:cNvSpPr txBox="1"/>
          <p:nvPr/>
        </p:nvSpPr>
        <p:spPr>
          <a:xfrm>
            <a:off x="7946136" y="2948940"/>
            <a:ext cx="781812" cy="152705"/>
          </a:xfrm>
          <a:prstGeom prst="rect">
            <a:avLst/>
          </a:prstGeom>
          <a:noFill/>
          <a:ln/>
        </p:spPr>
        <p:txBody>
          <a:bodyPr wrap="square" lIns="0" tIns="0" rIns="0" bIns="0" rtlCol="0" anchor="ctr"/>
          <a:lstStyle/>
          <a:p>
            <a:pPr algn="l" indent="0" marL="0">
              <a:buNone/>
            </a:pPr>
            <a:r>
              <a:rPr lang="en-US" sz="900" dirty="0">
                <a:solidFill>
                  <a:srgbClr val="569CD6"/>
                </a:solidFill>
                <a:latin typeface="Courier New" pitchFamily="34" charset="0"/>
                <a:ea typeface="Courier New" pitchFamily="34" charset="-122"/>
                <a:cs typeface="Courier New" pitchFamily="34" charset="-120"/>
              </a:rPr>
              <a:t>[09:00:18]</a:t>
            </a:r>
            <a:endParaRPr lang="en-US" sz="900" dirty="0"/>
          </a:p>
        </p:txBody>
      </p:sp>
      <p:sp>
        <p:nvSpPr>
          <p:cNvPr id="83" name="Text 73"/>
          <p:cNvSpPr txBox="1"/>
          <p:nvPr/>
        </p:nvSpPr>
        <p:spPr>
          <a:xfrm>
            <a:off x="8727034" y="2948940"/>
            <a:ext cx="362102" cy="152705"/>
          </a:xfrm>
          <a:prstGeom prst="rect">
            <a:avLst/>
          </a:prstGeom>
          <a:noFill/>
          <a:ln/>
        </p:spPr>
        <p:txBody>
          <a:bodyPr wrap="square" lIns="0" tIns="0" rIns="0" bIns="0" rtlCol="0" anchor="ctr"/>
          <a:lstStyle/>
          <a:p>
            <a:pPr algn="l" indent="0" marL="0">
              <a:buNone/>
            </a:pPr>
            <a:r>
              <a:rPr lang="en-US" sz="900" dirty="0">
                <a:solidFill>
                  <a:srgbClr val="4EC9B0"/>
                </a:solidFill>
                <a:latin typeface="Courier New" pitchFamily="34" charset="0"/>
                <a:ea typeface="Courier New" pitchFamily="34" charset="-122"/>
                <a:cs typeface="Courier New" pitchFamily="34" charset="-120"/>
              </a:rPr>
              <a:t>INFO</a:t>
            </a:r>
            <a:endParaRPr lang="en-US" sz="900" dirty="0"/>
          </a:p>
        </p:txBody>
      </p:sp>
      <p:sp>
        <p:nvSpPr>
          <p:cNvPr id="84" name="Text 74"/>
          <p:cNvSpPr txBox="1"/>
          <p:nvPr/>
        </p:nvSpPr>
        <p:spPr>
          <a:xfrm>
            <a:off x="9203436" y="2948940"/>
            <a:ext cx="2419502" cy="152705"/>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Validating schema compliance... OK</a:t>
            </a:r>
            <a:endParaRPr lang="en-US" sz="900" dirty="0"/>
          </a:p>
        </p:txBody>
      </p:sp>
      <p:sp>
        <p:nvSpPr>
          <p:cNvPr id="85" name="Text 75"/>
          <p:cNvSpPr txBox="1"/>
          <p:nvPr/>
        </p:nvSpPr>
        <p:spPr>
          <a:xfrm>
            <a:off x="7946136" y="3170225"/>
            <a:ext cx="781812" cy="152705"/>
          </a:xfrm>
          <a:prstGeom prst="rect">
            <a:avLst/>
          </a:prstGeom>
          <a:noFill/>
          <a:ln/>
        </p:spPr>
        <p:txBody>
          <a:bodyPr wrap="square" lIns="0" tIns="0" rIns="0" bIns="0" rtlCol="0" anchor="ctr"/>
          <a:lstStyle/>
          <a:p>
            <a:pPr algn="l" indent="0" marL="0">
              <a:buNone/>
            </a:pPr>
            <a:r>
              <a:rPr lang="en-US" sz="900" dirty="0">
                <a:solidFill>
                  <a:srgbClr val="569CD6"/>
                </a:solidFill>
                <a:latin typeface="Courier New" pitchFamily="34" charset="0"/>
                <a:ea typeface="Courier New" pitchFamily="34" charset="-122"/>
                <a:cs typeface="Courier New" pitchFamily="34" charset="-120"/>
              </a:rPr>
              <a:t>[09:00:18]</a:t>
            </a:r>
            <a:endParaRPr lang="en-US" sz="900" dirty="0"/>
          </a:p>
        </p:txBody>
      </p:sp>
      <p:sp>
        <p:nvSpPr>
          <p:cNvPr id="86" name="Text 76"/>
          <p:cNvSpPr txBox="1"/>
          <p:nvPr/>
        </p:nvSpPr>
        <p:spPr>
          <a:xfrm>
            <a:off x="8727034" y="3170225"/>
            <a:ext cx="362102" cy="152705"/>
          </a:xfrm>
          <a:prstGeom prst="rect">
            <a:avLst/>
          </a:prstGeom>
          <a:noFill/>
          <a:ln/>
        </p:spPr>
        <p:txBody>
          <a:bodyPr wrap="square" lIns="0" tIns="0" rIns="0" bIns="0" rtlCol="0" anchor="ctr"/>
          <a:lstStyle/>
          <a:p>
            <a:pPr algn="l" indent="0" marL="0">
              <a:buNone/>
            </a:pPr>
            <a:r>
              <a:rPr lang="en-US" sz="900" dirty="0">
                <a:solidFill>
                  <a:srgbClr val="DCDCAA"/>
                </a:solidFill>
                <a:latin typeface="Courier New" pitchFamily="34" charset="0"/>
                <a:ea typeface="Courier New" pitchFamily="34" charset="-122"/>
                <a:cs typeface="Courier New" pitchFamily="34" charset="-120"/>
              </a:rPr>
              <a:t>WARN</a:t>
            </a:r>
            <a:endParaRPr lang="en-US" sz="900" dirty="0"/>
          </a:p>
        </p:txBody>
      </p:sp>
      <p:sp>
        <p:nvSpPr>
          <p:cNvPr id="87" name="Text 77"/>
          <p:cNvSpPr txBox="1"/>
          <p:nvPr/>
        </p:nvSpPr>
        <p:spPr>
          <a:xfrm>
            <a:off x="9097366" y="3170225"/>
            <a:ext cx="2563063" cy="342900"/>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Found 2 records with missing 'Owner' field. Defaulting to 'Unassigned'.</a:t>
            </a:r>
            <a:endParaRPr lang="en-US" sz="900" dirty="0"/>
          </a:p>
        </p:txBody>
      </p:sp>
      <p:sp>
        <p:nvSpPr>
          <p:cNvPr id="88" name="Text 78"/>
          <p:cNvSpPr txBox="1"/>
          <p:nvPr/>
        </p:nvSpPr>
        <p:spPr>
          <a:xfrm>
            <a:off x="7946136" y="3574390"/>
            <a:ext cx="781812" cy="152705"/>
          </a:xfrm>
          <a:prstGeom prst="rect">
            <a:avLst/>
          </a:prstGeom>
          <a:noFill/>
          <a:ln/>
        </p:spPr>
        <p:txBody>
          <a:bodyPr wrap="square" lIns="0" tIns="0" rIns="0" bIns="0" rtlCol="0" anchor="ctr"/>
          <a:lstStyle/>
          <a:p>
            <a:pPr algn="l" indent="0" marL="0">
              <a:buNone/>
            </a:pPr>
            <a:r>
              <a:rPr lang="en-US" sz="900" dirty="0">
                <a:solidFill>
                  <a:srgbClr val="569CD6"/>
                </a:solidFill>
                <a:latin typeface="Courier New" pitchFamily="34" charset="0"/>
                <a:ea typeface="Courier New" pitchFamily="34" charset="-122"/>
                <a:cs typeface="Courier New" pitchFamily="34" charset="-120"/>
              </a:rPr>
              <a:t>[09:00:19]</a:t>
            </a:r>
            <a:endParaRPr lang="en-US" sz="900" dirty="0"/>
          </a:p>
        </p:txBody>
      </p:sp>
      <p:sp>
        <p:nvSpPr>
          <p:cNvPr id="89" name="Text 79"/>
          <p:cNvSpPr txBox="1"/>
          <p:nvPr/>
        </p:nvSpPr>
        <p:spPr>
          <a:xfrm>
            <a:off x="8727034" y="3574390"/>
            <a:ext cx="362102" cy="152705"/>
          </a:xfrm>
          <a:prstGeom prst="rect">
            <a:avLst/>
          </a:prstGeom>
          <a:noFill/>
          <a:ln/>
        </p:spPr>
        <p:txBody>
          <a:bodyPr wrap="square" lIns="0" tIns="0" rIns="0" bIns="0" rtlCol="0" anchor="ctr"/>
          <a:lstStyle/>
          <a:p>
            <a:pPr algn="l" indent="0" marL="0">
              <a:buNone/>
            </a:pPr>
            <a:r>
              <a:rPr lang="en-US" sz="900" dirty="0">
                <a:solidFill>
                  <a:srgbClr val="4EC9B0"/>
                </a:solidFill>
                <a:latin typeface="Courier New" pitchFamily="34" charset="0"/>
                <a:ea typeface="Courier New" pitchFamily="34" charset="-122"/>
                <a:cs typeface="Courier New" pitchFamily="34" charset="-120"/>
              </a:rPr>
              <a:t>INFO</a:t>
            </a:r>
            <a:endParaRPr lang="en-US" sz="900" dirty="0"/>
          </a:p>
        </p:txBody>
      </p:sp>
      <p:sp>
        <p:nvSpPr>
          <p:cNvPr id="90" name="Text 80"/>
          <p:cNvSpPr txBox="1"/>
          <p:nvPr/>
        </p:nvSpPr>
        <p:spPr>
          <a:xfrm>
            <a:off x="9203436" y="3574390"/>
            <a:ext cx="2352751" cy="152705"/>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Calculating compliance metrics...</a:t>
            </a:r>
            <a:endParaRPr lang="en-US" sz="900" dirty="0"/>
          </a:p>
        </p:txBody>
      </p:sp>
      <p:sp>
        <p:nvSpPr>
          <p:cNvPr id="91" name="Text 81"/>
          <p:cNvSpPr txBox="1"/>
          <p:nvPr/>
        </p:nvSpPr>
        <p:spPr>
          <a:xfrm>
            <a:off x="7946136" y="3794760"/>
            <a:ext cx="781812" cy="152705"/>
          </a:xfrm>
          <a:prstGeom prst="rect">
            <a:avLst/>
          </a:prstGeom>
          <a:noFill/>
          <a:ln/>
        </p:spPr>
        <p:txBody>
          <a:bodyPr wrap="square" lIns="0" tIns="0" rIns="0" bIns="0" rtlCol="0" anchor="ctr"/>
          <a:lstStyle/>
          <a:p>
            <a:pPr algn="l" indent="0" marL="0">
              <a:buNone/>
            </a:pPr>
            <a:r>
              <a:rPr lang="en-US" sz="900" dirty="0">
                <a:solidFill>
                  <a:srgbClr val="569CD6"/>
                </a:solidFill>
                <a:latin typeface="Courier New" pitchFamily="34" charset="0"/>
                <a:ea typeface="Courier New" pitchFamily="34" charset="-122"/>
                <a:cs typeface="Courier New" pitchFamily="34" charset="-120"/>
              </a:rPr>
              <a:t>[09:00:20]</a:t>
            </a:r>
            <a:endParaRPr lang="en-US" sz="900" dirty="0"/>
          </a:p>
        </p:txBody>
      </p:sp>
      <p:sp>
        <p:nvSpPr>
          <p:cNvPr id="92" name="Text 82"/>
          <p:cNvSpPr txBox="1"/>
          <p:nvPr/>
        </p:nvSpPr>
        <p:spPr>
          <a:xfrm>
            <a:off x="8727034" y="3794760"/>
            <a:ext cx="362102" cy="152705"/>
          </a:xfrm>
          <a:prstGeom prst="rect">
            <a:avLst/>
          </a:prstGeom>
          <a:noFill/>
          <a:ln/>
        </p:spPr>
        <p:txBody>
          <a:bodyPr wrap="square" lIns="0" tIns="0" rIns="0" bIns="0" rtlCol="0" anchor="ctr"/>
          <a:lstStyle/>
          <a:p>
            <a:pPr algn="l" indent="0" marL="0">
              <a:buNone/>
            </a:pPr>
            <a:r>
              <a:rPr lang="en-US" sz="900" dirty="0">
                <a:solidFill>
                  <a:srgbClr val="4EC9B0"/>
                </a:solidFill>
                <a:latin typeface="Courier New" pitchFamily="34" charset="0"/>
                <a:ea typeface="Courier New" pitchFamily="34" charset="-122"/>
                <a:cs typeface="Courier New" pitchFamily="34" charset="-120"/>
              </a:rPr>
              <a:t>INFO</a:t>
            </a:r>
            <a:endParaRPr lang="en-US" sz="900" dirty="0"/>
          </a:p>
        </p:txBody>
      </p:sp>
      <p:sp>
        <p:nvSpPr>
          <p:cNvPr id="93" name="Text 83"/>
          <p:cNvSpPr txBox="1"/>
          <p:nvPr/>
        </p:nvSpPr>
        <p:spPr>
          <a:xfrm>
            <a:off x="9203436" y="3794760"/>
            <a:ext cx="2009851" cy="152705"/>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Generating summary tables...</a:t>
            </a:r>
            <a:endParaRPr lang="en-US" sz="900" dirty="0"/>
          </a:p>
        </p:txBody>
      </p:sp>
      <p:sp>
        <p:nvSpPr>
          <p:cNvPr id="94" name="Shape 84"/>
          <p:cNvSpPr/>
          <p:nvPr/>
        </p:nvSpPr>
        <p:spPr>
          <a:xfrm>
            <a:off x="7793431" y="5333695"/>
            <a:ext cx="2038198" cy="875995"/>
          </a:xfrm>
          <a:prstGeom prst="roundRect">
            <a:avLst>
              <a:gd name="adj" fmla="val 6808"/>
            </a:avLst>
          </a:prstGeom>
          <a:solidFill>
            <a:srgbClr val="252526"/>
          </a:solidFill>
          <a:ln w="12700">
            <a:solidFill>
              <a:srgbClr val="3E3E42"/>
            </a:solidFill>
            <a:prstDash val="solid"/>
          </a:ln>
        </p:spPr>
      </p:sp>
      <p:sp>
        <p:nvSpPr>
          <p:cNvPr id="95" name="Text 85"/>
          <p:cNvSpPr txBox="1"/>
          <p:nvPr/>
        </p:nvSpPr>
        <p:spPr>
          <a:xfrm>
            <a:off x="7946136" y="5495544"/>
            <a:ext cx="857707" cy="152705"/>
          </a:xfrm>
          <a:prstGeom prst="rect">
            <a:avLst/>
          </a:prstGeom>
          <a:noFill/>
          <a:ln/>
        </p:spPr>
        <p:txBody>
          <a:bodyPr wrap="square" lIns="0" tIns="0" rIns="0" bIns="0" rtlCol="0" anchor="ctr"/>
          <a:lstStyle/>
          <a:p>
            <a:pPr algn="l" indent="0" marL="0">
              <a:buNone/>
            </a:pPr>
            <a:r>
              <a:rPr lang="en-US" sz="900" dirty="0">
                <a:solidFill>
                  <a:srgbClr val="858585"/>
                </a:solidFill>
                <a:latin typeface="Segoe UI" pitchFamily="34" charset="0"/>
                <a:ea typeface="Segoe UI" pitchFamily="34" charset="-122"/>
                <a:cs typeface="Segoe UI" pitchFamily="34" charset="-120"/>
              </a:rPr>
              <a:t>Execution Time</a:t>
            </a:r>
            <a:endParaRPr lang="en-US" sz="900" dirty="0"/>
          </a:p>
        </p:txBody>
      </p:sp>
      <p:sp>
        <p:nvSpPr>
          <p:cNvPr id="96" name="Text 86"/>
          <p:cNvSpPr txBox="1"/>
          <p:nvPr/>
        </p:nvSpPr>
        <p:spPr>
          <a:xfrm>
            <a:off x="7946136" y="5734202"/>
            <a:ext cx="629107" cy="305410"/>
          </a:xfrm>
          <a:prstGeom prst="rect">
            <a:avLst/>
          </a:prstGeom>
          <a:noFill/>
          <a:ln/>
        </p:spPr>
        <p:txBody>
          <a:bodyPr wrap="square" lIns="0" tIns="0" rIns="0" bIns="0" rtlCol="0" anchor="ctr"/>
          <a:lstStyle/>
          <a:p>
            <a:pPr algn="l" indent="0" marL="0">
              <a:buNone/>
            </a:pPr>
            <a:r>
              <a:rPr lang="en-US" sz="1800" b="1" dirty="0">
                <a:solidFill>
                  <a:srgbClr val="FFFFFF"/>
                </a:solidFill>
                <a:latin typeface="Segoe UI" pitchFamily="34" charset="0"/>
                <a:ea typeface="Segoe UI" pitchFamily="34" charset="-122"/>
                <a:cs typeface="Segoe UI" pitchFamily="34" charset="-120"/>
              </a:rPr>
              <a:t>19.2</a:t>
            </a:r>
            <a:endParaRPr lang="en-US" sz="1800" dirty="0"/>
          </a:p>
        </p:txBody>
      </p:sp>
      <p:sp>
        <p:nvSpPr>
          <p:cNvPr id="97" name="Text 87"/>
          <p:cNvSpPr txBox="1"/>
          <p:nvPr/>
        </p:nvSpPr>
        <p:spPr>
          <a:xfrm>
            <a:off x="8440826" y="5838444"/>
            <a:ext cx="290779" cy="181051"/>
          </a:xfrm>
          <a:prstGeom prst="rect">
            <a:avLst/>
          </a:prstGeom>
          <a:noFill/>
          <a:ln/>
        </p:spPr>
        <p:txBody>
          <a:bodyPr wrap="square" lIns="0" tIns="0" rIns="0" bIns="0" rtlCol="0" anchor="ctr"/>
          <a:lstStyle/>
          <a:p>
            <a:pPr algn="l" indent="0" marL="0">
              <a:buNone/>
            </a:pPr>
            <a:r>
              <a:rPr lang="en-US" sz="1000" dirty="0">
                <a:solidFill>
                  <a:srgbClr val="858585"/>
                </a:solidFill>
                <a:latin typeface="Segoe UI" pitchFamily="34" charset="0"/>
                <a:ea typeface="Segoe UI" pitchFamily="34" charset="-122"/>
                <a:cs typeface="Segoe UI" pitchFamily="34" charset="-120"/>
              </a:rPr>
              <a:t>sec</a:t>
            </a:r>
            <a:endParaRPr lang="en-US" sz="1000" dirty="0"/>
          </a:p>
        </p:txBody>
      </p:sp>
      <p:sp>
        <p:nvSpPr>
          <p:cNvPr id="98" name="Shape 88"/>
          <p:cNvSpPr/>
          <p:nvPr/>
        </p:nvSpPr>
        <p:spPr>
          <a:xfrm>
            <a:off x="9968789" y="5333695"/>
            <a:ext cx="2038198" cy="875995"/>
          </a:xfrm>
          <a:prstGeom prst="roundRect">
            <a:avLst>
              <a:gd name="adj" fmla="val 6808"/>
            </a:avLst>
          </a:prstGeom>
          <a:solidFill>
            <a:srgbClr val="252526"/>
          </a:solidFill>
          <a:ln w="12700">
            <a:solidFill>
              <a:srgbClr val="3E3E42"/>
            </a:solidFill>
            <a:prstDash val="solid"/>
          </a:ln>
        </p:spPr>
      </p:sp>
      <p:sp>
        <p:nvSpPr>
          <p:cNvPr id="99" name="Text 89"/>
          <p:cNvSpPr txBox="1"/>
          <p:nvPr/>
        </p:nvSpPr>
        <p:spPr>
          <a:xfrm>
            <a:off x="10121494" y="5495544"/>
            <a:ext cx="1028700" cy="152705"/>
          </a:xfrm>
          <a:prstGeom prst="rect">
            <a:avLst/>
          </a:prstGeom>
          <a:noFill/>
          <a:ln/>
        </p:spPr>
        <p:txBody>
          <a:bodyPr wrap="square" lIns="0" tIns="0" rIns="0" bIns="0" rtlCol="0" anchor="ctr"/>
          <a:lstStyle/>
          <a:p>
            <a:pPr algn="l" indent="0" marL="0">
              <a:buNone/>
            </a:pPr>
            <a:r>
              <a:rPr lang="en-US" sz="900" dirty="0">
                <a:solidFill>
                  <a:srgbClr val="858585"/>
                </a:solidFill>
                <a:latin typeface="Segoe UI" pitchFamily="34" charset="0"/>
                <a:ea typeface="Segoe UI" pitchFamily="34" charset="-122"/>
                <a:cs typeface="Segoe UI" pitchFamily="34" charset="-120"/>
              </a:rPr>
              <a:t>Records Processed</a:t>
            </a:r>
            <a:endParaRPr lang="en-US" sz="900" dirty="0"/>
          </a:p>
        </p:txBody>
      </p:sp>
      <p:sp>
        <p:nvSpPr>
          <p:cNvPr id="100" name="Text 90"/>
          <p:cNvSpPr txBox="1"/>
          <p:nvPr/>
        </p:nvSpPr>
        <p:spPr>
          <a:xfrm>
            <a:off x="10121494" y="5734202"/>
            <a:ext cx="571500" cy="305410"/>
          </a:xfrm>
          <a:prstGeom prst="rect">
            <a:avLst/>
          </a:prstGeom>
          <a:noFill/>
          <a:ln/>
        </p:spPr>
        <p:txBody>
          <a:bodyPr wrap="square" lIns="0" tIns="0" rIns="0" bIns="0" rtlCol="0" anchor="ctr"/>
          <a:lstStyle/>
          <a:p>
            <a:pPr algn="l" indent="0" marL="0">
              <a:buNone/>
            </a:pPr>
            <a:r>
              <a:rPr lang="en-US" sz="1800" b="1" dirty="0">
                <a:solidFill>
                  <a:srgbClr val="FFFFFF"/>
                </a:solidFill>
                <a:latin typeface="Segoe UI" pitchFamily="34" charset="0"/>
                <a:ea typeface="Segoe UI" pitchFamily="34" charset="-122"/>
                <a:cs typeface="Segoe UI" pitchFamily="34" charset="-120"/>
              </a:rPr>
              <a:t>156</a:t>
            </a:r>
            <a:endParaRPr lang="en-US" sz="1800" dirty="0"/>
          </a:p>
        </p:txBody>
      </p:sp>
      <p:pic>
        <p:nvPicPr>
          <p:cNvPr id="101" name="Image 8" descr="preencoded.png">    </p:cNvPr>
          <p:cNvPicPr>
            <a:picLocks noChangeAspect="1"/>
          </p:cNvPicPr>
          <p:nvPr/>
        </p:nvPicPr>
        <p:blipFill>
          <a:blip r:embed="rId9"/>
          <a:srcRect l="-2512" r="-2512" t="0" b="0"/>
          <a:stretch/>
        </p:blipFill>
        <p:spPr>
          <a:xfrm>
            <a:off x="10554005" y="5864962"/>
            <a:ext cx="105156" cy="133502"/>
          </a:xfrm>
          <a:prstGeom prst="rect">
            <a:avLst/>
          </a:prstGeom>
        </p:spPr>
      </p:pic>
      <p:sp>
        <p:nvSpPr>
          <p:cNvPr id="102" name="Text 91"/>
          <p:cNvSpPr txBox="1"/>
          <p:nvPr/>
        </p:nvSpPr>
        <p:spPr>
          <a:xfrm>
            <a:off x="10659161" y="5838444"/>
            <a:ext cx="357530" cy="181051"/>
          </a:xfrm>
          <a:prstGeom prst="rect">
            <a:avLst/>
          </a:prstGeom>
          <a:noFill/>
          <a:ln/>
        </p:spPr>
        <p:txBody>
          <a:bodyPr wrap="square" lIns="0" tIns="0" rIns="0" bIns="0" rtlCol="0" anchor="ctr"/>
          <a:lstStyle/>
          <a:p>
            <a:pPr algn="l" indent="0" marL="0">
              <a:buNone/>
            </a:pPr>
            <a:r>
              <a:rPr lang="en-US" sz="1000" dirty="0">
                <a:solidFill>
                  <a:srgbClr val="107C10"/>
                </a:solidFill>
                <a:latin typeface="Segoe UI" pitchFamily="34" charset="0"/>
                <a:ea typeface="Segoe UI" pitchFamily="34" charset="-122"/>
                <a:cs typeface="Segoe UI" pitchFamily="34" charset="-120"/>
              </a:rPr>
              <a:t>12%</a:t>
            </a:r>
            <a:endParaRPr lang="en-US" sz="1000" dirty="0"/>
          </a:p>
        </p:txBody>
      </p:sp>
      <p:sp>
        <p:nvSpPr>
          <p:cNvPr id="103" name="Shape 92"/>
          <p:cNvSpPr/>
          <p:nvPr/>
        </p:nvSpPr>
        <p:spPr>
          <a:xfrm>
            <a:off x="7793431" y="6353251"/>
            <a:ext cx="2038198" cy="875995"/>
          </a:xfrm>
          <a:prstGeom prst="roundRect">
            <a:avLst>
              <a:gd name="adj" fmla="val 6808"/>
            </a:avLst>
          </a:prstGeom>
          <a:solidFill>
            <a:srgbClr val="252526"/>
          </a:solidFill>
          <a:ln w="12700">
            <a:solidFill>
              <a:srgbClr val="3E3E42"/>
            </a:solidFill>
            <a:prstDash val="solid"/>
          </a:ln>
        </p:spPr>
      </p:sp>
      <p:sp>
        <p:nvSpPr>
          <p:cNvPr id="104" name="Text 93"/>
          <p:cNvSpPr txBox="1"/>
          <p:nvPr/>
        </p:nvSpPr>
        <p:spPr>
          <a:xfrm>
            <a:off x="7946136" y="6515100"/>
            <a:ext cx="972007" cy="152705"/>
          </a:xfrm>
          <a:prstGeom prst="rect">
            <a:avLst/>
          </a:prstGeom>
          <a:noFill/>
          <a:ln/>
        </p:spPr>
        <p:txBody>
          <a:bodyPr wrap="square" lIns="0" tIns="0" rIns="0" bIns="0" rtlCol="0" anchor="ctr"/>
          <a:lstStyle/>
          <a:p>
            <a:pPr algn="l" indent="0" marL="0">
              <a:buNone/>
            </a:pPr>
            <a:r>
              <a:rPr lang="en-US" sz="900" dirty="0">
                <a:solidFill>
                  <a:srgbClr val="858585"/>
                </a:solidFill>
                <a:latin typeface="Segoe UI" pitchFamily="34" charset="0"/>
                <a:ea typeface="Segoe UI" pitchFamily="34" charset="-122"/>
                <a:cs typeface="Segoe UI" pitchFamily="34" charset="-120"/>
              </a:rPr>
              <a:t>API Latency (Avg)</a:t>
            </a:r>
            <a:endParaRPr lang="en-US" sz="900" dirty="0"/>
          </a:p>
        </p:txBody>
      </p:sp>
      <p:sp>
        <p:nvSpPr>
          <p:cNvPr id="105" name="Text 94"/>
          <p:cNvSpPr txBox="1"/>
          <p:nvPr/>
        </p:nvSpPr>
        <p:spPr>
          <a:xfrm>
            <a:off x="7946136" y="6752844"/>
            <a:ext cx="438912" cy="305410"/>
          </a:xfrm>
          <a:prstGeom prst="rect">
            <a:avLst/>
          </a:prstGeom>
          <a:noFill/>
          <a:ln/>
        </p:spPr>
        <p:txBody>
          <a:bodyPr wrap="square" lIns="0" tIns="0" rIns="0" bIns="0" rtlCol="0" anchor="ctr"/>
          <a:lstStyle/>
          <a:p>
            <a:pPr algn="l" indent="0" marL="0">
              <a:buNone/>
            </a:pPr>
            <a:r>
              <a:rPr lang="en-US" sz="1800" b="1" dirty="0">
                <a:solidFill>
                  <a:srgbClr val="FFFFFF"/>
                </a:solidFill>
                <a:latin typeface="Segoe UI" pitchFamily="34" charset="0"/>
                <a:ea typeface="Segoe UI" pitchFamily="34" charset="-122"/>
                <a:cs typeface="Segoe UI" pitchFamily="34" charset="-120"/>
              </a:rPr>
              <a:t>45</a:t>
            </a:r>
            <a:endParaRPr lang="en-US" sz="1800" dirty="0"/>
          </a:p>
        </p:txBody>
      </p:sp>
      <p:sp>
        <p:nvSpPr>
          <p:cNvPr id="106" name="Text 95"/>
          <p:cNvSpPr txBox="1"/>
          <p:nvPr/>
        </p:nvSpPr>
        <p:spPr>
          <a:xfrm>
            <a:off x="8246974" y="6858000"/>
            <a:ext cx="271577" cy="181051"/>
          </a:xfrm>
          <a:prstGeom prst="rect">
            <a:avLst/>
          </a:prstGeom>
          <a:noFill/>
          <a:ln/>
        </p:spPr>
        <p:txBody>
          <a:bodyPr wrap="square" lIns="0" tIns="0" rIns="0" bIns="0" rtlCol="0" anchor="ctr"/>
          <a:lstStyle/>
          <a:p>
            <a:pPr algn="l" indent="0" marL="0">
              <a:buNone/>
            </a:pPr>
            <a:r>
              <a:rPr lang="en-US" sz="1000" dirty="0">
                <a:solidFill>
                  <a:srgbClr val="858585"/>
                </a:solidFill>
                <a:latin typeface="Segoe UI" pitchFamily="34" charset="0"/>
                <a:ea typeface="Segoe UI" pitchFamily="34" charset="-122"/>
                <a:cs typeface="Segoe UI" pitchFamily="34" charset="-120"/>
              </a:rPr>
              <a:t>ms</a:t>
            </a:r>
            <a:endParaRPr lang="en-US" sz="1000" dirty="0"/>
          </a:p>
        </p:txBody>
      </p:sp>
      <p:sp>
        <p:nvSpPr>
          <p:cNvPr id="107" name="Shape 96"/>
          <p:cNvSpPr/>
          <p:nvPr/>
        </p:nvSpPr>
        <p:spPr>
          <a:xfrm>
            <a:off x="9968789" y="6353251"/>
            <a:ext cx="2038198" cy="875995"/>
          </a:xfrm>
          <a:prstGeom prst="roundRect">
            <a:avLst>
              <a:gd name="adj" fmla="val 6808"/>
            </a:avLst>
          </a:prstGeom>
          <a:solidFill>
            <a:srgbClr val="252526"/>
          </a:solidFill>
          <a:ln w="12700">
            <a:solidFill>
              <a:srgbClr val="3E3E42"/>
            </a:solidFill>
            <a:prstDash val="solid"/>
          </a:ln>
        </p:spPr>
      </p:sp>
      <p:sp>
        <p:nvSpPr>
          <p:cNvPr id="108" name="Text 97"/>
          <p:cNvSpPr txBox="1"/>
          <p:nvPr/>
        </p:nvSpPr>
        <p:spPr>
          <a:xfrm>
            <a:off x="10121494" y="6515100"/>
            <a:ext cx="590702" cy="152705"/>
          </a:xfrm>
          <a:prstGeom prst="rect">
            <a:avLst/>
          </a:prstGeom>
          <a:noFill/>
          <a:ln/>
        </p:spPr>
        <p:txBody>
          <a:bodyPr wrap="square" lIns="0" tIns="0" rIns="0" bIns="0" rtlCol="0" anchor="ctr"/>
          <a:lstStyle/>
          <a:p>
            <a:pPr algn="l" indent="0" marL="0">
              <a:buNone/>
            </a:pPr>
            <a:r>
              <a:rPr lang="en-US" sz="900" dirty="0">
                <a:solidFill>
                  <a:srgbClr val="858585"/>
                </a:solidFill>
                <a:latin typeface="Segoe UI" pitchFamily="34" charset="0"/>
                <a:ea typeface="Segoe UI" pitchFamily="34" charset="-122"/>
                <a:cs typeface="Segoe UI" pitchFamily="34" charset="-120"/>
              </a:rPr>
              <a:t>Error Rate</a:t>
            </a:r>
            <a:endParaRPr lang="en-US" sz="900" dirty="0"/>
          </a:p>
        </p:txBody>
      </p:sp>
      <p:sp>
        <p:nvSpPr>
          <p:cNvPr id="109" name="Text 98"/>
          <p:cNvSpPr txBox="1"/>
          <p:nvPr/>
        </p:nvSpPr>
        <p:spPr>
          <a:xfrm>
            <a:off x="10121494" y="6752844"/>
            <a:ext cx="505663" cy="305410"/>
          </a:xfrm>
          <a:prstGeom prst="rect">
            <a:avLst/>
          </a:prstGeom>
          <a:noFill/>
          <a:ln/>
        </p:spPr>
        <p:txBody>
          <a:bodyPr wrap="square" lIns="0" tIns="0" rIns="0" bIns="0" rtlCol="0" anchor="ctr"/>
          <a:lstStyle/>
          <a:p>
            <a:pPr algn="l" indent="0" marL="0">
              <a:buNone/>
            </a:pPr>
            <a:r>
              <a:rPr lang="en-US" sz="1800" b="1" dirty="0">
                <a:solidFill>
                  <a:srgbClr val="57D457"/>
                </a:solidFill>
                <a:latin typeface="Segoe UI" pitchFamily="34" charset="0"/>
                <a:ea typeface="Segoe UI" pitchFamily="34" charset="-122"/>
                <a:cs typeface="Segoe UI" pitchFamily="34" charset="-120"/>
              </a:rPr>
              <a:t>0%</a:t>
            </a:r>
            <a:endParaRPr lang="en-US" sz="1800" dirty="0"/>
          </a:p>
        </p:txBody>
      </p:sp>
      <p:sp>
        <p:nvSpPr>
          <p:cNvPr id="110" name="Shape 99"/>
          <p:cNvSpPr/>
          <p:nvPr/>
        </p:nvSpPr>
        <p:spPr>
          <a:xfrm>
            <a:off x="0" y="6819595"/>
            <a:ext cx="12191695" cy="38405"/>
          </a:xfrm>
          <a:prstGeom prst="rect">
            <a:avLst/>
          </a:prstGeom>
          <a:solidFill>
            <a:srgbClr val="333333"/>
          </a:solidFill>
          <a:ln/>
        </p:spPr>
      </p:sp>
      <p:sp>
        <p:nvSpPr>
          <p:cNvPr id="111" name="Shape 100"/>
          <p:cNvSpPr/>
          <p:nvPr/>
        </p:nvSpPr>
        <p:spPr>
          <a:xfrm>
            <a:off x="0" y="6819595"/>
            <a:ext cx="7925105" cy="38405"/>
          </a:xfrm>
          <a:prstGeom prst="rect">
            <a:avLst/>
          </a:prstGeom>
          <a:solidFill>
            <a:srgbClr val="0078D4"/>
          </a:solidFill>
          <a:ln/>
          <a:effectLst>
            <a:outerShdw sx="100000" sy="100000" kx="0" ky="0" algn="bl" rotWithShape="0" blurRad="101600" dist="12700" dir="16200000">
              <a:srgbClr val="0078d4">
                <a:alpha val="100000"/>
              </a:srgbClr>
            </a:outerShdw>
          </a:effectLst>
        </p:spPr>
      </p:sp>
      <p:sp>
        <p:nvSpPr>
          <p:cNvPr id="112" name="Shape 101"/>
          <p:cNvSpPr/>
          <p:nvPr/>
        </p:nvSpPr>
        <p:spPr>
          <a:xfrm>
            <a:off x="390449" y="1295705"/>
            <a:ext cx="304495" cy="304495"/>
          </a:xfrm>
          <a:prstGeom prst="ellipse">
            <a:avLst/>
          </a:prstGeom>
          <a:solidFill>
            <a:srgbClr val="107C10"/>
          </a:solidFill>
          <a:ln w="25400">
            <a:solidFill>
              <a:srgbClr val="107C10"/>
            </a:solidFill>
            <a:prstDash val="solid"/>
          </a:ln>
        </p:spPr>
      </p:sp>
      <p:pic>
        <p:nvPicPr>
          <p:cNvPr id="113" name="Image 9" descr="preencoded.png">    </p:cNvPr>
          <p:cNvPicPr>
            <a:picLocks noChangeAspect="1"/>
          </p:cNvPicPr>
          <p:nvPr/>
        </p:nvPicPr>
        <p:blipFill>
          <a:blip r:embed="rId10"/>
          <a:srcRect l="0" r="0" t="-43" b="-43"/>
          <a:stretch/>
        </p:blipFill>
        <p:spPr>
          <a:xfrm>
            <a:off x="476402" y="1371600"/>
            <a:ext cx="133502" cy="152705"/>
          </a:xfrm>
          <a:prstGeom prst="rect">
            <a:avLst/>
          </a:prstGeom>
        </p:spPr>
      </p:pic>
      <p:sp>
        <p:nvSpPr>
          <p:cNvPr id="114" name="Shape 102"/>
          <p:cNvSpPr/>
          <p:nvPr/>
        </p:nvSpPr>
        <p:spPr>
          <a:xfrm>
            <a:off x="390449" y="2195474"/>
            <a:ext cx="304495" cy="304495"/>
          </a:xfrm>
          <a:prstGeom prst="ellipse">
            <a:avLst/>
          </a:prstGeom>
          <a:solidFill>
            <a:srgbClr val="107C10"/>
          </a:solidFill>
          <a:ln w="25400">
            <a:solidFill>
              <a:srgbClr val="107C10"/>
            </a:solidFill>
            <a:prstDash val="solid"/>
          </a:ln>
        </p:spPr>
      </p:sp>
      <p:pic>
        <p:nvPicPr>
          <p:cNvPr id="115" name="Image 10" descr="preencoded.png">    </p:cNvPr>
          <p:cNvPicPr>
            <a:picLocks noChangeAspect="1"/>
          </p:cNvPicPr>
          <p:nvPr/>
        </p:nvPicPr>
        <p:blipFill>
          <a:blip r:embed="rId11"/>
          <a:srcRect l="0" r="0" t="0" b="0"/>
          <a:stretch/>
        </p:blipFill>
        <p:spPr>
          <a:xfrm>
            <a:off x="466344" y="2271370"/>
            <a:ext cx="152705" cy="152705"/>
          </a:xfrm>
          <a:prstGeom prst="rect">
            <a:avLst/>
          </a:prstGeom>
        </p:spPr>
      </p:pic>
      <p:sp>
        <p:nvSpPr>
          <p:cNvPr id="116" name="Shape 103"/>
          <p:cNvSpPr/>
          <p:nvPr/>
        </p:nvSpPr>
        <p:spPr>
          <a:xfrm>
            <a:off x="390449" y="3095244"/>
            <a:ext cx="304495" cy="304495"/>
          </a:xfrm>
          <a:prstGeom prst="ellipse">
            <a:avLst/>
          </a:prstGeom>
          <a:solidFill>
            <a:srgbClr val="107C10"/>
          </a:solidFill>
          <a:ln w="25400">
            <a:solidFill>
              <a:srgbClr val="107C10"/>
            </a:solidFill>
            <a:prstDash val="solid"/>
          </a:ln>
        </p:spPr>
      </p:sp>
      <p:pic>
        <p:nvPicPr>
          <p:cNvPr id="117" name="Image 11" descr="preencoded.png">    </p:cNvPr>
          <p:cNvPicPr>
            <a:picLocks noChangeAspect="1"/>
          </p:cNvPicPr>
          <p:nvPr/>
        </p:nvPicPr>
        <p:blipFill>
          <a:blip r:embed="rId12"/>
          <a:srcRect l="0" r="0" t="-43" b="-43"/>
          <a:stretch/>
        </p:blipFill>
        <p:spPr>
          <a:xfrm>
            <a:off x="476402" y="3172054"/>
            <a:ext cx="133502" cy="152705"/>
          </a:xfrm>
          <a:prstGeom prst="rect">
            <a:avLst/>
          </a:prstGeom>
        </p:spPr>
      </p:pic>
      <p:sp>
        <p:nvSpPr>
          <p:cNvPr id="118" name="Shape 104"/>
          <p:cNvSpPr/>
          <p:nvPr/>
        </p:nvSpPr>
        <p:spPr>
          <a:xfrm>
            <a:off x="390449" y="3995928"/>
            <a:ext cx="304495" cy="304495"/>
          </a:xfrm>
          <a:prstGeom prst="ellipse">
            <a:avLst/>
          </a:prstGeom>
          <a:solidFill>
            <a:srgbClr val="0078D4"/>
          </a:solidFill>
          <a:ln w="25400">
            <a:solidFill>
              <a:srgbClr val="0078D4"/>
            </a:solidFill>
            <a:prstDash val="solid"/>
          </a:ln>
          <a:effectLst>
            <a:outerShdw sx="100000" sy="100000" kx="0" ky="0" algn="bl" rotWithShape="0" blurRad="101600" dist="12700" dir="16200000">
              <a:srgbClr val="0078d4">
                <a:alpha val="50000"/>
              </a:srgbClr>
            </a:outerShdw>
          </a:effectLst>
        </p:spPr>
      </p:sp>
      <p:pic>
        <p:nvPicPr>
          <p:cNvPr id="119" name="Image 12" descr="preencoded.png">    </p:cNvPr>
          <p:cNvPicPr>
            <a:picLocks noChangeAspect="1"/>
          </p:cNvPicPr>
          <p:nvPr/>
        </p:nvPicPr>
        <p:blipFill>
          <a:blip r:embed="rId13"/>
          <a:srcRect l="0" r="0" t="-180" b="-180"/>
          <a:stretch/>
        </p:blipFill>
        <p:spPr>
          <a:xfrm>
            <a:off x="448056" y="4071823"/>
            <a:ext cx="190195" cy="152705"/>
          </a:xfrm>
          <a:prstGeom prst="rect">
            <a:avLst/>
          </a:prstGeom>
        </p:spPr>
      </p:pic>
      <p:sp>
        <p:nvSpPr>
          <p:cNvPr id="120" name="Shape 105"/>
          <p:cNvSpPr/>
          <p:nvPr/>
        </p:nvSpPr>
        <p:spPr>
          <a:xfrm>
            <a:off x="390449" y="4895698"/>
            <a:ext cx="304495" cy="304495"/>
          </a:xfrm>
          <a:prstGeom prst="ellipse">
            <a:avLst/>
          </a:prstGeom>
          <a:solidFill>
            <a:srgbClr val="252526"/>
          </a:solidFill>
          <a:ln w="25400">
            <a:solidFill>
              <a:srgbClr val="3E3E42"/>
            </a:solidFill>
            <a:prstDash val="solid"/>
          </a:ln>
        </p:spPr>
      </p:sp>
      <p:pic>
        <p:nvPicPr>
          <p:cNvPr id="121" name="Image 13" descr="preencoded.png">    </p:cNvPr>
          <p:cNvPicPr>
            <a:picLocks noChangeAspect="1"/>
          </p:cNvPicPr>
          <p:nvPr/>
        </p:nvPicPr>
        <p:blipFill>
          <a:blip r:embed="rId14"/>
          <a:srcRect l="0" r="0" t="0" b="0"/>
          <a:stretch/>
        </p:blipFill>
        <p:spPr>
          <a:xfrm>
            <a:off x="466344" y="4972507"/>
            <a:ext cx="152705" cy="152705"/>
          </a:xfrm>
          <a:prstGeom prst="rect">
            <a:avLst/>
          </a:prstGeom>
        </p:spPr>
      </p:pic>
      <p:sp>
        <p:nvSpPr>
          <p:cNvPr id="122" name="Shape 106"/>
          <p:cNvSpPr/>
          <p:nvPr/>
        </p:nvSpPr>
        <p:spPr>
          <a:xfrm>
            <a:off x="390449" y="5796382"/>
            <a:ext cx="304495" cy="304495"/>
          </a:xfrm>
          <a:prstGeom prst="ellipse">
            <a:avLst/>
          </a:prstGeom>
          <a:solidFill>
            <a:srgbClr val="252526"/>
          </a:solidFill>
          <a:ln w="25400">
            <a:solidFill>
              <a:srgbClr val="3E3E42"/>
            </a:solidFill>
            <a:prstDash val="solid"/>
          </a:ln>
        </p:spPr>
      </p:sp>
      <p:pic>
        <p:nvPicPr>
          <p:cNvPr id="123" name="Image 14" descr="preencoded.png">    </p:cNvPr>
          <p:cNvPicPr>
            <a:picLocks noChangeAspect="1"/>
          </p:cNvPicPr>
          <p:nvPr/>
        </p:nvPicPr>
        <p:blipFill>
          <a:blip r:embed="rId15"/>
          <a:srcRect l="0" r="0" t="0" b="0"/>
          <a:stretch/>
        </p:blipFill>
        <p:spPr>
          <a:xfrm>
            <a:off x="466344" y="5872277"/>
            <a:ext cx="152705" cy="1527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8F9FA"/>
          </a:solidFill>
          <a:ln/>
        </p:spPr>
      </p:sp>
      <p:pic>
        <p:nvPicPr>
          <p:cNvPr id="4" name="Image 0" descr="preencoded.png">    </p:cNvPr>
          <p:cNvPicPr>
            <a:picLocks noChangeAspect="1"/>
          </p:cNvPicPr>
          <p:nvPr/>
        </p:nvPicPr>
        <p:blipFill>
          <a:blip r:embed="rId1"/>
          <a:srcRect l="0" r="0" t="0" b="0"/>
          <a:stretch/>
        </p:blipFill>
        <p:spPr>
          <a:xfrm>
            <a:off x="571500" y="362102"/>
            <a:ext cx="304495" cy="304495"/>
          </a:xfrm>
          <a:prstGeom prst="rect">
            <a:avLst/>
          </a:prstGeom>
        </p:spPr>
      </p:pic>
      <p:sp>
        <p:nvSpPr>
          <p:cNvPr id="5" name="Text 2"/>
          <p:cNvSpPr txBox="1"/>
          <p:nvPr/>
        </p:nvSpPr>
        <p:spPr>
          <a:xfrm>
            <a:off x="1019556" y="286207"/>
            <a:ext cx="3486607" cy="457200"/>
          </a:xfrm>
          <a:prstGeom prst="rect">
            <a:avLst/>
          </a:prstGeom>
          <a:noFill/>
          <a:ln/>
        </p:spPr>
        <p:txBody>
          <a:bodyPr wrap="square" lIns="0" tIns="0" rIns="0" bIns="0" rtlCol="0" anchor="ctr"/>
          <a:lstStyle/>
          <a:p>
            <a:pPr algn="l" indent="0" marL="0">
              <a:buNone/>
            </a:pPr>
            <a:r>
              <a:rPr lang="en-US" sz="2400" b="1" dirty="0">
                <a:solidFill>
                  <a:srgbClr val="242424"/>
                </a:solidFill>
                <a:latin typeface="Segoe UI" pitchFamily="34" charset="0"/>
                <a:ea typeface="Segoe UI" pitchFamily="34" charset="-122"/>
                <a:cs typeface="Segoe UI" pitchFamily="34" charset="-120"/>
              </a:rPr>
              <a:t>Report Processing View</a:t>
            </a:r>
            <a:endParaRPr lang="en-US" sz="2400" dirty="0"/>
          </a:p>
        </p:txBody>
      </p:sp>
      <p:pic>
        <p:nvPicPr>
          <p:cNvPr id="6" name="Image 1" descr="preencoded.png">    </p:cNvPr>
          <p:cNvPicPr>
            <a:picLocks noChangeAspect="1"/>
          </p:cNvPicPr>
          <p:nvPr/>
        </p:nvPicPr>
        <p:blipFill>
          <a:blip r:embed="rId2"/>
          <a:srcRect l="0" r="0" t="-1100" b="-1100"/>
          <a:stretch/>
        </p:blipFill>
        <p:spPr>
          <a:xfrm>
            <a:off x="9809683" y="449885"/>
            <a:ext cx="114300" cy="133502"/>
          </a:xfrm>
          <a:prstGeom prst="rect">
            <a:avLst/>
          </a:prstGeom>
        </p:spPr>
      </p:pic>
      <p:sp>
        <p:nvSpPr>
          <p:cNvPr id="7" name="Text 3"/>
          <p:cNvSpPr txBox="1"/>
          <p:nvPr/>
        </p:nvSpPr>
        <p:spPr>
          <a:xfrm>
            <a:off x="9923983" y="424282"/>
            <a:ext cx="1805026" cy="181051"/>
          </a:xfrm>
          <a:prstGeom prst="rect">
            <a:avLst/>
          </a:prstGeom>
          <a:noFill/>
          <a:ln/>
        </p:spPr>
        <p:txBody>
          <a:bodyPr wrap="square" lIns="0" tIns="0" rIns="0" bIns="0" rtlCol="0" anchor="ctr"/>
          <a:lstStyle/>
          <a:p>
            <a:pPr algn="l" indent="0" marL="0">
              <a:buNone/>
            </a:pPr>
            <a:r>
              <a:rPr lang="en-US" sz="1000" dirty="0">
                <a:solidFill>
                  <a:srgbClr val="605E5C"/>
                </a:solidFill>
                <a:latin typeface="Segoe UI" pitchFamily="34" charset="0"/>
                <a:ea typeface="Segoe UI" pitchFamily="34" charset="-122"/>
                <a:cs typeface="Segoe UI" pitchFamily="34" charset="-120"/>
              </a:rPr>
              <a:t>Data Transformation Pipeline</a:t>
            </a:r>
            <a:endParaRPr lang="en-US" sz="1000" dirty="0"/>
          </a:p>
        </p:txBody>
      </p:sp>
      <p:sp>
        <p:nvSpPr>
          <p:cNvPr id="8" name="Shape 4"/>
          <p:cNvSpPr/>
          <p:nvPr/>
        </p:nvSpPr>
        <p:spPr>
          <a:xfrm>
            <a:off x="571500" y="1123798"/>
            <a:ext cx="3752698" cy="5609844"/>
          </a:xfrm>
          <a:prstGeom prst="roundRect">
            <a:avLst>
              <a:gd name="adj" fmla="val 495"/>
            </a:avLst>
          </a:prstGeom>
          <a:solidFill>
            <a:srgbClr val="FFFFFF"/>
          </a:solidFill>
          <a:ln w="12700">
            <a:solidFill>
              <a:srgbClr val="E1DFDD"/>
            </a:solidFill>
            <a:prstDash val="solid"/>
          </a:ln>
          <a:effectLst>
            <a:outerShdw sx="100000" sy="100000" kx="0" ky="0" algn="bl" rotWithShape="0" blurRad="114300" dist="38100" dir="5400000">
              <a:srgbClr val="000000">
                <a:alpha val="5000"/>
              </a:srgbClr>
            </a:outerShdw>
          </a:effectLst>
        </p:spPr>
      </p:sp>
      <p:sp>
        <p:nvSpPr>
          <p:cNvPr id="9" name="Shape 5"/>
          <p:cNvSpPr/>
          <p:nvPr/>
        </p:nvSpPr>
        <p:spPr>
          <a:xfrm>
            <a:off x="580644" y="1133856"/>
            <a:ext cx="3733495" cy="495605"/>
          </a:xfrm>
          <a:prstGeom prst="rect">
            <a:avLst/>
          </a:prstGeom>
          <a:solidFill>
            <a:srgbClr val="F3F2F1"/>
          </a:solidFill>
          <a:ln/>
        </p:spPr>
      </p:sp>
      <p:sp>
        <p:nvSpPr>
          <p:cNvPr id="10" name="Shape 6"/>
          <p:cNvSpPr/>
          <p:nvPr/>
        </p:nvSpPr>
        <p:spPr>
          <a:xfrm>
            <a:off x="580644" y="1620317"/>
            <a:ext cx="3733495" cy="9144"/>
          </a:xfrm>
          <a:prstGeom prst="rect">
            <a:avLst/>
          </a:prstGeom>
          <a:solidFill>
            <a:srgbClr val="E1DFDD"/>
          </a:solidFill>
          <a:ln/>
        </p:spPr>
      </p:sp>
      <p:pic>
        <p:nvPicPr>
          <p:cNvPr id="11" name="Image 2" descr="preencoded.png">    </p:cNvPr>
          <p:cNvPicPr>
            <a:picLocks noChangeAspect="1"/>
          </p:cNvPicPr>
          <p:nvPr/>
        </p:nvPicPr>
        <p:blipFill>
          <a:blip r:embed="rId3"/>
          <a:srcRect l="0" r="0" t="-1100" b="-1100"/>
          <a:stretch/>
        </p:blipFill>
        <p:spPr>
          <a:xfrm>
            <a:off x="771754" y="1309421"/>
            <a:ext cx="114300" cy="133502"/>
          </a:xfrm>
          <a:prstGeom prst="rect">
            <a:avLst/>
          </a:prstGeom>
        </p:spPr>
      </p:pic>
      <p:sp>
        <p:nvSpPr>
          <p:cNvPr id="12" name="Text 7"/>
          <p:cNvSpPr txBox="1"/>
          <p:nvPr/>
        </p:nvSpPr>
        <p:spPr>
          <a:xfrm>
            <a:off x="981151" y="1276502"/>
            <a:ext cx="1719986" cy="200254"/>
          </a:xfrm>
          <a:prstGeom prst="rect">
            <a:avLst/>
          </a:prstGeom>
          <a:noFill/>
          <a:ln/>
        </p:spPr>
        <p:txBody>
          <a:bodyPr wrap="square" lIns="0" tIns="0" rIns="0" bIns="0" rtlCol="0" anchor="ctr"/>
          <a:lstStyle/>
          <a:p>
            <a:pPr algn="l" indent="0" marL="0">
              <a:buNone/>
            </a:pPr>
            <a:r>
              <a:rPr lang="en-US" sz="1000" b="1" dirty="0">
                <a:solidFill>
                  <a:srgbClr val="323130"/>
                </a:solidFill>
                <a:latin typeface="Segoe UI" pitchFamily="34" charset="0"/>
                <a:ea typeface="Segoe UI" pitchFamily="34" charset="-122"/>
                <a:cs typeface="Segoe UI" pitchFamily="34" charset="-120"/>
              </a:rPr>
              <a:t>Raw Input (FDO API JSON)</a:t>
            </a:r>
            <a:endParaRPr lang="en-US" sz="1000" dirty="0"/>
          </a:p>
        </p:txBody>
      </p:sp>
      <p:sp>
        <p:nvSpPr>
          <p:cNvPr id="13" name="Shape 8"/>
          <p:cNvSpPr/>
          <p:nvPr/>
        </p:nvSpPr>
        <p:spPr>
          <a:xfrm>
            <a:off x="580644" y="1628546"/>
            <a:ext cx="3733495" cy="5095951"/>
          </a:xfrm>
          <a:prstGeom prst="rect">
            <a:avLst/>
          </a:prstGeom>
          <a:solidFill>
            <a:srgbClr val="1E1E1E"/>
          </a:solidFill>
          <a:ln/>
        </p:spPr>
      </p:sp>
      <p:sp>
        <p:nvSpPr>
          <p:cNvPr id="14" name="Text 9"/>
          <p:cNvSpPr txBox="1"/>
          <p:nvPr/>
        </p:nvSpPr>
        <p:spPr>
          <a:xfrm>
            <a:off x="771754" y="1828800"/>
            <a:ext cx="2179015" cy="171907"/>
          </a:xfrm>
          <a:prstGeom prst="rect">
            <a:avLst/>
          </a:prstGeom>
          <a:noFill/>
          <a:ln/>
        </p:spPr>
        <p:txBody>
          <a:bodyPr wrap="square" lIns="0" tIns="0" rIns="0" bIns="0" rtlCol="0" anchor="ctr"/>
          <a:lstStyle/>
          <a:p>
            <a:pPr algn="l" indent="0" marL="0">
              <a:buNone/>
            </a:pPr>
            <a:r>
              <a:rPr lang="en-US" sz="900" dirty="0">
                <a:solidFill>
                  <a:srgbClr val="6A9955"/>
                </a:solidFill>
                <a:latin typeface="Courier New" pitchFamily="34" charset="0"/>
                <a:ea typeface="Courier New" pitchFamily="34" charset="-122"/>
                <a:cs typeface="Courier New" pitchFamily="34" charset="-120"/>
              </a:rPr>
              <a:t>// GET /api/v2/audits/weekly</a:t>
            </a:r>
            <a:endParaRPr lang="en-US" sz="900" dirty="0"/>
          </a:p>
        </p:txBody>
      </p:sp>
      <p:sp>
        <p:nvSpPr>
          <p:cNvPr id="15" name="Text 10"/>
          <p:cNvSpPr txBox="1"/>
          <p:nvPr/>
        </p:nvSpPr>
        <p:spPr>
          <a:xfrm>
            <a:off x="2852014" y="1828800"/>
            <a:ext cx="541325" cy="171907"/>
          </a:xfrm>
          <a:prstGeom prst="rect">
            <a:avLst/>
          </a:prstGeom>
          <a:noFill/>
          <a:ln/>
        </p:spPr>
        <p:txBody>
          <a:bodyPr wrap="square" lIns="0" tIns="0" rIns="0" bIns="0" rtlCol="0" anchor="ctr"/>
          <a:lstStyle/>
          <a:p>
            <a:pPr algn="l" indent="0" marL="0">
              <a:buNone/>
            </a:pPr>
            <a:r>
              <a:rPr lang="en-US" sz="900" dirty="0">
                <a:solidFill>
                  <a:srgbClr val="9CDCFE"/>
                </a:solidFill>
                <a:latin typeface="Courier New" pitchFamily="34" charset="0"/>
                <a:ea typeface="Courier New" pitchFamily="34" charset="-122"/>
                <a:cs typeface="Courier New" pitchFamily="34" charset="-120"/>
              </a:rPr>
              <a:t>"data"</a:t>
            </a:r>
            <a:endParaRPr lang="en-US" sz="900" dirty="0"/>
          </a:p>
        </p:txBody>
      </p:sp>
      <p:sp>
        <p:nvSpPr>
          <p:cNvPr id="16" name="Text 11"/>
          <p:cNvSpPr txBox="1"/>
          <p:nvPr/>
        </p:nvSpPr>
        <p:spPr>
          <a:xfrm>
            <a:off x="771754" y="1828800"/>
            <a:ext cx="2845613" cy="372161"/>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 [ {</a:t>
            </a:r>
            <a:endParaRPr lang="en-US" sz="900" dirty="0"/>
          </a:p>
        </p:txBody>
      </p:sp>
      <p:sp>
        <p:nvSpPr>
          <p:cNvPr id="17" name="Text 12"/>
          <p:cNvSpPr txBox="1"/>
          <p:nvPr/>
        </p:nvSpPr>
        <p:spPr>
          <a:xfrm>
            <a:off x="845820" y="2027225"/>
            <a:ext cx="845820" cy="171907"/>
          </a:xfrm>
          <a:prstGeom prst="rect">
            <a:avLst/>
          </a:prstGeom>
          <a:noFill/>
          <a:ln/>
        </p:spPr>
        <p:txBody>
          <a:bodyPr wrap="square" lIns="0" tIns="0" rIns="0" bIns="0" rtlCol="0" anchor="ctr"/>
          <a:lstStyle/>
          <a:p>
            <a:pPr algn="l" indent="0" marL="0">
              <a:buNone/>
            </a:pPr>
            <a:r>
              <a:rPr lang="en-US" sz="900" dirty="0">
                <a:solidFill>
                  <a:srgbClr val="9CDCFE"/>
                </a:solidFill>
                <a:latin typeface="Courier New" pitchFamily="34" charset="0"/>
                <a:ea typeface="Courier New" pitchFamily="34" charset="-122"/>
                <a:cs typeface="Courier New" pitchFamily="34" charset="-120"/>
              </a:rPr>
              <a:t>"audit_id"</a:t>
            </a:r>
            <a:endParaRPr lang="en-US" sz="900" dirty="0"/>
          </a:p>
        </p:txBody>
      </p:sp>
      <p:sp>
        <p:nvSpPr>
          <p:cNvPr id="18" name="Text 13"/>
          <p:cNvSpPr txBox="1"/>
          <p:nvPr/>
        </p:nvSpPr>
        <p:spPr>
          <a:xfrm>
            <a:off x="1589227" y="2027225"/>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19" name="Text 14"/>
          <p:cNvSpPr txBox="1"/>
          <p:nvPr/>
        </p:nvSpPr>
        <p:spPr>
          <a:xfrm>
            <a:off x="1663294" y="2027225"/>
            <a:ext cx="769925" cy="171907"/>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"AUD-891"</a:t>
            </a:r>
            <a:endParaRPr lang="en-US" sz="900" dirty="0"/>
          </a:p>
        </p:txBody>
      </p:sp>
      <p:sp>
        <p:nvSpPr>
          <p:cNvPr id="20" name="Text 15"/>
          <p:cNvSpPr txBox="1"/>
          <p:nvPr/>
        </p:nvSpPr>
        <p:spPr>
          <a:xfrm>
            <a:off x="2332634" y="2027225"/>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21" name="Text 16"/>
          <p:cNvSpPr txBox="1"/>
          <p:nvPr/>
        </p:nvSpPr>
        <p:spPr>
          <a:xfrm>
            <a:off x="2406701" y="2027225"/>
            <a:ext cx="988466" cy="171907"/>
          </a:xfrm>
          <a:prstGeom prst="rect">
            <a:avLst/>
          </a:prstGeom>
          <a:noFill/>
          <a:ln/>
        </p:spPr>
        <p:txBody>
          <a:bodyPr wrap="square" lIns="0" tIns="0" rIns="0" bIns="0" rtlCol="0" anchor="ctr"/>
          <a:lstStyle/>
          <a:p>
            <a:pPr algn="l" indent="0" marL="0">
              <a:buNone/>
            </a:pPr>
            <a:r>
              <a:rPr lang="en-US" sz="900" dirty="0">
                <a:solidFill>
                  <a:srgbClr val="9CDCFE"/>
                </a:solidFill>
                <a:latin typeface="Courier New" pitchFamily="34" charset="0"/>
                <a:ea typeface="Courier New" pitchFamily="34" charset="-122"/>
                <a:cs typeface="Courier New" pitchFamily="34" charset="-120"/>
              </a:rPr>
              <a:t>"project_id"</a:t>
            </a:r>
            <a:endParaRPr lang="en-US" sz="900" dirty="0"/>
          </a:p>
        </p:txBody>
      </p:sp>
      <p:sp>
        <p:nvSpPr>
          <p:cNvPr id="22" name="Text 17"/>
          <p:cNvSpPr txBox="1"/>
          <p:nvPr/>
        </p:nvSpPr>
        <p:spPr>
          <a:xfrm>
            <a:off x="3298241" y="2027225"/>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23" name="Text 18"/>
          <p:cNvSpPr txBox="1"/>
          <p:nvPr/>
        </p:nvSpPr>
        <p:spPr>
          <a:xfrm>
            <a:off x="771754" y="2027225"/>
            <a:ext cx="3074213" cy="372161"/>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"PRJ-ALPHA"</a:t>
            </a:r>
            <a:endParaRPr lang="en-US" sz="900" dirty="0"/>
          </a:p>
        </p:txBody>
      </p:sp>
      <p:sp>
        <p:nvSpPr>
          <p:cNvPr id="24" name="Text 19"/>
          <p:cNvSpPr txBox="1"/>
          <p:nvPr/>
        </p:nvSpPr>
        <p:spPr>
          <a:xfrm>
            <a:off x="1217066" y="2224735"/>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25" name="Text 20"/>
          <p:cNvSpPr txBox="1"/>
          <p:nvPr/>
        </p:nvSpPr>
        <p:spPr>
          <a:xfrm>
            <a:off x="1292047" y="2224735"/>
            <a:ext cx="845820" cy="171907"/>
          </a:xfrm>
          <a:prstGeom prst="rect">
            <a:avLst/>
          </a:prstGeom>
          <a:noFill/>
          <a:ln/>
        </p:spPr>
        <p:txBody>
          <a:bodyPr wrap="square" lIns="0" tIns="0" rIns="0" bIns="0" rtlCol="0" anchor="ctr"/>
          <a:lstStyle/>
          <a:p>
            <a:pPr algn="l" indent="0" marL="0">
              <a:buNone/>
            </a:pPr>
            <a:r>
              <a:rPr lang="en-US" sz="900" dirty="0">
                <a:solidFill>
                  <a:srgbClr val="9CDCFE"/>
                </a:solidFill>
                <a:latin typeface="Courier New" pitchFamily="34" charset="0"/>
                <a:ea typeface="Courier New" pitchFamily="34" charset="-122"/>
                <a:cs typeface="Courier New" pitchFamily="34" charset="-120"/>
              </a:rPr>
              <a:t>"severity"</a:t>
            </a:r>
            <a:endParaRPr lang="en-US" sz="900" dirty="0"/>
          </a:p>
        </p:txBody>
      </p:sp>
      <p:sp>
        <p:nvSpPr>
          <p:cNvPr id="26" name="Text 21"/>
          <p:cNvSpPr txBox="1"/>
          <p:nvPr/>
        </p:nvSpPr>
        <p:spPr>
          <a:xfrm>
            <a:off x="2034540" y="2224735"/>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27" name="Text 22"/>
          <p:cNvSpPr txBox="1"/>
          <p:nvPr/>
        </p:nvSpPr>
        <p:spPr>
          <a:xfrm>
            <a:off x="2109521" y="2224735"/>
            <a:ext cx="845820" cy="171907"/>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"Critical"</a:t>
            </a:r>
            <a:endParaRPr lang="en-US" sz="900" dirty="0"/>
          </a:p>
        </p:txBody>
      </p:sp>
      <p:sp>
        <p:nvSpPr>
          <p:cNvPr id="28" name="Text 23"/>
          <p:cNvSpPr txBox="1"/>
          <p:nvPr/>
        </p:nvSpPr>
        <p:spPr>
          <a:xfrm>
            <a:off x="2852014" y="2224735"/>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29" name="Text 24"/>
          <p:cNvSpPr txBox="1"/>
          <p:nvPr/>
        </p:nvSpPr>
        <p:spPr>
          <a:xfrm>
            <a:off x="2926994" y="2224735"/>
            <a:ext cx="845820" cy="171907"/>
          </a:xfrm>
          <a:prstGeom prst="rect">
            <a:avLst/>
          </a:prstGeom>
          <a:noFill/>
          <a:ln/>
        </p:spPr>
        <p:txBody>
          <a:bodyPr wrap="square" lIns="0" tIns="0" rIns="0" bIns="0" rtlCol="0" anchor="ctr"/>
          <a:lstStyle/>
          <a:p>
            <a:pPr algn="l" indent="0" marL="0">
              <a:buNone/>
            </a:pPr>
            <a:r>
              <a:rPr lang="en-US" sz="900" dirty="0">
                <a:solidFill>
                  <a:srgbClr val="9CDCFE"/>
                </a:solidFill>
                <a:latin typeface="Courier New" pitchFamily="34" charset="0"/>
                <a:ea typeface="Courier New" pitchFamily="34" charset="-122"/>
                <a:cs typeface="Courier New" pitchFamily="34" charset="-120"/>
              </a:rPr>
              <a:t>"due_date"</a:t>
            </a:r>
            <a:endParaRPr lang="en-US" sz="900" dirty="0"/>
          </a:p>
        </p:txBody>
      </p:sp>
      <p:sp>
        <p:nvSpPr>
          <p:cNvPr id="30" name="Text 25"/>
          <p:cNvSpPr txBox="1"/>
          <p:nvPr/>
        </p:nvSpPr>
        <p:spPr>
          <a:xfrm>
            <a:off x="3670402" y="2224735"/>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31" name="Text 26"/>
          <p:cNvSpPr txBox="1"/>
          <p:nvPr/>
        </p:nvSpPr>
        <p:spPr>
          <a:xfrm>
            <a:off x="771754" y="2224735"/>
            <a:ext cx="3513125" cy="571500"/>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"2025-12-10"</a:t>
            </a:r>
            <a:endParaRPr lang="en-US" sz="900" dirty="0"/>
          </a:p>
        </p:txBody>
      </p:sp>
      <p:sp>
        <p:nvSpPr>
          <p:cNvPr id="32" name="Text 27"/>
          <p:cNvSpPr txBox="1"/>
          <p:nvPr/>
        </p:nvSpPr>
        <p:spPr>
          <a:xfrm>
            <a:off x="994867" y="2621585"/>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33" name="Text 28"/>
          <p:cNvSpPr txBox="1"/>
          <p:nvPr/>
        </p:nvSpPr>
        <p:spPr>
          <a:xfrm>
            <a:off x="1068934" y="2621585"/>
            <a:ext cx="693115" cy="171907"/>
          </a:xfrm>
          <a:prstGeom prst="rect">
            <a:avLst/>
          </a:prstGeom>
          <a:noFill/>
          <a:ln/>
        </p:spPr>
        <p:txBody>
          <a:bodyPr wrap="square" lIns="0" tIns="0" rIns="0" bIns="0" rtlCol="0" anchor="ctr"/>
          <a:lstStyle/>
          <a:p>
            <a:pPr algn="l" indent="0" marL="0">
              <a:buNone/>
            </a:pPr>
            <a:r>
              <a:rPr lang="en-US" sz="900" dirty="0">
                <a:solidFill>
                  <a:srgbClr val="9CDCFE"/>
                </a:solidFill>
                <a:latin typeface="Courier New" pitchFamily="34" charset="0"/>
                <a:ea typeface="Courier New" pitchFamily="34" charset="-122"/>
                <a:cs typeface="Courier New" pitchFamily="34" charset="-120"/>
              </a:rPr>
              <a:t>"status"</a:t>
            </a:r>
            <a:endParaRPr lang="en-US" sz="900" dirty="0"/>
          </a:p>
        </p:txBody>
      </p:sp>
      <p:sp>
        <p:nvSpPr>
          <p:cNvPr id="34" name="Text 29"/>
          <p:cNvSpPr txBox="1"/>
          <p:nvPr/>
        </p:nvSpPr>
        <p:spPr>
          <a:xfrm>
            <a:off x="1663294" y="2621585"/>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35" name="Text 30"/>
          <p:cNvSpPr txBox="1"/>
          <p:nvPr/>
        </p:nvSpPr>
        <p:spPr>
          <a:xfrm>
            <a:off x="1738274" y="2621585"/>
            <a:ext cx="541325" cy="171907"/>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"Open"</a:t>
            </a:r>
            <a:endParaRPr lang="en-US" sz="900" dirty="0"/>
          </a:p>
        </p:txBody>
      </p:sp>
      <p:sp>
        <p:nvSpPr>
          <p:cNvPr id="36" name="Text 31"/>
          <p:cNvSpPr txBox="1"/>
          <p:nvPr/>
        </p:nvSpPr>
        <p:spPr>
          <a:xfrm>
            <a:off x="2183587" y="2621585"/>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37" name="Text 32"/>
          <p:cNvSpPr txBox="1"/>
          <p:nvPr/>
        </p:nvSpPr>
        <p:spPr>
          <a:xfrm>
            <a:off x="2258568" y="2621585"/>
            <a:ext cx="617220" cy="171907"/>
          </a:xfrm>
          <a:prstGeom prst="rect">
            <a:avLst/>
          </a:prstGeom>
          <a:noFill/>
          <a:ln/>
        </p:spPr>
        <p:txBody>
          <a:bodyPr wrap="square" lIns="0" tIns="0" rIns="0" bIns="0" rtlCol="0" anchor="ctr"/>
          <a:lstStyle/>
          <a:p>
            <a:pPr algn="l" indent="0" marL="0">
              <a:buNone/>
            </a:pPr>
            <a:r>
              <a:rPr lang="en-US" sz="900" dirty="0">
                <a:solidFill>
                  <a:srgbClr val="9CDCFE"/>
                </a:solidFill>
                <a:latin typeface="Courier New" pitchFamily="34" charset="0"/>
                <a:ea typeface="Courier New" pitchFamily="34" charset="-122"/>
                <a:cs typeface="Courier New" pitchFamily="34" charset="-120"/>
              </a:rPr>
              <a:t>"owner"</a:t>
            </a:r>
            <a:endParaRPr lang="en-US" sz="900" dirty="0"/>
          </a:p>
        </p:txBody>
      </p:sp>
      <p:sp>
        <p:nvSpPr>
          <p:cNvPr id="38" name="Text 33"/>
          <p:cNvSpPr txBox="1"/>
          <p:nvPr/>
        </p:nvSpPr>
        <p:spPr>
          <a:xfrm>
            <a:off x="2777947" y="2621585"/>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39" name="Text 34"/>
          <p:cNvSpPr txBox="1"/>
          <p:nvPr/>
        </p:nvSpPr>
        <p:spPr>
          <a:xfrm>
            <a:off x="2852928" y="2621585"/>
            <a:ext cx="1436522" cy="171907"/>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"s.jenkins@co.com"</a:t>
            </a:r>
            <a:endParaRPr lang="en-US" sz="900" dirty="0"/>
          </a:p>
        </p:txBody>
      </p:sp>
      <p:sp>
        <p:nvSpPr>
          <p:cNvPr id="40" name="Text 35"/>
          <p:cNvSpPr txBox="1"/>
          <p:nvPr/>
        </p:nvSpPr>
        <p:spPr>
          <a:xfrm>
            <a:off x="771754" y="2621585"/>
            <a:ext cx="3664915" cy="372161"/>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 {</a:t>
            </a:r>
            <a:endParaRPr lang="en-US" sz="900" dirty="0"/>
          </a:p>
        </p:txBody>
      </p:sp>
      <p:sp>
        <p:nvSpPr>
          <p:cNvPr id="41" name="Text 36"/>
          <p:cNvSpPr txBox="1"/>
          <p:nvPr/>
        </p:nvSpPr>
        <p:spPr>
          <a:xfrm>
            <a:off x="845820" y="2819095"/>
            <a:ext cx="845820" cy="171907"/>
          </a:xfrm>
          <a:prstGeom prst="rect">
            <a:avLst/>
          </a:prstGeom>
          <a:noFill/>
          <a:ln/>
        </p:spPr>
        <p:txBody>
          <a:bodyPr wrap="square" lIns="0" tIns="0" rIns="0" bIns="0" rtlCol="0" anchor="ctr"/>
          <a:lstStyle/>
          <a:p>
            <a:pPr algn="l" indent="0" marL="0">
              <a:buNone/>
            </a:pPr>
            <a:r>
              <a:rPr lang="en-US" sz="900" dirty="0">
                <a:solidFill>
                  <a:srgbClr val="9CDCFE"/>
                </a:solidFill>
                <a:latin typeface="Courier New" pitchFamily="34" charset="0"/>
                <a:ea typeface="Courier New" pitchFamily="34" charset="-122"/>
                <a:cs typeface="Courier New" pitchFamily="34" charset="-120"/>
              </a:rPr>
              <a:t>"audit_id"</a:t>
            </a:r>
            <a:endParaRPr lang="en-US" sz="900" dirty="0"/>
          </a:p>
        </p:txBody>
      </p:sp>
      <p:sp>
        <p:nvSpPr>
          <p:cNvPr id="42" name="Text 37"/>
          <p:cNvSpPr txBox="1"/>
          <p:nvPr/>
        </p:nvSpPr>
        <p:spPr>
          <a:xfrm>
            <a:off x="1589227" y="2819095"/>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43" name="Text 38"/>
          <p:cNvSpPr txBox="1"/>
          <p:nvPr/>
        </p:nvSpPr>
        <p:spPr>
          <a:xfrm>
            <a:off x="1663294" y="2819095"/>
            <a:ext cx="769925" cy="171907"/>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"AUD-892"</a:t>
            </a:r>
            <a:endParaRPr lang="en-US" sz="900" dirty="0"/>
          </a:p>
        </p:txBody>
      </p:sp>
      <p:sp>
        <p:nvSpPr>
          <p:cNvPr id="44" name="Text 39"/>
          <p:cNvSpPr txBox="1"/>
          <p:nvPr/>
        </p:nvSpPr>
        <p:spPr>
          <a:xfrm>
            <a:off x="2332634" y="2819095"/>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45" name="Text 40"/>
          <p:cNvSpPr txBox="1"/>
          <p:nvPr/>
        </p:nvSpPr>
        <p:spPr>
          <a:xfrm>
            <a:off x="2406701" y="2819095"/>
            <a:ext cx="988466" cy="171907"/>
          </a:xfrm>
          <a:prstGeom prst="rect">
            <a:avLst/>
          </a:prstGeom>
          <a:noFill/>
          <a:ln/>
        </p:spPr>
        <p:txBody>
          <a:bodyPr wrap="square" lIns="0" tIns="0" rIns="0" bIns="0" rtlCol="0" anchor="ctr"/>
          <a:lstStyle/>
          <a:p>
            <a:pPr algn="l" indent="0" marL="0">
              <a:buNone/>
            </a:pPr>
            <a:r>
              <a:rPr lang="en-US" sz="900" dirty="0">
                <a:solidFill>
                  <a:srgbClr val="9CDCFE"/>
                </a:solidFill>
                <a:latin typeface="Courier New" pitchFamily="34" charset="0"/>
                <a:ea typeface="Courier New" pitchFamily="34" charset="-122"/>
                <a:cs typeface="Courier New" pitchFamily="34" charset="-120"/>
              </a:rPr>
              <a:t>"project_id"</a:t>
            </a:r>
            <a:endParaRPr lang="en-US" sz="900" dirty="0"/>
          </a:p>
        </p:txBody>
      </p:sp>
      <p:sp>
        <p:nvSpPr>
          <p:cNvPr id="46" name="Text 41"/>
          <p:cNvSpPr txBox="1"/>
          <p:nvPr/>
        </p:nvSpPr>
        <p:spPr>
          <a:xfrm>
            <a:off x="3298241" y="2819095"/>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47" name="Text 42"/>
          <p:cNvSpPr txBox="1"/>
          <p:nvPr/>
        </p:nvSpPr>
        <p:spPr>
          <a:xfrm>
            <a:off x="771754" y="2819095"/>
            <a:ext cx="3074213" cy="372161"/>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"PRJ-ALPHA"</a:t>
            </a:r>
            <a:endParaRPr lang="en-US" sz="900" dirty="0"/>
          </a:p>
        </p:txBody>
      </p:sp>
      <p:sp>
        <p:nvSpPr>
          <p:cNvPr id="48" name="Text 43"/>
          <p:cNvSpPr txBox="1"/>
          <p:nvPr/>
        </p:nvSpPr>
        <p:spPr>
          <a:xfrm>
            <a:off x="1217066" y="3017520"/>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49" name="Text 44"/>
          <p:cNvSpPr txBox="1"/>
          <p:nvPr/>
        </p:nvSpPr>
        <p:spPr>
          <a:xfrm>
            <a:off x="1292047" y="3017520"/>
            <a:ext cx="845820" cy="171907"/>
          </a:xfrm>
          <a:prstGeom prst="rect">
            <a:avLst/>
          </a:prstGeom>
          <a:noFill/>
          <a:ln/>
        </p:spPr>
        <p:txBody>
          <a:bodyPr wrap="square" lIns="0" tIns="0" rIns="0" bIns="0" rtlCol="0" anchor="ctr"/>
          <a:lstStyle/>
          <a:p>
            <a:pPr algn="l" indent="0" marL="0">
              <a:buNone/>
            </a:pPr>
            <a:r>
              <a:rPr lang="en-US" sz="900" dirty="0">
                <a:solidFill>
                  <a:srgbClr val="9CDCFE"/>
                </a:solidFill>
                <a:latin typeface="Courier New" pitchFamily="34" charset="0"/>
                <a:ea typeface="Courier New" pitchFamily="34" charset="-122"/>
                <a:cs typeface="Courier New" pitchFamily="34" charset="-120"/>
              </a:rPr>
              <a:t>"severity"</a:t>
            </a:r>
            <a:endParaRPr lang="en-US" sz="900" dirty="0"/>
          </a:p>
        </p:txBody>
      </p:sp>
      <p:sp>
        <p:nvSpPr>
          <p:cNvPr id="50" name="Text 45"/>
          <p:cNvSpPr txBox="1"/>
          <p:nvPr/>
        </p:nvSpPr>
        <p:spPr>
          <a:xfrm>
            <a:off x="2034540" y="3017520"/>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51" name="Text 46"/>
          <p:cNvSpPr txBox="1"/>
          <p:nvPr/>
        </p:nvSpPr>
        <p:spPr>
          <a:xfrm>
            <a:off x="2109521" y="3017520"/>
            <a:ext cx="474574" cy="171907"/>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"Low"</a:t>
            </a:r>
            <a:endParaRPr lang="en-US" sz="900" dirty="0"/>
          </a:p>
        </p:txBody>
      </p:sp>
      <p:sp>
        <p:nvSpPr>
          <p:cNvPr id="52" name="Text 47"/>
          <p:cNvSpPr txBox="1"/>
          <p:nvPr/>
        </p:nvSpPr>
        <p:spPr>
          <a:xfrm>
            <a:off x="2480767" y="3017520"/>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53" name="Text 48"/>
          <p:cNvSpPr txBox="1"/>
          <p:nvPr/>
        </p:nvSpPr>
        <p:spPr>
          <a:xfrm>
            <a:off x="2555748" y="3017520"/>
            <a:ext cx="845820" cy="171907"/>
          </a:xfrm>
          <a:prstGeom prst="rect">
            <a:avLst/>
          </a:prstGeom>
          <a:noFill/>
          <a:ln/>
        </p:spPr>
        <p:txBody>
          <a:bodyPr wrap="square" lIns="0" tIns="0" rIns="0" bIns="0" rtlCol="0" anchor="ctr"/>
          <a:lstStyle/>
          <a:p>
            <a:pPr algn="l" indent="0" marL="0">
              <a:buNone/>
            </a:pPr>
            <a:r>
              <a:rPr lang="en-US" sz="900" dirty="0">
                <a:solidFill>
                  <a:srgbClr val="9CDCFE"/>
                </a:solidFill>
                <a:latin typeface="Courier New" pitchFamily="34" charset="0"/>
                <a:ea typeface="Courier New" pitchFamily="34" charset="-122"/>
                <a:cs typeface="Courier New" pitchFamily="34" charset="-120"/>
              </a:rPr>
              <a:t>"due_date"</a:t>
            </a:r>
            <a:endParaRPr lang="en-US" sz="900" dirty="0"/>
          </a:p>
        </p:txBody>
      </p:sp>
      <p:sp>
        <p:nvSpPr>
          <p:cNvPr id="54" name="Text 49"/>
          <p:cNvSpPr txBox="1"/>
          <p:nvPr/>
        </p:nvSpPr>
        <p:spPr>
          <a:xfrm>
            <a:off x="3298241" y="3017520"/>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55" name="Text 50"/>
          <p:cNvSpPr txBox="1"/>
          <p:nvPr/>
        </p:nvSpPr>
        <p:spPr>
          <a:xfrm>
            <a:off x="771754" y="3017520"/>
            <a:ext cx="3369564" cy="372161"/>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"2025-12-15"</a:t>
            </a:r>
            <a:endParaRPr lang="en-US" sz="900" dirty="0"/>
          </a:p>
        </p:txBody>
      </p:sp>
      <p:sp>
        <p:nvSpPr>
          <p:cNvPr id="56" name="Text 51"/>
          <p:cNvSpPr txBox="1"/>
          <p:nvPr/>
        </p:nvSpPr>
        <p:spPr>
          <a:xfrm>
            <a:off x="994867" y="3215030"/>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57" name="Text 52"/>
          <p:cNvSpPr txBox="1"/>
          <p:nvPr/>
        </p:nvSpPr>
        <p:spPr>
          <a:xfrm>
            <a:off x="1068934" y="3215030"/>
            <a:ext cx="693115" cy="171907"/>
          </a:xfrm>
          <a:prstGeom prst="rect">
            <a:avLst/>
          </a:prstGeom>
          <a:noFill/>
          <a:ln/>
        </p:spPr>
        <p:txBody>
          <a:bodyPr wrap="square" lIns="0" tIns="0" rIns="0" bIns="0" rtlCol="0" anchor="ctr"/>
          <a:lstStyle/>
          <a:p>
            <a:pPr algn="l" indent="0" marL="0">
              <a:buNone/>
            </a:pPr>
            <a:r>
              <a:rPr lang="en-US" sz="900" dirty="0">
                <a:solidFill>
                  <a:srgbClr val="9CDCFE"/>
                </a:solidFill>
                <a:latin typeface="Courier New" pitchFamily="34" charset="0"/>
                <a:ea typeface="Courier New" pitchFamily="34" charset="-122"/>
                <a:cs typeface="Courier New" pitchFamily="34" charset="-120"/>
              </a:rPr>
              <a:t>"status"</a:t>
            </a:r>
            <a:endParaRPr lang="en-US" sz="900" dirty="0"/>
          </a:p>
        </p:txBody>
      </p:sp>
      <p:sp>
        <p:nvSpPr>
          <p:cNvPr id="58" name="Text 53"/>
          <p:cNvSpPr txBox="1"/>
          <p:nvPr/>
        </p:nvSpPr>
        <p:spPr>
          <a:xfrm>
            <a:off x="1663294" y="3215030"/>
            <a:ext cx="169164"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59" name="Text 54"/>
          <p:cNvSpPr txBox="1"/>
          <p:nvPr/>
        </p:nvSpPr>
        <p:spPr>
          <a:xfrm>
            <a:off x="1738274" y="3215030"/>
            <a:ext cx="693115" cy="171907"/>
          </a:xfrm>
          <a:prstGeom prst="rect">
            <a:avLst/>
          </a:prstGeom>
          <a:noFill/>
          <a:ln/>
        </p:spPr>
        <p:txBody>
          <a:bodyPr wrap="square" lIns="0" tIns="0" rIns="0" bIns="0" rtlCol="0" anchor="ctr"/>
          <a:lstStyle/>
          <a:p>
            <a:pPr algn="l" indent="0" marL="0">
              <a:buNone/>
            </a:pPr>
            <a:r>
              <a:rPr lang="en-US" sz="900" dirty="0">
                <a:solidFill>
                  <a:srgbClr val="CE9178"/>
                </a:solidFill>
                <a:latin typeface="Courier New" pitchFamily="34" charset="0"/>
                <a:ea typeface="Courier New" pitchFamily="34" charset="-122"/>
                <a:cs typeface="Courier New" pitchFamily="34" charset="-120"/>
              </a:rPr>
              <a:t>"Closed"</a:t>
            </a:r>
            <a:endParaRPr lang="en-US" sz="900" dirty="0"/>
          </a:p>
        </p:txBody>
      </p:sp>
      <p:sp>
        <p:nvSpPr>
          <p:cNvPr id="60" name="Text 55"/>
          <p:cNvSpPr txBox="1"/>
          <p:nvPr/>
        </p:nvSpPr>
        <p:spPr>
          <a:xfrm>
            <a:off x="2332634" y="3215030"/>
            <a:ext cx="321869" cy="171907"/>
          </a:xfrm>
          <a:prstGeom prst="rect">
            <a:avLst/>
          </a:prstGeom>
          <a:noFill/>
          <a:ln/>
        </p:spPr>
        <p:txBody>
          <a:bodyPr wrap="square" lIns="0" tIns="0" rIns="0" bIns="0" rtlCol="0" anchor="ctr"/>
          <a:lstStyle/>
          <a:p>
            <a:pPr algn="l" indent="0" marL="0">
              <a:buNone/>
            </a:pPr>
            <a:r>
              <a:rPr lang="en-US" sz="900" dirty="0">
                <a:solidFill>
                  <a:srgbClr val="D4D4D4"/>
                </a:solidFill>
                <a:latin typeface="Courier New" pitchFamily="34" charset="0"/>
                <a:ea typeface="Courier New" pitchFamily="34" charset="-122"/>
                <a:cs typeface="Courier New" pitchFamily="34" charset="-120"/>
              </a:rPr>
              <a:t>} ]</a:t>
            </a:r>
            <a:endParaRPr lang="en-US" sz="900" dirty="0"/>
          </a:p>
        </p:txBody>
      </p:sp>
      <p:sp>
        <p:nvSpPr>
          <p:cNvPr id="61" name="Shape 56"/>
          <p:cNvSpPr/>
          <p:nvPr/>
        </p:nvSpPr>
        <p:spPr>
          <a:xfrm>
            <a:off x="4604918" y="1123798"/>
            <a:ext cx="2991002" cy="5609844"/>
          </a:xfrm>
          <a:prstGeom prst="roundRect">
            <a:avLst>
              <a:gd name="adj" fmla="val 779"/>
            </a:avLst>
          </a:prstGeom>
          <a:solidFill>
            <a:srgbClr val="FAF9F8"/>
          </a:solidFill>
          <a:ln/>
        </p:spPr>
      </p:sp>
      <p:sp>
        <p:nvSpPr>
          <p:cNvPr id="62" name="Shape 57"/>
          <p:cNvSpPr/>
          <p:nvPr/>
        </p:nvSpPr>
        <p:spPr>
          <a:xfrm>
            <a:off x="5048402" y="1314907"/>
            <a:ext cx="2095805" cy="886054"/>
          </a:xfrm>
          <a:prstGeom prst="roundRect">
            <a:avLst>
              <a:gd name="adj" fmla="val 6658"/>
            </a:avLst>
          </a:prstGeom>
          <a:solidFill>
            <a:srgbClr val="FFFFFF"/>
          </a:solidFill>
          <a:ln w="25400">
            <a:solidFill>
              <a:srgbClr val="0078D4"/>
            </a:solidFill>
            <a:prstDash val="solid"/>
          </a:ln>
          <a:effectLst>
            <a:outerShdw sx="100000" sy="100000" kx="0" ky="0" algn="bl" rotWithShape="0" blurRad="76200" dist="25400" dir="5400000">
              <a:srgbClr val="0078d4">
                <a:alpha val="10000"/>
              </a:srgbClr>
            </a:outerShdw>
          </a:effectLst>
        </p:spPr>
      </p:sp>
      <p:pic>
        <p:nvPicPr>
          <p:cNvPr id="63" name="Image 3" descr="preencoded.png">    </p:cNvPr>
          <p:cNvPicPr>
            <a:picLocks noChangeAspect="1"/>
          </p:cNvPicPr>
          <p:nvPr/>
        </p:nvPicPr>
        <p:blipFill>
          <a:blip r:embed="rId4"/>
          <a:srcRect l="0" r="0" t="0" b="0"/>
          <a:stretch/>
        </p:blipFill>
        <p:spPr>
          <a:xfrm>
            <a:off x="6010351" y="1447495"/>
            <a:ext cx="171907" cy="171907"/>
          </a:xfrm>
          <a:prstGeom prst="rect">
            <a:avLst/>
          </a:prstGeom>
        </p:spPr>
      </p:pic>
      <p:sp>
        <p:nvSpPr>
          <p:cNvPr id="64" name="Text 58"/>
          <p:cNvSpPr txBox="1"/>
          <p:nvPr/>
        </p:nvSpPr>
        <p:spPr>
          <a:xfrm>
            <a:off x="5632704" y="1711757"/>
            <a:ext cx="1034186" cy="181051"/>
          </a:xfrm>
          <a:prstGeom prst="rect">
            <a:avLst/>
          </a:prstGeom>
          <a:noFill/>
          <a:ln/>
        </p:spPr>
        <p:txBody>
          <a:bodyPr wrap="square" lIns="0" tIns="0" rIns="0" bIns="0" rtlCol="0" anchor="ctr"/>
          <a:lstStyle/>
          <a:p>
            <a:pPr algn="ctr" indent="0" marL="0">
              <a:buNone/>
            </a:pPr>
            <a:r>
              <a:rPr lang="en-US" sz="1000" b="1" dirty="0">
                <a:solidFill>
                  <a:srgbClr val="323130"/>
                </a:solidFill>
                <a:latin typeface="Segoe UI" pitchFamily="34" charset="0"/>
                <a:ea typeface="Segoe UI" pitchFamily="34" charset="-122"/>
                <a:cs typeface="Segoe UI" pitchFamily="34" charset="-120"/>
              </a:rPr>
              <a:t>Data Validation</a:t>
            </a:r>
            <a:endParaRPr lang="en-US" sz="1000" dirty="0"/>
          </a:p>
        </p:txBody>
      </p:sp>
      <p:sp>
        <p:nvSpPr>
          <p:cNvPr id="65" name="Text 59"/>
          <p:cNvSpPr txBox="1"/>
          <p:nvPr/>
        </p:nvSpPr>
        <p:spPr>
          <a:xfrm>
            <a:off x="5387645" y="1902866"/>
            <a:ext cx="1498702" cy="143561"/>
          </a:xfrm>
          <a:prstGeom prst="rect">
            <a:avLst/>
          </a:prstGeom>
          <a:noFill/>
          <a:ln/>
        </p:spPr>
        <p:txBody>
          <a:bodyPr wrap="square" lIns="0" tIns="0" rIns="0" bIns="0" rtlCol="0" anchor="ctr"/>
          <a:lstStyle/>
          <a:p>
            <a:pPr algn="ctr" indent="0" marL="0">
              <a:buNone/>
            </a:pPr>
            <a:r>
              <a:rPr lang="en-US" sz="800" dirty="0">
                <a:solidFill>
                  <a:srgbClr val="605E5C"/>
                </a:solidFill>
                <a:latin typeface="Segoe UI" pitchFamily="34" charset="0"/>
                <a:ea typeface="Segoe UI" pitchFamily="34" charset="-122"/>
                <a:cs typeface="Segoe UI" pitchFamily="34" charset="-120"/>
              </a:rPr>
              <a:t>Schema check &amp; Null handling</a:t>
            </a:r>
            <a:endParaRPr lang="en-US" sz="800" dirty="0"/>
          </a:p>
        </p:txBody>
      </p:sp>
      <p:pic>
        <p:nvPicPr>
          <p:cNvPr id="66" name="Image 4" descr="preencoded.png">    </p:cNvPr>
          <p:cNvPicPr>
            <a:picLocks noChangeAspect="1"/>
          </p:cNvPicPr>
          <p:nvPr/>
        </p:nvPicPr>
        <p:blipFill>
          <a:blip r:embed="rId5"/>
          <a:srcRect l="0" r="0" t="0" b="0"/>
          <a:stretch/>
        </p:blipFill>
        <p:spPr>
          <a:xfrm>
            <a:off x="6024067" y="2383841"/>
            <a:ext cx="142646" cy="190195"/>
          </a:xfrm>
          <a:prstGeom prst="rect">
            <a:avLst/>
          </a:prstGeom>
        </p:spPr>
      </p:pic>
      <p:sp>
        <p:nvSpPr>
          <p:cNvPr id="67" name="Shape 60"/>
          <p:cNvSpPr/>
          <p:nvPr/>
        </p:nvSpPr>
        <p:spPr>
          <a:xfrm>
            <a:off x="5048402" y="2764231"/>
            <a:ext cx="2095805" cy="886054"/>
          </a:xfrm>
          <a:prstGeom prst="roundRect">
            <a:avLst>
              <a:gd name="adj" fmla="val 6658"/>
            </a:avLst>
          </a:prstGeom>
          <a:solidFill>
            <a:srgbClr val="FFFFFF"/>
          </a:solidFill>
          <a:ln w="25400">
            <a:solidFill>
              <a:srgbClr val="0078D4"/>
            </a:solidFill>
            <a:prstDash val="solid"/>
          </a:ln>
          <a:effectLst>
            <a:outerShdw sx="100000" sy="100000" kx="0" ky="0" algn="bl" rotWithShape="0" blurRad="76200" dist="25400" dir="5400000">
              <a:srgbClr val="0078d4">
                <a:alpha val="10000"/>
              </a:srgbClr>
            </a:outerShdw>
          </a:effectLst>
        </p:spPr>
      </p:sp>
      <p:pic>
        <p:nvPicPr>
          <p:cNvPr id="68" name="Image 5" descr="preencoded.png">    </p:cNvPr>
          <p:cNvPicPr>
            <a:picLocks noChangeAspect="1"/>
          </p:cNvPicPr>
          <p:nvPr/>
        </p:nvPicPr>
        <p:blipFill>
          <a:blip r:embed="rId6"/>
          <a:srcRect l="-760" r="-760" t="0" b="0"/>
          <a:stretch/>
        </p:blipFill>
        <p:spPr>
          <a:xfrm>
            <a:off x="6019495" y="2897734"/>
            <a:ext cx="152705" cy="171907"/>
          </a:xfrm>
          <a:prstGeom prst="rect">
            <a:avLst/>
          </a:prstGeom>
        </p:spPr>
      </p:pic>
      <p:sp>
        <p:nvSpPr>
          <p:cNvPr id="69" name="Text 61"/>
          <p:cNvSpPr txBox="1"/>
          <p:nvPr/>
        </p:nvSpPr>
        <p:spPr>
          <a:xfrm>
            <a:off x="5625389" y="3161995"/>
            <a:ext cx="1043330" cy="181051"/>
          </a:xfrm>
          <a:prstGeom prst="rect">
            <a:avLst/>
          </a:prstGeom>
          <a:noFill/>
          <a:ln/>
        </p:spPr>
        <p:txBody>
          <a:bodyPr wrap="square" lIns="0" tIns="0" rIns="0" bIns="0" rtlCol="0" anchor="ctr"/>
          <a:lstStyle/>
          <a:p>
            <a:pPr algn="ctr" indent="0" marL="0">
              <a:buNone/>
            </a:pPr>
            <a:r>
              <a:rPr lang="en-US" sz="1000" b="1" dirty="0">
                <a:solidFill>
                  <a:srgbClr val="323130"/>
                </a:solidFill>
                <a:latin typeface="Segoe UI" pitchFamily="34" charset="0"/>
                <a:ea typeface="Segoe UI" pitchFamily="34" charset="-122"/>
                <a:cs typeface="Segoe UI" pitchFamily="34" charset="-120"/>
              </a:rPr>
              <a:t>SLA Calculation</a:t>
            </a:r>
            <a:endParaRPr lang="en-US" sz="1000" dirty="0"/>
          </a:p>
        </p:txBody>
      </p:sp>
      <p:sp>
        <p:nvSpPr>
          <p:cNvPr id="70" name="Text 62"/>
          <p:cNvSpPr txBox="1"/>
          <p:nvPr/>
        </p:nvSpPr>
        <p:spPr>
          <a:xfrm>
            <a:off x="5310835" y="3353105"/>
            <a:ext cx="1650492" cy="143561"/>
          </a:xfrm>
          <a:prstGeom prst="rect">
            <a:avLst/>
          </a:prstGeom>
          <a:noFill/>
          <a:ln/>
        </p:spPr>
        <p:txBody>
          <a:bodyPr wrap="square" lIns="0" tIns="0" rIns="0" bIns="0" rtlCol="0" anchor="ctr"/>
          <a:lstStyle/>
          <a:p>
            <a:pPr algn="ctr" indent="0" marL="0">
              <a:buNone/>
            </a:pPr>
            <a:r>
              <a:rPr lang="en-US" sz="800" dirty="0">
                <a:solidFill>
                  <a:srgbClr val="605E5C"/>
                </a:solidFill>
                <a:latin typeface="Segoe UI" pitchFamily="34" charset="0"/>
                <a:ea typeface="Segoe UI" pitchFamily="34" charset="-122"/>
                <a:cs typeface="Segoe UI" pitchFamily="34" charset="-120"/>
              </a:rPr>
              <a:t>Diff(Today, DueDate) -&gt; Overdue?</a:t>
            </a:r>
            <a:endParaRPr lang="en-US" sz="800" dirty="0"/>
          </a:p>
        </p:txBody>
      </p:sp>
      <p:pic>
        <p:nvPicPr>
          <p:cNvPr id="71" name="Image 6" descr="preencoded.png">    </p:cNvPr>
          <p:cNvPicPr>
            <a:picLocks noChangeAspect="1"/>
          </p:cNvPicPr>
          <p:nvPr/>
        </p:nvPicPr>
        <p:blipFill>
          <a:blip r:embed="rId7"/>
          <a:srcRect l="0" r="0" t="0" b="0"/>
          <a:stretch/>
        </p:blipFill>
        <p:spPr>
          <a:xfrm>
            <a:off x="6024067" y="3834079"/>
            <a:ext cx="142646" cy="190195"/>
          </a:xfrm>
          <a:prstGeom prst="rect">
            <a:avLst/>
          </a:prstGeom>
        </p:spPr>
      </p:pic>
      <p:sp>
        <p:nvSpPr>
          <p:cNvPr id="72" name="Shape 63"/>
          <p:cNvSpPr/>
          <p:nvPr/>
        </p:nvSpPr>
        <p:spPr>
          <a:xfrm>
            <a:off x="5048402" y="4214470"/>
            <a:ext cx="2095805" cy="886054"/>
          </a:xfrm>
          <a:prstGeom prst="roundRect">
            <a:avLst>
              <a:gd name="adj" fmla="val 6658"/>
            </a:avLst>
          </a:prstGeom>
          <a:solidFill>
            <a:srgbClr val="FFFFFF"/>
          </a:solidFill>
          <a:ln w="25400">
            <a:solidFill>
              <a:srgbClr val="0078D4"/>
            </a:solidFill>
            <a:prstDash val="solid"/>
          </a:ln>
          <a:effectLst>
            <a:outerShdw sx="100000" sy="100000" kx="0" ky="0" algn="bl" rotWithShape="0" blurRad="12700" dist="12700" dir="16200000">
              <a:srgbClr val="000000">
                <a:alpha val="75000"/>
              </a:srgbClr>
            </a:outerShdw>
          </a:effectLst>
        </p:spPr>
      </p:sp>
      <p:pic>
        <p:nvPicPr>
          <p:cNvPr id="73" name="Image 7" descr="preencoded.png">    </p:cNvPr>
          <p:cNvPicPr>
            <a:picLocks noChangeAspect="1"/>
          </p:cNvPicPr>
          <p:nvPr/>
        </p:nvPicPr>
        <p:blipFill>
          <a:blip r:embed="rId8"/>
          <a:srcRect l="-1773" r="-1773" t="0" b="0"/>
          <a:stretch/>
        </p:blipFill>
        <p:spPr>
          <a:xfrm>
            <a:off x="6029554" y="4347972"/>
            <a:ext cx="133502" cy="171907"/>
          </a:xfrm>
          <a:prstGeom prst="rect">
            <a:avLst/>
          </a:prstGeom>
        </p:spPr>
      </p:pic>
      <p:sp>
        <p:nvSpPr>
          <p:cNvPr id="74" name="Text 64"/>
          <p:cNvSpPr txBox="1"/>
          <p:nvPr/>
        </p:nvSpPr>
        <p:spPr>
          <a:xfrm>
            <a:off x="5725973" y="4612234"/>
            <a:ext cx="843077" cy="181051"/>
          </a:xfrm>
          <a:prstGeom prst="rect">
            <a:avLst/>
          </a:prstGeom>
          <a:noFill/>
          <a:ln/>
        </p:spPr>
        <p:txBody>
          <a:bodyPr wrap="square" lIns="0" tIns="0" rIns="0" bIns="0" rtlCol="0" anchor="ctr"/>
          <a:lstStyle/>
          <a:p>
            <a:pPr algn="ctr" indent="0" marL="0">
              <a:buNone/>
            </a:pPr>
            <a:r>
              <a:rPr lang="en-US" sz="1000" b="1" dirty="0">
                <a:solidFill>
                  <a:srgbClr val="323130"/>
                </a:solidFill>
                <a:latin typeface="Segoe UI" pitchFamily="34" charset="0"/>
                <a:ea typeface="Segoe UI" pitchFamily="34" charset="-122"/>
                <a:cs typeface="Segoe UI" pitchFamily="34" charset="-120"/>
              </a:rPr>
              <a:t>Risk Scoring</a:t>
            </a:r>
            <a:endParaRPr lang="en-US" sz="1000" dirty="0"/>
          </a:p>
        </p:txBody>
      </p:sp>
      <p:sp>
        <p:nvSpPr>
          <p:cNvPr id="75" name="Text 65"/>
          <p:cNvSpPr txBox="1"/>
          <p:nvPr/>
        </p:nvSpPr>
        <p:spPr>
          <a:xfrm>
            <a:off x="5326380" y="4803343"/>
            <a:ext cx="1622146" cy="143561"/>
          </a:xfrm>
          <a:prstGeom prst="rect">
            <a:avLst/>
          </a:prstGeom>
          <a:noFill/>
          <a:ln/>
        </p:spPr>
        <p:txBody>
          <a:bodyPr wrap="square" lIns="0" tIns="0" rIns="0" bIns="0" rtlCol="0" anchor="ctr"/>
          <a:lstStyle/>
          <a:p>
            <a:pPr algn="ctr" indent="0" marL="0">
              <a:buNone/>
            </a:pPr>
            <a:r>
              <a:rPr lang="en-US" sz="800" dirty="0">
                <a:solidFill>
                  <a:srgbClr val="605E5C"/>
                </a:solidFill>
                <a:latin typeface="Segoe UI" pitchFamily="34" charset="0"/>
                <a:ea typeface="Segoe UI" pitchFamily="34" charset="-122"/>
                <a:cs typeface="Segoe UI" pitchFamily="34" charset="-120"/>
              </a:rPr>
              <a:t>Map(Severity) -&gt; Weighted Score</a:t>
            </a:r>
            <a:endParaRPr lang="en-US" sz="800" dirty="0"/>
          </a:p>
        </p:txBody>
      </p:sp>
      <p:pic>
        <p:nvPicPr>
          <p:cNvPr id="76" name="Image 8" descr="preencoded.png">    </p:cNvPr>
          <p:cNvPicPr>
            <a:picLocks noChangeAspect="1"/>
          </p:cNvPicPr>
          <p:nvPr/>
        </p:nvPicPr>
        <p:blipFill>
          <a:blip r:embed="rId9"/>
          <a:srcRect l="0" r="0" t="0" b="0"/>
          <a:stretch/>
        </p:blipFill>
        <p:spPr>
          <a:xfrm>
            <a:off x="6024067" y="5284318"/>
            <a:ext cx="142646" cy="190195"/>
          </a:xfrm>
          <a:prstGeom prst="rect">
            <a:avLst/>
          </a:prstGeom>
        </p:spPr>
      </p:pic>
      <p:sp>
        <p:nvSpPr>
          <p:cNvPr id="77" name="Shape 66"/>
          <p:cNvSpPr/>
          <p:nvPr/>
        </p:nvSpPr>
        <p:spPr>
          <a:xfrm>
            <a:off x="5048402" y="5664708"/>
            <a:ext cx="2095805" cy="886054"/>
          </a:xfrm>
          <a:prstGeom prst="roundRect">
            <a:avLst>
              <a:gd name="adj" fmla="val 6658"/>
            </a:avLst>
          </a:prstGeom>
          <a:solidFill>
            <a:srgbClr val="FFFFFF"/>
          </a:solidFill>
          <a:ln w="25400">
            <a:solidFill>
              <a:srgbClr val="0078D4"/>
            </a:solidFill>
            <a:prstDash val="solid"/>
          </a:ln>
          <a:effectLst>
            <a:outerShdw sx="100000" sy="100000" kx="0" ky="0" algn="bl" rotWithShape="0" blurRad="76200" dist="25400" dir="5400000">
              <a:srgbClr val="0078d4">
                <a:alpha val="10000"/>
              </a:srgbClr>
            </a:outerShdw>
          </a:effectLst>
        </p:spPr>
      </p:sp>
      <p:pic>
        <p:nvPicPr>
          <p:cNvPr id="78" name="Image 9" descr="preencoded.png">    </p:cNvPr>
          <p:cNvPicPr>
            <a:picLocks noChangeAspect="1"/>
          </p:cNvPicPr>
          <p:nvPr/>
        </p:nvPicPr>
        <p:blipFill>
          <a:blip r:embed="rId10"/>
          <a:srcRect l="0" r="0" t="-842" b="-842"/>
          <a:stretch/>
        </p:blipFill>
        <p:spPr>
          <a:xfrm>
            <a:off x="6000293" y="5798210"/>
            <a:ext cx="190195" cy="171907"/>
          </a:xfrm>
          <a:prstGeom prst="rect">
            <a:avLst/>
          </a:prstGeom>
        </p:spPr>
      </p:pic>
      <p:sp>
        <p:nvSpPr>
          <p:cNvPr id="79" name="Text 67"/>
          <p:cNvSpPr txBox="1"/>
          <p:nvPr/>
        </p:nvSpPr>
        <p:spPr>
          <a:xfrm>
            <a:off x="5715914" y="6062472"/>
            <a:ext cx="862279" cy="181051"/>
          </a:xfrm>
          <a:prstGeom prst="rect">
            <a:avLst/>
          </a:prstGeom>
          <a:noFill/>
          <a:ln/>
        </p:spPr>
        <p:txBody>
          <a:bodyPr wrap="square" lIns="0" tIns="0" rIns="0" bIns="0" rtlCol="0" anchor="ctr"/>
          <a:lstStyle/>
          <a:p>
            <a:pPr algn="ctr" indent="0" marL="0">
              <a:buNone/>
            </a:pPr>
            <a:r>
              <a:rPr lang="en-US" sz="1000" b="1" dirty="0">
                <a:solidFill>
                  <a:srgbClr val="323130"/>
                </a:solidFill>
                <a:latin typeface="Segoe UI" pitchFamily="34" charset="0"/>
                <a:ea typeface="Segoe UI" pitchFamily="34" charset="-122"/>
                <a:cs typeface="Segoe UI" pitchFamily="34" charset="-120"/>
              </a:rPr>
              <a:t>Aggregation</a:t>
            </a:r>
            <a:endParaRPr lang="en-US" sz="1000" dirty="0"/>
          </a:p>
        </p:txBody>
      </p:sp>
      <p:sp>
        <p:nvSpPr>
          <p:cNvPr id="80" name="Text 68"/>
          <p:cNvSpPr txBox="1"/>
          <p:nvPr/>
        </p:nvSpPr>
        <p:spPr>
          <a:xfrm>
            <a:off x="5640934" y="6253582"/>
            <a:ext cx="993038" cy="143561"/>
          </a:xfrm>
          <a:prstGeom prst="rect">
            <a:avLst/>
          </a:prstGeom>
          <a:noFill/>
          <a:ln/>
        </p:spPr>
        <p:txBody>
          <a:bodyPr wrap="square" lIns="0" tIns="0" rIns="0" bIns="0" rtlCol="0" anchor="ctr"/>
          <a:lstStyle/>
          <a:p>
            <a:pPr algn="ctr" indent="0" marL="0">
              <a:buNone/>
            </a:pPr>
            <a:r>
              <a:rPr lang="en-US" sz="800" dirty="0">
                <a:solidFill>
                  <a:srgbClr val="605E5C"/>
                </a:solidFill>
                <a:latin typeface="Segoe UI" pitchFamily="34" charset="0"/>
                <a:ea typeface="Segoe UI" pitchFamily="34" charset="-122"/>
                <a:cs typeface="Segoe UI" pitchFamily="34" charset="-120"/>
              </a:rPr>
              <a:t>Group By Project ID</a:t>
            </a:r>
            <a:endParaRPr lang="en-US" sz="800" dirty="0"/>
          </a:p>
        </p:txBody>
      </p:sp>
      <p:sp>
        <p:nvSpPr>
          <p:cNvPr id="81" name="Shape 69"/>
          <p:cNvSpPr/>
          <p:nvPr/>
        </p:nvSpPr>
        <p:spPr>
          <a:xfrm>
            <a:off x="7872984" y="1123798"/>
            <a:ext cx="3752698" cy="5609844"/>
          </a:xfrm>
          <a:prstGeom prst="roundRect">
            <a:avLst>
              <a:gd name="adj" fmla="val 495"/>
            </a:avLst>
          </a:prstGeom>
          <a:solidFill>
            <a:srgbClr val="FFFFFF"/>
          </a:solidFill>
          <a:ln w="12700">
            <a:solidFill>
              <a:srgbClr val="E1DFDD"/>
            </a:solidFill>
            <a:prstDash val="solid"/>
          </a:ln>
          <a:effectLst>
            <a:outerShdw sx="100000" sy="100000" kx="0" ky="0" algn="bl" rotWithShape="0" blurRad="114300" dist="38100" dir="5400000">
              <a:srgbClr val="000000">
                <a:alpha val="5000"/>
              </a:srgbClr>
            </a:outerShdw>
          </a:effectLst>
        </p:spPr>
      </p:sp>
      <p:sp>
        <p:nvSpPr>
          <p:cNvPr id="82" name="Shape 70"/>
          <p:cNvSpPr/>
          <p:nvPr/>
        </p:nvSpPr>
        <p:spPr>
          <a:xfrm>
            <a:off x="7882128" y="1133856"/>
            <a:ext cx="3733495" cy="495605"/>
          </a:xfrm>
          <a:prstGeom prst="rect">
            <a:avLst/>
          </a:prstGeom>
          <a:solidFill>
            <a:srgbClr val="F3F2F1"/>
          </a:solidFill>
          <a:ln/>
        </p:spPr>
      </p:sp>
      <p:sp>
        <p:nvSpPr>
          <p:cNvPr id="83" name="Shape 71"/>
          <p:cNvSpPr/>
          <p:nvPr/>
        </p:nvSpPr>
        <p:spPr>
          <a:xfrm>
            <a:off x="7882128" y="1620317"/>
            <a:ext cx="3733495" cy="9144"/>
          </a:xfrm>
          <a:prstGeom prst="rect">
            <a:avLst/>
          </a:prstGeom>
          <a:solidFill>
            <a:srgbClr val="E1DFDD"/>
          </a:solidFill>
          <a:ln/>
        </p:spPr>
      </p:sp>
      <p:pic>
        <p:nvPicPr>
          <p:cNvPr id="84" name="Image 10" descr="preencoded.png">    </p:cNvPr>
          <p:cNvPicPr>
            <a:picLocks noChangeAspect="1"/>
          </p:cNvPicPr>
          <p:nvPr/>
        </p:nvPicPr>
        <p:blipFill>
          <a:blip r:embed="rId11"/>
          <a:srcRect l="0" r="0" t="0" b="0"/>
          <a:stretch/>
        </p:blipFill>
        <p:spPr>
          <a:xfrm>
            <a:off x="8073238" y="1309421"/>
            <a:ext cx="133502" cy="133502"/>
          </a:xfrm>
          <a:prstGeom prst="rect">
            <a:avLst/>
          </a:prstGeom>
        </p:spPr>
      </p:pic>
      <p:sp>
        <p:nvSpPr>
          <p:cNvPr id="85" name="Text 72"/>
          <p:cNvSpPr txBox="1"/>
          <p:nvPr/>
        </p:nvSpPr>
        <p:spPr>
          <a:xfrm>
            <a:off x="8301838" y="1276502"/>
            <a:ext cx="1843430" cy="200254"/>
          </a:xfrm>
          <a:prstGeom prst="rect">
            <a:avLst/>
          </a:prstGeom>
          <a:noFill/>
          <a:ln/>
        </p:spPr>
        <p:txBody>
          <a:bodyPr wrap="square" lIns="0" tIns="0" rIns="0" bIns="0" rtlCol="0" anchor="ctr"/>
          <a:lstStyle/>
          <a:p>
            <a:pPr algn="l" indent="0" marL="0">
              <a:buNone/>
            </a:pPr>
            <a:r>
              <a:rPr lang="en-US" sz="1000" b="1" dirty="0">
                <a:solidFill>
                  <a:srgbClr val="323130"/>
                </a:solidFill>
                <a:latin typeface="Segoe UI" pitchFamily="34" charset="0"/>
                <a:ea typeface="Segoe UI" pitchFamily="34" charset="-122"/>
                <a:cs typeface="Segoe UI" pitchFamily="34" charset="-120"/>
              </a:rPr>
              <a:t>Processed Summary (Model)</a:t>
            </a:r>
            <a:endParaRPr lang="en-US" sz="1000" dirty="0"/>
          </a:p>
        </p:txBody>
      </p:sp>
      <p:sp>
        <p:nvSpPr>
          <p:cNvPr id="86" name="Shape 73"/>
          <p:cNvSpPr/>
          <p:nvPr/>
        </p:nvSpPr>
        <p:spPr>
          <a:xfrm>
            <a:off x="7882128" y="1628546"/>
            <a:ext cx="3733495" cy="5095951"/>
          </a:xfrm>
          <a:prstGeom prst="rect">
            <a:avLst/>
          </a:prstGeom>
          <a:solidFill>
            <a:srgbClr val="FFFFFF"/>
          </a:solidFill>
          <a:ln/>
        </p:spPr>
      </p:sp>
      <p:sp>
        <p:nvSpPr>
          <p:cNvPr id="87" name="Shape 74"/>
          <p:cNvSpPr/>
          <p:nvPr/>
        </p:nvSpPr>
        <p:spPr>
          <a:xfrm>
            <a:off x="8120786" y="2487168"/>
            <a:ext cx="3258007" cy="9144"/>
          </a:xfrm>
          <a:prstGeom prst="rect">
            <a:avLst/>
          </a:prstGeom>
          <a:solidFill>
            <a:srgbClr val="F3F2F1"/>
          </a:solidFill>
          <a:ln/>
        </p:spPr>
      </p:sp>
      <p:sp>
        <p:nvSpPr>
          <p:cNvPr id="88" name="Text 75"/>
          <p:cNvSpPr txBox="1"/>
          <p:nvPr/>
        </p:nvSpPr>
        <p:spPr>
          <a:xfrm>
            <a:off x="8120786" y="1876349"/>
            <a:ext cx="1224382" cy="228600"/>
          </a:xfrm>
          <a:prstGeom prst="rect">
            <a:avLst/>
          </a:prstGeom>
          <a:noFill/>
          <a:ln/>
        </p:spPr>
        <p:txBody>
          <a:bodyPr wrap="square" lIns="0" tIns="0" rIns="0" bIns="0" rtlCol="0" anchor="ctr"/>
          <a:lstStyle/>
          <a:p>
            <a:pPr algn="l" indent="0" marL="0">
              <a:buNone/>
            </a:pPr>
            <a:r>
              <a:rPr lang="en-US" sz="1300" b="1" dirty="0">
                <a:solidFill>
                  <a:srgbClr val="201F1E"/>
                </a:solidFill>
                <a:latin typeface="Segoe UI" pitchFamily="34" charset="0"/>
                <a:ea typeface="Segoe UI" pitchFamily="34" charset="-122"/>
                <a:cs typeface="Segoe UI" pitchFamily="34" charset="-120"/>
              </a:rPr>
              <a:t>Project Alpha</a:t>
            </a:r>
            <a:endParaRPr lang="en-US" sz="1300" dirty="0"/>
          </a:p>
        </p:txBody>
      </p:sp>
      <p:sp>
        <p:nvSpPr>
          <p:cNvPr id="89" name="Text 76"/>
          <p:cNvSpPr txBox="1"/>
          <p:nvPr/>
        </p:nvSpPr>
        <p:spPr>
          <a:xfrm>
            <a:off x="8120786" y="2180844"/>
            <a:ext cx="1981505" cy="152705"/>
          </a:xfrm>
          <a:prstGeom prst="rect">
            <a:avLst/>
          </a:prstGeom>
          <a:noFill/>
          <a:ln/>
        </p:spPr>
        <p:txBody>
          <a:bodyPr wrap="square" lIns="0" tIns="0" rIns="0" bIns="0" rtlCol="0" anchor="ctr"/>
          <a:lstStyle/>
          <a:p>
            <a:pPr algn="l" indent="0" marL="0">
              <a:buNone/>
            </a:pPr>
            <a:r>
              <a:rPr lang="en-US" sz="900" dirty="0">
                <a:solidFill>
                  <a:srgbClr val="605E5C"/>
                </a:solidFill>
                <a:latin typeface="Segoe UI" pitchFamily="34" charset="0"/>
                <a:ea typeface="Segoe UI" pitchFamily="34" charset="-122"/>
                <a:cs typeface="Segoe UI" pitchFamily="34" charset="-120"/>
              </a:rPr>
              <a:t>ID: PRJ-ALPHA | Owner: Sarah Jenkins</a:t>
            </a:r>
            <a:endParaRPr lang="en-US" sz="900" dirty="0"/>
          </a:p>
        </p:txBody>
      </p:sp>
      <p:sp>
        <p:nvSpPr>
          <p:cNvPr id="90" name="Shape 77"/>
          <p:cNvSpPr/>
          <p:nvPr/>
        </p:nvSpPr>
        <p:spPr>
          <a:xfrm>
            <a:off x="10287000" y="1867205"/>
            <a:ext cx="1095451" cy="267005"/>
          </a:xfrm>
          <a:prstGeom prst="roundRect">
            <a:avLst>
              <a:gd name="adj" fmla="val 146771"/>
            </a:avLst>
          </a:prstGeom>
          <a:solidFill>
            <a:srgbClr val="E6F5E9"/>
          </a:solidFill>
          <a:ln/>
        </p:spPr>
      </p:sp>
      <p:sp>
        <p:nvSpPr>
          <p:cNvPr id="91" name="Text 78"/>
          <p:cNvSpPr txBox="1"/>
          <p:nvPr/>
        </p:nvSpPr>
        <p:spPr>
          <a:xfrm>
            <a:off x="10401300" y="1914754"/>
            <a:ext cx="960120" cy="162763"/>
          </a:xfrm>
          <a:prstGeom prst="rect">
            <a:avLst/>
          </a:prstGeom>
          <a:noFill/>
          <a:ln/>
        </p:spPr>
        <p:txBody>
          <a:bodyPr wrap="square" lIns="0" tIns="0" rIns="0" bIns="0" rtlCol="0" anchor="ctr"/>
          <a:lstStyle/>
          <a:p>
            <a:pPr algn="l" indent="0" marL="0">
              <a:buNone/>
            </a:pPr>
            <a:r>
              <a:rPr lang="en-US" sz="900" b="1" dirty="0">
                <a:solidFill>
                  <a:srgbClr val="107C10"/>
                </a:solidFill>
                <a:latin typeface="Segoe UI" pitchFamily="34" charset="0"/>
                <a:ea typeface="Segoe UI" pitchFamily="34" charset="-122"/>
                <a:cs typeface="Segoe UI" pitchFamily="34" charset="-120"/>
              </a:rPr>
              <a:t>92% Compliant</a:t>
            </a:r>
            <a:endParaRPr lang="en-US" sz="900" dirty="0"/>
          </a:p>
        </p:txBody>
      </p:sp>
      <p:sp>
        <p:nvSpPr>
          <p:cNvPr id="92" name="Shape 79"/>
          <p:cNvSpPr/>
          <p:nvPr/>
        </p:nvSpPr>
        <p:spPr>
          <a:xfrm>
            <a:off x="8120786" y="2686507"/>
            <a:ext cx="1561795" cy="819302"/>
          </a:xfrm>
          <a:prstGeom prst="roundRect">
            <a:avLst>
              <a:gd name="adj" fmla="val 7787"/>
            </a:avLst>
          </a:prstGeom>
          <a:solidFill>
            <a:srgbClr val="F8F9FA"/>
          </a:solidFill>
          <a:ln w="12700">
            <a:solidFill>
              <a:srgbClr val="EDEBE9"/>
            </a:solidFill>
            <a:prstDash val="solid"/>
          </a:ln>
        </p:spPr>
      </p:sp>
      <p:sp>
        <p:nvSpPr>
          <p:cNvPr id="93" name="Text 80"/>
          <p:cNvSpPr txBox="1"/>
          <p:nvPr/>
        </p:nvSpPr>
        <p:spPr>
          <a:xfrm>
            <a:off x="8273491" y="2857500"/>
            <a:ext cx="305410" cy="305410"/>
          </a:xfrm>
          <a:prstGeom prst="rect">
            <a:avLst/>
          </a:prstGeom>
          <a:noFill/>
          <a:ln/>
        </p:spPr>
        <p:txBody>
          <a:bodyPr wrap="square" lIns="0" tIns="0" rIns="0" bIns="0" rtlCol="0" anchor="ctr"/>
          <a:lstStyle/>
          <a:p>
            <a:pPr algn="l" indent="0" marL="0">
              <a:buNone/>
            </a:pPr>
            <a:r>
              <a:rPr lang="en-US" sz="1800" b="1" dirty="0">
                <a:solidFill>
                  <a:srgbClr val="D83B01"/>
                </a:solidFill>
                <a:latin typeface="Segoe UI" pitchFamily="34" charset="0"/>
                <a:ea typeface="Segoe UI" pitchFamily="34" charset="-122"/>
                <a:cs typeface="Segoe UI" pitchFamily="34" charset="-120"/>
              </a:rPr>
              <a:t>1</a:t>
            </a:r>
            <a:endParaRPr lang="en-US" sz="1800" dirty="0"/>
          </a:p>
        </p:txBody>
      </p:sp>
      <p:sp>
        <p:nvSpPr>
          <p:cNvPr id="94" name="Text 81"/>
          <p:cNvSpPr txBox="1"/>
          <p:nvPr/>
        </p:nvSpPr>
        <p:spPr>
          <a:xfrm>
            <a:off x="8273491" y="3191256"/>
            <a:ext cx="743407" cy="152705"/>
          </a:xfrm>
          <a:prstGeom prst="rect">
            <a:avLst/>
          </a:prstGeom>
          <a:noFill/>
          <a:ln/>
        </p:spPr>
        <p:txBody>
          <a:bodyPr wrap="square" lIns="0" tIns="0" rIns="0" bIns="0" rtlCol="0" anchor="ctr"/>
          <a:lstStyle/>
          <a:p>
            <a:pPr algn="l" indent="0" marL="0">
              <a:buNone/>
            </a:pPr>
            <a:r>
              <a:rPr lang="en-US" sz="900" dirty="0">
                <a:solidFill>
                  <a:srgbClr val="605E5C"/>
                </a:solidFill>
                <a:latin typeface="Segoe UI" pitchFamily="34" charset="0"/>
                <a:ea typeface="Segoe UI" pitchFamily="34" charset="-122"/>
                <a:cs typeface="Segoe UI" pitchFamily="34" charset="-120"/>
              </a:rPr>
              <a:t>Critical Open</a:t>
            </a:r>
            <a:endParaRPr lang="en-US" sz="900" dirty="0"/>
          </a:p>
        </p:txBody>
      </p:sp>
      <p:sp>
        <p:nvSpPr>
          <p:cNvPr id="95" name="Shape 82"/>
          <p:cNvSpPr/>
          <p:nvPr/>
        </p:nvSpPr>
        <p:spPr>
          <a:xfrm>
            <a:off x="9817913" y="2686507"/>
            <a:ext cx="1561795" cy="819302"/>
          </a:xfrm>
          <a:prstGeom prst="roundRect">
            <a:avLst>
              <a:gd name="adj" fmla="val 7787"/>
            </a:avLst>
          </a:prstGeom>
          <a:solidFill>
            <a:srgbClr val="F8F9FA"/>
          </a:solidFill>
          <a:ln w="12700">
            <a:solidFill>
              <a:srgbClr val="EDEBE9"/>
            </a:solidFill>
            <a:prstDash val="solid"/>
          </a:ln>
        </p:spPr>
      </p:sp>
      <p:sp>
        <p:nvSpPr>
          <p:cNvPr id="96" name="Text 83"/>
          <p:cNvSpPr txBox="1"/>
          <p:nvPr/>
        </p:nvSpPr>
        <p:spPr>
          <a:xfrm>
            <a:off x="9970618" y="2857500"/>
            <a:ext cx="305410" cy="305410"/>
          </a:xfrm>
          <a:prstGeom prst="rect">
            <a:avLst/>
          </a:prstGeom>
          <a:noFill/>
          <a:ln/>
        </p:spPr>
        <p:txBody>
          <a:bodyPr wrap="square" lIns="0" tIns="0" rIns="0" bIns="0" rtlCol="0" anchor="ctr"/>
          <a:lstStyle/>
          <a:p>
            <a:pPr algn="l" indent="0" marL="0">
              <a:buNone/>
            </a:pPr>
            <a:r>
              <a:rPr lang="en-US" sz="1800" b="1" dirty="0">
                <a:solidFill>
                  <a:srgbClr val="605E5C"/>
                </a:solidFill>
                <a:latin typeface="Segoe UI" pitchFamily="34" charset="0"/>
                <a:ea typeface="Segoe UI" pitchFamily="34" charset="-122"/>
                <a:cs typeface="Segoe UI" pitchFamily="34" charset="-120"/>
              </a:rPr>
              <a:t>2</a:t>
            </a:r>
            <a:endParaRPr lang="en-US" sz="1800" dirty="0"/>
          </a:p>
        </p:txBody>
      </p:sp>
      <p:sp>
        <p:nvSpPr>
          <p:cNvPr id="97" name="Text 84"/>
          <p:cNvSpPr txBox="1"/>
          <p:nvPr/>
        </p:nvSpPr>
        <p:spPr>
          <a:xfrm>
            <a:off x="9970618" y="3191256"/>
            <a:ext cx="829361" cy="152705"/>
          </a:xfrm>
          <a:prstGeom prst="rect">
            <a:avLst/>
          </a:prstGeom>
          <a:noFill/>
          <a:ln/>
        </p:spPr>
        <p:txBody>
          <a:bodyPr wrap="square" lIns="0" tIns="0" rIns="0" bIns="0" rtlCol="0" anchor="ctr"/>
          <a:lstStyle/>
          <a:p>
            <a:pPr algn="l" indent="0" marL="0">
              <a:buNone/>
            </a:pPr>
            <a:r>
              <a:rPr lang="en-US" sz="900" dirty="0">
                <a:solidFill>
                  <a:srgbClr val="605E5C"/>
                </a:solidFill>
                <a:latin typeface="Segoe UI" pitchFamily="34" charset="0"/>
                <a:ea typeface="Segoe UI" pitchFamily="34" charset="-122"/>
                <a:cs typeface="Segoe UI" pitchFamily="34" charset="-120"/>
              </a:rPr>
              <a:t>Overdue Items</a:t>
            </a:r>
            <a:endParaRPr lang="en-US" sz="900" dirty="0"/>
          </a:p>
        </p:txBody>
      </p:sp>
      <p:sp>
        <p:nvSpPr>
          <p:cNvPr id="98" name="Text 85"/>
          <p:cNvSpPr txBox="1"/>
          <p:nvPr/>
        </p:nvSpPr>
        <p:spPr>
          <a:xfrm>
            <a:off x="8120786" y="3752698"/>
            <a:ext cx="857707" cy="152705"/>
          </a:xfrm>
          <a:prstGeom prst="rect">
            <a:avLst/>
          </a:prstGeom>
          <a:noFill/>
          <a:ln/>
        </p:spPr>
        <p:txBody>
          <a:bodyPr wrap="square" lIns="0" tIns="0" rIns="0" bIns="0" rtlCol="0" anchor="ctr"/>
          <a:lstStyle/>
          <a:p>
            <a:pPr algn="l" indent="0" marL="0">
              <a:buNone/>
            </a:pPr>
            <a:r>
              <a:rPr lang="en-US" sz="900" b="1" dirty="0">
                <a:solidFill>
                  <a:srgbClr val="605E5C"/>
                </a:solidFill>
                <a:latin typeface="Segoe UI" pitchFamily="34" charset="0"/>
                <a:ea typeface="Segoe UI" pitchFamily="34" charset="-122"/>
                <a:cs typeface="Segoe UI" pitchFamily="34" charset="-120"/>
              </a:rPr>
              <a:t>TOP FINDINGS</a:t>
            </a:r>
            <a:endParaRPr lang="en-US" sz="900" dirty="0"/>
          </a:p>
        </p:txBody>
      </p:sp>
      <p:sp>
        <p:nvSpPr>
          <p:cNvPr id="99" name="Shape 86"/>
          <p:cNvSpPr/>
          <p:nvPr/>
        </p:nvSpPr>
        <p:spPr>
          <a:xfrm>
            <a:off x="8120786" y="4401007"/>
            <a:ext cx="3258007" cy="9144"/>
          </a:xfrm>
          <a:prstGeom prst="rect">
            <a:avLst/>
          </a:prstGeom>
          <a:solidFill>
            <a:srgbClr val="F3F2F1"/>
          </a:solidFill>
          <a:ln/>
        </p:spPr>
      </p:sp>
      <p:sp>
        <p:nvSpPr>
          <p:cNvPr id="100" name="Text 87"/>
          <p:cNvSpPr txBox="1"/>
          <p:nvPr/>
        </p:nvSpPr>
        <p:spPr>
          <a:xfrm>
            <a:off x="8120786" y="4119372"/>
            <a:ext cx="1207922" cy="162763"/>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Missing Access Logs</a:t>
            </a:r>
            <a:endParaRPr lang="en-US" sz="900" dirty="0"/>
          </a:p>
        </p:txBody>
      </p:sp>
      <p:sp>
        <p:nvSpPr>
          <p:cNvPr id="101" name="Shape 88"/>
          <p:cNvSpPr/>
          <p:nvPr/>
        </p:nvSpPr>
        <p:spPr>
          <a:xfrm>
            <a:off x="10892333" y="4105656"/>
            <a:ext cx="485546" cy="200254"/>
          </a:xfrm>
          <a:prstGeom prst="roundRect">
            <a:avLst>
              <a:gd name="adj" fmla="val 86975"/>
            </a:avLst>
          </a:prstGeom>
          <a:solidFill>
            <a:srgbClr val="FDE7E9"/>
          </a:solidFill>
          <a:ln/>
        </p:spPr>
      </p:sp>
      <p:sp>
        <p:nvSpPr>
          <p:cNvPr id="102" name="Text 89"/>
          <p:cNvSpPr txBox="1"/>
          <p:nvPr/>
        </p:nvSpPr>
        <p:spPr>
          <a:xfrm>
            <a:off x="10968228" y="4123944"/>
            <a:ext cx="412394" cy="143561"/>
          </a:xfrm>
          <a:prstGeom prst="rect">
            <a:avLst/>
          </a:prstGeom>
          <a:noFill/>
          <a:ln/>
        </p:spPr>
        <p:txBody>
          <a:bodyPr wrap="square" lIns="0" tIns="0" rIns="0" bIns="0" rtlCol="0" anchor="ctr"/>
          <a:lstStyle/>
          <a:p>
            <a:pPr algn="l" indent="0" marL="0">
              <a:buNone/>
            </a:pPr>
            <a:r>
              <a:rPr lang="en-US" sz="800" b="1" dirty="0">
                <a:solidFill>
                  <a:srgbClr val="A80000"/>
                </a:solidFill>
                <a:latin typeface="Segoe UI" pitchFamily="34" charset="0"/>
                <a:ea typeface="Segoe UI" pitchFamily="34" charset="-122"/>
                <a:cs typeface="Segoe UI" pitchFamily="34" charset="-120"/>
              </a:rPr>
              <a:t>Critical</a:t>
            </a:r>
            <a:endParaRPr lang="en-US" sz="800" dirty="0"/>
          </a:p>
        </p:txBody>
      </p:sp>
      <p:sp>
        <p:nvSpPr>
          <p:cNvPr id="103" name="Shape 90"/>
          <p:cNvSpPr/>
          <p:nvPr/>
        </p:nvSpPr>
        <p:spPr>
          <a:xfrm>
            <a:off x="8120786" y="4796942"/>
            <a:ext cx="3258007" cy="9144"/>
          </a:xfrm>
          <a:prstGeom prst="rect">
            <a:avLst/>
          </a:prstGeom>
          <a:solidFill>
            <a:srgbClr val="F3F2F1"/>
          </a:solidFill>
          <a:ln/>
        </p:spPr>
      </p:sp>
      <p:sp>
        <p:nvSpPr>
          <p:cNvPr id="104" name="Text 91"/>
          <p:cNvSpPr txBox="1"/>
          <p:nvPr/>
        </p:nvSpPr>
        <p:spPr>
          <a:xfrm>
            <a:off x="8120786" y="4515307"/>
            <a:ext cx="1207922" cy="162763"/>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Doc Review Pending</a:t>
            </a:r>
            <a:endParaRPr lang="en-US" sz="900" dirty="0"/>
          </a:p>
        </p:txBody>
      </p:sp>
      <p:sp>
        <p:nvSpPr>
          <p:cNvPr id="105" name="Shape 92"/>
          <p:cNvSpPr/>
          <p:nvPr/>
        </p:nvSpPr>
        <p:spPr>
          <a:xfrm>
            <a:off x="10822838" y="4500677"/>
            <a:ext cx="552298" cy="200254"/>
          </a:xfrm>
          <a:prstGeom prst="roundRect">
            <a:avLst>
              <a:gd name="adj" fmla="val 86975"/>
            </a:avLst>
          </a:prstGeom>
          <a:solidFill>
            <a:srgbClr val="FDF6E3"/>
          </a:solidFill>
          <a:ln/>
        </p:spPr>
      </p:sp>
      <p:sp>
        <p:nvSpPr>
          <p:cNvPr id="106" name="Text 93"/>
          <p:cNvSpPr txBox="1"/>
          <p:nvPr/>
        </p:nvSpPr>
        <p:spPr>
          <a:xfrm>
            <a:off x="10899648" y="4519879"/>
            <a:ext cx="479146" cy="143561"/>
          </a:xfrm>
          <a:prstGeom prst="rect">
            <a:avLst/>
          </a:prstGeom>
          <a:noFill/>
          <a:ln/>
        </p:spPr>
        <p:txBody>
          <a:bodyPr wrap="square" lIns="0" tIns="0" rIns="0" bIns="0" rtlCol="0" anchor="ctr"/>
          <a:lstStyle/>
          <a:p>
            <a:pPr algn="l" indent="0" marL="0">
              <a:buNone/>
            </a:pPr>
            <a:r>
              <a:rPr lang="en-US" sz="800" b="1" dirty="0">
                <a:solidFill>
                  <a:srgbClr val="B76E00"/>
                </a:solidFill>
                <a:latin typeface="Segoe UI" pitchFamily="34" charset="0"/>
                <a:ea typeface="Segoe UI" pitchFamily="34" charset="-122"/>
                <a:cs typeface="Segoe UI" pitchFamily="34" charset="-120"/>
              </a:rPr>
              <a:t>Medium</a:t>
            </a:r>
            <a:endParaRPr lang="en-US" sz="800" dirty="0"/>
          </a:p>
        </p:txBody>
      </p:sp>
      <p:sp>
        <p:nvSpPr>
          <p:cNvPr id="107" name="Shape 94"/>
          <p:cNvSpPr/>
          <p:nvPr/>
        </p:nvSpPr>
        <p:spPr>
          <a:xfrm>
            <a:off x="8120786" y="5191963"/>
            <a:ext cx="3258007" cy="9144"/>
          </a:xfrm>
          <a:prstGeom prst="rect">
            <a:avLst/>
          </a:prstGeom>
          <a:solidFill>
            <a:srgbClr val="F3F2F1"/>
          </a:solidFill>
          <a:ln/>
        </p:spPr>
      </p:sp>
      <p:sp>
        <p:nvSpPr>
          <p:cNvPr id="108" name="Text 95"/>
          <p:cNvSpPr txBox="1"/>
          <p:nvPr/>
        </p:nvSpPr>
        <p:spPr>
          <a:xfrm>
            <a:off x="8120786" y="4910328"/>
            <a:ext cx="1093622" cy="162763"/>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Patch Delay &gt; 30d</a:t>
            </a:r>
            <a:endParaRPr lang="en-US" sz="900" dirty="0"/>
          </a:p>
        </p:txBody>
      </p:sp>
      <p:sp>
        <p:nvSpPr>
          <p:cNvPr id="109" name="Shape 96"/>
          <p:cNvSpPr/>
          <p:nvPr/>
        </p:nvSpPr>
        <p:spPr>
          <a:xfrm>
            <a:off x="10892333" y="4895698"/>
            <a:ext cx="485546" cy="200254"/>
          </a:xfrm>
          <a:prstGeom prst="roundRect">
            <a:avLst>
              <a:gd name="adj" fmla="val 86975"/>
            </a:avLst>
          </a:prstGeom>
          <a:solidFill>
            <a:srgbClr val="FDE7E9"/>
          </a:solidFill>
          <a:ln/>
        </p:spPr>
      </p:sp>
      <p:sp>
        <p:nvSpPr>
          <p:cNvPr id="110" name="Text 97"/>
          <p:cNvSpPr txBox="1"/>
          <p:nvPr/>
        </p:nvSpPr>
        <p:spPr>
          <a:xfrm>
            <a:off x="10968228" y="4914900"/>
            <a:ext cx="412394" cy="143561"/>
          </a:xfrm>
          <a:prstGeom prst="rect">
            <a:avLst/>
          </a:prstGeom>
          <a:noFill/>
          <a:ln/>
        </p:spPr>
        <p:txBody>
          <a:bodyPr wrap="square" lIns="0" tIns="0" rIns="0" bIns="0" rtlCol="0" anchor="ctr"/>
          <a:lstStyle/>
          <a:p>
            <a:pPr algn="l" indent="0" marL="0">
              <a:buNone/>
            </a:pPr>
            <a:r>
              <a:rPr lang="en-US" sz="800" b="1" dirty="0">
                <a:solidFill>
                  <a:srgbClr val="A80000"/>
                </a:solidFill>
                <a:latin typeface="Segoe UI" pitchFamily="34" charset="0"/>
                <a:ea typeface="Segoe UI" pitchFamily="34" charset="-122"/>
                <a:cs typeface="Segoe UI" pitchFamily="34" charset="-120"/>
              </a:rPr>
              <a:t>Critical</a:t>
            </a:r>
            <a:endParaRPr lang="en-US" sz="800" dirty="0"/>
          </a:p>
        </p:txBody>
      </p:sp>
      <p:sp>
        <p:nvSpPr>
          <p:cNvPr id="111" name="Shape 98"/>
          <p:cNvSpPr/>
          <p:nvPr/>
        </p:nvSpPr>
        <p:spPr>
          <a:xfrm>
            <a:off x="8120786" y="5386730"/>
            <a:ext cx="3258007" cy="381305"/>
          </a:xfrm>
          <a:prstGeom prst="roundRect">
            <a:avLst>
              <a:gd name="adj" fmla="val 23981"/>
            </a:avLst>
          </a:prstGeom>
          <a:solidFill>
            <a:srgbClr val="EFF6FC"/>
          </a:solidFill>
          <a:ln w="12700">
            <a:solidFill>
              <a:srgbClr val="0078D4"/>
            </a:solidFill>
            <a:prstDash val="solid"/>
          </a:ln>
        </p:spPr>
      </p:sp>
      <p:pic>
        <p:nvPicPr>
          <p:cNvPr id="112" name="Image 11" descr="preencoded.png">    </p:cNvPr>
          <p:cNvPicPr>
            <a:picLocks noChangeAspect="1"/>
          </p:cNvPicPr>
          <p:nvPr/>
        </p:nvPicPr>
        <p:blipFill>
          <a:blip r:embed="rId12"/>
          <a:srcRect l="-33" r="-33" t="0" b="0"/>
          <a:stretch/>
        </p:blipFill>
        <p:spPr>
          <a:xfrm>
            <a:off x="8225028" y="5501030"/>
            <a:ext cx="171907" cy="152705"/>
          </a:xfrm>
          <a:prstGeom prst="rect">
            <a:avLst/>
          </a:prstGeom>
        </p:spPr>
      </p:pic>
      <p:sp>
        <p:nvSpPr>
          <p:cNvPr id="113" name="Text 99"/>
          <p:cNvSpPr txBox="1"/>
          <p:nvPr/>
        </p:nvSpPr>
        <p:spPr>
          <a:xfrm>
            <a:off x="8492033" y="5501030"/>
            <a:ext cx="1390802" cy="152705"/>
          </a:xfrm>
          <a:prstGeom prst="rect">
            <a:avLst/>
          </a:prstGeom>
          <a:noFill/>
          <a:ln/>
        </p:spPr>
        <p:txBody>
          <a:bodyPr wrap="square" lIns="0" tIns="0" rIns="0" bIns="0" rtlCol="0" anchor="ctr"/>
          <a:lstStyle/>
          <a:p>
            <a:pPr algn="l" indent="0" marL="0">
              <a:buNone/>
            </a:pPr>
            <a:r>
              <a:rPr lang="en-US" sz="900" dirty="0">
                <a:solidFill>
                  <a:srgbClr val="0078D4"/>
                </a:solidFill>
                <a:latin typeface="Segoe UI" pitchFamily="34" charset="0"/>
                <a:ea typeface="Segoe UI" pitchFamily="34" charset="-122"/>
                <a:cs typeface="Segoe UI" pitchFamily="34" charset="-120"/>
              </a:rPr>
              <a:t>Ready for PDF Generation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0F2F5"/>
          </a:solidFill>
          <a:ln/>
        </p:spPr>
      </p:sp>
      <p:sp>
        <p:nvSpPr>
          <p:cNvPr id="4" name="Shape 2"/>
          <p:cNvSpPr/>
          <p:nvPr/>
        </p:nvSpPr>
        <p:spPr>
          <a:xfrm>
            <a:off x="190195" y="190195"/>
            <a:ext cx="11811305" cy="6476695"/>
          </a:xfrm>
          <a:prstGeom prst="roundRect">
            <a:avLst>
              <a:gd name="adj" fmla="val 166"/>
            </a:avLst>
          </a:prstGeom>
          <a:solidFill>
            <a:srgbClr val="FFFFFF"/>
          </a:solidFill>
          <a:ln w="12700">
            <a:solidFill>
              <a:srgbClr val="E1DFDD"/>
            </a:solidFill>
            <a:prstDash val="solid"/>
          </a:ln>
          <a:effectLst>
            <a:outerShdw sx="100000" sy="100000" kx="0" ky="0" algn="bl" rotWithShape="0" blurRad="292100" dist="101600" dir="5400000">
              <a:srgbClr val="000000">
                <a:alpha val="10000"/>
              </a:srgbClr>
            </a:outerShdw>
          </a:effectLst>
        </p:spPr>
      </p:sp>
      <p:sp>
        <p:nvSpPr>
          <p:cNvPr id="5" name="Shape 3"/>
          <p:cNvSpPr/>
          <p:nvPr/>
        </p:nvSpPr>
        <p:spPr>
          <a:xfrm>
            <a:off x="200254" y="200254"/>
            <a:ext cx="11792102" cy="952805"/>
          </a:xfrm>
          <a:prstGeom prst="rect">
            <a:avLst/>
          </a:prstGeom>
          <a:solidFill>
            <a:srgbClr val="0078D4"/>
          </a:solidFill>
          <a:ln/>
        </p:spPr>
      </p:sp>
      <p:sp>
        <p:nvSpPr>
          <p:cNvPr id="6" name="Text 4"/>
          <p:cNvSpPr txBox="1"/>
          <p:nvPr/>
        </p:nvSpPr>
        <p:spPr>
          <a:xfrm>
            <a:off x="352044" y="286207"/>
            <a:ext cx="300838" cy="181051"/>
          </a:xfrm>
          <a:prstGeom prst="rect">
            <a:avLst/>
          </a:prstGeom>
          <a:noFill/>
          <a:ln/>
        </p:spPr>
        <p:txBody>
          <a:bodyPr wrap="square" lIns="0" tIns="0" rIns="0" bIns="0" rtlCol="0" anchor="ctr"/>
          <a:lstStyle/>
          <a:p>
            <a:pPr algn="l" indent="0" marL="0">
              <a:buNone/>
            </a:pPr>
            <a:r>
              <a:rPr lang="en-US" sz="1000" dirty="0">
                <a:solidFill>
                  <a:srgbClr val="FFFFFF">
                    <a:alpha val="80000"/>
                  </a:srgbClr>
                </a:solidFill>
                <a:latin typeface="Segoe UI" pitchFamily="34" charset="0"/>
                <a:ea typeface="Segoe UI" pitchFamily="34" charset="-122"/>
                <a:cs typeface="Segoe UI" pitchFamily="34" charset="-120"/>
              </a:rPr>
              <a:t>File</a:t>
            </a:r>
            <a:endParaRPr lang="en-US" sz="1000" dirty="0"/>
          </a:p>
        </p:txBody>
      </p:sp>
      <p:sp>
        <p:nvSpPr>
          <p:cNvPr id="7" name="Shape 5"/>
          <p:cNvSpPr/>
          <p:nvPr/>
        </p:nvSpPr>
        <p:spPr>
          <a:xfrm>
            <a:off x="742493" y="552298"/>
            <a:ext cx="371246" cy="19202"/>
          </a:xfrm>
          <a:prstGeom prst="rect">
            <a:avLst/>
          </a:prstGeom>
          <a:solidFill>
            <a:srgbClr val="FFFFFF"/>
          </a:solidFill>
          <a:ln/>
        </p:spPr>
      </p:sp>
      <p:sp>
        <p:nvSpPr>
          <p:cNvPr id="8" name="Text 6"/>
          <p:cNvSpPr txBox="1"/>
          <p:nvPr/>
        </p:nvSpPr>
        <p:spPr>
          <a:xfrm>
            <a:off x="742493" y="286207"/>
            <a:ext cx="471830" cy="181051"/>
          </a:xfrm>
          <a:prstGeom prst="rect">
            <a:avLst/>
          </a:prstGeom>
          <a:noFill/>
          <a:ln/>
        </p:spPr>
        <p:txBody>
          <a:bodyPr wrap="square" lIns="0" tIns="0" rIns="0" bIns="0" rtlCol="0" anchor="ctr"/>
          <a:lstStyle/>
          <a:p>
            <a:pPr algn="l" indent="0" marL="0">
              <a:buNone/>
            </a:pPr>
            <a:r>
              <a:rPr lang="en-US" sz="1000" b="1" dirty="0">
                <a:solidFill>
                  <a:srgbClr val="FFFFFF"/>
                </a:solidFill>
                <a:latin typeface="Segoe UI" pitchFamily="34" charset="0"/>
                <a:ea typeface="Segoe UI" pitchFamily="34" charset="-122"/>
                <a:cs typeface="Segoe UI" pitchFamily="34" charset="-120"/>
              </a:rPr>
              <a:t>Home</a:t>
            </a:r>
            <a:endParaRPr lang="en-US" sz="1000" dirty="0"/>
          </a:p>
        </p:txBody>
      </p:sp>
      <p:sp>
        <p:nvSpPr>
          <p:cNvPr id="9" name="Text 7"/>
          <p:cNvSpPr txBox="1"/>
          <p:nvPr/>
        </p:nvSpPr>
        <p:spPr>
          <a:xfrm>
            <a:off x="1299362" y="286207"/>
            <a:ext cx="967435" cy="181051"/>
          </a:xfrm>
          <a:prstGeom prst="rect">
            <a:avLst/>
          </a:prstGeom>
          <a:noFill/>
          <a:ln/>
        </p:spPr>
        <p:txBody>
          <a:bodyPr wrap="square" lIns="0" tIns="0" rIns="0" bIns="0" rtlCol="0" anchor="ctr"/>
          <a:lstStyle/>
          <a:p>
            <a:pPr algn="l" indent="0" marL="0">
              <a:buNone/>
            </a:pPr>
            <a:r>
              <a:rPr lang="en-US" sz="1000" dirty="0">
                <a:solidFill>
                  <a:srgbClr val="FFFFFF">
                    <a:alpha val="80000"/>
                  </a:srgbClr>
                </a:solidFill>
                <a:latin typeface="Segoe UI" pitchFamily="34" charset="0"/>
                <a:ea typeface="Segoe UI" pitchFamily="34" charset="-122"/>
                <a:cs typeface="Segoe UI" pitchFamily="34" charset="-120"/>
              </a:rPr>
              <a:t>Send / Receive</a:t>
            </a:r>
            <a:endParaRPr lang="en-US" sz="1000" dirty="0"/>
          </a:p>
        </p:txBody>
      </p:sp>
      <p:sp>
        <p:nvSpPr>
          <p:cNvPr id="10" name="Text 8"/>
          <p:cNvSpPr txBox="1"/>
          <p:nvPr/>
        </p:nvSpPr>
        <p:spPr>
          <a:xfrm>
            <a:off x="2352751" y="286207"/>
            <a:ext cx="471830" cy="181051"/>
          </a:xfrm>
          <a:prstGeom prst="rect">
            <a:avLst/>
          </a:prstGeom>
          <a:noFill/>
          <a:ln/>
        </p:spPr>
        <p:txBody>
          <a:bodyPr wrap="square" lIns="0" tIns="0" rIns="0" bIns="0" rtlCol="0" anchor="ctr"/>
          <a:lstStyle/>
          <a:p>
            <a:pPr algn="l" indent="0" marL="0">
              <a:buNone/>
            </a:pPr>
            <a:r>
              <a:rPr lang="en-US" sz="1000" dirty="0">
                <a:solidFill>
                  <a:srgbClr val="FFFFFF">
                    <a:alpha val="80000"/>
                  </a:srgbClr>
                </a:solidFill>
                <a:latin typeface="Segoe UI" pitchFamily="34" charset="0"/>
                <a:ea typeface="Segoe UI" pitchFamily="34" charset="-122"/>
                <a:cs typeface="Segoe UI" pitchFamily="34" charset="-120"/>
              </a:rPr>
              <a:t>Folder</a:t>
            </a:r>
            <a:endParaRPr lang="en-US" sz="1000" dirty="0"/>
          </a:p>
        </p:txBody>
      </p:sp>
      <p:sp>
        <p:nvSpPr>
          <p:cNvPr id="11" name="Text 9"/>
          <p:cNvSpPr txBox="1"/>
          <p:nvPr/>
        </p:nvSpPr>
        <p:spPr>
          <a:xfrm>
            <a:off x="2913278" y="286207"/>
            <a:ext cx="385877" cy="181051"/>
          </a:xfrm>
          <a:prstGeom prst="rect">
            <a:avLst/>
          </a:prstGeom>
          <a:noFill/>
          <a:ln/>
        </p:spPr>
        <p:txBody>
          <a:bodyPr wrap="square" lIns="0" tIns="0" rIns="0" bIns="0" rtlCol="0" anchor="ctr"/>
          <a:lstStyle/>
          <a:p>
            <a:pPr algn="l" indent="0" marL="0">
              <a:buNone/>
            </a:pPr>
            <a:r>
              <a:rPr lang="en-US" sz="1000" dirty="0">
                <a:solidFill>
                  <a:srgbClr val="FFFFFF">
                    <a:alpha val="80000"/>
                  </a:srgbClr>
                </a:solidFill>
                <a:latin typeface="Segoe UI" pitchFamily="34" charset="0"/>
                <a:ea typeface="Segoe UI" pitchFamily="34" charset="-122"/>
                <a:cs typeface="Segoe UI" pitchFamily="34" charset="-120"/>
              </a:rPr>
              <a:t>View</a:t>
            </a:r>
            <a:endParaRPr lang="en-US" sz="1000" dirty="0"/>
          </a:p>
        </p:txBody>
      </p:sp>
      <p:sp>
        <p:nvSpPr>
          <p:cNvPr id="12" name="Shape 10"/>
          <p:cNvSpPr/>
          <p:nvPr/>
        </p:nvSpPr>
        <p:spPr>
          <a:xfrm>
            <a:off x="200254" y="571500"/>
            <a:ext cx="11792102" cy="580644"/>
          </a:xfrm>
          <a:prstGeom prst="rect">
            <a:avLst/>
          </a:prstGeom>
          <a:solidFill>
            <a:srgbClr val="F3F2F1"/>
          </a:solidFill>
          <a:ln/>
        </p:spPr>
      </p:sp>
      <p:sp>
        <p:nvSpPr>
          <p:cNvPr id="13" name="Shape 11"/>
          <p:cNvSpPr/>
          <p:nvPr/>
        </p:nvSpPr>
        <p:spPr>
          <a:xfrm>
            <a:off x="200254" y="1143000"/>
            <a:ext cx="11792102" cy="9144"/>
          </a:xfrm>
          <a:prstGeom prst="rect">
            <a:avLst/>
          </a:prstGeom>
          <a:solidFill>
            <a:srgbClr val="E1DFDD"/>
          </a:solidFill>
          <a:ln/>
        </p:spPr>
      </p:sp>
      <p:sp>
        <p:nvSpPr>
          <p:cNvPr id="14" name="Shape 12"/>
          <p:cNvSpPr/>
          <p:nvPr/>
        </p:nvSpPr>
        <p:spPr>
          <a:xfrm>
            <a:off x="1858061" y="629107"/>
            <a:ext cx="9144" cy="457200"/>
          </a:xfrm>
          <a:prstGeom prst="rect">
            <a:avLst/>
          </a:prstGeom>
          <a:solidFill>
            <a:srgbClr val="E1DFDD"/>
          </a:solidFill>
          <a:ln/>
        </p:spPr>
      </p:sp>
      <p:pic>
        <p:nvPicPr>
          <p:cNvPr id="15" name="Image 0" descr="preencoded.png">    </p:cNvPr>
          <p:cNvPicPr>
            <a:picLocks noChangeAspect="1"/>
          </p:cNvPicPr>
          <p:nvPr/>
        </p:nvPicPr>
        <p:blipFill>
          <a:blip r:embed="rId1"/>
          <a:srcRect l="0" r="0" t="0" b="0"/>
          <a:stretch/>
        </p:blipFill>
        <p:spPr>
          <a:xfrm>
            <a:off x="645566" y="666598"/>
            <a:ext cx="171907" cy="171907"/>
          </a:xfrm>
          <a:prstGeom prst="rect">
            <a:avLst/>
          </a:prstGeom>
        </p:spPr>
      </p:pic>
      <p:sp>
        <p:nvSpPr>
          <p:cNvPr id="16" name="Text 13"/>
          <p:cNvSpPr txBox="1"/>
          <p:nvPr/>
        </p:nvSpPr>
        <p:spPr>
          <a:xfrm>
            <a:off x="466344" y="886054"/>
            <a:ext cx="619963" cy="152705"/>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New Email</a:t>
            </a:r>
            <a:endParaRPr lang="en-US" sz="900" dirty="0"/>
          </a:p>
        </p:txBody>
      </p:sp>
      <p:pic>
        <p:nvPicPr>
          <p:cNvPr id="17" name="Image 1" descr="preencoded.png">    </p:cNvPr>
          <p:cNvPicPr>
            <a:picLocks noChangeAspect="1"/>
          </p:cNvPicPr>
          <p:nvPr/>
        </p:nvPicPr>
        <p:blipFill>
          <a:blip r:embed="rId2"/>
          <a:srcRect l="-760" r="-760" t="0" b="0"/>
          <a:stretch/>
        </p:blipFill>
        <p:spPr>
          <a:xfrm>
            <a:off x="1349654" y="666598"/>
            <a:ext cx="152705" cy="171907"/>
          </a:xfrm>
          <a:prstGeom prst="rect">
            <a:avLst/>
          </a:prstGeom>
        </p:spPr>
      </p:pic>
      <p:sp>
        <p:nvSpPr>
          <p:cNvPr id="18" name="Text 14"/>
          <p:cNvSpPr txBox="1"/>
          <p:nvPr/>
        </p:nvSpPr>
        <p:spPr>
          <a:xfrm>
            <a:off x="1262786" y="886054"/>
            <a:ext cx="419710" cy="152705"/>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Delete</a:t>
            </a:r>
            <a:endParaRPr lang="en-US" sz="900" dirty="0"/>
          </a:p>
        </p:txBody>
      </p:sp>
      <p:sp>
        <p:nvSpPr>
          <p:cNvPr id="19" name="Shape 15"/>
          <p:cNvSpPr/>
          <p:nvPr/>
        </p:nvSpPr>
        <p:spPr>
          <a:xfrm>
            <a:off x="4056278" y="629107"/>
            <a:ext cx="9144" cy="457200"/>
          </a:xfrm>
          <a:prstGeom prst="rect">
            <a:avLst/>
          </a:prstGeom>
          <a:solidFill>
            <a:srgbClr val="E1DFDD"/>
          </a:solidFill>
          <a:ln/>
        </p:spPr>
      </p:sp>
      <p:pic>
        <p:nvPicPr>
          <p:cNvPr id="20" name="Image 2" descr="preencoded.png">    </p:cNvPr>
          <p:cNvPicPr>
            <a:picLocks noChangeAspect="1"/>
          </p:cNvPicPr>
          <p:nvPr/>
        </p:nvPicPr>
        <p:blipFill>
          <a:blip r:embed="rId3"/>
          <a:srcRect l="0" r="0" t="0" b="0"/>
          <a:stretch/>
        </p:blipFill>
        <p:spPr>
          <a:xfrm>
            <a:off x="2183587" y="666598"/>
            <a:ext cx="171907" cy="171907"/>
          </a:xfrm>
          <a:prstGeom prst="rect">
            <a:avLst/>
          </a:prstGeom>
        </p:spPr>
      </p:pic>
      <p:sp>
        <p:nvSpPr>
          <p:cNvPr id="21" name="Text 16"/>
          <p:cNvSpPr txBox="1"/>
          <p:nvPr/>
        </p:nvSpPr>
        <p:spPr>
          <a:xfrm>
            <a:off x="2131466" y="886054"/>
            <a:ext cx="362102" cy="152705"/>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Reply</a:t>
            </a:r>
            <a:endParaRPr lang="en-US" sz="900" dirty="0"/>
          </a:p>
        </p:txBody>
      </p:sp>
      <p:pic>
        <p:nvPicPr>
          <p:cNvPr id="22" name="Image 3" descr="preencoded.png">    </p:cNvPr>
          <p:cNvPicPr>
            <a:picLocks noChangeAspect="1"/>
          </p:cNvPicPr>
          <p:nvPr/>
        </p:nvPicPr>
        <p:blipFill>
          <a:blip r:embed="rId4"/>
          <a:srcRect l="0" r="0" t="-842" b="-842"/>
          <a:stretch/>
        </p:blipFill>
        <p:spPr>
          <a:xfrm>
            <a:off x="2795321" y="666598"/>
            <a:ext cx="190195" cy="171907"/>
          </a:xfrm>
          <a:prstGeom prst="rect">
            <a:avLst/>
          </a:prstGeom>
        </p:spPr>
      </p:pic>
      <p:sp>
        <p:nvSpPr>
          <p:cNvPr id="23" name="Text 17"/>
          <p:cNvSpPr txBox="1"/>
          <p:nvPr/>
        </p:nvSpPr>
        <p:spPr>
          <a:xfrm>
            <a:off x="2672791" y="886054"/>
            <a:ext cx="523951" cy="152705"/>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Reply All</a:t>
            </a:r>
            <a:endParaRPr lang="en-US" sz="900" dirty="0"/>
          </a:p>
        </p:txBody>
      </p:sp>
      <p:pic>
        <p:nvPicPr>
          <p:cNvPr id="24" name="Image 4" descr="preencoded.png">    </p:cNvPr>
          <p:cNvPicPr>
            <a:picLocks noChangeAspect="1"/>
          </p:cNvPicPr>
          <p:nvPr/>
        </p:nvPicPr>
        <p:blipFill>
          <a:blip r:embed="rId5"/>
          <a:srcRect l="0" r="0" t="0" b="0"/>
          <a:stretch/>
        </p:blipFill>
        <p:spPr>
          <a:xfrm>
            <a:off x="3494837" y="666598"/>
            <a:ext cx="171907" cy="171907"/>
          </a:xfrm>
          <a:prstGeom prst="rect">
            <a:avLst/>
          </a:prstGeom>
        </p:spPr>
      </p:pic>
      <p:sp>
        <p:nvSpPr>
          <p:cNvPr id="25" name="Text 18"/>
          <p:cNvSpPr txBox="1"/>
          <p:nvPr/>
        </p:nvSpPr>
        <p:spPr>
          <a:xfrm>
            <a:off x="3375050" y="886054"/>
            <a:ext cx="505663" cy="152705"/>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Forward</a:t>
            </a:r>
            <a:endParaRPr lang="en-US" sz="900" dirty="0"/>
          </a:p>
        </p:txBody>
      </p:sp>
      <p:pic>
        <p:nvPicPr>
          <p:cNvPr id="26" name="Image 5" descr="preencoded.png">    </p:cNvPr>
          <p:cNvPicPr>
            <a:picLocks noChangeAspect="1"/>
          </p:cNvPicPr>
          <p:nvPr/>
        </p:nvPicPr>
        <p:blipFill>
          <a:blip r:embed="rId6"/>
          <a:srcRect l="0" r="0" t="0" b="0"/>
          <a:stretch/>
        </p:blipFill>
        <p:spPr>
          <a:xfrm>
            <a:off x="4350715" y="666598"/>
            <a:ext cx="171907" cy="171907"/>
          </a:xfrm>
          <a:prstGeom prst="rect">
            <a:avLst/>
          </a:prstGeom>
        </p:spPr>
      </p:pic>
      <p:sp>
        <p:nvSpPr>
          <p:cNvPr id="27" name="Text 19"/>
          <p:cNvSpPr txBox="1"/>
          <p:nvPr/>
        </p:nvSpPr>
        <p:spPr>
          <a:xfrm>
            <a:off x="4328770" y="886054"/>
            <a:ext cx="305410" cy="152705"/>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Find</a:t>
            </a:r>
            <a:endParaRPr lang="en-US" sz="900" dirty="0"/>
          </a:p>
        </p:txBody>
      </p:sp>
      <p:sp>
        <p:nvSpPr>
          <p:cNvPr id="28" name="Shape 20"/>
          <p:cNvSpPr/>
          <p:nvPr/>
        </p:nvSpPr>
        <p:spPr>
          <a:xfrm>
            <a:off x="200254" y="1152144"/>
            <a:ext cx="11792102" cy="5505602"/>
          </a:xfrm>
          <a:prstGeom prst="rect">
            <a:avLst/>
          </a:prstGeom>
          <a:solidFill>
            <a:srgbClr val="FFFFFF"/>
          </a:solidFill>
          <a:ln/>
        </p:spPr>
      </p:sp>
      <p:sp>
        <p:nvSpPr>
          <p:cNvPr id="29" name="Shape 21"/>
          <p:cNvSpPr/>
          <p:nvPr/>
        </p:nvSpPr>
        <p:spPr>
          <a:xfrm>
            <a:off x="200254" y="1152144"/>
            <a:ext cx="11792102" cy="1933956"/>
          </a:xfrm>
          <a:prstGeom prst="rect">
            <a:avLst/>
          </a:prstGeom>
          <a:solidFill>
            <a:srgbClr val="FFFFFF"/>
          </a:solidFill>
          <a:ln/>
        </p:spPr>
      </p:sp>
      <p:sp>
        <p:nvSpPr>
          <p:cNvPr id="30" name="Shape 22"/>
          <p:cNvSpPr/>
          <p:nvPr/>
        </p:nvSpPr>
        <p:spPr>
          <a:xfrm>
            <a:off x="200254" y="3076956"/>
            <a:ext cx="11792102" cy="9144"/>
          </a:xfrm>
          <a:prstGeom prst="rect">
            <a:avLst/>
          </a:prstGeom>
          <a:solidFill>
            <a:srgbClr val="E1DFDD"/>
          </a:solidFill>
          <a:ln/>
        </p:spPr>
      </p:sp>
      <p:sp>
        <p:nvSpPr>
          <p:cNvPr id="31" name="Text 23"/>
          <p:cNvSpPr txBox="1"/>
          <p:nvPr/>
        </p:nvSpPr>
        <p:spPr>
          <a:xfrm>
            <a:off x="914400" y="1352398"/>
            <a:ext cx="433426" cy="181051"/>
          </a:xfrm>
          <a:prstGeom prst="rect">
            <a:avLst/>
          </a:prstGeom>
          <a:noFill/>
          <a:ln/>
        </p:spPr>
        <p:txBody>
          <a:bodyPr wrap="square" lIns="0" tIns="0" rIns="0" bIns="0" rtlCol="0" anchor="ctr"/>
          <a:lstStyle/>
          <a:p>
            <a:pPr algn="r" indent="0" marL="0">
              <a:buNone/>
            </a:pPr>
            <a:r>
              <a:rPr lang="en-US" sz="1000" dirty="0">
                <a:solidFill>
                  <a:srgbClr val="605E5C"/>
                </a:solidFill>
                <a:latin typeface="Segoe UI" pitchFamily="34" charset="0"/>
                <a:ea typeface="Segoe UI" pitchFamily="34" charset="-122"/>
                <a:cs typeface="Segoe UI" pitchFamily="34" charset="-120"/>
              </a:rPr>
              <a:t>From:</a:t>
            </a:r>
            <a:endParaRPr lang="en-US" sz="1000" dirty="0"/>
          </a:p>
        </p:txBody>
      </p:sp>
      <p:sp>
        <p:nvSpPr>
          <p:cNvPr id="32" name="Text 24"/>
          <p:cNvSpPr txBox="1"/>
          <p:nvPr/>
        </p:nvSpPr>
        <p:spPr>
          <a:xfrm>
            <a:off x="1390802" y="1352398"/>
            <a:ext cx="1595628" cy="181051"/>
          </a:xfrm>
          <a:prstGeom prst="rect">
            <a:avLst/>
          </a:prstGeom>
          <a:noFill/>
          <a:ln/>
        </p:spPr>
        <p:txBody>
          <a:bodyPr wrap="square" lIns="0" tIns="0" rIns="0" bIns="0" rtlCol="0" anchor="ctr"/>
          <a:lstStyle/>
          <a:p>
            <a:pPr algn="l" indent="0" marL="0">
              <a:buNone/>
            </a:pPr>
            <a:r>
              <a:rPr lang="en-US" sz="1000" b="1" dirty="0">
                <a:solidFill>
                  <a:srgbClr val="201F1E"/>
                </a:solidFill>
                <a:latin typeface="Segoe UI" pitchFamily="34" charset="0"/>
                <a:ea typeface="Segoe UI" pitchFamily="34" charset="-122"/>
                <a:cs typeface="Segoe UI" pitchFamily="34" charset="-120"/>
              </a:rPr>
              <a:t>FDO Automation Service</a:t>
            </a:r>
            <a:endParaRPr lang="en-US" sz="1000" dirty="0"/>
          </a:p>
        </p:txBody>
      </p:sp>
      <p:sp>
        <p:nvSpPr>
          <p:cNvPr id="33" name="Text 25"/>
          <p:cNvSpPr txBox="1"/>
          <p:nvPr/>
        </p:nvSpPr>
        <p:spPr>
          <a:xfrm>
            <a:off x="2959913" y="1343254"/>
            <a:ext cx="1853489" cy="200254"/>
          </a:xfrm>
          <a:prstGeom prst="rect">
            <a:avLst/>
          </a:prstGeom>
          <a:noFill/>
          <a:ln/>
        </p:spPr>
        <p:txBody>
          <a:bodyPr wrap="square" lIns="0" tIns="0" rIns="0" bIns="0" rtlCol="0" anchor="ctr"/>
          <a:lstStyle/>
          <a:p>
            <a:pPr algn="l" indent="0" marL="0">
              <a:buNone/>
            </a:pPr>
            <a:r>
              <a:rPr lang="en-US" sz="1000" dirty="0">
                <a:solidFill>
                  <a:srgbClr val="201F1E"/>
                </a:solidFill>
                <a:latin typeface="Segoe UI" pitchFamily="34" charset="0"/>
                <a:ea typeface="Segoe UI" pitchFamily="34" charset="-122"/>
                <a:cs typeface="Segoe UI" pitchFamily="34" charset="-120"/>
              </a:rPr>
              <a:t>&lt;no-reply@fdo-system.com&gt;</a:t>
            </a:r>
            <a:endParaRPr lang="en-US" sz="1000" dirty="0"/>
          </a:p>
        </p:txBody>
      </p:sp>
      <p:sp>
        <p:nvSpPr>
          <p:cNvPr id="34" name="Text 26"/>
          <p:cNvSpPr txBox="1"/>
          <p:nvPr/>
        </p:nvSpPr>
        <p:spPr>
          <a:xfrm>
            <a:off x="1083564" y="1633118"/>
            <a:ext cx="271577" cy="181051"/>
          </a:xfrm>
          <a:prstGeom prst="rect">
            <a:avLst/>
          </a:prstGeom>
          <a:noFill/>
          <a:ln/>
        </p:spPr>
        <p:txBody>
          <a:bodyPr wrap="square" lIns="0" tIns="0" rIns="0" bIns="0" rtlCol="0" anchor="ctr"/>
          <a:lstStyle/>
          <a:p>
            <a:pPr algn="r" indent="0" marL="0">
              <a:buNone/>
            </a:pPr>
            <a:r>
              <a:rPr lang="en-US" sz="1000" dirty="0">
                <a:solidFill>
                  <a:srgbClr val="605E5C"/>
                </a:solidFill>
                <a:latin typeface="Segoe UI" pitchFamily="34" charset="0"/>
                <a:ea typeface="Segoe UI" pitchFamily="34" charset="-122"/>
                <a:cs typeface="Segoe UI" pitchFamily="34" charset="-120"/>
              </a:rPr>
              <a:t>To:</a:t>
            </a:r>
            <a:endParaRPr lang="en-US" sz="1000" dirty="0"/>
          </a:p>
        </p:txBody>
      </p:sp>
      <p:sp>
        <p:nvSpPr>
          <p:cNvPr id="35" name="Shape 27"/>
          <p:cNvSpPr/>
          <p:nvPr/>
        </p:nvSpPr>
        <p:spPr>
          <a:xfrm>
            <a:off x="1390802" y="1619402"/>
            <a:ext cx="1152144" cy="209398"/>
          </a:xfrm>
          <a:prstGeom prst="roundRect">
            <a:avLst>
              <a:gd name="adj" fmla="val 238189"/>
            </a:avLst>
          </a:prstGeom>
          <a:solidFill>
            <a:srgbClr val="EFF6FC"/>
          </a:solidFill>
          <a:ln/>
        </p:spPr>
      </p:sp>
      <p:sp>
        <p:nvSpPr>
          <p:cNvPr id="36" name="Text 28"/>
          <p:cNvSpPr txBox="1"/>
          <p:nvPr/>
        </p:nvSpPr>
        <p:spPr>
          <a:xfrm>
            <a:off x="1466698" y="1638605"/>
            <a:ext cx="972007" cy="171907"/>
          </a:xfrm>
          <a:prstGeom prst="rect">
            <a:avLst/>
          </a:prstGeom>
          <a:noFill/>
          <a:ln/>
        </p:spPr>
        <p:txBody>
          <a:bodyPr wrap="square" lIns="0" tIns="0" rIns="0" bIns="0" rtlCol="0" anchor="ctr"/>
          <a:lstStyle/>
          <a:p>
            <a:pPr algn="l" indent="0" marL="0">
              <a:buNone/>
            </a:pPr>
            <a:r>
              <a:rPr lang="en-US" sz="900" dirty="0">
                <a:solidFill>
                  <a:srgbClr val="0078D4"/>
                </a:solidFill>
                <a:latin typeface="Segoe UI" pitchFamily="34" charset="0"/>
                <a:ea typeface="Segoe UI" pitchFamily="34" charset="-122"/>
                <a:cs typeface="Segoe UI" pitchFamily="34" charset="-120"/>
              </a:rPr>
              <a:t>Project Managers</a:t>
            </a:r>
            <a:endParaRPr lang="en-US" sz="900" dirty="0"/>
          </a:p>
        </p:txBody>
      </p:sp>
      <p:pic>
        <p:nvPicPr>
          <p:cNvPr id="37" name="Image 6" descr="preencoded.png">    </p:cNvPr>
          <p:cNvPicPr>
            <a:picLocks noChangeAspect="1"/>
          </p:cNvPicPr>
          <p:nvPr/>
        </p:nvPicPr>
        <p:blipFill>
          <a:blip r:embed="rId7"/>
          <a:srcRect l="-3205" r="-3205" t="0" b="0"/>
          <a:stretch/>
        </p:blipFill>
        <p:spPr>
          <a:xfrm>
            <a:off x="2384755" y="1676095"/>
            <a:ext cx="75895" cy="95098"/>
          </a:xfrm>
          <a:prstGeom prst="rect">
            <a:avLst/>
          </a:prstGeom>
        </p:spPr>
      </p:pic>
      <p:sp>
        <p:nvSpPr>
          <p:cNvPr id="38" name="Shape 29"/>
          <p:cNvSpPr/>
          <p:nvPr/>
        </p:nvSpPr>
        <p:spPr>
          <a:xfrm>
            <a:off x="2613355" y="1619402"/>
            <a:ext cx="990295" cy="209398"/>
          </a:xfrm>
          <a:prstGeom prst="roundRect">
            <a:avLst>
              <a:gd name="adj" fmla="val 238189"/>
            </a:avLst>
          </a:prstGeom>
          <a:solidFill>
            <a:srgbClr val="EFF6FC"/>
          </a:solidFill>
          <a:ln/>
        </p:spPr>
      </p:sp>
      <p:sp>
        <p:nvSpPr>
          <p:cNvPr id="39" name="Text 30"/>
          <p:cNvSpPr txBox="1"/>
          <p:nvPr/>
        </p:nvSpPr>
        <p:spPr>
          <a:xfrm>
            <a:off x="2690165" y="1638605"/>
            <a:ext cx="810158" cy="171907"/>
          </a:xfrm>
          <a:prstGeom prst="rect">
            <a:avLst/>
          </a:prstGeom>
          <a:noFill/>
          <a:ln/>
        </p:spPr>
        <p:txBody>
          <a:bodyPr wrap="square" lIns="0" tIns="0" rIns="0" bIns="0" rtlCol="0" anchor="ctr"/>
          <a:lstStyle/>
          <a:p>
            <a:pPr algn="l" indent="0" marL="0">
              <a:buNone/>
            </a:pPr>
            <a:r>
              <a:rPr lang="en-US" sz="900" dirty="0">
                <a:solidFill>
                  <a:srgbClr val="0078D4"/>
                </a:solidFill>
                <a:latin typeface="Segoe UI" pitchFamily="34" charset="0"/>
                <a:ea typeface="Segoe UI" pitchFamily="34" charset="-122"/>
                <a:cs typeface="Segoe UI" pitchFamily="34" charset="-120"/>
              </a:rPr>
              <a:t>Delivery Leads</a:t>
            </a:r>
            <a:endParaRPr lang="en-US" sz="900" dirty="0"/>
          </a:p>
        </p:txBody>
      </p:sp>
      <p:pic>
        <p:nvPicPr>
          <p:cNvPr id="40" name="Image 7" descr="preencoded.png">    </p:cNvPr>
          <p:cNvPicPr>
            <a:picLocks noChangeAspect="1"/>
          </p:cNvPicPr>
          <p:nvPr/>
        </p:nvPicPr>
        <p:blipFill>
          <a:blip r:embed="rId8"/>
          <a:srcRect l="-3205" r="-3205" t="0" b="0"/>
          <a:stretch/>
        </p:blipFill>
        <p:spPr>
          <a:xfrm>
            <a:off x="3451860" y="1676095"/>
            <a:ext cx="75895" cy="95098"/>
          </a:xfrm>
          <a:prstGeom prst="rect">
            <a:avLst/>
          </a:prstGeom>
        </p:spPr>
      </p:pic>
      <p:sp>
        <p:nvSpPr>
          <p:cNvPr id="41" name="Text 31"/>
          <p:cNvSpPr txBox="1"/>
          <p:nvPr/>
        </p:nvSpPr>
        <p:spPr>
          <a:xfrm>
            <a:off x="1074420" y="1919326"/>
            <a:ext cx="281635" cy="181051"/>
          </a:xfrm>
          <a:prstGeom prst="rect">
            <a:avLst/>
          </a:prstGeom>
          <a:noFill/>
          <a:ln/>
        </p:spPr>
        <p:txBody>
          <a:bodyPr wrap="square" lIns="0" tIns="0" rIns="0" bIns="0" rtlCol="0" anchor="ctr"/>
          <a:lstStyle/>
          <a:p>
            <a:pPr algn="r" indent="0" marL="0">
              <a:buNone/>
            </a:pPr>
            <a:r>
              <a:rPr lang="en-US" sz="1000" dirty="0">
                <a:solidFill>
                  <a:srgbClr val="605E5C"/>
                </a:solidFill>
                <a:latin typeface="Segoe UI" pitchFamily="34" charset="0"/>
                <a:ea typeface="Segoe UI" pitchFamily="34" charset="-122"/>
                <a:cs typeface="Segoe UI" pitchFamily="34" charset="-120"/>
              </a:rPr>
              <a:t>Cc:</a:t>
            </a:r>
            <a:endParaRPr lang="en-US" sz="1000" dirty="0"/>
          </a:p>
        </p:txBody>
      </p:sp>
      <p:sp>
        <p:nvSpPr>
          <p:cNvPr id="42" name="Shape 32"/>
          <p:cNvSpPr/>
          <p:nvPr/>
        </p:nvSpPr>
        <p:spPr>
          <a:xfrm>
            <a:off x="1390802" y="1904695"/>
            <a:ext cx="838505" cy="209398"/>
          </a:xfrm>
          <a:prstGeom prst="roundRect">
            <a:avLst>
              <a:gd name="adj" fmla="val 238189"/>
            </a:avLst>
          </a:prstGeom>
          <a:solidFill>
            <a:srgbClr val="EFF6FC"/>
          </a:solidFill>
          <a:ln/>
        </p:spPr>
      </p:sp>
      <p:sp>
        <p:nvSpPr>
          <p:cNvPr id="43" name="Text 33"/>
          <p:cNvSpPr txBox="1"/>
          <p:nvPr/>
        </p:nvSpPr>
        <p:spPr>
          <a:xfrm>
            <a:off x="1466698" y="1923898"/>
            <a:ext cx="657454" cy="171907"/>
          </a:xfrm>
          <a:prstGeom prst="rect">
            <a:avLst/>
          </a:prstGeom>
          <a:noFill/>
          <a:ln/>
        </p:spPr>
        <p:txBody>
          <a:bodyPr wrap="square" lIns="0" tIns="0" rIns="0" bIns="0" rtlCol="0" anchor="ctr"/>
          <a:lstStyle/>
          <a:p>
            <a:pPr algn="l" indent="0" marL="0">
              <a:buNone/>
            </a:pPr>
            <a:r>
              <a:rPr lang="en-US" sz="900" dirty="0">
                <a:solidFill>
                  <a:srgbClr val="0078D4"/>
                </a:solidFill>
                <a:latin typeface="Segoe UI" pitchFamily="34" charset="0"/>
                <a:ea typeface="Segoe UI" pitchFamily="34" charset="-122"/>
                <a:cs typeface="Segoe UI" pitchFamily="34" charset="-120"/>
              </a:rPr>
              <a:t>Audit Team</a:t>
            </a:r>
            <a:endParaRPr lang="en-US" sz="900" dirty="0"/>
          </a:p>
        </p:txBody>
      </p:sp>
      <p:pic>
        <p:nvPicPr>
          <p:cNvPr id="44" name="Image 8" descr="preencoded.png">    </p:cNvPr>
          <p:cNvPicPr>
            <a:picLocks noChangeAspect="1"/>
          </p:cNvPicPr>
          <p:nvPr/>
        </p:nvPicPr>
        <p:blipFill>
          <a:blip r:embed="rId9"/>
          <a:srcRect l="-3205" r="-3205" t="0" b="0"/>
          <a:stretch/>
        </p:blipFill>
        <p:spPr>
          <a:xfrm>
            <a:off x="2073859" y="1962302"/>
            <a:ext cx="75895" cy="95098"/>
          </a:xfrm>
          <a:prstGeom prst="rect">
            <a:avLst/>
          </a:prstGeom>
        </p:spPr>
      </p:pic>
      <p:sp>
        <p:nvSpPr>
          <p:cNvPr id="45" name="Text 34"/>
          <p:cNvSpPr txBox="1"/>
          <p:nvPr/>
        </p:nvSpPr>
        <p:spPr>
          <a:xfrm>
            <a:off x="485546" y="2219249"/>
            <a:ext cx="586130" cy="228600"/>
          </a:xfrm>
          <a:prstGeom prst="rect">
            <a:avLst/>
          </a:prstGeom>
          <a:noFill/>
          <a:ln/>
        </p:spPr>
        <p:txBody>
          <a:bodyPr wrap="square" lIns="0" tIns="0" rIns="0" bIns="0" rtlCol="0" anchor="ctr"/>
          <a:lstStyle/>
          <a:p>
            <a:pPr algn="l" indent="0" marL="0">
              <a:buNone/>
            </a:pPr>
            <a:r>
              <a:rPr lang="en-US" sz="1300" b="1" dirty="0">
                <a:solidFill>
                  <a:srgbClr val="0078D4"/>
                </a:solidFill>
                <a:latin typeface="Segoe UI" pitchFamily="34" charset="0"/>
                <a:ea typeface="Segoe UI" pitchFamily="34" charset="-122"/>
                <a:cs typeface="Segoe UI" pitchFamily="34" charset="-120"/>
              </a:rPr>
              <a:t>[FDO]</a:t>
            </a:r>
            <a:endParaRPr lang="en-US" sz="1300" dirty="0"/>
          </a:p>
        </p:txBody>
      </p:sp>
      <p:sp>
        <p:nvSpPr>
          <p:cNvPr id="46" name="Text 35"/>
          <p:cNvSpPr txBox="1"/>
          <p:nvPr/>
        </p:nvSpPr>
        <p:spPr>
          <a:xfrm>
            <a:off x="938174" y="2219249"/>
            <a:ext cx="4187038" cy="228600"/>
          </a:xfrm>
          <a:prstGeom prst="rect">
            <a:avLst/>
          </a:prstGeom>
          <a:noFill/>
          <a:ln/>
        </p:spPr>
        <p:txBody>
          <a:bodyPr wrap="square" lIns="0" tIns="0" rIns="0" bIns="0" rtlCol="0" anchor="ctr"/>
          <a:lstStyle/>
          <a:p>
            <a:pPr algn="l" indent="0" marL="0">
              <a:buNone/>
            </a:pPr>
            <a:r>
              <a:rPr lang="en-US" sz="1300" b="1" dirty="0">
                <a:solidFill>
                  <a:srgbClr val="201F1E"/>
                </a:solidFill>
                <a:latin typeface="Segoe UI" pitchFamily="34" charset="0"/>
                <a:ea typeface="Segoe UI" pitchFamily="34" charset="-122"/>
                <a:cs typeface="Segoe UI" pitchFamily="34" charset="-120"/>
              </a:rPr>
              <a:t>Weekly Audit Summary – Week Ending Dec 14, 2025</a:t>
            </a:r>
            <a:endParaRPr lang="en-US" sz="1300" dirty="0"/>
          </a:p>
        </p:txBody>
      </p:sp>
      <p:sp>
        <p:nvSpPr>
          <p:cNvPr id="47" name="Shape 36"/>
          <p:cNvSpPr/>
          <p:nvPr/>
        </p:nvSpPr>
        <p:spPr>
          <a:xfrm>
            <a:off x="1390802" y="2581351"/>
            <a:ext cx="2486254" cy="304495"/>
          </a:xfrm>
          <a:prstGeom prst="roundRect">
            <a:avLst>
              <a:gd name="adj" fmla="val 37538"/>
            </a:avLst>
          </a:prstGeom>
          <a:solidFill>
            <a:srgbClr val="FFFFFF"/>
          </a:solidFill>
          <a:ln w="12700">
            <a:solidFill>
              <a:srgbClr val="E1DFDD"/>
            </a:solidFill>
            <a:prstDash val="solid"/>
          </a:ln>
        </p:spPr>
      </p:sp>
      <p:pic>
        <p:nvPicPr>
          <p:cNvPr id="48" name="Image 9" descr="preencoded.png">    </p:cNvPr>
          <p:cNvPicPr>
            <a:picLocks noChangeAspect="1"/>
          </p:cNvPicPr>
          <p:nvPr/>
        </p:nvPicPr>
        <p:blipFill>
          <a:blip r:embed="rId10"/>
          <a:srcRect l="0" r="0" t="0" b="0"/>
          <a:stretch/>
        </p:blipFill>
        <p:spPr>
          <a:xfrm>
            <a:off x="1514246" y="2657246"/>
            <a:ext cx="152705" cy="152705"/>
          </a:xfrm>
          <a:prstGeom prst="rect">
            <a:avLst/>
          </a:prstGeom>
        </p:spPr>
      </p:pic>
      <p:sp>
        <p:nvSpPr>
          <p:cNvPr id="49" name="Text 37"/>
          <p:cNvSpPr txBox="1"/>
          <p:nvPr/>
        </p:nvSpPr>
        <p:spPr>
          <a:xfrm>
            <a:off x="1742846" y="2657246"/>
            <a:ext cx="2095805" cy="152705"/>
          </a:xfrm>
          <a:prstGeom prst="rect">
            <a:avLst/>
          </a:prstGeom>
          <a:noFill/>
          <a:ln/>
        </p:spPr>
        <p:txBody>
          <a:bodyPr wrap="square" lIns="0" tIns="0" rIns="0" bIns="0" rtlCol="0" anchor="ctr"/>
          <a:lstStyle/>
          <a:p>
            <a:pPr algn="l" indent="0" marL="0">
              <a:buNone/>
            </a:pPr>
            <a:r>
              <a:rPr lang="en-US" sz="900" dirty="0">
                <a:solidFill>
                  <a:srgbClr val="000000"/>
                </a:solidFill>
                <a:latin typeface="Segoe UI" pitchFamily="34" charset="0"/>
                <a:ea typeface="Segoe UI" pitchFamily="34" charset="-122"/>
                <a:cs typeface="Segoe UI" pitchFamily="34" charset="-120"/>
              </a:rPr>
              <a:t>Audit_Summary_2025_W50.pdf (1.2 MB)</a:t>
            </a:r>
            <a:endParaRPr lang="en-US" sz="900" dirty="0"/>
          </a:p>
        </p:txBody>
      </p:sp>
      <p:sp>
        <p:nvSpPr>
          <p:cNvPr id="50" name="Shape 38"/>
          <p:cNvSpPr/>
          <p:nvPr/>
        </p:nvSpPr>
        <p:spPr>
          <a:xfrm>
            <a:off x="3971239" y="2581351"/>
            <a:ext cx="1990649" cy="304495"/>
          </a:xfrm>
          <a:prstGeom prst="roundRect">
            <a:avLst>
              <a:gd name="adj" fmla="val 37538"/>
            </a:avLst>
          </a:prstGeom>
          <a:solidFill>
            <a:srgbClr val="FFFFFF"/>
          </a:solidFill>
          <a:ln w="12700">
            <a:solidFill>
              <a:srgbClr val="E1DFDD"/>
            </a:solidFill>
            <a:prstDash val="solid"/>
          </a:ln>
        </p:spPr>
      </p:sp>
      <p:pic>
        <p:nvPicPr>
          <p:cNvPr id="51" name="Image 10" descr="preencoded.png">    </p:cNvPr>
          <p:cNvPicPr>
            <a:picLocks noChangeAspect="1"/>
          </p:cNvPicPr>
          <p:nvPr/>
        </p:nvPicPr>
        <p:blipFill>
          <a:blip r:embed="rId11"/>
          <a:srcRect l="0" r="0" t="-100" b="-100"/>
          <a:stretch/>
        </p:blipFill>
        <p:spPr>
          <a:xfrm>
            <a:off x="4095598" y="2657246"/>
            <a:ext cx="114300" cy="152705"/>
          </a:xfrm>
          <a:prstGeom prst="rect">
            <a:avLst/>
          </a:prstGeom>
        </p:spPr>
      </p:pic>
      <p:sp>
        <p:nvSpPr>
          <p:cNvPr id="52" name="Text 39"/>
          <p:cNvSpPr txBox="1"/>
          <p:nvPr/>
        </p:nvSpPr>
        <p:spPr>
          <a:xfrm>
            <a:off x="4285793" y="2657246"/>
            <a:ext cx="1638605" cy="152705"/>
          </a:xfrm>
          <a:prstGeom prst="rect">
            <a:avLst/>
          </a:prstGeom>
          <a:noFill/>
          <a:ln/>
        </p:spPr>
        <p:txBody>
          <a:bodyPr wrap="square" lIns="0" tIns="0" rIns="0" bIns="0" rtlCol="0" anchor="ctr"/>
          <a:lstStyle/>
          <a:p>
            <a:pPr algn="l" indent="0" marL="0">
              <a:buNone/>
            </a:pPr>
            <a:r>
              <a:rPr lang="en-US" sz="900" dirty="0">
                <a:solidFill>
                  <a:srgbClr val="000000"/>
                </a:solidFill>
                <a:latin typeface="Segoe UI" pitchFamily="34" charset="0"/>
                <a:ea typeface="Segoe UI" pitchFamily="34" charset="-122"/>
                <a:cs typeface="Segoe UI" pitchFamily="34" charset="-120"/>
              </a:rPr>
              <a:t>Audit_Detail_Data.xlsx (450 KB)</a:t>
            </a:r>
            <a:endParaRPr lang="en-US" sz="900" dirty="0"/>
          </a:p>
        </p:txBody>
      </p:sp>
      <p:sp>
        <p:nvSpPr>
          <p:cNvPr id="53" name="Shape 40"/>
          <p:cNvSpPr/>
          <p:nvPr/>
        </p:nvSpPr>
        <p:spPr>
          <a:xfrm>
            <a:off x="10076688" y="1429207"/>
            <a:ext cx="1742846" cy="323698"/>
          </a:xfrm>
          <a:prstGeom prst="roundRect">
            <a:avLst>
              <a:gd name="adj" fmla="val 166168"/>
            </a:avLst>
          </a:prstGeom>
          <a:solidFill>
            <a:srgbClr val="EFF6FC"/>
          </a:solidFill>
          <a:ln w="12700">
            <a:solidFill>
              <a:srgbClr val="0078D4"/>
            </a:solidFill>
            <a:prstDash val="solid"/>
          </a:ln>
          <a:effectLst>
            <a:outerShdw sx="100000" sy="100000" kx="0" ky="0" algn="bl" rotWithShape="0" blurRad="38100" dist="25400" dir="5400000">
              <a:srgbClr val="000000">
                <a:alpha val="5000"/>
              </a:srgbClr>
            </a:outerShdw>
          </a:effectLst>
        </p:spPr>
      </p:sp>
      <p:pic>
        <p:nvPicPr>
          <p:cNvPr id="54" name="Image 11" descr="preencoded.png">    </p:cNvPr>
          <p:cNvPicPr>
            <a:picLocks noChangeAspect="1"/>
          </p:cNvPicPr>
          <p:nvPr/>
        </p:nvPicPr>
        <p:blipFill>
          <a:blip r:embed="rId12"/>
          <a:srcRect l="0" r="0" t="-80" b="-80"/>
          <a:stretch/>
        </p:blipFill>
        <p:spPr>
          <a:xfrm>
            <a:off x="10200132" y="1529791"/>
            <a:ext cx="142646" cy="114300"/>
          </a:xfrm>
          <a:prstGeom prst="rect">
            <a:avLst/>
          </a:prstGeom>
        </p:spPr>
      </p:pic>
      <p:sp>
        <p:nvSpPr>
          <p:cNvPr id="55" name="Text 41"/>
          <p:cNvSpPr txBox="1"/>
          <p:nvPr/>
        </p:nvSpPr>
        <p:spPr>
          <a:xfrm>
            <a:off x="10400386" y="1495044"/>
            <a:ext cx="1381658" cy="191110"/>
          </a:xfrm>
          <a:prstGeom prst="rect">
            <a:avLst/>
          </a:prstGeom>
          <a:noFill/>
          <a:ln/>
        </p:spPr>
        <p:txBody>
          <a:bodyPr wrap="square" lIns="0" tIns="0" rIns="0" bIns="0" rtlCol="0" anchor="ctr"/>
          <a:lstStyle/>
          <a:p>
            <a:pPr algn="l" indent="0" marL="0">
              <a:buNone/>
            </a:pPr>
            <a:r>
              <a:rPr lang="en-US" sz="900" b="1" dirty="0">
                <a:solidFill>
                  <a:srgbClr val="0078D4"/>
                </a:solidFill>
                <a:latin typeface="Segoe UI" pitchFamily="34" charset="0"/>
                <a:ea typeface="Segoe UI" pitchFamily="34" charset="-122"/>
                <a:cs typeface="Segoe UI" pitchFamily="34" charset="-120"/>
              </a:rPr>
              <a:t>Generated Automatically</a:t>
            </a:r>
            <a:endParaRPr lang="en-US" sz="900" dirty="0"/>
          </a:p>
        </p:txBody>
      </p:sp>
      <p:sp>
        <p:nvSpPr>
          <p:cNvPr id="56" name="Text 42"/>
          <p:cNvSpPr txBox="1"/>
          <p:nvPr/>
        </p:nvSpPr>
        <p:spPr>
          <a:xfrm>
            <a:off x="580644" y="3390595"/>
            <a:ext cx="841248" cy="191110"/>
          </a:xfrm>
          <a:prstGeom prst="rect">
            <a:avLst/>
          </a:prstGeom>
          <a:noFill/>
          <a:ln/>
        </p:spPr>
        <p:txBody>
          <a:bodyPr wrap="square" lIns="0" tIns="0" rIns="0" bIns="0" rtlCol="0" anchor="ctr"/>
          <a:lstStyle/>
          <a:p>
            <a:pPr algn="l" indent="0" marL="0">
              <a:buNone/>
            </a:pPr>
            <a:r>
              <a:rPr lang="en-US" sz="1100" dirty="0">
                <a:solidFill>
                  <a:srgbClr val="323130"/>
                </a:solidFill>
                <a:latin typeface="Segoe UI" pitchFamily="34" charset="0"/>
                <a:ea typeface="Segoe UI" pitchFamily="34" charset="-122"/>
                <a:cs typeface="Segoe UI" pitchFamily="34" charset="-120"/>
              </a:rPr>
              <a:t>Hello Team,</a:t>
            </a:r>
            <a:endParaRPr lang="en-US" sz="1100" dirty="0"/>
          </a:p>
        </p:txBody>
      </p:sp>
      <p:sp>
        <p:nvSpPr>
          <p:cNvPr id="57" name="Text 43"/>
          <p:cNvSpPr txBox="1"/>
          <p:nvPr/>
        </p:nvSpPr>
        <p:spPr>
          <a:xfrm>
            <a:off x="580644" y="3762756"/>
            <a:ext cx="11128248" cy="419710"/>
          </a:xfrm>
          <a:prstGeom prst="rect">
            <a:avLst/>
          </a:prstGeom>
          <a:noFill/>
          <a:ln/>
        </p:spPr>
        <p:txBody>
          <a:bodyPr wrap="square" lIns="0" tIns="0" rIns="0" bIns="0" rtlCol="0" anchor="ctr"/>
          <a:lstStyle/>
          <a:p>
            <a:pPr algn="l" indent="0" marL="0">
              <a:buNone/>
            </a:pPr>
            <a:r>
              <a:rPr lang="en-US" sz="1100" dirty="0">
                <a:solidFill>
                  <a:srgbClr val="323130"/>
                </a:solidFill>
                <a:latin typeface="Segoe UI" pitchFamily="34" charset="0"/>
                <a:ea typeface="Segoe UI" pitchFamily="34" charset="-122"/>
                <a:cs typeface="Segoe UI" pitchFamily="34" charset="-120"/>
              </a:rPr>
              <a:t>Please find below the weekly summary of audit compliance and delivery risks extracted from the Factory Delivery Orchestrator (FDO). This report covers the period from Dec 08 to Dec 14, 2025.</a:t>
            </a:r>
            <a:endParaRPr lang="en-US" sz="1100" dirty="0"/>
          </a:p>
        </p:txBody>
      </p:sp>
      <p:sp>
        <p:nvSpPr>
          <p:cNvPr id="58" name="Shape 44"/>
          <p:cNvSpPr/>
          <p:nvPr/>
        </p:nvSpPr>
        <p:spPr>
          <a:xfrm>
            <a:off x="580644" y="4390949"/>
            <a:ext cx="11030407" cy="3381451"/>
          </a:xfrm>
          <a:prstGeom prst="roundRect">
            <a:avLst>
              <a:gd name="adj" fmla="val 457"/>
            </a:avLst>
          </a:prstGeom>
          <a:solidFill>
            <a:srgbClr val="FAFAFA"/>
          </a:solidFill>
          <a:ln w="12700">
            <a:solidFill>
              <a:srgbClr val="E1DFDD"/>
            </a:solidFill>
            <a:prstDash val="solid"/>
          </a:ln>
        </p:spPr>
      </p:sp>
      <p:sp>
        <p:nvSpPr>
          <p:cNvPr id="59" name="Shape 45"/>
          <p:cNvSpPr/>
          <p:nvPr/>
        </p:nvSpPr>
        <p:spPr>
          <a:xfrm>
            <a:off x="809244" y="4934102"/>
            <a:ext cx="10601554" cy="9144"/>
          </a:xfrm>
          <a:prstGeom prst="rect">
            <a:avLst/>
          </a:prstGeom>
          <a:solidFill>
            <a:srgbClr val="E1DFDD"/>
          </a:solidFill>
          <a:ln/>
        </p:spPr>
      </p:sp>
      <p:sp>
        <p:nvSpPr>
          <p:cNvPr id="60" name="Text 46"/>
          <p:cNvSpPr txBox="1"/>
          <p:nvPr/>
        </p:nvSpPr>
        <p:spPr>
          <a:xfrm>
            <a:off x="809244" y="4610405"/>
            <a:ext cx="1410005" cy="200254"/>
          </a:xfrm>
          <a:prstGeom prst="rect">
            <a:avLst/>
          </a:prstGeom>
          <a:noFill/>
          <a:ln/>
        </p:spPr>
        <p:txBody>
          <a:bodyPr wrap="square" lIns="0" tIns="0" rIns="0" bIns="0" rtlCol="0" anchor="ctr"/>
          <a:lstStyle/>
          <a:p>
            <a:pPr algn="l" indent="0" marL="0">
              <a:buNone/>
            </a:pPr>
            <a:r>
              <a:rPr lang="en-US" sz="1200" dirty="0">
                <a:solidFill>
                  <a:srgbClr val="0078D4"/>
                </a:solidFill>
                <a:latin typeface="Segoe UI" pitchFamily="34" charset="0"/>
                <a:ea typeface="Segoe UI" pitchFamily="34" charset="-122"/>
                <a:cs typeface="Segoe UI" pitchFamily="34" charset="-120"/>
              </a:rPr>
              <a:t>Executive Snapshot</a:t>
            </a:r>
            <a:endParaRPr lang="en-US" sz="1200" dirty="0"/>
          </a:p>
        </p:txBody>
      </p:sp>
      <p:sp>
        <p:nvSpPr>
          <p:cNvPr id="61" name="Text 47"/>
          <p:cNvSpPr txBox="1"/>
          <p:nvPr/>
        </p:nvSpPr>
        <p:spPr>
          <a:xfrm>
            <a:off x="10294315" y="4630522"/>
            <a:ext cx="1209751" cy="152705"/>
          </a:xfrm>
          <a:prstGeom prst="rect">
            <a:avLst/>
          </a:prstGeom>
          <a:noFill/>
          <a:ln/>
        </p:spPr>
        <p:txBody>
          <a:bodyPr wrap="square" lIns="0" tIns="0" rIns="0" bIns="0" rtlCol="0" anchor="ctr"/>
          <a:lstStyle/>
          <a:p>
            <a:pPr algn="l" indent="0" marL="0">
              <a:buNone/>
            </a:pPr>
            <a:r>
              <a:rPr lang="en-US" sz="900" dirty="0">
                <a:solidFill>
                  <a:srgbClr val="605E5C"/>
                </a:solidFill>
                <a:latin typeface="Segoe UI" pitchFamily="34" charset="0"/>
                <a:ea typeface="Segoe UI" pitchFamily="34" charset="-122"/>
                <a:cs typeface="Segoe UI" pitchFamily="34" charset="-120"/>
              </a:rPr>
              <a:t>Source: FDO Live Data</a:t>
            </a:r>
            <a:endParaRPr lang="en-US" sz="900" dirty="0"/>
          </a:p>
        </p:txBody>
      </p:sp>
      <p:sp>
        <p:nvSpPr>
          <p:cNvPr id="62" name="Text 48"/>
          <p:cNvSpPr txBox="1"/>
          <p:nvPr/>
        </p:nvSpPr>
        <p:spPr>
          <a:xfrm>
            <a:off x="2185416" y="5111496"/>
            <a:ext cx="829361" cy="305410"/>
          </a:xfrm>
          <a:prstGeom prst="rect">
            <a:avLst/>
          </a:prstGeom>
          <a:noFill/>
          <a:ln/>
        </p:spPr>
        <p:txBody>
          <a:bodyPr wrap="square" lIns="0" tIns="0" rIns="0" bIns="0" rtlCol="0" anchor="ctr"/>
          <a:lstStyle/>
          <a:p>
            <a:pPr algn="ctr" indent="0" marL="0">
              <a:buNone/>
            </a:pPr>
            <a:r>
              <a:rPr lang="en-US" sz="1800" b="1" dirty="0">
                <a:solidFill>
                  <a:srgbClr val="107C10"/>
                </a:solidFill>
                <a:latin typeface="Segoe UI" pitchFamily="34" charset="0"/>
                <a:ea typeface="Segoe UI" pitchFamily="34" charset="-122"/>
                <a:cs typeface="Segoe UI" pitchFamily="34" charset="-120"/>
              </a:rPr>
              <a:t>94.2%</a:t>
            </a:r>
            <a:endParaRPr lang="en-US" sz="1800" dirty="0"/>
          </a:p>
        </p:txBody>
      </p:sp>
      <p:sp>
        <p:nvSpPr>
          <p:cNvPr id="63" name="Text 49"/>
          <p:cNvSpPr txBox="1"/>
          <p:nvPr/>
        </p:nvSpPr>
        <p:spPr>
          <a:xfrm>
            <a:off x="1980590" y="5458054"/>
            <a:ext cx="1153058" cy="152705"/>
          </a:xfrm>
          <a:prstGeom prst="rect">
            <a:avLst/>
          </a:prstGeom>
          <a:noFill/>
          <a:ln/>
        </p:spPr>
        <p:txBody>
          <a:bodyPr wrap="square" lIns="0" tIns="0" rIns="0" bIns="0" rtlCol="0" anchor="ctr"/>
          <a:lstStyle/>
          <a:p>
            <a:pPr algn="ctr" indent="0" marL="0">
              <a:buNone/>
            </a:pPr>
            <a:r>
              <a:rPr lang="en-US" sz="900" dirty="0">
                <a:solidFill>
                  <a:srgbClr val="605E5C"/>
                </a:solidFill>
                <a:latin typeface="Segoe UI" pitchFamily="34" charset="0"/>
                <a:ea typeface="Segoe UI" pitchFamily="34" charset="-122"/>
                <a:cs typeface="Segoe UI" pitchFamily="34" charset="-120"/>
              </a:rPr>
              <a:t>COMPLIANCE SCORE</a:t>
            </a:r>
            <a:endParaRPr lang="en-US" sz="900" dirty="0"/>
          </a:p>
        </p:txBody>
      </p:sp>
      <p:sp>
        <p:nvSpPr>
          <p:cNvPr id="64" name="Text 50"/>
          <p:cNvSpPr txBox="1"/>
          <p:nvPr/>
        </p:nvSpPr>
        <p:spPr>
          <a:xfrm>
            <a:off x="5978347" y="5111496"/>
            <a:ext cx="438912" cy="305410"/>
          </a:xfrm>
          <a:prstGeom prst="rect">
            <a:avLst/>
          </a:prstGeom>
          <a:noFill/>
          <a:ln/>
        </p:spPr>
        <p:txBody>
          <a:bodyPr wrap="square" lIns="0" tIns="0" rIns="0" bIns="0" rtlCol="0" anchor="ctr"/>
          <a:lstStyle/>
          <a:p>
            <a:pPr algn="ctr" indent="0" marL="0">
              <a:buNone/>
            </a:pPr>
            <a:r>
              <a:rPr lang="en-US" sz="1800" b="1" dirty="0">
                <a:solidFill>
                  <a:srgbClr val="D83B01"/>
                </a:solidFill>
                <a:latin typeface="Segoe UI" pitchFamily="34" charset="0"/>
                <a:ea typeface="Segoe UI" pitchFamily="34" charset="-122"/>
                <a:cs typeface="Segoe UI" pitchFamily="34" charset="-120"/>
              </a:rPr>
              <a:t>12</a:t>
            </a:r>
            <a:endParaRPr lang="en-US" sz="1800" dirty="0"/>
          </a:p>
        </p:txBody>
      </p:sp>
      <p:sp>
        <p:nvSpPr>
          <p:cNvPr id="65" name="Text 51"/>
          <p:cNvSpPr txBox="1"/>
          <p:nvPr/>
        </p:nvSpPr>
        <p:spPr>
          <a:xfrm>
            <a:off x="5722315" y="5458054"/>
            <a:ext cx="866851" cy="152705"/>
          </a:xfrm>
          <a:prstGeom prst="rect">
            <a:avLst/>
          </a:prstGeom>
          <a:noFill/>
          <a:ln/>
        </p:spPr>
        <p:txBody>
          <a:bodyPr wrap="square" lIns="0" tIns="0" rIns="0" bIns="0" rtlCol="0" anchor="ctr"/>
          <a:lstStyle/>
          <a:p>
            <a:pPr algn="ctr" indent="0" marL="0">
              <a:buNone/>
            </a:pPr>
            <a:r>
              <a:rPr lang="en-US" sz="900" dirty="0">
                <a:solidFill>
                  <a:srgbClr val="605E5C"/>
                </a:solidFill>
                <a:latin typeface="Segoe UI" pitchFamily="34" charset="0"/>
                <a:ea typeface="Segoe UI" pitchFamily="34" charset="-122"/>
                <a:cs typeface="Segoe UI" pitchFamily="34" charset="-120"/>
              </a:rPr>
              <a:t>CRITICAL RISKS</a:t>
            </a:r>
            <a:endParaRPr lang="en-US" sz="900" dirty="0"/>
          </a:p>
        </p:txBody>
      </p:sp>
      <p:sp>
        <p:nvSpPr>
          <p:cNvPr id="66" name="Text 52"/>
          <p:cNvSpPr txBox="1"/>
          <p:nvPr/>
        </p:nvSpPr>
        <p:spPr>
          <a:xfrm>
            <a:off x="9575597" y="5111496"/>
            <a:ext cx="438912" cy="305410"/>
          </a:xfrm>
          <a:prstGeom prst="rect">
            <a:avLst/>
          </a:prstGeom>
          <a:noFill/>
          <a:ln/>
        </p:spPr>
        <p:txBody>
          <a:bodyPr wrap="square" lIns="0" tIns="0" rIns="0" bIns="0" rtlCol="0" anchor="ctr"/>
          <a:lstStyle/>
          <a:p>
            <a:pPr algn="ctr" indent="0" marL="0">
              <a:buNone/>
            </a:pPr>
            <a:r>
              <a:rPr lang="en-US" sz="1800" b="1" dirty="0">
                <a:solidFill>
                  <a:srgbClr val="FFB900"/>
                </a:solidFill>
                <a:latin typeface="Segoe UI" pitchFamily="34" charset="0"/>
                <a:ea typeface="Segoe UI" pitchFamily="34" charset="-122"/>
                <a:cs typeface="Segoe UI" pitchFamily="34" charset="-120"/>
              </a:rPr>
              <a:t>28</a:t>
            </a:r>
            <a:endParaRPr lang="en-US" sz="1800" dirty="0"/>
          </a:p>
        </p:txBody>
      </p:sp>
      <p:sp>
        <p:nvSpPr>
          <p:cNvPr id="67" name="Text 53"/>
          <p:cNvSpPr txBox="1"/>
          <p:nvPr/>
        </p:nvSpPr>
        <p:spPr>
          <a:xfrm>
            <a:off x="9210751" y="5458054"/>
            <a:ext cx="1086307" cy="152705"/>
          </a:xfrm>
          <a:prstGeom prst="rect">
            <a:avLst/>
          </a:prstGeom>
          <a:noFill/>
          <a:ln/>
        </p:spPr>
        <p:txBody>
          <a:bodyPr wrap="square" lIns="0" tIns="0" rIns="0" bIns="0" rtlCol="0" anchor="ctr"/>
          <a:lstStyle/>
          <a:p>
            <a:pPr algn="ctr" indent="0" marL="0">
              <a:buNone/>
            </a:pPr>
            <a:r>
              <a:rPr lang="en-US" sz="900" dirty="0">
                <a:solidFill>
                  <a:srgbClr val="605E5C"/>
                </a:solidFill>
                <a:latin typeface="Segoe UI" pitchFamily="34" charset="0"/>
                <a:ea typeface="Segoe UI" pitchFamily="34" charset="-122"/>
                <a:cs typeface="Segoe UI" pitchFamily="34" charset="-120"/>
              </a:rPr>
              <a:t>OVERDUE ACTIONS</a:t>
            </a:r>
            <a:endParaRPr lang="en-US" sz="900" dirty="0"/>
          </a:p>
        </p:txBody>
      </p:sp>
      <p:sp>
        <p:nvSpPr>
          <p:cNvPr id="68" name="Text 54"/>
          <p:cNvSpPr txBox="1"/>
          <p:nvPr/>
        </p:nvSpPr>
        <p:spPr>
          <a:xfrm>
            <a:off x="809244" y="5831129"/>
            <a:ext cx="2443277" cy="181051"/>
          </a:xfrm>
          <a:prstGeom prst="rect">
            <a:avLst/>
          </a:prstGeom>
          <a:noFill/>
          <a:ln/>
        </p:spPr>
        <p:txBody>
          <a:bodyPr wrap="square" lIns="0" tIns="0" rIns="0" bIns="0" rtlCol="0" anchor="ctr"/>
          <a:lstStyle/>
          <a:p>
            <a:pPr algn="l" indent="0" marL="0">
              <a:buNone/>
            </a:pPr>
            <a:r>
              <a:rPr lang="en-US" sz="1000" dirty="0">
                <a:solidFill>
                  <a:srgbClr val="323130"/>
                </a:solidFill>
                <a:latin typeface="Segoe UI" pitchFamily="34" charset="0"/>
                <a:ea typeface="Segoe UI" pitchFamily="34" charset="-122"/>
                <a:cs typeface="Segoe UI" pitchFamily="34" charset="-120"/>
              </a:rPr>
              <a:t>Top 3 Critical Items Requiring Attention:</a:t>
            </a:r>
            <a:endParaRPr lang="en-US" sz="1000" dirty="0"/>
          </a:p>
        </p:txBody>
      </p:sp>
      <p:sp>
        <p:nvSpPr>
          <p:cNvPr id="69" name="Shape 55"/>
          <p:cNvSpPr/>
          <p:nvPr/>
        </p:nvSpPr>
        <p:spPr>
          <a:xfrm>
            <a:off x="809244" y="6483096"/>
            <a:ext cx="2800807" cy="9144"/>
          </a:xfrm>
          <a:prstGeom prst="rect">
            <a:avLst/>
          </a:prstGeom>
          <a:solidFill>
            <a:srgbClr val="C8C6C4"/>
          </a:solidFill>
          <a:ln/>
        </p:spPr>
      </p:sp>
      <p:sp>
        <p:nvSpPr>
          <p:cNvPr id="70" name="Text 56"/>
          <p:cNvSpPr txBox="1"/>
          <p:nvPr/>
        </p:nvSpPr>
        <p:spPr>
          <a:xfrm>
            <a:off x="886054" y="6216091"/>
            <a:ext cx="493776" cy="162763"/>
          </a:xfrm>
          <a:prstGeom prst="rect">
            <a:avLst/>
          </a:prstGeom>
          <a:noFill/>
          <a:ln/>
        </p:spPr>
        <p:txBody>
          <a:bodyPr wrap="square" lIns="0" tIns="0" rIns="0" bIns="0" rtlCol="0" anchor="ctr"/>
          <a:lstStyle/>
          <a:p>
            <a:pPr algn="l" indent="0" marL="0">
              <a:buNone/>
            </a:pPr>
            <a:r>
              <a:rPr lang="en-US" sz="900" b="1" dirty="0">
                <a:solidFill>
                  <a:srgbClr val="605E5C"/>
                </a:solidFill>
                <a:latin typeface="Segoe UI" pitchFamily="34" charset="0"/>
                <a:ea typeface="Segoe UI" pitchFamily="34" charset="-122"/>
                <a:cs typeface="Segoe UI" pitchFamily="34" charset="-120"/>
              </a:rPr>
              <a:t>Project</a:t>
            </a:r>
            <a:endParaRPr lang="en-US" sz="900" dirty="0"/>
          </a:p>
        </p:txBody>
      </p:sp>
      <p:sp>
        <p:nvSpPr>
          <p:cNvPr id="71" name="Shape 57"/>
          <p:cNvSpPr/>
          <p:nvPr/>
        </p:nvSpPr>
        <p:spPr>
          <a:xfrm>
            <a:off x="3603650" y="6483096"/>
            <a:ext cx="3238805" cy="9144"/>
          </a:xfrm>
          <a:prstGeom prst="rect">
            <a:avLst/>
          </a:prstGeom>
          <a:solidFill>
            <a:srgbClr val="C8C6C4"/>
          </a:solidFill>
          <a:ln/>
        </p:spPr>
      </p:sp>
      <p:sp>
        <p:nvSpPr>
          <p:cNvPr id="72" name="Text 58"/>
          <p:cNvSpPr txBox="1"/>
          <p:nvPr/>
        </p:nvSpPr>
        <p:spPr>
          <a:xfrm>
            <a:off x="3680460" y="6216091"/>
            <a:ext cx="522122" cy="162763"/>
          </a:xfrm>
          <a:prstGeom prst="rect">
            <a:avLst/>
          </a:prstGeom>
          <a:noFill/>
          <a:ln/>
        </p:spPr>
        <p:txBody>
          <a:bodyPr wrap="square" lIns="0" tIns="0" rIns="0" bIns="0" rtlCol="0" anchor="ctr"/>
          <a:lstStyle/>
          <a:p>
            <a:pPr algn="l" indent="0" marL="0">
              <a:buNone/>
            </a:pPr>
            <a:r>
              <a:rPr lang="en-US" sz="900" b="1" dirty="0">
                <a:solidFill>
                  <a:srgbClr val="605E5C"/>
                </a:solidFill>
                <a:latin typeface="Segoe UI" pitchFamily="34" charset="0"/>
                <a:ea typeface="Segoe UI" pitchFamily="34" charset="-122"/>
                <a:cs typeface="Segoe UI" pitchFamily="34" charset="-120"/>
              </a:rPr>
              <a:t>Finding</a:t>
            </a:r>
            <a:endParaRPr lang="en-US" sz="900" dirty="0"/>
          </a:p>
        </p:txBody>
      </p:sp>
      <p:sp>
        <p:nvSpPr>
          <p:cNvPr id="73" name="Shape 59"/>
          <p:cNvSpPr/>
          <p:nvPr/>
        </p:nvSpPr>
        <p:spPr>
          <a:xfrm>
            <a:off x="6836054" y="6483096"/>
            <a:ext cx="1723644" cy="9144"/>
          </a:xfrm>
          <a:prstGeom prst="rect">
            <a:avLst/>
          </a:prstGeom>
          <a:solidFill>
            <a:srgbClr val="C8C6C4"/>
          </a:solidFill>
          <a:ln/>
        </p:spPr>
      </p:sp>
      <p:sp>
        <p:nvSpPr>
          <p:cNvPr id="74" name="Text 60"/>
          <p:cNvSpPr txBox="1"/>
          <p:nvPr/>
        </p:nvSpPr>
        <p:spPr>
          <a:xfrm>
            <a:off x="6911950" y="6216091"/>
            <a:ext cx="464515" cy="162763"/>
          </a:xfrm>
          <a:prstGeom prst="rect">
            <a:avLst/>
          </a:prstGeom>
          <a:noFill/>
          <a:ln/>
        </p:spPr>
        <p:txBody>
          <a:bodyPr wrap="square" lIns="0" tIns="0" rIns="0" bIns="0" rtlCol="0" anchor="ctr"/>
          <a:lstStyle/>
          <a:p>
            <a:pPr algn="l" indent="0" marL="0">
              <a:buNone/>
            </a:pPr>
            <a:r>
              <a:rPr lang="en-US" sz="900" b="1" dirty="0">
                <a:solidFill>
                  <a:srgbClr val="605E5C"/>
                </a:solidFill>
                <a:latin typeface="Segoe UI" pitchFamily="34" charset="0"/>
                <a:ea typeface="Segoe UI" pitchFamily="34" charset="-122"/>
                <a:cs typeface="Segoe UI" pitchFamily="34" charset="-120"/>
              </a:rPr>
              <a:t>Owner</a:t>
            </a:r>
            <a:endParaRPr lang="en-US" sz="900" dirty="0"/>
          </a:p>
        </p:txBody>
      </p:sp>
      <p:sp>
        <p:nvSpPr>
          <p:cNvPr id="75" name="Shape 61"/>
          <p:cNvSpPr/>
          <p:nvPr/>
        </p:nvSpPr>
        <p:spPr>
          <a:xfrm>
            <a:off x="8558784" y="6483096"/>
            <a:ext cx="2857500" cy="9144"/>
          </a:xfrm>
          <a:prstGeom prst="rect">
            <a:avLst/>
          </a:prstGeom>
          <a:solidFill>
            <a:srgbClr val="C8C6C4"/>
          </a:solidFill>
          <a:ln/>
        </p:spPr>
      </p:sp>
      <p:sp>
        <p:nvSpPr>
          <p:cNvPr id="76" name="Text 62"/>
          <p:cNvSpPr txBox="1"/>
          <p:nvPr/>
        </p:nvSpPr>
        <p:spPr>
          <a:xfrm>
            <a:off x="8634679" y="6216091"/>
            <a:ext cx="626364" cy="162763"/>
          </a:xfrm>
          <a:prstGeom prst="rect">
            <a:avLst/>
          </a:prstGeom>
          <a:noFill/>
          <a:ln/>
        </p:spPr>
        <p:txBody>
          <a:bodyPr wrap="square" lIns="0" tIns="0" rIns="0" bIns="0" rtlCol="0" anchor="ctr"/>
          <a:lstStyle/>
          <a:p>
            <a:pPr algn="l" indent="0" marL="0">
              <a:buNone/>
            </a:pPr>
            <a:r>
              <a:rPr lang="en-US" sz="900" b="1" dirty="0">
                <a:solidFill>
                  <a:srgbClr val="605E5C"/>
                </a:solidFill>
                <a:latin typeface="Segoe UI" pitchFamily="34" charset="0"/>
                <a:ea typeface="Segoe UI" pitchFamily="34" charset="-122"/>
                <a:cs typeface="Segoe UI" pitchFamily="34" charset="-120"/>
              </a:rPr>
              <a:t>Due Date</a:t>
            </a:r>
            <a:endParaRPr lang="en-US" sz="900" dirty="0"/>
          </a:p>
        </p:txBody>
      </p:sp>
      <p:sp>
        <p:nvSpPr>
          <p:cNvPr id="77" name="Shape 63"/>
          <p:cNvSpPr/>
          <p:nvPr/>
        </p:nvSpPr>
        <p:spPr>
          <a:xfrm>
            <a:off x="809244" y="6838798"/>
            <a:ext cx="2800807" cy="9144"/>
          </a:xfrm>
          <a:prstGeom prst="rect">
            <a:avLst/>
          </a:prstGeom>
          <a:solidFill>
            <a:srgbClr val="E1DFDD"/>
          </a:solidFill>
          <a:ln/>
        </p:spPr>
      </p:sp>
      <p:sp>
        <p:nvSpPr>
          <p:cNvPr id="78" name="Text 64"/>
          <p:cNvSpPr txBox="1"/>
          <p:nvPr/>
        </p:nvSpPr>
        <p:spPr>
          <a:xfrm>
            <a:off x="886054" y="6576365"/>
            <a:ext cx="826618" cy="162763"/>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Project Alpha</a:t>
            </a:r>
            <a:endParaRPr lang="en-US" sz="900" dirty="0"/>
          </a:p>
        </p:txBody>
      </p:sp>
      <p:sp>
        <p:nvSpPr>
          <p:cNvPr id="79" name="Shape 65"/>
          <p:cNvSpPr/>
          <p:nvPr/>
        </p:nvSpPr>
        <p:spPr>
          <a:xfrm>
            <a:off x="3603650" y="6838798"/>
            <a:ext cx="3238805" cy="9144"/>
          </a:xfrm>
          <a:prstGeom prst="rect">
            <a:avLst/>
          </a:prstGeom>
          <a:solidFill>
            <a:srgbClr val="E1DFDD"/>
          </a:solidFill>
          <a:ln/>
        </p:spPr>
      </p:sp>
      <p:sp>
        <p:nvSpPr>
          <p:cNvPr id="80" name="Text 66"/>
          <p:cNvSpPr txBox="1"/>
          <p:nvPr/>
        </p:nvSpPr>
        <p:spPr>
          <a:xfrm>
            <a:off x="3680460" y="6576365"/>
            <a:ext cx="1207922" cy="162763"/>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Missing Access Logs</a:t>
            </a:r>
            <a:endParaRPr lang="en-US" sz="900" dirty="0"/>
          </a:p>
        </p:txBody>
      </p:sp>
      <p:sp>
        <p:nvSpPr>
          <p:cNvPr id="81" name="Shape 67"/>
          <p:cNvSpPr/>
          <p:nvPr/>
        </p:nvSpPr>
        <p:spPr>
          <a:xfrm>
            <a:off x="6836054" y="6838798"/>
            <a:ext cx="1723644" cy="9144"/>
          </a:xfrm>
          <a:prstGeom prst="rect">
            <a:avLst/>
          </a:prstGeom>
          <a:solidFill>
            <a:srgbClr val="E1DFDD"/>
          </a:solidFill>
          <a:ln/>
        </p:spPr>
      </p:sp>
      <p:sp>
        <p:nvSpPr>
          <p:cNvPr id="82" name="Text 68"/>
          <p:cNvSpPr txBox="1"/>
          <p:nvPr/>
        </p:nvSpPr>
        <p:spPr>
          <a:xfrm>
            <a:off x="6911950" y="6576365"/>
            <a:ext cx="617220" cy="162763"/>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S. Jenkins</a:t>
            </a:r>
            <a:endParaRPr lang="en-US" sz="900" dirty="0"/>
          </a:p>
        </p:txBody>
      </p:sp>
      <p:sp>
        <p:nvSpPr>
          <p:cNvPr id="83" name="Shape 69"/>
          <p:cNvSpPr/>
          <p:nvPr/>
        </p:nvSpPr>
        <p:spPr>
          <a:xfrm>
            <a:off x="8558784" y="6838798"/>
            <a:ext cx="2857500" cy="9144"/>
          </a:xfrm>
          <a:prstGeom prst="rect">
            <a:avLst/>
          </a:prstGeom>
          <a:solidFill>
            <a:srgbClr val="E1DFDD"/>
          </a:solidFill>
          <a:ln/>
        </p:spPr>
      </p:sp>
      <p:sp>
        <p:nvSpPr>
          <p:cNvPr id="84" name="Text 70"/>
          <p:cNvSpPr txBox="1"/>
          <p:nvPr/>
        </p:nvSpPr>
        <p:spPr>
          <a:xfrm>
            <a:off x="8634679" y="6576365"/>
            <a:ext cx="1055218" cy="162763"/>
          </a:xfrm>
          <a:prstGeom prst="rect">
            <a:avLst/>
          </a:prstGeom>
          <a:noFill/>
          <a:ln/>
        </p:spPr>
        <p:txBody>
          <a:bodyPr wrap="square" lIns="0" tIns="0" rIns="0" bIns="0" rtlCol="0" anchor="ctr"/>
          <a:lstStyle/>
          <a:p>
            <a:pPr algn="l" indent="0" marL="0">
              <a:buNone/>
            </a:pPr>
            <a:r>
              <a:rPr lang="en-US" sz="900" b="1" dirty="0">
                <a:solidFill>
                  <a:srgbClr val="D83B01"/>
                </a:solidFill>
                <a:latin typeface="Segoe UI" pitchFamily="34" charset="0"/>
                <a:ea typeface="Segoe UI" pitchFamily="34" charset="-122"/>
                <a:cs typeface="Segoe UI" pitchFamily="34" charset="-120"/>
              </a:rPr>
              <a:t>Dec 12 (Overdue)</a:t>
            </a:r>
            <a:endParaRPr lang="en-US" sz="900" dirty="0"/>
          </a:p>
        </p:txBody>
      </p:sp>
      <p:sp>
        <p:nvSpPr>
          <p:cNvPr id="85" name="Shape 71"/>
          <p:cNvSpPr/>
          <p:nvPr/>
        </p:nvSpPr>
        <p:spPr>
          <a:xfrm>
            <a:off x="809244" y="7198157"/>
            <a:ext cx="2800807" cy="9144"/>
          </a:xfrm>
          <a:prstGeom prst="rect">
            <a:avLst/>
          </a:prstGeom>
          <a:solidFill>
            <a:srgbClr val="E1DFDD"/>
          </a:solidFill>
          <a:ln/>
        </p:spPr>
      </p:sp>
      <p:sp>
        <p:nvSpPr>
          <p:cNvPr id="86" name="Text 72"/>
          <p:cNvSpPr txBox="1"/>
          <p:nvPr/>
        </p:nvSpPr>
        <p:spPr>
          <a:xfrm>
            <a:off x="886054" y="6935724"/>
            <a:ext cx="1026871" cy="162763"/>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Cloud Mig. APAC</a:t>
            </a:r>
            <a:endParaRPr lang="en-US" sz="900" dirty="0"/>
          </a:p>
        </p:txBody>
      </p:sp>
      <p:sp>
        <p:nvSpPr>
          <p:cNvPr id="87" name="Shape 73"/>
          <p:cNvSpPr/>
          <p:nvPr/>
        </p:nvSpPr>
        <p:spPr>
          <a:xfrm>
            <a:off x="3603650" y="7198157"/>
            <a:ext cx="3238805" cy="9144"/>
          </a:xfrm>
          <a:prstGeom prst="rect">
            <a:avLst/>
          </a:prstGeom>
          <a:solidFill>
            <a:srgbClr val="E1DFDD"/>
          </a:solidFill>
          <a:ln/>
        </p:spPr>
      </p:sp>
      <p:sp>
        <p:nvSpPr>
          <p:cNvPr id="88" name="Text 74"/>
          <p:cNvSpPr txBox="1"/>
          <p:nvPr/>
        </p:nvSpPr>
        <p:spPr>
          <a:xfrm>
            <a:off x="3680460" y="6935724"/>
            <a:ext cx="1093622" cy="162763"/>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Patch Delay &gt; 30d</a:t>
            </a:r>
            <a:endParaRPr lang="en-US" sz="900" dirty="0"/>
          </a:p>
        </p:txBody>
      </p:sp>
      <p:sp>
        <p:nvSpPr>
          <p:cNvPr id="89" name="Shape 75"/>
          <p:cNvSpPr/>
          <p:nvPr/>
        </p:nvSpPr>
        <p:spPr>
          <a:xfrm>
            <a:off x="6836054" y="7198157"/>
            <a:ext cx="1723644" cy="9144"/>
          </a:xfrm>
          <a:prstGeom prst="rect">
            <a:avLst/>
          </a:prstGeom>
          <a:solidFill>
            <a:srgbClr val="E1DFDD"/>
          </a:solidFill>
          <a:ln/>
        </p:spPr>
      </p:sp>
      <p:sp>
        <p:nvSpPr>
          <p:cNvPr id="90" name="Text 76"/>
          <p:cNvSpPr txBox="1"/>
          <p:nvPr/>
        </p:nvSpPr>
        <p:spPr>
          <a:xfrm>
            <a:off x="6911950" y="6935724"/>
            <a:ext cx="550469" cy="162763"/>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D. Miller</a:t>
            </a:r>
            <a:endParaRPr lang="en-US" sz="900" dirty="0"/>
          </a:p>
        </p:txBody>
      </p:sp>
      <p:sp>
        <p:nvSpPr>
          <p:cNvPr id="91" name="Shape 77"/>
          <p:cNvSpPr/>
          <p:nvPr/>
        </p:nvSpPr>
        <p:spPr>
          <a:xfrm>
            <a:off x="8558784" y="7198157"/>
            <a:ext cx="2857500" cy="9144"/>
          </a:xfrm>
          <a:prstGeom prst="rect">
            <a:avLst/>
          </a:prstGeom>
          <a:solidFill>
            <a:srgbClr val="E1DFDD"/>
          </a:solidFill>
          <a:ln/>
        </p:spPr>
      </p:sp>
      <p:sp>
        <p:nvSpPr>
          <p:cNvPr id="92" name="Text 78"/>
          <p:cNvSpPr txBox="1"/>
          <p:nvPr/>
        </p:nvSpPr>
        <p:spPr>
          <a:xfrm>
            <a:off x="8634679" y="6935724"/>
            <a:ext cx="474574" cy="162763"/>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Dec 15</a:t>
            </a:r>
            <a:endParaRPr lang="en-US" sz="900" dirty="0"/>
          </a:p>
        </p:txBody>
      </p:sp>
      <p:sp>
        <p:nvSpPr>
          <p:cNvPr id="93" name="Shape 79"/>
          <p:cNvSpPr/>
          <p:nvPr/>
        </p:nvSpPr>
        <p:spPr>
          <a:xfrm>
            <a:off x="809244" y="7558430"/>
            <a:ext cx="2800807" cy="9144"/>
          </a:xfrm>
          <a:prstGeom prst="rect">
            <a:avLst/>
          </a:prstGeom>
          <a:solidFill>
            <a:srgbClr val="E1DFDD"/>
          </a:solidFill>
          <a:ln/>
        </p:spPr>
      </p:sp>
      <p:sp>
        <p:nvSpPr>
          <p:cNvPr id="94" name="Text 80"/>
          <p:cNvSpPr txBox="1"/>
          <p:nvPr/>
        </p:nvSpPr>
        <p:spPr>
          <a:xfrm>
            <a:off x="886054" y="7295998"/>
            <a:ext cx="1036015" cy="162763"/>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Infra Upgrade EU</a:t>
            </a:r>
            <a:endParaRPr lang="en-US" sz="900" dirty="0"/>
          </a:p>
        </p:txBody>
      </p:sp>
      <p:sp>
        <p:nvSpPr>
          <p:cNvPr id="95" name="Shape 81"/>
          <p:cNvSpPr/>
          <p:nvPr/>
        </p:nvSpPr>
        <p:spPr>
          <a:xfrm>
            <a:off x="3603650" y="7558430"/>
            <a:ext cx="3238805" cy="9144"/>
          </a:xfrm>
          <a:prstGeom prst="rect">
            <a:avLst/>
          </a:prstGeom>
          <a:solidFill>
            <a:srgbClr val="E1DFDD"/>
          </a:solidFill>
          <a:ln/>
        </p:spPr>
      </p:sp>
      <p:sp>
        <p:nvSpPr>
          <p:cNvPr id="96" name="Text 82"/>
          <p:cNvSpPr txBox="1"/>
          <p:nvPr/>
        </p:nvSpPr>
        <p:spPr>
          <a:xfrm>
            <a:off x="3680460" y="7295998"/>
            <a:ext cx="1207922" cy="162763"/>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Doc Review Pending</a:t>
            </a:r>
            <a:endParaRPr lang="en-US" sz="900" dirty="0"/>
          </a:p>
        </p:txBody>
      </p:sp>
      <p:sp>
        <p:nvSpPr>
          <p:cNvPr id="97" name="Shape 83"/>
          <p:cNvSpPr/>
          <p:nvPr/>
        </p:nvSpPr>
        <p:spPr>
          <a:xfrm>
            <a:off x="6836054" y="7558430"/>
            <a:ext cx="1723644" cy="9144"/>
          </a:xfrm>
          <a:prstGeom prst="rect">
            <a:avLst/>
          </a:prstGeom>
          <a:solidFill>
            <a:srgbClr val="E1DFDD"/>
          </a:solidFill>
          <a:ln/>
        </p:spPr>
      </p:sp>
      <p:sp>
        <p:nvSpPr>
          <p:cNvPr id="98" name="Text 84"/>
          <p:cNvSpPr txBox="1"/>
          <p:nvPr/>
        </p:nvSpPr>
        <p:spPr>
          <a:xfrm>
            <a:off x="6911950" y="7295998"/>
            <a:ext cx="550469" cy="162763"/>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M. Chen</a:t>
            </a:r>
            <a:endParaRPr lang="en-US" sz="900" dirty="0"/>
          </a:p>
        </p:txBody>
      </p:sp>
      <p:sp>
        <p:nvSpPr>
          <p:cNvPr id="99" name="Shape 85"/>
          <p:cNvSpPr/>
          <p:nvPr/>
        </p:nvSpPr>
        <p:spPr>
          <a:xfrm>
            <a:off x="8558784" y="7558430"/>
            <a:ext cx="2857500" cy="9144"/>
          </a:xfrm>
          <a:prstGeom prst="rect">
            <a:avLst/>
          </a:prstGeom>
          <a:solidFill>
            <a:srgbClr val="E1DFDD"/>
          </a:solidFill>
          <a:ln/>
        </p:spPr>
      </p:sp>
      <p:sp>
        <p:nvSpPr>
          <p:cNvPr id="100" name="Text 86"/>
          <p:cNvSpPr txBox="1"/>
          <p:nvPr/>
        </p:nvSpPr>
        <p:spPr>
          <a:xfrm>
            <a:off x="8634679" y="7295998"/>
            <a:ext cx="474574" cy="162763"/>
          </a:xfrm>
          <a:prstGeom prst="rect">
            <a:avLst/>
          </a:prstGeom>
          <a:noFill/>
          <a:ln/>
        </p:spPr>
        <p:txBody>
          <a:bodyPr wrap="square" lIns="0" tIns="0" rIns="0" bIns="0" rtlCol="0" anchor="ctr"/>
          <a:lstStyle/>
          <a:p>
            <a:pPr algn="l" indent="0" marL="0">
              <a:buNone/>
            </a:pPr>
            <a:r>
              <a:rPr lang="en-US" sz="900" dirty="0">
                <a:solidFill>
                  <a:srgbClr val="323130"/>
                </a:solidFill>
                <a:latin typeface="Segoe UI" pitchFamily="34" charset="0"/>
                <a:ea typeface="Segoe UI" pitchFamily="34" charset="-122"/>
                <a:cs typeface="Segoe UI" pitchFamily="34" charset="-120"/>
              </a:rPr>
              <a:t>Dec 16</a:t>
            </a:r>
            <a:endParaRPr lang="en-US" sz="900" dirty="0"/>
          </a:p>
        </p:txBody>
      </p:sp>
      <p:sp>
        <p:nvSpPr>
          <p:cNvPr id="101" name="Text 87"/>
          <p:cNvSpPr txBox="1"/>
          <p:nvPr/>
        </p:nvSpPr>
        <p:spPr>
          <a:xfrm>
            <a:off x="580644" y="7979969"/>
            <a:ext cx="10585094" cy="191110"/>
          </a:xfrm>
          <a:prstGeom prst="rect">
            <a:avLst/>
          </a:prstGeom>
          <a:noFill/>
          <a:ln/>
        </p:spPr>
        <p:txBody>
          <a:bodyPr wrap="square" lIns="0" tIns="0" rIns="0" bIns="0" rtlCol="0" anchor="ctr"/>
          <a:lstStyle/>
          <a:p>
            <a:pPr algn="l" indent="0" marL="0">
              <a:buNone/>
            </a:pPr>
            <a:r>
              <a:rPr lang="en-US" sz="1100" dirty="0">
                <a:solidFill>
                  <a:srgbClr val="323130"/>
                </a:solidFill>
                <a:latin typeface="Segoe UI" pitchFamily="34" charset="0"/>
                <a:ea typeface="Segoe UI" pitchFamily="34" charset="-122"/>
                <a:cs typeface="Segoe UI" pitchFamily="34" charset="-120"/>
              </a:rPr>
              <a:t>Attached are the detailed PDF report and the raw data export in Excel format for further analysis. Please address any critical overdue items by end of business Tuesday.</a:t>
            </a:r>
            <a:endParaRPr lang="en-US" sz="1100" dirty="0"/>
          </a:p>
        </p:txBody>
      </p:sp>
      <p:sp>
        <p:nvSpPr>
          <p:cNvPr id="102" name="Text 88"/>
          <p:cNvSpPr txBox="1"/>
          <p:nvPr/>
        </p:nvSpPr>
        <p:spPr>
          <a:xfrm>
            <a:off x="580644" y="8351215"/>
            <a:ext cx="4669841" cy="191110"/>
          </a:xfrm>
          <a:prstGeom prst="rect">
            <a:avLst/>
          </a:prstGeom>
          <a:noFill/>
          <a:ln/>
        </p:spPr>
        <p:txBody>
          <a:bodyPr wrap="square" lIns="0" tIns="0" rIns="0" bIns="0" rtlCol="0" anchor="ctr"/>
          <a:lstStyle/>
          <a:p>
            <a:pPr algn="l" indent="0" marL="0">
              <a:buNone/>
            </a:pPr>
            <a:r>
              <a:rPr lang="en-US" sz="1100" dirty="0">
                <a:solidFill>
                  <a:srgbClr val="323130"/>
                </a:solidFill>
                <a:latin typeface="Segoe UI" pitchFamily="34" charset="0"/>
                <a:ea typeface="Segoe UI" pitchFamily="34" charset="-122"/>
                <a:cs typeface="Segoe UI" pitchFamily="34" charset="-120"/>
              </a:rPr>
              <a:t>For questions regarding specific findings, please contact the Audit Team.</a:t>
            </a:r>
            <a:endParaRPr lang="en-US" sz="1100" dirty="0"/>
          </a:p>
        </p:txBody>
      </p:sp>
      <p:sp>
        <p:nvSpPr>
          <p:cNvPr id="103" name="Shape 89"/>
          <p:cNvSpPr/>
          <p:nvPr/>
        </p:nvSpPr>
        <p:spPr>
          <a:xfrm>
            <a:off x="580644" y="8846820"/>
            <a:ext cx="11030407" cy="9144"/>
          </a:xfrm>
          <a:prstGeom prst="rect">
            <a:avLst/>
          </a:prstGeom>
          <a:solidFill>
            <a:srgbClr val="E1DFDD"/>
          </a:solidFill>
          <a:ln/>
        </p:spPr>
      </p:sp>
      <p:sp>
        <p:nvSpPr>
          <p:cNvPr id="104" name="Text 90"/>
          <p:cNvSpPr txBox="1"/>
          <p:nvPr/>
        </p:nvSpPr>
        <p:spPr>
          <a:xfrm>
            <a:off x="580644" y="9056218"/>
            <a:ext cx="6505956" cy="152705"/>
          </a:xfrm>
          <a:prstGeom prst="rect">
            <a:avLst/>
          </a:prstGeom>
          <a:noFill/>
          <a:ln/>
        </p:spPr>
        <p:txBody>
          <a:bodyPr wrap="square" lIns="0" tIns="0" rIns="0" bIns="0" rtlCol="0" anchor="ctr"/>
          <a:lstStyle/>
          <a:p>
            <a:pPr algn="l" indent="0" marL="0">
              <a:buNone/>
            </a:pPr>
            <a:r>
              <a:rPr lang="en-US" sz="900" dirty="0">
                <a:solidFill>
                  <a:srgbClr val="A19F9D"/>
                </a:solidFill>
                <a:latin typeface="Segoe UI" pitchFamily="34" charset="0"/>
                <a:ea typeface="Segoe UI" pitchFamily="34" charset="-122"/>
                <a:cs typeface="Segoe UI" pitchFamily="34" charset="-120"/>
              </a:rPr>
              <a:t>Note: This is an automated email notification generated by the FDO Reporting Service. Please do not reply directly to this email.</a:t>
            </a:r>
            <a:endParaRPr lang="en-US" sz="900" dirty="0"/>
          </a:p>
        </p:txBody>
      </p:sp>
      <p:sp>
        <p:nvSpPr>
          <p:cNvPr id="105" name="Text 91"/>
          <p:cNvSpPr txBox="1"/>
          <p:nvPr/>
        </p:nvSpPr>
        <p:spPr>
          <a:xfrm>
            <a:off x="580644" y="9239098"/>
            <a:ext cx="2029054" cy="152705"/>
          </a:xfrm>
          <a:prstGeom prst="rect">
            <a:avLst/>
          </a:prstGeom>
          <a:noFill/>
          <a:ln/>
        </p:spPr>
        <p:txBody>
          <a:bodyPr wrap="square" lIns="0" tIns="0" rIns="0" bIns="0" rtlCol="0" anchor="ctr"/>
          <a:lstStyle/>
          <a:p>
            <a:pPr algn="l" indent="0" marL="0">
              <a:buNone/>
            </a:pPr>
            <a:r>
              <a:rPr lang="en-US" sz="900" dirty="0">
                <a:solidFill>
                  <a:srgbClr val="A19F9D"/>
                </a:solidFill>
                <a:latin typeface="Segoe UI" pitchFamily="34" charset="0"/>
                <a:ea typeface="Segoe UI" pitchFamily="34" charset="-122"/>
                <a:cs typeface="Segoe UI" pitchFamily="34" charset="-120"/>
              </a:rPr>
              <a:t>© 2025 Factory Delivery Orchestrator |</a:t>
            </a:r>
            <a:endParaRPr lang="en-US" sz="900" dirty="0"/>
          </a:p>
        </p:txBody>
      </p:sp>
      <p:sp>
        <p:nvSpPr>
          <p:cNvPr id="106" name="Text 92"/>
          <p:cNvSpPr txBox="1"/>
          <p:nvPr/>
        </p:nvSpPr>
        <p:spPr>
          <a:xfrm>
            <a:off x="2515514" y="9239098"/>
            <a:ext cx="914400" cy="152705"/>
          </a:xfrm>
          <a:prstGeom prst="rect">
            <a:avLst/>
          </a:prstGeom>
          <a:noFill/>
          <a:ln/>
        </p:spPr>
        <p:txBody>
          <a:bodyPr wrap="square" lIns="0" tIns="0" rIns="0" bIns="0" rtlCol="0" anchor="ctr"/>
          <a:lstStyle/>
          <a:p>
            <a:pPr algn="l" indent="0" marL="0">
              <a:buNone/>
            </a:pPr>
            <a:r>
              <a:rPr lang="en-US" sz="900" dirty="0">
                <a:solidFill>
                  <a:srgbClr val="0078D4"/>
                </a:solidFill>
                <a:latin typeface="Segoe UI" pitchFamily="34" charset="0"/>
                <a:ea typeface="Segoe UI" pitchFamily="34" charset="-122"/>
                <a:cs typeface="Segoe UI" pitchFamily="34" charset="-120"/>
              </a:rPr>
              <a:t>View Dashboard</a:t>
            </a:r>
            <a:endParaRPr lang="en-US" sz="900" dirty="0"/>
          </a:p>
        </p:txBody>
      </p:sp>
      <p:sp>
        <p:nvSpPr>
          <p:cNvPr id="107" name="Text 93"/>
          <p:cNvSpPr txBox="1"/>
          <p:nvPr/>
        </p:nvSpPr>
        <p:spPr>
          <a:xfrm>
            <a:off x="3338474" y="9239098"/>
            <a:ext cx="114300" cy="152705"/>
          </a:xfrm>
          <a:prstGeom prst="rect">
            <a:avLst/>
          </a:prstGeom>
          <a:noFill/>
          <a:ln/>
        </p:spPr>
        <p:txBody>
          <a:bodyPr wrap="square" lIns="0" tIns="0" rIns="0" bIns="0" rtlCol="0" anchor="ctr"/>
          <a:lstStyle/>
          <a:p>
            <a:pPr algn="l" indent="0" marL="0">
              <a:buNone/>
            </a:pPr>
            <a:r>
              <a:rPr lang="en-US" sz="900" dirty="0">
                <a:solidFill>
                  <a:srgbClr val="A19F9D"/>
                </a:solidFill>
                <a:latin typeface="Segoe UI" pitchFamily="34" charset="0"/>
                <a:ea typeface="Segoe UI" pitchFamily="34" charset="-122"/>
                <a:cs typeface="Segoe UI" pitchFamily="34" charset="-120"/>
              </a:rPr>
              <a:t>|</a:t>
            </a:r>
            <a:endParaRPr lang="en-US" sz="900" dirty="0"/>
          </a:p>
        </p:txBody>
      </p:sp>
      <p:sp>
        <p:nvSpPr>
          <p:cNvPr id="108" name="Text 94"/>
          <p:cNvSpPr txBox="1"/>
          <p:nvPr/>
        </p:nvSpPr>
        <p:spPr>
          <a:xfrm>
            <a:off x="3365906" y="9239098"/>
            <a:ext cx="715061" cy="152705"/>
          </a:xfrm>
          <a:prstGeom prst="rect">
            <a:avLst/>
          </a:prstGeom>
          <a:noFill/>
          <a:ln/>
        </p:spPr>
        <p:txBody>
          <a:bodyPr wrap="square" lIns="0" tIns="0" rIns="0" bIns="0" rtlCol="0" anchor="ctr"/>
          <a:lstStyle/>
          <a:p>
            <a:pPr algn="l" indent="0" marL="0">
              <a:buNone/>
            </a:pPr>
            <a:r>
              <a:rPr lang="en-US" sz="900" dirty="0">
                <a:solidFill>
                  <a:srgbClr val="0078D4"/>
                </a:solidFill>
                <a:latin typeface="Segoe UI" pitchFamily="34" charset="0"/>
                <a:ea typeface="Segoe UI" pitchFamily="34" charset="-122"/>
                <a:cs typeface="Segoe UI" pitchFamily="34" charset="-120"/>
              </a:rPr>
              <a:t>Unsubscribe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0"/>
            <a:ext cx="12191695" cy="75895"/>
          </a:xfrm>
          <a:prstGeom prst="rect">
            <a:avLst/>
          </a:prstGeom>
          <a:solidFill>
            <a:srgbClr val="0078D4"/>
          </a:solidFill>
          <a:ln/>
        </p:spPr>
      </p:sp>
      <p:sp>
        <p:nvSpPr>
          <p:cNvPr id="5" name="Text 3"/>
          <p:cNvSpPr txBox="1"/>
          <p:nvPr/>
        </p:nvSpPr>
        <p:spPr>
          <a:xfrm>
            <a:off x="571500" y="390449"/>
            <a:ext cx="3229661" cy="457200"/>
          </a:xfrm>
          <a:prstGeom prst="rect">
            <a:avLst/>
          </a:prstGeom>
          <a:noFill/>
          <a:ln/>
        </p:spPr>
        <p:txBody>
          <a:bodyPr wrap="square" lIns="0" tIns="0" rIns="0" bIns="0" rtlCol="0" anchor="ctr"/>
          <a:lstStyle/>
          <a:p>
            <a:pPr algn="l" indent="0" marL="0">
              <a:buNone/>
            </a:pPr>
            <a:r>
              <a:rPr lang="en-US" sz="2700" b="1" dirty="0">
                <a:solidFill>
                  <a:srgbClr val="242424"/>
                </a:solidFill>
                <a:latin typeface="Segoe UI" pitchFamily="34" charset="0"/>
                <a:ea typeface="Segoe UI" pitchFamily="34" charset="-122"/>
                <a:cs typeface="Segoe UI" pitchFamily="34" charset="-120"/>
              </a:rPr>
              <a:t>Success Dashboard</a:t>
            </a:r>
            <a:endParaRPr lang="en-US" sz="2700" dirty="0"/>
          </a:p>
        </p:txBody>
      </p:sp>
      <p:sp>
        <p:nvSpPr>
          <p:cNvPr id="6" name="Text 4"/>
          <p:cNvSpPr txBox="1"/>
          <p:nvPr/>
        </p:nvSpPr>
        <p:spPr>
          <a:xfrm>
            <a:off x="9881006" y="528523"/>
            <a:ext cx="1843430" cy="181051"/>
          </a:xfrm>
          <a:prstGeom prst="rect">
            <a:avLst/>
          </a:prstGeom>
          <a:noFill/>
          <a:ln/>
        </p:spPr>
        <p:txBody>
          <a:bodyPr wrap="square" lIns="0" tIns="0" rIns="0" bIns="0" rtlCol="0" anchor="ctr"/>
          <a:lstStyle/>
          <a:p>
            <a:pPr algn="l" indent="0" marL="0">
              <a:buNone/>
            </a:pPr>
            <a:r>
              <a:rPr lang="en-US" sz="1000" dirty="0">
                <a:solidFill>
                  <a:srgbClr val="666666"/>
                </a:solidFill>
                <a:latin typeface="Segoe UI" pitchFamily="34" charset="0"/>
                <a:ea typeface="Segoe UI" pitchFamily="34" charset="-122"/>
                <a:cs typeface="Segoe UI" pitchFamily="34" charset="-120"/>
              </a:rPr>
              <a:t>Prototype / Execution Metrics</a:t>
            </a:r>
            <a:endParaRPr lang="en-US" sz="1000" dirty="0"/>
          </a:p>
        </p:txBody>
      </p:sp>
      <p:sp>
        <p:nvSpPr>
          <p:cNvPr id="7" name="Shape 5"/>
          <p:cNvSpPr/>
          <p:nvPr/>
        </p:nvSpPr>
        <p:spPr>
          <a:xfrm>
            <a:off x="571500" y="1162202"/>
            <a:ext cx="3696005" cy="5029200"/>
          </a:xfrm>
          <a:prstGeom prst="roundRect">
            <a:avLst>
              <a:gd name="adj" fmla="val 765"/>
            </a:avLst>
          </a:prstGeom>
          <a:solidFill>
            <a:srgbClr val="0078D4"/>
          </a:solidFill>
          <a:ln/>
          <a:effectLst>
            <a:outerShdw sx="100000" sy="100000" kx="0" ky="0" algn="bl" rotWithShape="0" blurRad="114300" dist="38100" dir="5400000">
              <a:srgbClr val="0078d4">
                <a:alpha val="20000"/>
              </a:srgbClr>
            </a:outerShdw>
          </a:effectLst>
        </p:spPr>
      </p:sp>
      <p:pic>
        <p:nvPicPr>
          <p:cNvPr id="8" name="Image 0" descr="preencoded.png">    </p:cNvPr>
          <p:cNvPicPr>
            <a:picLocks noChangeAspect="1"/>
          </p:cNvPicPr>
          <p:nvPr/>
        </p:nvPicPr>
        <p:blipFill>
          <a:blip r:embed="rId1"/>
          <a:srcRect l="0" r="0" t="0" b="0"/>
          <a:stretch/>
        </p:blipFill>
        <p:spPr>
          <a:xfrm>
            <a:off x="2452421" y="4381805"/>
            <a:ext cx="2095805" cy="2095805"/>
          </a:xfrm>
          <a:prstGeom prst="rect">
            <a:avLst/>
          </a:prstGeom>
        </p:spPr>
      </p:pic>
      <p:sp>
        <p:nvSpPr>
          <p:cNvPr id="9" name="Text 6"/>
          <p:cNvSpPr txBox="1"/>
          <p:nvPr/>
        </p:nvSpPr>
        <p:spPr>
          <a:xfrm>
            <a:off x="4548226" y="1171346"/>
            <a:ext cx="1767535" cy="286207"/>
          </a:xfrm>
          <a:prstGeom prst="rect">
            <a:avLst/>
          </a:prstGeom>
          <a:noFill/>
          <a:ln/>
        </p:spPr>
        <p:txBody>
          <a:bodyPr wrap="square" lIns="0" tIns="0" rIns="0" bIns="0" rtlCol="0" anchor="ctr"/>
          <a:lstStyle/>
          <a:p>
            <a:pPr algn="l" indent="0" marL="0">
              <a:buNone/>
            </a:pPr>
            <a:r>
              <a:rPr lang="en-US" sz="1600" b="1" dirty="0">
                <a:solidFill>
                  <a:srgbClr val="323130"/>
                </a:solidFill>
                <a:latin typeface="Segoe UI" pitchFamily="34" charset="0"/>
                <a:ea typeface="Segoe UI" pitchFamily="34" charset="-122"/>
                <a:cs typeface="Segoe UI" pitchFamily="34" charset="-120"/>
              </a:rPr>
              <a:t>Execution Trends</a:t>
            </a:r>
            <a:endParaRPr lang="en-US" sz="1600" dirty="0"/>
          </a:p>
        </p:txBody>
      </p:sp>
      <p:sp>
        <p:nvSpPr>
          <p:cNvPr id="10" name="Text 7"/>
          <p:cNvSpPr txBox="1"/>
          <p:nvPr/>
        </p:nvSpPr>
        <p:spPr>
          <a:xfrm>
            <a:off x="10083089" y="1285646"/>
            <a:ext cx="1643177" cy="181051"/>
          </a:xfrm>
          <a:prstGeom prst="rect">
            <a:avLst/>
          </a:prstGeom>
          <a:noFill/>
          <a:ln/>
        </p:spPr>
        <p:txBody>
          <a:bodyPr wrap="square" lIns="0" tIns="0" rIns="0" bIns="0" rtlCol="0" anchor="ctr"/>
          <a:lstStyle/>
          <a:p>
            <a:pPr algn="l" indent="0" marL="0">
              <a:buNone/>
            </a:pPr>
            <a:r>
              <a:rPr lang="en-US" sz="1000" dirty="0">
                <a:solidFill>
                  <a:srgbClr val="605E5C"/>
                </a:solidFill>
                <a:latin typeface="Segoe UI" pitchFamily="34" charset="0"/>
                <a:ea typeface="Segoe UI" pitchFamily="34" charset="-122"/>
                <a:cs typeface="Segoe UI" pitchFamily="34" charset="-120"/>
              </a:rPr>
              <a:t>Last 8 Weeks Performance</a:t>
            </a:r>
            <a:endParaRPr lang="en-US" sz="1000" dirty="0"/>
          </a:p>
        </p:txBody>
      </p:sp>
      <p:sp>
        <p:nvSpPr>
          <p:cNvPr id="11" name="Shape 8"/>
          <p:cNvSpPr/>
          <p:nvPr/>
        </p:nvSpPr>
        <p:spPr>
          <a:xfrm>
            <a:off x="4548226" y="1714500"/>
            <a:ext cx="7077456" cy="2190902"/>
          </a:xfrm>
          <a:prstGeom prst="roundRect">
            <a:avLst>
              <a:gd name="adj" fmla="val 1452"/>
            </a:avLst>
          </a:prstGeom>
          <a:solidFill>
            <a:srgbClr val="FFFFFF"/>
          </a:solidFill>
          <a:ln w="12700">
            <a:solidFill>
              <a:srgbClr val="E1DFDD"/>
            </a:solidFill>
            <a:prstDash val="solid"/>
          </a:ln>
        </p:spPr>
      </p:sp>
      <p:pic>
        <p:nvPicPr>
          <p:cNvPr id="12" name="Image 1" descr="preencoded.png">    </p:cNvPr>
          <p:cNvPicPr>
            <a:picLocks noChangeAspect="1"/>
          </p:cNvPicPr>
          <p:nvPr/>
        </p:nvPicPr>
        <p:blipFill>
          <a:blip r:embed="rId2"/>
          <a:srcRect l="-57" r="-57" t="0" b="0"/>
          <a:stretch/>
        </p:blipFill>
        <p:spPr>
          <a:xfrm>
            <a:off x="4700930" y="1867205"/>
            <a:ext cx="6772046" cy="1886407"/>
          </a:xfrm>
          <a:prstGeom prst="rect">
            <a:avLst/>
          </a:prstGeom>
        </p:spPr>
      </p:pic>
      <p:sp>
        <p:nvSpPr>
          <p:cNvPr id="13" name="Shape 9"/>
          <p:cNvSpPr/>
          <p:nvPr/>
        </p:nvSpPr>
        <p:spPr>
          <a:xfrm>
            <a:off x="4548226" y="4095598"/>
            <a:ext cx="3448202" cy="2095805"/>
          </a:xfrm>
          <a:prstGeom prst="roundRect">
            <a:avLst>
              <a:gd name="adj" fmla="val 1587"/>
            </a:avLst>
          </a:prstGeom>
          <a:solidFill>
            <a:srgbClr val="FFFFFF"/>
          </a:solidFill>
          <a:ln w="12700">
            <a:solidFill>
              <a:srgbClr val="E1DFDD"/>
            </a:solidFill>
            <a:prstDash val="solid"/>
          </a:ln>
        </p:spPr>
      </p:sp>
      <p:pic>
        <p:nvPicPr>
          <p:cNvPr id="14" name="Image 2" descr="preencoded.png">    </p:cNvPr>
          <p:cNvPicPr>
            <a:picLocks noChangeAspect="1"/>
          </p:cNvPicPr>
          <p:nvPr/>
        </p:nvPicPr>
        <p:blipFill>
          <a:blip r:embed="rId3"/>
          <a:srcRect l="0" r="0" t="0" b="0"/>
          <a:stretch/>
        </p:blipFill>
        <p:spPr>
          <a:xfrm>
            <a:off x="4700930" y="4286707"/>
            <a:ext cx="152705" cy="152705"/>
          </a:xfrm>
          <a:prstGeom prst="rect">
            <a:avLst/>
          </a:prstGeom>
        </p:spPr>
      </p:pic>
      <p:sp>
        <p:nvSpPr>
          <p:cNvPr id="15" name="Text 10"/>
          <p:cNvSpPr txBox="1"/>
          <p:nvPr/>
        </p:nvSpPr>
        <p:spPr>
          <a:xfrm>
            <a:off x="4929530" y="4248302"/>
            <a:ext cx="2076602" cy="228600"/>
          </a:xfrm>
          <a:prstGeom prst="rect">
            <a:avLst/>
          </a:prstGeom>
          <a:noFill/>
          <a:ln/>
        </p:spPr>
        <p:txBody>
          <a:bodyPr wrap="square" lIns="0" tIns="0" rIns="0" bIns="0" rtlCol="0" anchor="ctr"/>
          <a:lstStyle/>
          <a:p>
            <a:pPr algn="l" indent="0" marL="0">
              <a:buNone/>
            </a:pPr>
            <a:r>
              <a:rPr lang="en-US" sz="1200" b="1" dirty="0">
                <a:solidFill>
                  <a:srgbClr val="323130"/>
                </a:solidFill>
                <a:latin typeface="Segoe UI" pitchFamily="34" charset="0"/>
                <a:ea typeface="Segoe UI" pitchFamily="34" charset="-122"/>
                <a:cs typeface="Segoe UI" pitchFamily="34" charset="-120"/>
              </a:rPr>
              <a:t>Failures by Step (Last 8 Wks)</a:t>
            </a:r>
            <a:endParaRPr lang="en-US" sz="1200" dirty="0"/>
          </a:p>
        </p:txBody>
      </p:sp>
      <p:pic>
        <p:nvPicPr>
          <p:cNvPr id="16" name="Image 3" descr="preencoded.png">    </p:cNvPr>
          <p:cNvPicPr>
            <a:picLocks noChangeAspect="1"/>
          </p:cNvPicPr>
          <p:nvPr/>
        </p:nvPicPr>
        <p:blipFill>
          <a:blip r:embed="rId4"/>
          <a:srcRect l="-164" r="-164" t="0" b="0"/>
          <a:stretch/>
        </p:blipFill>
        <p:spPr>
          <a:xfrm>
            <a:off x="4700930" y="4572000"/>
            <a:ext cx="3143707" cy="1466698"/>
          </a:xfrm>
          <a:prstGeom prst="rect">
            <a:avLst/>
          </a:prstGeom>
        </p:spPr>
      </p:pic>
      <p:sp>
        <p:nvSpPr>
          <p:cNvPr id="17" name="Shape 11"/>
          <p:cNvSpPr/>
          <p:nvPr/>
        </p:nvSpPr>
        <p:spPr>
          <a:xfrm>
            <a:off x="8180222" y="4095598"/>
            <a:ext cx="3448202" cy="2095805"/>
          </a:xfrm>
          <a:prstGeom prst="roundRect">
            <a:avLst>
              <a:gd name="adj" fmla="val 1587"/>
            </a:avLst>
          </a:prstGeom>
          <a:solidFill>
            <a:srgbClr val="FFFFFF"/>
          </a:solidFill>
          <a:ln w="12700">
            <a:solidFill>
              <a:srgbClr val="E1DFDD"/>
            </a:solidFill>
            <a:prstDash val="solid"/>
          </a:ln>
        </p:spPr>
      </p:sp>
      <p:pic>
        <p:nvPicPr>
          <p:cNvPr id="18" name="Image 4" descr="preencoded.png">    </p:cNvPr>
          <p:cNvPicPr>
            <a:picLocks noChangeAspect="1"/>
          </p:cNvPicPr>
          <p:nvPr/>
        </p:nvPicPr>
        <p:blipFill>
          <a:blip r:embed="rId5"/>
          <a:srcRect l="0" r="0" t="-100" b="-100"/>
          <a:stretch/>
        </p:blipFill>
        <p:spPr>
          <a:xfrm>
            <a:off x="8332013" y="4286707"/>
            <a:ext cx="114300" cy="152705"/>
          </a:xfrm>
          <a:prstGeom prst="rect">
            <a:avLst/>
          </a:prstGeom>
        </p:spPr>
      </p:pic>
      <p:sp>
        <p:nvSpPr>
          <p:cNvPr id="19" name="Text 12"/>
          <p:cNvSpPr txBox="1"/>
          <p:nvPr/>
        </p:nvSpPr>
        <p:spPr>
          <a:xfrm>
            <a:off x="8523122" y="4248302"/>
            <a:ext cx="972007" cy="228600"/>
          </a:xfrm>
          <a:prstGeom prst="rect">
            <a:avLst/>
          </a:prstGeom>
          <a:noFill/>
          <a:ln/>
        </p:spPr>
        <p:txBody>
          <a:bodyPr wrap="square" lIns="0" tIns="0" rIns="0" bIns="0" rtlCol="0" anchor="ctr"/>
          <a:lstStyle/>
          <a:p>
            <a:pPr algn="l" indent="0" marL="0">
              <a:buNone/>
            </a:pPr>
            <a:r>
              <a:rPr lang="en-US" sz="1200" b="1" dirty="0">
                <a:solidFill>
                  <a:srgbClr val="323130"/>
                </a:solidFill>
                <a:latin typeface="Segoe UI" pitchFamily="34" charset="0"/>
                <a:ea typeface="Segoe UI" pitchFamily="34" charset="-122"/>
                <a:cs typeface="Segoe UI" pitchFamily="34" charset="-120"/>
              </a:rPr>
              <a:t>Run Insights</a:t>
            </a:r>
            <a:endParaRPr lang="en-US" sz="1200" dirty="0"/>
          </a:p>
        </p:txBody>
      </p:sp>
      <p:sp>
        <p:nvSpPr>
          <p:cNvPr id="20" name="Text 13"/>
          <p:cNvSpPr txBox="1"/>
          <p:nvPr/>
        </p:nvSpPr>
        <p:spPr>
          <a:xfrm>
            <a:off x="8332013" y="4572000"/>
            <a:ext cx="3236976" cy="372161"/>
          </a:xfrm>
          <a:prstGeom prst="rect">
            <a:avLst/>
          </a:prstGeom>
          <a:noFill/>
          <a:ln/>
        </p:spPr>
        <p:txBody>
          <a:bodyPr wrap="square" lIns="0" tIns="0" rIns="0" bIns="0" rtlCol="0" anchor="ctr"/>
          <a:lstStyle/>
          <a:p>
            <a:pPr algn="l" indent="0" marL="0">
              <a:buNone/>
            </a:pPr>
            <a:r>
              <a:rPr lang="en-US" sz="900" dirty="0">
                <a:solidFill>
                  <a:srgbClr val="605E5C"/>
                </a:solidFill>
                <a:latin typeface="Segoe UI" pitchFamily="34" charset="0"/>
                <a:ea typeface="Segoe UI" pitchFamily="34" charset="-122"/>
                <a:cs typeface="Segoe UI" pitchFamily="34" charset="-120"/>
              </a:rPr>
              <a:t>SLA Met: Runtime (4m 12s) is well within the 10-minute threshold.</a:t>
            </a:r>
            <a:endParaRPr lang="en-US" sz="900" dirty="0"/>
          </a:p>
        </p:txBody>
      </p:sp>
      <p:sp>
        <p:nvSpPr>
          <p:cNvPr id="21" name="Text 14"/>
          <p:cNvSpPr txBox="1"/>
          <p:nvPr/>
        </p:nvSpPr>
        <p:spPr>
          <a:xfrm>
            <a:off x="8332013" y="5020056"/>
            <a:ext cx="3236976" cy="372161"/>
          </a:xfrm>
          <a:prstGeom prst="rect">
            <a:avLst/>
          </a:prstGeom>
          <a:noFill/>
          <a:ln/>
        </p:spPr>
        <p:txBody>
          <a:bodyPr wrap="square" lIns="0" tIns="0" rIns="0" bIns="0" rtlCol="0" anchor="ctr"/>
          <a:lstStyle/>
          <a:p>
            <a:pPr algn="l" indent="0" marL="0">
              <a:buNone/>
            </a:pPr>
            <a:r>
              <a:rPr lang="en-US" sz="900" dirty="0">
                <a:solidFill>
                  <a:srgbClr val="605E5C"/>
                </a:solidFill>
                <a:latin typeface="Segoe UI" pitchFamily="34" charset="0"/>
                <a:ea typeface="Segoe UI" pitchFamily="34" charset="-122"/>
                <a:cs typeface="Segoe UI" pitchFamily="34" charset="-120"/>
              </a:rPr>
              <a:t>Zero Critical Failures: All reports generated successfully without manual intervention.</a:t>
            </a:r>
            <a:endParaRPr lang="en-US" sz="900" dirty="0"/>
          </a:p>
        </p:txBody>
      </p:sp>
      <p:sp>
        <p:nvSpPr>
          <p:cNvPr id="22" name="Text 15"/>
          <p:cNvSpPr txBox="1"/>
          <p:nvPr/>
        </p:nvSpPr>
        <p:spPr>
          <a:xfrm>
            <a:off x="8332013" y="5467198"/>
            <a:ext cx="3236976" cy="372161"/>
          </a:xfrm>
          <a:prstGeom prst="rect">
            <a:avLst/>
          </a:prstGeom>
          <a:noFill/>
          <a:ln/>
        </p:spPr>
        <p:txBody>
          <a:bodyPr wrap="square" lIns="0" tIns="0" rIns="0" bIns="0" rtlCol="0" anchor="ctr"/>
          <a:lstStyle/>
          <a:p>
            <a:pPr algn="l" indent="0" marL="0">
              <a:buNone/>
            </a:pPr>
            <a:r>
              <a:rPr lang="en-US" sz="900" dirty="0">
                <a:solidFill>
                  <a:srgbClr val="605E5C"/>
                </a:solidFill>
                <a:latin typeface="Segoe UI" pitchFamily="34" charset="0"/>
                <a:ea typeface="Segoe UI" pitchFamily="34" charset="-122"/>
                <a:cs typeface="Segoe UI" pitchFamily="34" charset="-120"/>
              </a:rPr>
              <a:t>Retry Log: 1 transient API timeout on Project X resolved automatically.</a:t>
            </a:r>
            <a:endParaRPr lang="en-US" sz="900" dirty="0"/>
          </a:p>
        </p:txBody>
      </p:sp>
      <p:sp>
        <p:nvSpPr>
          <p:cNvPr id="23" name="Shape 16"/>
          <p:cNvSpPr/>
          <p:nvPr/>
        </p:nvSpPr>
        <p:spPr>
          <a:xfrm>
            <a:off x="8332013" y="6010351"/>
            <a:ext cx="3143707" cy="314554"/>
          </a:xfrm>
          <a:prstGeom prst="roundRect">
            <a:avLst>
              <a:gd name="adj" fmla="val 35236"/>
            </a:avLst>
          </a:prstGeom>
          <a:solidFill>
            <a:srgbClr val="F3F2F1"/>
          </a:solidFill>
          <a:ln/>
        </p:spPr>
      </p:sp>
      <p:sp>
        <p:nvSpPr>
          <p:cNvPr id="24" name="Text 17"/>
          <p:cNvSpPr txBox="1"/>
          <p:nvPr/>
        </p:nvSpPr>
        <p:spPr>
          <a:xfrm>
            <a:off x="8408822" y="6086246"/>
            <a:ext cx="1041502" cy="143561"/>
          </a:xfrm>
          <a:prstGeom prst="rect">
            <a:avLst/>
          </a:prstGeom>
          <a:noFill/>
          <a:ln/>
        </p:spPr>
        <p:txBody>
          <a:bodyPr wrap="square" lIns="0" tIns="0" rIns="0" bIns="0" rtlCol="0" anchor="ctr"/>
          <a:lstStyle/>
          <a:p>
            <a:pPr algn="l" indent="0" marL="0">
              <a:buNone/>
            </a:pPr>
            <a:r>
              <a:rPr lang="en-US" sz="800" dirty="0">
                <a:solidFill>
                  <a:srgbClr val="605E5C"/>
                </a:solidFill>
                <a:latin typeface="Segoe UI" pitchFamily="34" charset="0"/>
                <a:ea typeface="Segoe UI" pitchFamily="34" charset="-122"/>
                <a:cs typeface="Segoe UI" pitchFamily="34" charset="-120"/>
              </a:rPr>
              <a:t>Next Scheduled Run:</a:t>
            </a:r>
            <a:endParaRPr lang="en-US" sz="800" dirty="0"/>
          </a:p>
        </p:txBody>
      </p:sp>
      <p:sp>
        <p:nvSpPr>
          <p:cNvPr id="25" name="Text 18"/>
          <p:cNvSpPr txBox="1"/>
          <p:nvPr/>
        </p:nvSpPr>
        <p:spPr>
          <a:xfrm>
            <a:off x="10201046" y="6086246"/>
            <a:ext cx="1279246" cy="143561"/>
          </a:xfrm>
          <a:prstGeom prst="rect">
            <a:avLst/>
          </a:prstGeom>
          <a:noFill/>
          <a:ln/>
        </p:spPr>
        <p:txBody>
          <a:bodyPr wrap="square" lIns="0" tIns="0" rIns="0" bIns="0" rtlCol="0" anchor="ctr"/>
          <a:lstStyle/>
          <a:p>
            <a:pPr algn="l" indent="0" marL="0">
              <a:buNone/>
            </a:pPr>
            <a:r>
              <a:rPr lang="en-US" sz="800" b="1" dirty="0">
                <a:solidFill>
                  <a:srgbClr val="605E5C"/>
                </a:solidFill>
                <a:latin typeface="Segoe UI" pitchFamily="34" charset="0"/>
                <a:ea typeface="Segoe UI" pitchFamily="34" charset="-122"/>
                <a:cs typeface="Segoe UI" pitchFamily="34" charset="-120"/>
              </a:rPr>
              <a:t>Mon, Dec 22 - 09:00 AM</a:t>
            </a:r>
            <a:endParaRPr lang="en-US" sz="800" dirty="0"/>
          </a:p>
        </p:txBody>
      </p:sp>
      <p:sp>
        <p:nvSpPr>
          <p:cNvPr id="26" name="Shape 19"/>
          <p:cNvSpPr/>
          <p:nvPr/>
        </p:nvSpPr>
        <p:spPr>
          <a:xfrm>
            <a:off x="0" y="6572707"/>
            <a:ext cx="12191695" cy="9144"/>
          </a:xfrm>
          <a:prstGeom prst="rect">
            <a:avLst/>
          </a:prstGeom>
          <a:solidFill>
            <a:srgbClr val="EDEBE9"/>
          </a:solidFill>
          <a:ln/>
        </p:spPr>
      </p:sp>
      <p:sp>
        <p:nvSpPr>
          <p:cNvPr id="27" name="Text 20"/>
          <p:cNvSpPr txBox="1"/>
          <p:nvPr/>
        </p:nvSpPr>
        <p:spPr>
          <a:xfrm>
            <a:off x="8573414" y="6641287"/>
            <a:ext cx="3127248" cy="143561"/>
          </a:xfrm>
          <a:prstGeom prst="rect">
            <a:avLst/>
          </a:prstGeom>
          <a:noFill/>
          <a:ln/>
        </p:spPr>
        <p:txBody>
          <a:bodyPr wrap="square" lIns="0" tIns="0" rIns="0" bIns="0" rtlCol="0" anchor="ctr"/>
          <a:lstStyle/>
          <a:p>
            <a:pPr algn="l" indent="0" marL="0">
              <a:buNone/>
            </a:pPr>
            <a:r>
              <a:rPr lang="en-US" sz="800" dirty="0">
                <a:solidFill>
                  <a:srgbClr val="A19F9D"/>
                </a:solidFill>
                <a:latin typeface="Segoe UI" pitchFamily="34" charset="0"/>
                <a:ea typeface="Segoe UI" pitchFamily="34" charset="-122"/>
                <a:cs typeface="Segoe UI" pitchFamily="34" charset="-120"/>
              </a:rPr>
              <a:t>Confidential | Factory Delivery Orchestrator Automation Prototype</a:t>
            </a:r>
            <a:endParaRPr lang="en-US" sz="800" dirty="0"/>
          </a:p>
        </p:txBody>
      </p:sp>
      <p:sp>
        <p:nvSpPr>
          <p:cNvPr id="28" name="Text 21"/>
          <p:cNvSpPr txBox="1"/>
          <p:nvPr/>
        </p:nvSpPr>
        <p:spPr>
          <a:xfrm>
            <a:off x="809244" y="1410005"/>
            <a:ext cx="1767535" cy="286207"/>
          </a:xfrm>
          <a:prstGeom prst="rect">
            <a:avLst/>
          </a:prstGeom>
          <a:noFill/>
          <a:ln/>
        </p:spPr>
        <p:txBody>
          <a:bodyPr wrap="square" lIns="0" tIns="0" rIns="0" bIns="0" rtlCol="0" anchor="ctr"/>
          <a:lstStyle/>
          <a:p>
            <a:pPr algn="l" indent="0" marL="0">
              <a:buNone/>
            </a:pPr>
            <a:r>
              <a:rPr lang="en-US" sz="1600" b="1" dirty="0">
                <a:solidFill>
                  <a:srgbClr val="FFFFFF"/>
                </a:solidFill>
                <a:latin typeface="Segoe UI" pitchFamily="34" charset="0"/>
                <a:ea typeface="Segoe UI" pitchFamily="34" charset="-122"/>
                <a:cs typeface="Segoe UI" pitchFamily="34" charset="-120"/>
              </a:rPr>
              <a:t>Current Run KPIs</a:t>
            </a:r>
            <a:endParaRPr lang="en-US" sz="1600" dirty="0"/>
          </a:p>
        </p:txBody>
      </p:sp>
      <p:sp>
        <p:nvSpPr>
          <p:cNvPr id="29" name="Text 22"/>
          <p:cNvSpPr txBox="1"/>
          <p:nvPr/>
        </p:nvSpPr>
        <p:spPr>
          <a:xfrm>
            <a:off x="809244" y="1762049"/>
            <a:ext cx="2008022" cy="191110"/>
          </a:xfrm>
          <a:prstGeom prst="rect">
            <a:avLst/>
          </a:prstGeom>
          <a:noFill/>
          <a:ln/>
        </p:spPr>
        <p:txBody>
          <a:bodyPr wrap="square" lIns="0" tIns="0" rIns="0" bIns="0" rtlCol="0" anchor="ctr"/>
          <a:lstStyle/>
          <a:p>
            <a:pPr algn="l" indent="0" marL="0">
              <a:buNone/>
            </a:pPr>
            <a:r>
              <a:rPr lang="en-US" sz="900" dirty="0">
                <a:solidFill>
                  <a:srgbClr val="FFFFFF"/>
                </a:solidFill>
                <a:latin typeface="Segoe UI" pitchFamily="34" charset="0"/>
                <a:ea typeface="Segoe UI" pitchFamily="34" charset="-122"/>
                <a:cs typeface="Segoe UI" pitchFamily="34" charset="-120"/>
              </a:rPr>
              <a:t>Run ID: 2025-12-15-0900 SUCCESS</a:t>
            </a:r>
            <a:endParaRPr lang="en-US" sz="900" dirty="0"/>
          </a:p>
        </p:txBody>
      </p:sp>
      <p:sp>
        <p:nvSpPr>
          <p:cNvPr id="30" name="Shape 23"/>
          <p:cNvSpPr/>
          <p:nvPr/>
        </p:nvSpPr>
        <p:spPr>
          <a:xfrm>
            <a:off x="809244" y="2138782"/>
            <a:ext cx="1543507" cy="1181405"/>
          </a:xfrm>
          <a:prstGeom prst="roundRect">
            <a:avLst>
              <a:gd name="adj" fmla="val 4994"/>
            </a:avLst>
          </a:prstGeom>
          <a:solidFill>
            <a:srgbClr val="FFFFFF">
              <a:alpha val="10000"/>
            </a:srgbClr>
          </a:solidFill>
          <a:ln w="12700">
            <a:solidFill>
              <a:srgbClr val="FFFFFF">
                <a:alpha val="20000"/>
              </a:srgbClr>
            </a:solidFill>
            <a:prstDash val="solid"/>
          </a:ln>
        </p:spPr>
      </p:sp>
      <p:sp>
        <p:nvSpPr>
          <p:cNvPr id="31" name="Shape 24"/>
          <p:cNvSpPr/>
          <p:nvPr/>
        </p:nvSpPr>
        <p:spPr>
          <a:xfrm>
            <a:off x="2488082" y="2138782"/>
            <a:ext cx="1543507" cy="1181405"/>
          </a:xfrm>
          <a:prstGeom prst="roundRect">
            <a:avLst>
              <a:gd name="adj" fmla="val 4994"/>
            </a:avLst>
          </a:prstGeom>
          <a:solidFill>
            <a:srgbClr val="FFFFFF">
              <a:alpha val="10000"/>
            </a:srgbClr>
          </a:solidFill>
          <a:ln w="12700">
            <a:solidFill>
              <a:srgbClr val="FFFFFF">
                <a:alpha val="20000"/>
              </a:srgbClr>
            </a:solidFill>
            <a:prstDash val="solid"/>
          </a:ln>
        </p:spPr>
      </p:sp>
      <p:sp>
        <p:nvSpPr>
          <p:cNvPr id="32" name="Shape 25"/>
          <p:cNvSpPr/>
          <p:nvPr/>
        </p:nvSpPr>
        <p:spPr>
          <a:xfrm>
            <a:off x="809244" y="3457346"/>
            <a:ext cx="1543507" cy="1181405"/>
          </a:xfrm>
          <a:prstGeom prst="roundRect">
            <a:avLst>
              <a:gd name="adj" fmla="val 4994"/>
            </a:avLst>
          </a:prstGeom>
          <a:solidFill>
            <a:srgbClr val="FFFFFF">
              <a:alpha val="10000"/>
            </a:srgbClr>
          </a:solidFill>
          <a:ln w="12700">
            <a:solidFill>
              <a:srgbClr val="FFFFFF">
                <a:alpha val="20000"/>
              </a:srgbClr>
            </a:solidFill>
            <a:prstDash val="solid"/>
          </a:ln>
        </p:spPr>
      </p:sp>
      <p:sp>
        <p:nvSpPr>
          <p:cNvPr id="33" name="Shape 26"/>
          <p:cNvSpPr/>
          <p:nvPr/>
        </p:nvSpPr>
        <p:spPr>
          <a:xfrm>
            <a:off x="2488082" y="3457346"/>
            <a:ext cx="1543507" cy="1181405"/>
          </a:xfrm>
          <a:prstGeom prst="roundRect">
            <a:avLst>
              <a:gd name="adj" fmla="val 4994"/>
            </a:avLst>
          </a:prstGeom>
          <a:solidFill>
            <a:srgbClr val="FFFFFF">
              <a:alpha val="10000"/>
            </a:srgbClr>
          </a:solidFill>
          <a:ln w="12700">
            <a:solidFill>
              <a:srgbClr val="FFFFFF">
                <a:alpha val="20000"/>
              </a:srgbClr>
            </a:solidFill>
            <a:prstDash val="solid"/>
          </a:ln>
        </p:spPr>
      </p:sp>
      <p:sp>
        <p:nvSpPr>
          <p:cNvPr id="34" name="Shape 27"/>
          <p:cNvSpPr/>
          <p:nvPr/>
        </p:nvSpPr>
        <p:spPr>
          <a:xfrm>
            <a:off x="809244" y="4776826"/>
            <a:ext cx="1543507" cy="1181405"/>
          </a:xfrm>
          <a:prstGeom prst="roundRect">
            <a:avLst>
              <a:gd name="adj" fmla="val 4994"/>
            </a:avLst>
          </a:prstGeom>
          <a:solidFill>
            <a:srgbClr val="FFFFFF">
              <a:alpha val="10000"/>
            </a:srgbClr>
          </a:solidFill>
          <a:ln w="12700">
            <a:solidFill>
              <a:srgbClr val="FFFFFF">
                <a:alpha val="20000"/>
              </a:srgbClr>
            </a:solidFill>
            <a:prstDash val="solid"/>
          </a:ln>
        </p:spPr>
      </p:sp>
      <p:sp>
        <p:nvSpPr>
          <p:cNvPr id="35" name="Shape 28"/>
          <p:cNvSpPr/>
          <p:nvPr/>
        </p:nvSpPr>
        <p:spPr>
          <a:xfrm>
            <a:off x="2488082" y="4776826"/>
            <a:ext cx="1543507" cy="1181405"/>
          </a:xfrm>
          <a:prstGeom prst="roundRect">
            <a:avLst>
              <a:gd name="adj" fmla="val 4994"/>
            </a:avLst>
          </a:prstGeom>
          <a:solidFill>
            <a:srgbClr val="FFFFFF">
              <a:alpha val="10000"/>
            </a:srgbClr>
          </a:solidFill>
          <a:ln w="12700">
            <a:solidFill>
              <a:srgbClr val="FFFFFF">
                <a:alpha val="20000"/>
              </a:srgbClr>
            </a:solidFill>
            <a:prstDash val="solid"/>
          </a:ln>
        </p:spPr>
      </p:sp>
      <p:sp>
        <p:nvSpPr>
          <p:cNvPr id="36" name="Text 29"/>
          <p:cNvSpPr txBox="1"/>
          <p:nvPr/>
        </p:nvSpPr>
        <p:spPr>
          <a:xfrm>
            <a:off x="1231697" y="2522830"/>
            <a:ext cx="896112" cy="352958"/>
          </a:xfrm>
          <a:prstGeom prst="rect">
            <a:avLst/>
          </a:prstGeom>
          <a:noFill/>
          <a:ln/>
        </p:spPr>
        <p:txBody>
          <a:bodyPr wrap="square" lIns="0" tIns="0" rIns="0" bIns="0" rtlCol="0" anchor="ctr"/>
          <a:lstStyle/>
          <a:p>
            <a:pPr algn="ctr" indent="0" marL="0">
              <a:buNone/>
            </a:pPr>
            <a:r>
              <a:rPr lang="en-US" sz="2100" b="1" dirty="0">
                <a:solidFill>
                  <a:srgbClr val="FFFFFF"/>
                </a:solidFill>
                <a:latin typeface="Segoe UI" pitchFamily="34" charset="0"/>
                <a:ea typeface="Segoe UI" pitchFamily="34" charset="-122"/>
                <a:cs typeface="Segoe UI" pitchFamily="34" charset="-120"/>
              </a:rPr>
              <a:t>100%</a:t>
            </a:r>
            <a:endParaRPr lang="en-US" sz="2100" dirty="0"/>
          </a:p>
        </p:txBody>
      </p:sp>
      <p:sp>
        <p:nvSpPr>
          <p:cNvPr id="37" name="Text 30"/>
          <p:cNvSpPr txBox="1"/>
          <p:nvPr/>
        </p:nvSpPr>
        <p:spPr>
          <a:xfrm>
            <a:off x="1375258" y="2865730"/>
            <a:ext cx="495605" cy="152705"/>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Delivery</a:t>
            </a:r>
            <a:endParaRPr lang="en-US" sz="900" dirty="0"/>
          </a:p>
        </p:txBody>
      </p:sp>
      <p:sp>
        <p:nvSpPr>
          <p:cNvPr id="38" name="Text 31"/>
          <p:cNvSpPr txBox="1"/>
          <p:nvPr/>
        </p:nvSpPr>
        <p:spPr>
          <a:xfrm>
            <a:off x="1383487" y="3002890"/>
            <a:ext cx="476402" cy="152705"/>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Success</a:t>
            </a:r>
            <a:endParaRPr lang="en-US" sz="900" dirty="0"/>
          </a:p>
        </p:txBody>
      </p:sp>
      <p:sp>
        <p:nvSpPr>
          <p:cNvPr id="39" name="Text 32"/>
          <p:cNvSpPr txBox="1"/>
          <p:nvPr/>
        </p:nvSpPr>
        <p:spPr>
          <a:xfrm>
            <a:off x="3102559" y="2522830"/>
            <a:ext cx="514807" cy="352958"/>
          </a:xfrm>
          <a:prstGeom prst="rect">
            <a:avLst/>
          </a:prstGeom>
          <a:noFill/>
          <a:ln/>
        </p:spPr>
        <p:txBody>
          <a:bodyPr wrap="square" lIns="0" tIns="0" rIns="0" bIns="0" rtlCol="0" anchor="ctr"/>
          <a:lstStyle/>
          <a:p>
            <a:pPr algn="ctr" indent="0" marL="0">
              <a:buNone/>
            </a:pPr>
            <a:r>
              <a:rPr lang="en-US" sz="2100" b="1" dirty="0">
                <a:solidFill>
                  <a:srgbClr val="FFFFFF"/>
                </a:solidFill>
                <a:latin typeface="Segoe UI" pitchFamily="34" charset="0"/>
                <a:ea typeface="Segoe UI" pitchFamily="34" charset="-122"/>
                <a:cs typeface="Segoe UI" pitchFamily="34" charset="-120"/>
              </a:rPr>
              <a:t>42</a:t>
            </a:r>
            <a:endParaRPr lang="en-US" sz="2100" dirty="0"/>
          </a:p>
        </p:txBody>
      </p:sp>
      <p:sp>
        <p:nvSpPr>
          <p:cNvPr id="40" name="Text 33"/>
          <p:cNvSpPr txBox="1"/>
          <p:nvPr/>
        </p:nvSpPr>
        <p:spPr>
          <a:xfrm>
            <a:off x="3097073" y="2865730"/>
            <a:ext cx="409651" cy="152705"/>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Emails</a:t>
            </a:r>
            <a:endParaRPr lang="en-US" sz="900" dirty="0"/>
          </a:p>
        </p:txBody>
      </p:sp>
      <p:sp>
        <p:nvSpPr>
          <p:cNvPr id="41" name="Text 34"/>
          <p:cNvSpPr txBox="1"/>
          <p:nvPr/>
        </p:nvSpPr>
        <p:spPr>
          <a:xfrm>
            <a:off x="3144622" y="3002890"/>
            <a:ext cx="314554" cy="152705"/>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Sent</a:t>
            </a:r>
            <a:endParaRPr lang="en-US" sz="900" dirty="0"/>
          </a:p>
        </p:txBody>
      </p:sp>
      <p:sp>
        <p:nvSpPr>
          <p:cNvPr id="42" name="Text 35"/>
          <p:cNvSpPr txBox="1"/>
          <p:nvPr/>
        </p:nvSpPr>
        <p:spPr>
          <a:xfrm>
            <a:off x="1130198" y="3841394"/>
            <a:ext cx="1105510" cy="352958"/>
          </a:xfrm>
          <a:prstGeom prst="rect">
            <a:avLst/>
          </a:prstGeom>
          <a:noFill/>
          <a:ln/>
        </p:spPr>
        <p:txBody>
          <a:bodyPr wrap="square" lIns="0" tIns="0" rIns="0" bIns="0" rtlCol="0" anchor="ctr"/>
          <a:lstStyle/>
          <a:p>
            <a:pPr algn="ctr" indent="0" marL="0">
              <a:buNone/>
            </a:pPr>
            <a:r>
              <a:rPr lang="en-US" sz="2100" b="1" dirty="0">
                <a:solidFill>
                  <a:srgbClr val="FFFFFF"/>
                </a:solidFill>
                <a:latin typeface="Segoe UI" pitchFamily="34" charset="0"/>
                <a:ea typeface="Segoe UI" pitchFamily="34" charset="-122"/>
                <a:cs typeface="Segoe UI" pitchFamily="34" charset="-120"/>
              </a:rPr>
              <a:t>4m 12s</a:t>
            </a:r>
            <a:endParaRPr lang="en-US" sz="2100" dirty="0"/>
          </a:p>
        </p:txBody>
      </p:sp>
      <p:sp>
        <p:nvSpPr>
          <p:cNvPr id="43" name="Text 36"/>
          <p:cNvSpPr txBox="1"/>
          <p:nvPr/>
        </p:nvSpPr>
        <p:spPr>
          <a:xfrm>
            <a:off x="1457554" y="4184294"/>
            <a:ext cx="333756" cy="152705"/>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Total</a:t>
            </a:r>
            <a:endParaRPr lang="en-US" sz="900" dirty="0"/>
          </a:p>
        </p:txBody>
      </p:sp>
      <p:sp>
        <p:nvSpPr>
          <p:cNvPr id="44" name="Text 37"/>
          <p:cNvSpPr txBox="1"/>
          <p:nvPr/>
        </p:nvSpPr>
        <p:spPr>
          <a:xfrm>
            <a:off x="1366114" y="4322369"/>
            <a:ext cx="514807" cy="152705"/>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Runtime</a:t>
            </a:r>
            <a:endParaRPr lang="en-US" sz="900" dirty="0"/>
          </a:p>
        </p:txBody>
      </p:sp>
      <p:sp>
        <p:nvSpPr>
          <p:cNvPr id="45" name="Text 38"/>
          <p:cNvSpPr txBox="1"/>
          <p:nvPr/>
        </p:nvSpPr>
        <p:spPr>
          <a:xfrm>
            <a:off x="3102559" y="3841394"/>
            <a:ext cx="514807" cy="352958"/>
          </a:xfrm>
          <a:prstGeom prst="rect">
            <a:avLst/>
          </a:prstGeom>
          <a:noFill/>
          <a:ln/>
        </p:spPr>
        <p:txBody>
          <a:bodyPr wrap="square" lIns="0" tIns="0" rIns="0" bIns="0" rtlCol="0" anchor="ctr"/>
          <a:lstStyle/>
          <a:p>
            <a:pPr algn="ctr" indent="0" marL="0">
              <a:buNone/>
            </a:pPr>
            <a:r>
              <a:rPr lang="en-US" sz="2100" b="1" dirty="0">
                <a:solidFill>
                  <a:srgbClr val="FFFFFF"/>
                </a:solidFill>
                <a:latin typeface="Segoe UI" pitchFamily="34" charset="0"/>
                <a:ea typeface="Segoe UI" pitchFamily="34" charset="-122"/>
                <a:cs typeface="Segoe UI" pitchFamily="34" charset="-120"/>
              </a:rPr>
              <a:t>84</a:t>
            </a:r>
            <a:endParaRPr lang="en-US" sz="2100" dirty="0"/>
          </a:p>
        </p:txBody>
      </p:sp>
      <p:sp>
        <p:nvSpPr>
          <p:cNvPr id="46" name="Text 39"/>
          <p:cNvSpPr txBox="1"/>
          <p:nvPr/>
        </p:nvSpPr>
        <p:spPr>
          <a:xfrm>
            <a:off x="2937967" y="4184294"/>
            <a:ext cx="724205" cy="152705"/>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Attachments</a:t>
            </a:r>
            <a:endParaRPr lang="en-US" sz="900" dirty="0"/>
          </a:p>
        </p:txBody>
      </p:sp>
      <p:sp>
        <p:nvSpPr>
          <p:cNvPr id="47" name="Text 40"/>
          <p:cNvSpPr txBox="1"/>
          <p:nvPr/>
        </p:nvSpPr>
        <p:spPr>
          <a:xfrm>
            <a:off x="2992831" y="4322369"/>
            <a:ext cx="619963" cy="152705"/>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Generated</a:t>
            </a:r>
            <a:endParaRPr lang="en-US" sz="900" dirty="0"/>
          </a:p>
        </p:txBody>
      </p:sp>
      <p:sp>
        <p:nvSpPr>
          <p:cNvPr id="48" name="Text 41"/>
          <p:cNvSpPr txBox="1"/>
          <p:nvPr/>
        </p:nvSpPr>
        <p:spPr>
          <a:xfrm>
            <a:off x="1500530" y="5160874"/>
            <a:ext cx="362102" cy="352958"/>
          </a:xfrm>
          <a:prstGeom prst="rect">
            <a:avLst/>
          </a:prstGeom>
          <a:noFill/>
          <a:ln/>
        </p:spPr>
        <p:txBody>
          <a:bodyPr wrap="square" lIns="0" tIns="0" rIns="0" bIns="0" rtlCol="0" anchor="ctr"/>
          <a:lstStyle/>
          <a:p>
            <a:pPr algn="ctr" indent="0" marL="0">
              <a:buNone/>
            </a:pPr>
            <a:r>
              <a:rPr lang="en-US" sz="2100" b="1" dirty="0">
                <a:solidFill>
                  <a:srgbClr val="FFFFFF"/>
                </a:solidFill>
                <a:latin typeface="Segoe UI" pitchFamily="34" charset="0"/>
                <a:ea typeface="Segoe UI" pitchFamily="34" charset="-122"/>
                <a:cs typeface="Segoe UI" pitchFamily="34" charset="-120"/>
              </a:rPr>
              <a:t>1</a:t>
            </a:r>
            <a:endParaRPr lang="en-US" sz="2100" dirty="0"/>
          </a:p>
        </p:txBody>
      </p:sp>
      <p:sp>
        <p:nvSpPr>
          <p:cNvPr id="49" name="Text 42"/>
          <p:cNvSpPr txBox="1"/>
          <p:nvPr/>
        </p:nvSpPr>
        <p:spPr>
          <a:xfrm>
            <a:off x="1455725" y="5503774"/>
            <a:ext cx="333756" cy="152705"/>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Auto</a:t>
            </a:r>
            <a:endParaRPr lang="en-US" sz="900" dirty="0"/>
          </a:p>
        </p:txBody>
      </p:sp>
      <p:sp>
        <p:nvSpPr>
          <p:cNvPr id="50" name="Text 43"/>
          <p:cNvSpPr txBox="1"/>
          <p:nvPr/>
        </p:nvSpPr>
        <p:spPr>
          <a:xfrm>
            <a:off x="1408176" y="5640934"/>
            <a:ext cx="428854" cy="152705"/>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Retries</a:t>
            </a:r>
            <a:endParaRPr lang="en-US" sz="900" dirty="0"/>
          </a:p>
        </p:txBody>
      </p:sp>
      <p:sp>
        <p:nvSpPr>
          <p:cNvPr id="51" name="Text 44"/>
          <p:cNvSpPr txBox="1"/>
          <p:nvPr/>
        </p:nvSpPr>
        <p:spPr>
          <a:xfrm>
            <a:off x="2987345" y="5160874"/>
            <a:ext cx="743407" cy="352958"/>
          </a:xfrm>
          <a:prstGeom prst="rect">
            <a:avLst/>
          </a:prstGeom>
          <a:noFill/>
          <a:ln/>
        </p:spPr>
        <p:txBody>
          <a:bodyPr wrap="square" lIns="0" tIns="0" rIns="0" bIns="0" rtlCol="0" anchor="ctr"/>
          <a:lstStyle/>
          <a:p>
            <a:pPr algn="ctr" indent="0" marL="0">
              <a:buNone/>
            </a:pPr>
            <a:r>
              <a:rPr lang="en-US" sz="2100" b="1" dirty="0">
                <a:solidFill>
                  <a:srgbClr val="FFFFFF"/>
                </a:solidFill>
                <a:latin typeface="Segoe UI" pitchFamily="34" charset="0"/>
                <a:ea typeface="Segoe UI" pitchFamily="34" charset="-122"/>
                <a:cs typeface="Segoe UI" pitchFamily="34" charset="-120"/>
              </a:rPr>
              <a:t>68%</a:t>
            </a:r>
            <a:endParaRPr lang="en-US" sz="2100" dirty="0"/>
          </a:p>
        </p:txBody>
      </p:sp>
      <p:sp>
        <p:nvSpPr>
          <p:cNvPr id="52" name="Text 45"/>
          <p:cNvSpPr txBox="1"/>
          <p:nvPr/>
        </p:nvSpPr>
        <p:spPr>
          <a:xfrm>
            <a:off x="2989174" y="5503774"/>
            <a:ext cx="629107" cy="152705"/>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Open Rate</a:t>
            </a:r>
            <a:endParaRPr lang="en-US" sz="900" dirty="0"/>
          </a:p>
        </p:txBody>
      </p:sp>
      <p:sp>
        <p:nvSpPr>
          <p:cNvPr id="53" name="Text 46"/>
          <p:cNvSpPr txBox="1"/>
          <p:nvPr/>
        </p:nvSpPr>
        <p:spPr>
          <a:xfrm>
            <a:off x="3137306" y="5640934"/>
            <a:ext cx="333756" cy="152705"/>
          </a:xfrm>
          <a:prstGeom prst="rect">
            <a:avLst/>
          </a:prstGeom>
          <a:noFill/>
          <a:ln/>
        </p:spPr>
        <p:txBody>
          <a:bodyPr wrap="square" lIns="0" tIns="0" rIns="0" bIns="0" rtlCol="0" anchor="ctr"/>
          <a:lstStyle/>
          <a:p>
            <a:pPr algn="ctr" indent="0" marL="0">
              <a:buNone/>
            </a:pPr>
            <a:r>
              <a:rPr lang="en-US" sz="900" dirty="0">
                <a:solidFill>
                  <a:srgbClr val="FFFFFF"/>
                </a:solidFill>
                <a:latin typeface="Segoe UI" pitchFamily="34" charset="0"/>
                <a:ea typeface="Segoe UI" pitchFamily="34" charset="-122"/>
                <a:cs typeface="Segoe UI" pitchFamily="34" charset="-120"/>
              </a:rPr>
              <a:t>(Est.)</a:t>
            </a:r>
            <a:endParaRPr lang="en-US" sz="900" dirty="0"/>
          </a:p>
        </p:txBody>
      </p:sp>
      <p:pic>
        <p:nvPicPr>
          <p:cNvPr id="54" name="Image 5" descr="preencoded.png">    </p:cNvPr>
          <p:cNvPicPr>
            <a:picLocks noChangeAspect="1"/>
          </p:cNvPicPr>
          <p:nvPr/>
        </p:nvPicPr>
        <p:blipFill>
          <a:blip r:embed="rId6">
            <a:alphaModFix amt="90000"/>
          </a:blip>
          <a:srcRect l="0" r="0" t="0" b="0"/>
          <a:stretch/>
        </p:blipFill>
        <p:spPr>
          <a:xfrm>
            <a:off x="1482242" y="2303374"/>
            <a:ext cx="190195" cy="190195"/>
          </a:xfrm>
          <a:prstGeom prst="rect">
            <a:avLst/>
          </a:prstGeom>
        </p:spPr>
      </p:pic>
      <p:pic>
        <p:nvPicPr>
          <p:cNvPr id="55" name="Image 6" descr="preencoded.png">    </p:cNvPr>
          <p:cNvPicPr>
            <a:picLocks noChangeAspect="1"/>
          </p:cNvPicPr>
          <p:nvPr/>
        </p:nvPicPr>
        <p:blipFill>
          <a:blip r:embed="rId7">
            <a:alphaModFix amt="90000"/>
          </a:blip>
          <a:srcRect l="0" r="0" t="0" b="0"/>
          <a:stretch/>
        </p:blipFill>
        <p:spPr>
          <a:xfrm>
            <a:off x="3161081" y="2303374"/>
            <a:ext cx="190195" cy="190195"/>
          </a:xfrm>
          <a:prstGeom prst="rect">
            <a:avLst/>
          </a:prstGeom>
        </p:spPr>
      </p:pic>
      <p:pic>
        <p:nvPicPr>
          <p:cNvPr id="56" name="Image 7" descr="preencoded.png">    </p:cNvPr>
          <p:cNvPicPr>
            <a:picLocks noChangeAspect="1"/>
          </p:cNvPicPr>
          <p:nvPr/>
        </p:nvPicPr>
        <p:blipFill>
          <a:blip r:embed="rId8">
            <a:alphaModFix amt="90000"/>
          </a:blip>
          <a:srcRect l="-1648" r="-1648" t="0" b="0"/>
          <a:stretch/>
        </p:blipFill>
        <p:spPr>
          <a:xfrm>
            <a:off x="1492301" y="3622853"/>
            <a:ext cx="171907" cy="190195"/>
          </a:xfrm>
          <a:prstGeom prst="rect">
            <a:avLst/>
          </a:prstGeom>
        </p:spPr>
      </p:pic>
      <p:pic>
        <p:nvPicPr>
          <p:cNvPr id="57" name="Image 8" descr="preencoded.png">    </p:cNvPr>
          <p:cNvPicPr>
            <a:picLocks noChangeAspect="1"/>
          </p:cNvPicPr>
          <p:nvPr/>
        </p:nvPicPr>
        <p:blipFill>
          <a:blip r:embed="rId9">
            <a:alphaModFix amt="90000"/>
          </a:blip>
          <a:srcRect l="0" r="0" t="0" b="0"/>
          <a:stretch/>
        </p:blipFill>
        <p:spPr>
          <a:xfrm>
            <a:off x="3161081" y="3622853"/>
            <a:ext cx="190195" cy="190195"/>
          </a:xfrm>
          <a:prstGeom prst="rect">
            <a:avLst/>
          </a:prstGeom>
        </p:spPr>
      </p:pic>
      <p:pic>
        <p:nvPicPr>
          <p:cNvPr id="58" name="Image 9" descr="preencoded.png">    </p:cNvPr>
          <p:cNvPicPr>
            <a:picLocks noChangeAspect="1"/>
          </p:cNvPicPr>
          <p:nvPr/>
        </p:nvPicPr>
        <p:blipFill>
          <a:blip r:embed="rId10">
            <a:alphaModFix amt="90000"/>
          </a:blip>
          <a:srcRect l="0" r="0" t="0" b="0"/>
          <a:stretch/>
        </p:blipFill>
        <p:spPr>
          <a:xfrm>
            <a:off x="1482242" y="4942332"/>
            <a:ext cx="190195" cy="190195"/>
          </a:xfrm>
          <a:prstGeom prst="rect">
            <a:avLst/>
          </a:prstGeom>
        </p:spPr>
      </p:pic>
      <p:pic>
        <p:nvPicPr>
          <p:cNvPr id="59" name="Image 10" descr="preencoded.png">    </p:cNvPr>
          <p:cNvPicPr>
            <a:picLocks noChangeAspect="1"/>
          </p:cNvPicPr>
          <p:nvPr/>
        </p:nvPicPr>
        <p:blipFill>
          <a:blip r:embed="rId11">
            <a:alphaModFix amt="90000"/>
          </a:blip>
          <a:srcRect l="0" r="0" t="0" b="0"/>
          <a:stretch/>
        </p:blipFill>
        <p:spPr>
          <a:xfrm>
            <a:off x="3161081" y="4942332"/>
            <a:ext cx="190195" cy="19019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2F1"/>
          </a:solidFill>
          <a:ln/>
        </p:spPr>
      </p:sp>
      <p:sp>
        <p:nvSpPr>
          <p:cNvPr id="3" name="Shape 1"/>
          <p:cNvSpPr/>
          <p:nvPr/>
        </p:nvSpPr>
        <p:spPr>
          <a:xfrm>
            <a:off x="0" y="0"/>
            <a:ext cx="12191695" cy="6858000"/>
          </a:xfrm>
          <a:prstGeom prst="rect">
            <a:avLst/>
          </a:prstGeom>
          <a:solidFill>
            <a:srgbClr val="F8F9FA"/>
          </a:solidFill>
          <a:ln/>
        </p:spPr>
      </p:sp>
      <p:sp>
        <p:nvSpPr>
          <p:cNvPr id="4" name="Shape 2"/>
          <p:cNvSpPr/>
          <p:nvPr/>
        </p:nvSpPr>
        <p:spPr>
          <a:xfrm>
            <a:off x="0" y="6286500"/>
            <a:ext cx="12191695" cy="571500"/>
          </a:xfrm>
          <a:prstGeom prst="rect">
            <a:avLst/>
          </a:prstGeom>
          <a:solidFill>
            <a:srgbClr val="FFFFFF"/>
          </a:solidFill>
          <a:ln/>
        </p:spPr>
      </p:sp>
      <p:sp>
        <p:nvSpPr>
          <p:cNvPr id="5" name="Shape 3"/>
          <p:cNvSpPr/>
          <p:nvPr/>
        </p:nvSpPr>
        <p:spPr>
          <a:xfrm>
            <a:off x="0" y="6848856"/>
            <a:ext cx="12191695" cy="9144"/>
          </a:xfrm>
          <a:prstGeom prst="rect">
            <a:avLst/>
          </a:prstGeom>
          <a:solidFill>
            <a:srgbClr val="E1DFDD"/>
          </a:solidFill>
          <a:ln/>
        </p:spPr>
      </p:sp>
      <p:sp>
        <p:nvSpPr>
          <p:cNvPr id="6" name="Text 4"/>
          <p:cNvSpPr txBox="1"/>
          <p:nvPr/>
        </p:nvSpPr>
        <p:spPr>
          <a:xfrm>
            <a:off x="286207" y="6433718"/>
            <a:ext cx="1629461" cy="257861"/>
          </a:xfrm>
          <a:prstGeom prst="rect">
            <a:avLst/>
          </a:prstGeom>
          <a:noFill/>
          <a:ln/>
        </p:spPr>
        <p:txBody>
          <a:bodyPr wrap="square" lIns="0" tIns="0" rIns="0" bIns="0" rtlCol="0" anchor="ctr"/>
          <a:lstStyle/>
          <a:p>
            <a:pPr algn="l" indent="0" marL="0">
              <a:buNone/>
            </a:pPr>
            <a:r>
              <a:rPr lang="en-US" sz="1500" b="1" dirty="0">
                <a:solidFill>
                  <a:srgbClr val="323130"/>
                </a:solidFill>
                <a:latin typeface="Segoe UI" pitchFamily="34" charset="0"/>
                <a:ea typeface="Segoe UI" pitchFamily="34" charset="-122"/>
                <a:cs typeface="Segoe UI" pitchFamily="34" charset="-120"/>
              </a:rPr>
              <a:t>Interactive Demo</a:t>
            </a:r>
            <a:endParaRPr lang="en-US" sz="1500" dirty="0"/>
          </a:p>
        </p:txBody>
      </p:sp>
      <p:sp>
        <p:nvSpPr>
          <p:cNvPr id="7" name="Shape 5"/>
          <p:cNvSpPr/>
          <p:nvPr/>
        </p:nvSpPr>
        <p:spPr>
          <a:xfrm>
            <a:off x="9838944" y="6388913"/>
            <a:ext cx="828446" cy="362102"/>
          </a:xfrm>
          <a:prstGeom prst="roundRect">
            <a:avLst>
              <a:gd name="adj" fmla="val 26582"/>
            </a:avLst>
          </a:prstGeom>
          <a:solidFill>
            <a:srgbClr val="FFFFFF"/>
          </a:solidFill>
          <a:ln w="12700">
            <a:solidFill>
              <a:srgbClr val="8A8886"/>
            </a:solidFill>
            <a:prstDash val="solid"/>
          </a:ln>
        </p:spPr>
      </p:sp>
      <p:pic>
        <p:nvPicPr>
          <p:cNvPr id="8" name="Image 0" descr="preencoded.png">    </p:cNvPr>
          <p:cNvPicPr>
            <a:picLocks noChangeAspect="1"/>
          </p:cNvPicPr>
          <p:nvPr/>
        </p:nvPicPr>
        <p:blipFill>
          <a:blip r:embed="rId1"/>
          <a:srcRect l="0" r="0" t="0" b="0"/>
          <a:stretch/>
        </p:blipFill>
        <p:spPr>
          <a:xfrm>
            <a:off x="10000793" y="6505956"/>
            <a:ext cx="123444" cy="123444"/>
          </a:xfrm>
          <a:prstGeom prst="rect">
            <a:avLst/>
          </a:prstGeom>
        </p:spPr>
      </p:pic>
      <p:sp>
        <p:nvSpPr>
          <p:cNvPr id="9" name="Text 6"/>
          <p:cNvSpPr txBox="1"/>
          <p:nvPr/>
        </p:nvSpPr>
        <p:spPr>
          <a:xfrm>
            <a:off x="10201046" y="6474866"/>
            <a:ext cx="397764" cy="191110"/>
          </a:xfrm>
          <a:prstGeom prst="rect">
            <a:avLst/>
          </a:prstGeom>
          <a:noFill/>
          <a:ln/>
        </p:spPr>
        <p:txBody>
          <a:bodyPr wrap="square" lIns="0" tIns="0" rIns="0" bIns="0" rtlCol="0" anchor="ctr"/>
          <a:lstStyle/>
          <a:p>
            <a:pPr algn="ctr" indent="0" marL="0">
              <a:buNone/>
            </a:pPr>
            <a:r>
              <a:rPr lang="en-US" sz="900" b="1" dirty="0">
                <a:solidFill>
                  <a:srgbClr val="323130"/>
                </a:solidFill>
                <a:latin typeface="Segoe UI" pitchFamily="34" charset="0"/>
                <a:ea typeface="Segoe UI" pitchFamily="34" charset="-122"/>
                <a:cs typeface="Segoe UI" pitchFamily="34" charset="-120"/>
              </a:rPr>
              <a:t>Reset</a:t>
            </a:r>
            <a:endParaRPr lang="en-US" sz="900" dirty="0"/>
          </a:p>
        </p:txBody>
      </p:sp>
      <p:sp>
        <p:nvSpPr>
          <p:cNvPr id="10" name="Shape 7"/>
          <p:cNvSpPr/>
          <p:nvPr/>
        </p:nvSpPr>
        <p:spPr>
          <a:xfrm>
            <a:off x="10761574" y="6388913"/>
            <a:ext cx="1152144" cy="362102"/>
          </a:xfrm>
          <a:prstGeom prst="roundRect">
            <a:avLst>
              <a:gd name="adj" fmla="val 26582"/>
            </a:avLst>
          </a:prstGeom>
          <a:solidFill>
            <a:srgbClr val="0078D4"/>
          </a:solidFill>
          <a:ln w="12700">
            <a:solidFill>
              <a:srgbClr val="000000">
                <a:alpha val="0"/>
              </a:srgbClr>
            </a:solidFill>
            <a:prstDash val="solid"/>
          </a:ln>
        </p:spPr>
      </p:sp>
      <p:sp>
        <p:nvSpPr>
          <p:cNvPr id="11" name="Text 8"/>
          <p:cNvSpPr txBox="1"/>
          <p:nvPr/>
        </p:nvSpPr>
        <p:spPr>
          <a:xfrm>
            <a:off x="10923422" y="6474866"/>
            <a:ext cx="740664" cy="191110"/>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Start Demo</a:t>
            </a:r>
            <a:endParaRPr lang="en-US" sz="900" dirty="0"/>
          </a:p>
        </p:txBody>
      </p:sp>
      <p:pic>
        <p:nvPicPr>
          <p:cNvPr id="12" name="Image 1" descr="preencoded.png">    </p:cNvPr>
          <p:cNvPicPr>
            <a:picLocks noChangeAspect="1"/>
          </p:cNvPicPr>
          <p:nvPr/>
        </p:nvPicPr>
        <p:blipFill>
          <a:blip r:embed="rId2"/>
          <a:srcRect l="0" r="0" t="-1359" b="-1359"/>
          <a:stretch/>
        </p:blipFill>
        <p:spPr>
          <a:xfrm>
            <a:off x="11639398" y="6505956"/>
            <a:ext cx="105156" cy="123444"/>
          </a:xfrm>
          <a:prstGeom prst="rect">
            <a:avLst/>
          </a:prstGeom>
        </p:spPr>
      </p:pic>
      <p:sp>
        <p:nvSpPr>
          <p:cNvPr id="13" name="Shape 9"/>
          <p:cNvSpPr/>
          <p:nvPr/>
        </p:nvSpPr>
        <p:spPr>
          <a:xfrm>
            <a:off x="4114800" y="7729423"/>
            <a:ext cx="1218895" cy="923544"/>
          </a:xfrm>
          <a:prstGeom prst="roundRect">
            <a:avLst>
              <a:gd name="adj" fmla="val 4083"/>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14" name="Shape 10"/>
          <p:cNvSpPr/>
          <p:nvPr/>
        </p:nvSpPr>
        <p:spPr>
          <a:xfrm>
            <a:off x="5486400" y="7729423"/>
            <a:ext cx="1218895" cy="923544"/>
          </a:xfrm>
          <a:prstGeom prst="roundRect">
            <a:avLst>
              <a:gd name="adj" fmla="val 4083"/>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15" name="Shape 11"/>
          <p:cNvSpPr/>
          <p:nvPr/>
        </p:nvSpPr>
        <p:spPr>
          <a:xfrm>
            <a:off x="6858000" y="7729423"/>
            <a:ext cx="1218895" cy="923544"/>
          </a:xfrm>
          <a:prstGeom prst="roundRect">
            <a:avLst>
              <a:gd name="adj" fmla="val 4083"/>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16" name="Text 12"/>
          <p:cNvSpPr txBox="1"/>
          <p:nvPr/>
        </p:nvSpPr>
        <p:spPr>
          <a:xfrm>
            <a:off x="3897173" y="6452921"/>
            <a:ext cx="4614977" cy="381305"/>
          </a:xfrm>
          <a:prstGeom prst="rect">
            <a:avLst/>
          </a:prstGeom>
          <a:noFill/>
          <a:ln/>
        </p:spPr>
        <p:txBody>
          <a:bodyPr wrap="square" lIns="0" tIns="0" rIns="0" bIns="0" rtlCol="0" anchor="ctr"/>
          <a:lstStyle/>
          <a:p>
            <a:pPr algn="ctr" indent="0" marL="0">
              <a:buNone/>
            </a:pPr>
            <a:r>
              <a:rPr lang="en-US" sz="2200" b="1" dirty="0">
                <a:solidFill>
                  <a:srgbClr val="1F2937"/>
                </a:solidFill>
                <a:latin typeface="Segoe UI" pitchFamily="34" charset="0"/>
                <a:ea typeface="Segoe UI" pitchFamily="34" charset="-122"/>
                <a:cs typeface="Segoe UI" pitchFamily="34" charset="-120"/>
              </a:rPr>
              <a:t>Automated Weekly Audit Report</a:t>
            </a:r>
            <a:endParaRPr lang="en-US" sz="2200" dirty="0"/>
          </a:p>
        </p:txBody>
      </p:sp>
      <p:sp>
        <p:nvSpPr>
          <p:cNvPr id="17" name="Text 13"/>
          <p:cNvSpPr txBox="1"/>
          <p:nvPr/>
        </p:nvSpPr>
        <p:spPr>
          <a:xfrm>
            <a:off x="3725266" y="6976872"/>
            <a:ext cx="4858207" cy="428854"/>
          </a:xfrm>
          <a:prstGeom prst="rect">
            <a:avLst/>
          </a:prstGeom>
          <a:noFill/>
          <a:ln/>
        </p:spPr>
        <p:txBody>
          <a:bodyPr wrap="square" lIns="0" tIns="0" rIns="0" bIns="0" rtlCol="0" anchor="ctr"/>
          <a:lstStyle/>
          <a:p>
            <a:pPr algn="ctr" indent="0" marL="0">
              <a:buNone/>
            </a:pPr>
            <a:r>
              <a:rPr lang="en-US" sz="1200" dirty="0">
                <a:solidFill>
                  <a:srgbClr val="4B5563"/>
                </a:solidFill>
                <a:latin typeface="Segoe UI" pitchFamily="34" charset="0"/>
                <a:ea typeface="Segoe UI" pitchFamily="34" charset="-122"/>
                <a:cs typeface="Segoe UI" pitchFamily="34" charset="-120"/>
              </a:rPr>
              <a:t>Experience the end-to-end automation workflow from Factory Delivery Orchestrator (FDO) data extraction to stakeholder email delivery.</a:t>
            </a:r>
            <a:endParaRPr lang="en-US" sz="1200" dirty="0"/>
          </a:p>
        </p:txBody>
      </p:sp>
      <p:pic>
        <p:nvPicPr>
          <p:cNvPr id="18" name="Image 2" descr="preencoded.png">    </p:cNvPr>
          <p:cNvPicPr>
            <a:picLocks noChangeAspect="1"/>
          </p:cNvPicPr>
          <p:nvPr/>
        </p:nvPicPr>
        <p:blipFill>
          <a:blip r:embed="rId3"/>
          <a:srcRect l="0" r="0" t="-16524" b="-16524"/>
          <a:stretch/>
        </p:blipFill>
        <p:spPr>
          <a:xfrm>
            <a:off x="4624121" y="7891272"/>
            <a:ext cx="200254" cy="304495"/>
          </a:xfrm>
          <a:prstGeom prst="rect">
            <a:avLst/>
          </a:prstGeom>
        </p:spPr>
      </p:pic>
      <p:sp>
        <p:nvSpPr>
          <p:cNvPr id="19" name="Text 14"/>
          <p:cNvSpPr txBox="1"/>
          <p:nvPr/>
        </p:nvSpPr>
        <p:spPr>
          <a:xfrm>
            <a:off x="4421124" y="8300923"/>
            <a:ext cx="710489" cy="181051"/>
          </a:xfrm>
          <a:prstGeom prst="rect">
            <a:avLst/>
          </a:prstGeom>
          <a:noFill/>
          <a:ln/>
        </p:spPr>
        <p:txBody>
          <a:bodyPr wrap="square" lIns="0" tIns="0" rIns="0" bIns="0" rtlCol="0" anchor="ctr"/>
          <a:lstStyle/>
          <a:p>
            <a:pPr algn="ctr" indent="0" marL="0">
              <a:buNone/>
            </a:pPr>
            <a:r>
              <a:rPr lang="en-US" sz="1000" b="1" dirty="0">
                <a:solidFill>
                  <a:srgbClr val="000000"/>
                </a:solidFill>
                <a:latin typeface="Segoe UI" pitchFamily="34" charset="0"/>
                <a:ea typeface="Segoe UI" pitchFamily="34" charset="-122"/>
                <a:cs typeface="Segoe UI" pitchFamily="34" charset="-120"/>
              </a:rPr>
              <a:t>Extraction</a:t>
            </a:r>
            <a:endParaRPr lang="en-US" sz="1000" dirty="0"/>
          </a:p>
        </p:txBody>
      </p:sp>
      <p:pic>
        <p:nvPicPr>
          <p:cNvPr id="20" name="Image 3" descr="preencoded.png">    </p:cNvPr>
          <p:cNvPicPr>
            <a:picLocks noChangeAspect="1"/>
          </p:cNvPicPr>
          <p:nvPr/>
        </p:nvPicPr>
        <p:blipFill>
          <a:blip r:embed="rId4"/>
          <a:srcRect l="0" r="0" t="-16600" b="-16600"/>
          <a:stretch/>
        </p:blipFill>
        <p:spPr>
          <a:xfrm>
            <a:off x="5982005" y="7891272"/>
            <a:ext cx="228600" cy="304495"/>
          </a:xfrm>
          <a:prstGeom prst="rect">
            <a:avLst/>
          </a:prstGeom>
        </p:spPr>
      </p:pic>
      <p:sp>
        <p:nvSpPr>
          <p:cNvPr id="21" name="Text 15"/>
          <p:cNvSpPr txBox="1"/>
          <p:nvPr/>
        </p:nvSpPr>
        <p:spPr>
          <a:xfrm>
            <a:off x="5790895" y="8300923"/>
            <a:ext cx="719633" cy="181051"/>
          </a:xfrm>
          <a:prstGeom prst="rect">
            <a:avLst/>
          </a:prstGeom>
          <a:noFill/>
          <a:ln/>
        </p:spPr>
        <p:txBody>
          <a:bodyPr wrap="square" lIns="0" tIns="0" rIns="0" bIns="0" rtlCol="0" anchor="ctr"/>
          <a:lstStyle/>
          <a:p>
            <a:pPr algn="ctr" indent="0" marL="0">
              <a:buNone/>
            </a:pPr>
            <a:r>
              <a:rPr lang="en-US" sz="1000" b="1" dirty="0">
                <a:solidFill>
                  <a:srgbClr val="000000"/>
                </a:solidFill>
                <a:latin typeface="Segoe UI" pitchFamily="34" charset="0"/>
                <a:ea typeface="Segoe UI" pitchFamily="34" charset="-122"/>
                <a:cs typeface="Segoe UI" pitchFamily="34" charset="-120"/>
              </a:rPr>
              <a:t>Transform</a:t>
            </a:r>
            <a:endParaRPr lang="en-US" sz="1000" dirty="0"/>
          </a:p>
        </p:txBody>
      </p:sp>
      <p:pic>
        <p:nvPicPr>
          <p:cNvPr id="22" name="Image 4" descr="preencoded.png">    </p:cNvPr>
          <p:cNvPicPr>
            <a:picLocks noChangeAspect="1"/>
          </p:cNvPicPr>
          <p:nvPr/>
        </p:nvPicPr>
        <p:blipFill>
          <a:blip r:embed="rId5"/>
          <a:srcRect l="0" r="0" t="-16600" b="-16600"/>
          <a:stretch/>
        </p:blipFill>
        <p:spPr>
          <a:xfrm>
            <a:off x="7353605" y="7891272"/>
            <a:ext cx="228600" cy="304495"/>
          </a:xfrm>
          <a:prstGeom prst="rect">
            <a:avLst/>
          </a:prstGeom>
        </p:spPr>
      </p:pic>
      <p:sp>
        <p:nvSpPr>
          <p:cNvPr id="23" name="Text 16"/>
          <p:cNvSpPr txBox="1"/>
          <p:nvPr/>
        </p:nvSpPr>
        <p:spPr>
          <a:xfrm>
            <a:off x="7219188" y="8300923"/>
            <a:ext cx="605333" cy="181051"/>
          </a:xfrm>
          <a:prstGeom prst="rect">
            <a:avLst/>
          </a:prstGeom>
          <a:noFill/>
          <a:ln/>
        </p:spPr>
        <p:txBody>
          <a:bodyPr wrap="square" lIns="0" tIns="0" rIns="0" bIns="0" rtlCol="0" anchor="ctr"/>
          <a:lstStyle/>
          <a:p>
            <a:pPr algn="ctr" indent="0" marL="0">
              <a:buNone/>
            </a:pPr>
            <a:r>
              <a:rPr lang="en-US" sz="1000" b="1" dirty="0">
                <a:solidFill>
                  <a:srgbClr val="000000"/>
                </a:solidFill>
                <a:latin typeface="Segoe UI" pitchFamily="34" charset="0"/>
                <a:ea typeface="Segoe UI" pitchFamily="34" charset="-122"/>
                <a:cs typeface="Segoe UI" pitchFamily="34" charset="-120"/>
              </a:rPr>
              <a:t>Delivery</a:t>
            </a:r>
            <a:endParaRPr lang="en-US" sz="1000" dirty="0"/>
          </a:p>
        </p:txBody>
      </p:sp>
      <p:pic>
        <p:nvPicPr>
          <p:cNvPr id="24" name="Image 5" descr="preencoded.png">    </p:cNvPr>
          <p:cNvPicPr>
            <a:picLocks noChangeAspect="1"/>
          </p:cNvPicPr>
          <p:nvPr/>
        </p:nvPicPr>
        <p:blipFill>
          <a:blip r:embed="rId6"/>
          <a:srcRect l="0" r="0" t="-25" b="-25"/>
          <a:stretch/>
        </p:blipFill>
        <p:spPr>
          <a:xfrm>
            <a:off x="5753405" y="5619902"/>
            <a:ext cx="685800" cy="609905"/>
          </a:xfrm>
          <a:prstGeom prst="rect">
            <a:avLst/>
          </a:prstGeom>
        </p:spPr>
      </p:pic>
      <p:sp>
        <p:nvSpPr>
          <p:cNvPr id="25" name="Shape 17"/>
          <p:cNvSpPr/>
          <p:nvPr/>
        </p:nvSpPr>
        <p:spPr>
          <a:xfrm>
            <a:off x="0" y="0"/>
            <a:ext cx="2286000" cy="6286500"/>
          </a:xfrm>
          <a:prstGeom prst="rect">
            <a:avLst/>
          </a:prstGeom>
          <a:solidFill>
            <a:srgbClr val="201F1E"/>
          </a:solidFill>
          <a:ln/>
        </p:spPr>
      </p:sp>
      <p:sp>
        <p:nvSpPr>
          <p:cNvPr id="26" name="Shape 18"/>
          <p:cNvSpPr/>
          <p:nvPr/>
        </p:nvSpPr>
        <p:spPr>
          <a:xfrm>
            <a:off x="2276856" y="0"/>
            <a:ext cx="9144" cy="6286500"/>
          </a:xfrm>
          <a:prstGeom prst="rect">
            <a:avLst/>
          </a:prstGeom>
          <a:solidFill>
            <a:srgbClr val="333333"/>
          </a:solidFill>
          <a:ln/>
        </p:spPr>
      </p:sp>
      <p:sp>
        <p:nvSpPr>
          <p:cNvPr id="27" name="Shape 19"/>
          <p:cNvSpPr/>
          <p:nvPr/>
        </p:nvSpPr>
        <p:spPr>
          <a:xfrm>
            <a:off x="0" y="0"/>
            <a:ext cx="2276856" cy="647395"/>
          </a:xfrm>
          <a:prstGeom prst="rect">
            <a:avLst/>
          </a:prstGeom>
          <a:solidFill>
            <a:srgbClr val="0078D4"/>
          </a:solidFill>
          <a:ln/>
        </p:spPr>
      </p:sp>
      <p:sp>
        <p:nvSpPr>
          <p:cNvPr id="28" name="Shape 20"/>
          <p:cNvSpPr/>
          <p:nvPr/>
        </p:nvSpPr>
        <p:spPr>
          <a:xfrm>
            <a:off x="0" y="638251"/>
            <a:ext cx="2276856" cy="9144"/>
          </a:xfrm>
          <a:prstGeom prst="rect">
            <a:avLst/>
          </a:prstGeom>
          <a:solidFill>
            <a:srgbClr val="333333"/>
          </a:solidFill>
          <a:ln/>
        </p:spPr>
      </p:sp>
      <p:pic>
        <p:nvPicPr>
          <p:cNvPr id="29" name="Image 6" descr="preencoded.png">    </p:cNvPr>
          <p:cNvPicPr>
            <a:picLocks noChangeAspect="1"/>
          </p:cNvPicPr>
          <p:nvPr/>
        </p:nvPicPr>
        <p:blipFill>
          <a:blip r:embed="rId7"/>
          <a:srcRect l="-1064" r="-1064" t="0" b="0"/>
          <a:stretch/>
        </p:blipFill>
        <p:spPr>
          <a:xfrm>
            <a:off x="190195" y="233172"/>
            <a:ext cx="219456" cy="171907"/>
          </a:xfrm>
          <a:prstGeom prst="rect">
            <a:avLst/>
          </a:prstGeom>
        </p:spPr>
      </p:pic>
      <p:sp>
        <p:nvSpPr>
          <p:cNvPr id="30" name="Shape 21"/>
          <p:cNvSpPr/>
          <p:nvPr/>
        </p:nvSpPr>
        <p:spPr>
          <a:xfrm>
            <a:off x="0" y="838505"/>
            <a:ext cx="2276856" cy="428854"/>
          </a:xfrm>
          <a:prstGeom prst="rect">
            <a:avLst/>
          </a:prstGeom>
          <a:solidFill>
            <a:srgbClr val="2B2B2B"/>
          </a:solidFill>
          <a:ln/>
        </p:spPr>
      </p:sp>
      <p:sp>
        <p:nvSpPr>
          <p:cNvPr id="31" name="Shape 22"/>
          <p:cNvSpPr/>
          <p:nvPr/>
        </p:nvSpPr>
        <p:spPr>
          <a:xfrm>
            <a:off x="0" y="838505"/>
            <a:ext cx="38405" cy="428854"/>
          </a:xfrm>
          <a:prstGeom prst="rect">
            <a:avLst/>
          </a:prstGeom>
          <a:solidFill>
            <a:srgbClr val="0078D4"/>
          </a:solidFill>
          <a:ln/>
        </p:spPr>
      </p:sp>
      <p:pic>
        <p:nvPicPr>
          <p:cNvPr id="32" name="Image 7" descr="preencoded.png">    </p:cNvPr>
          <p:cNvPicPr>
            <a:picLocks noChangeAspect="1"/>
          </p:cNvPicPr>
          <p:nvPr/>
        </p:nvPicPr>
        <p:blipFill>
          <a:blip r:embed="rId8"/>
          <a:srcRect l="-837" r="-837" t="0" b="0"/>
          <a:stretch/>
        </p:blipFill>
        <p:spPr>
          <a:xfrm>
            <a:off x="228600" y="985723"/>
            <a:ext cx="152705" cy="133502"/>
          </a:xfrm>
          <a:prstGeom prst="rect">
            <a:avLst/>
          </a:prstGeom>
        </p:spPr>
      </p:pic>
      <p:sp>
        <p:nvSpPr>
          <p:cNvPr id="33" name="Text 23"/>
          <p:cNvSpPr txBox="1"/>
          <p:nvPr/>
        </p:nvSpPr>
        <p:spPr>
          <a:xfrm>
            <a:off x="495605" y="952805"/>
            <a:ext cx="395935" cy="200254"/>
          </a:xfrm>
          <a:prstGeom prst="rect">
            <a:avLst/>
          </a:prstGeom>
          <a:noFill/>
          <a:ln/>
        </p:spPr>
        <p:txBody>
          <a:bodyPr wrap="square" lIns="0" tIns="0" rIns="0" bIns="0" rtlCol="0" anchor="ctr"/>
          <a:lstStyle/>
          <a:p>
            <a:pPr algn="l" indent="0" marL="0">
              <a:buNone/>
            </a:pPr>
            <a:r>
              <a:rPr lang="en-US" sz="1000" b="1" dirty="0">
                <a:solidFill>
                  <a:srgbClr val="FFFFFF"/>
                </a:solidFill>
                <a:latin typeface="Segoe UI" pitchFamily="34" charset="0"/>
                <a:ea typeface="Segoe UI" pitchFamily="34" charset="-122"/>
                <a:cs typeface="Segoe UI" pitchFamily="34" charset="-120"/>
              </a:rPr>
              <a:t>Start</a:t>
            </a:r>
            <a:endParaRPr lang="en-US" sz="1000" dirty="0"/>
          </a:p>
        </p:txBody>
      </p:sp>
      <p:sp>
        <p:nvSpPr>
          <p:cNvPr id="34" name="Shape 24"/>
          <p:cNvSpPr/>
          <p:nvPr/>
        </p:nvSpPr>
        <p:spPr>
          <a:xfrm>
            <a:off x="0" y="1304849"/>
            <a:ext cx="38405" cy="428854"/>
          </a:xfrm>
          <a:prstGeom prst="rect">
            <a:avLst/>
          </a:prstGeom>
          <a:solidFill>
            <a:srgbClr val="000000">
              <a:alpha val="0"/>
            </a:srgbClr>
          </a:solidFill>
          <a:ln/>
        </p:spPr>
      </p:sp>
      <p:pic>
        <p:nvPicPr>
          <p:cNvPr id="35" name="Image 8" descr="preencoded.png">    </p:cNvPr>
          <p:cNvPicPr>
            <a:picLocks noChangeAspect="1"/>
          </p:cNvPicPr>
          <p:nvPr/>
        </p:nvPicPr>
        <p:blipFill>
          <a:blip r:embed="rId9"/>
          <a:srcRect l="0" r="0" t="0" b="0"/>
          <a:stretch/>
        </p:blipFill>
        <p:spPr>
          <a:xfrm>
            <a:off x="228600" y="1452982"/>
            <a:ext cx="133502" cy="133502"/>
          </a:xfrm>
          <a:prstGeom prst="rect">
            <a:avLst/>
          </a:prstGeom>
        </p:spPr>
      </p:pic>
      <p:sp>
        <p:nvSpPr>
          <p:cNvPr id="36" name="Text 25"/>
          <p:cNvSpPr txBox="1"/>
          <p:nvPr/>
        </p:nvSpPr>
        <p:spPr>
          <a:xfrm>
            <a:off x="476402" y="1419149"/>
            <a:ext cx="1043330" cy="200254"/>
          </a:xfrm>
          <a:prstGeom prst="rect">
            <a:avLst/>
          </a:prstGeom>
          <a:noFill/>
          <a:ln/>
        </p:spPr>
        <p:txBody>
          <a:bodyPr wrap="square" lIns="0" tIns="0" rIns="0" bIns="0" rtlCol="0" anchor="ctr"/>
          <a:lstStyle/>
          <a:p>
            <a:pPr algn="l" indent="0" marL="0">
              <a:buNone/>
            </a:pPr>
            <a:r>
              <a:rPr lang="en-US" sz="1000" dirty="0">
                <a:solidFill>
                  <a:srgbClr val="D0D0D0"/>
                </a:solidFill>
                <a:latin typeface="Segoe UI" pitchFamily="34" charset="0"/>
                <a:ea typeface="Segoe UI" pitchFamily="34" charset="-122"/>
                <a:cs typeface="Segoe UI" pitchFamily="34" charset="-120"/>
              </a:rPr>
              <a:t>FDO Dashboard</a:t>
            </a:r>
            <a:endParaRPr lang="en-US" sz="1000" dirty="0"/>
          </a:p>
        </p:txBody>
      </p:sp>
      <p:sp>
        <p:nvSpPr>
          <p:cNvPr id="37" name="Shape 26"/>
          <p:cNvSpPr/>
          <p:nvPr/>
        </p:nvSpPr>
        <p:spPr>
          <a:xfrm>
            <a:off x="0" y="1772107"/>
            <a:ext cx="38405" cy="428854"/>
          </a:xfrm>
          <a:prstGeom prst="rect">
            <a:avLst/>
          </a:prstGeom>
          <a:solidFill>
            <a:srgbClr val="000000">
              <a:alpha val="0"/>
            </a:srgbClr>
          </a:solidFill>
          <a:ln/>
        </p:spPr>
      </p:sp>
      <p:pic>
        <p:nvPicPr>
          <p:cNvPr id="38" name="Image 9" descr="preencoded.png">    </p:cNvPr>
          <p:cNvPicPr>
            <a:picLocks noChangeAspect="1"/>
          </p:cNvPicPr>
          <p:nvPr/>
        </p:nvPicPr>
        <p:blipFill>
          <a:blip r:embed="rId10"/>
          <a:srcRect l="-837" r="-837" t="0" b="0"/>
          <a:stretch/>
        </p:blipFill>
        <p:spPr>
          <a:xfrm>
            <a:off x="228600" y="1919326"/>
            <a:ext cx="152705" cy="133502"/>
          </a:xfrm>
          <a:prstGeom prst="rect">
            <a:avLst/>
          </a:prstGeom>
        </p:spPr>
      </p:pic>
      <p:sp>
        <p:nvSpPr>
          <p:cNvPr id="39" name="Text 27"/>
          <p:cNvSpPr txBox="1"/>
          <p:nvPr/>
        </p:nvSpPr>
        <p:spPr>
          <a:xfrm>
            <a:off x="495605" y="1886407"/>
            <a:ext cx="919886" cy="200254"/>
          </a:xfrm>
          <a:prstGeom prst="rect">
            <a:avLst/>
          </a:prstGeom>
          <a:noFill/>
          <a:ln/>
        </p:spPr>
        <p:txBody>
          <a:bodyPr wrap="square" lIns="0" tIns="0" rIns="0" bIns="0" rtlCol="0" anchor="ctr"/>
          <a:lstStyle/>
          <a:p>
            <a:pPr algn="l" indent="0" marL="0">
              <a:buNone/>
            </a:pPr>
            <a:r>
              <a:rPr lang="en-US" sz="1000" dirty="0">
                <a:solidFill>
                  <a:srgbClr val="D0D0D0"/>
                </a:solidFill>
                <a:latin typeface="Segoe UI" pitchFamily="34" charset="0"/>
                <a:ea typeface="Segoe UI" pitchFamily="34" charset="-122"/>
                <a:cs typeface="Segoe UI" pitchFamily="34" charset="-120"/>
              </a:rPr>
              <a:t>Workflow Log</a:t>
            </a:r>
            <a:endParaRPr lang="en-US" sz="1000" dirty="0"/>
          </a:p>
        </p:txBody>
      </p:sp>
      <p:sp>
        <p:nvSpPr>
          <p:cNvPr id="40" name="Shape 28"/>
          <p:cNvSpPr/>
          <p:nvPr/>
        </p:nvSpPr>
        <p:spPr>
          <a:xfrm>
            <a:off x="0" y="2238451"/>
            <a:ext cx="38405" cy="428854"/>
          </a:xfrm>
          <a:prstGeom prst="rect">
            <a:avLst/>
          </a:prstGeom>
          <a:solidFill>
            <a:srgbClr val="000000">
              <a:alpha val="0"/>
            </a:srgbClr>
          </a:solidFill>
          <a:ln/>
        </p:spPr>
      </p:sp>
      <p:pic>
        <p:nvPicPr>
          <p:cNvPr id="41" name="Image 10" descr="preencoded.png">    </p:cNvPr>
          <p:cNvPicPr>
            <a:picLocks noChangeAspect="1"/>
          </p:cNvPicPr>
          <p:nvPr/>
        </p:nvPicPr>
        <p:blipFill>
          <a:blip r:embed="rId11"/>
          <a:srcRect l="-1507" r="-1507" t="0" b="0"/>
          <a:stretch/>
        </p:blipFill>
        <p:spPr>
          <a:xfrm>
            <a:off x="228600" y="2385670"/>
            <a:ext cx="171907" cy="133502"/>
          </a:xfrm>
          <a:prstGeom prst="rect">
            <a:avLst/>
          </a:prstGeom>
        </p:spPr>
      </p:pic>
      <p:sp>
        <p:nvSpPr>
          <p:cNvPr id="42" name="Text 29"/>
          <p:cNvSpPr txBox="1"/>
          <p:nvPr/>
        </p:nvSpPr>
        <p:spPr>
          <a:xfrm>
            <a:off x="514807" y="2352751"/>
            <a:ext cx="738835" cy="200254"/>
          </a:xfrm>
          <a:prstGeom prst="rect">
            <a:avLst/>
          </a:prstGeom>
          <a:noFill/>
          <a:ln/>
        </p:spPr>
        <p:txBody>
          <a:bodyPr wrap="square" lIns="0" tIns="0" rIns="0" bIns="0" rtlCol="0" anchor="ctr"/>
          <a:lstStyle/>
          <a:p>
            <a:pPr algn="l" indent="0" marL="0">
              <a:buNone/>
            </a:pPr>
            <a:r>
              <a:rPr lang="en-US" sz="1000" dirty="0">
                <a:solidFill>
                  <a:srgbClr val="D0D0D0"/>
                </a:solidFill>
                <a:latin typeface="Segoe UI" pitchFamily="34" charset="0"/>
                <a:ea typeface="Segoe UI" pitchFamily="34" charset="-122"/>
                <a:cs typeface="Segoe UI" pitchFamily="34" charset="-120"/>
              </a:rPr>
              <a:t>Processing</a:t>
            </a:r>
            <a:endParaRPr lang="en-US" sz="1000" dirty="0"/>
          </a:p>
        </p:txBody>
      </p:sp>
      <p:sp>
        <p:nvSpPr>
          <p:cNvPr id="43" name="Shape 30"/>
          <p:cNvSpPr/>
          <p:nvPr/>
        </p:nvSpPr>
        <p:spPr>
          <a:xfrm>
            <a:off x="0" y="2704795"/>
            <a:ext cx="38405" cy="428854"/>
          </a:xfrm>
          <a:prstGeom prst="rect">
            <a:avLst/>
          </a:prstGeom>
          <a:solidFill>
            <a:srgbClr val="000000">
              <a:alpha val="0"/>
            </a:srgbClr>
          </a:solidFill>
          <a:ln/>
        </p:spPr>
      </p:sp>
      <p:pic>
        <p:nvPicPr>
          <p:cNvPr id="44" name="Image 11" descr="preencoded.png">    </p:cNvPr>
          <p:cNvPicPr>
            <a:picLocks noChangeAspect="1"/>
          </p:cNvPicPr>
          <p:nvPr/>
        </p:nvPicPr>
        <p:blipFill>
          <a:blip r:embed="rId12"/>
          <a:srcRect l="0" r="0" t="0" b="0"/>
          <a:stretch/>
        </p:blipFill>
        <p:spPr>
          <a:xfrm>
            <a:off x="228600" y="2852928"/>
            <a:ext cx="133502" cy="133502"/>
          </a:xfrm>
          <a:prstGeom prst="rect">
            <a:avLst/>
          </a:prstGeom>
        </p:spPr>
      </p:pic>
      <p:sp>
        <p:nvSpPr>
          <p:cNvPr id="45" name="Text 31"/>
          <p:cNvSpPr txBox="1"/>
          <p:nvPr/>
        </p:nvSpPr>
        <p:spPr>
          <a:xfrm>
            <a:off x="476402" y="2819095"/>
            <a:ext cx="909828" cy="200254"/>
          </a:xfrm>
          <a:prstGeom prst="rect">
            <a:avLst/>
          </a:prstGeom>
          <a:noFill/>
          <a:ln/>
        </p:spPr>
        <p:txBody>
          <a:bodyPr wrap="square" lIns="0" tIns="0" rIns="0" bIns="0" rtlCol="0" anchor="ctr"/>
          <a:lstStyle/>
          <a:p>
            <a:pPr algn="l" indent="0" marL="0">
              <a:buNone/>
            </a:pPr>
            <a:r>
              <a:rPr lang="en-US" sz="1000" dirty="0">
                <a:solidFill>
                  <a:srgbClr val="D0D0D0"/>
                </a:solidFill>
                <a:latin typeface="Segoe UI" pitchFamily="34" charset="0"/>
                <a:ea typeface="Segoe UI" pitchFamily="34" charset="-122"/>
                <a:cs typeface="Segoe UI" pitchFamily="34" charset="-120"/>
              </a:rPr>
              <a:t>Email Preview</a:t>
            </a:r>
            <a:endParaRPr lang="en-US" sz="1000" dirty="0"/>
          </a:p>
        </p:txBody>
      </p:sp>
      <p:sp>
        <p:nvSpPr>
          <p:cNvPr id="46" name="Shape 32"/>
          <p:cNvSpPr/>
          <p:nvPr/>
        </p:nvSpPr>
        <p:spPr>
          <a:xfrm>
            <a:off x="0" y="3172054"/>
            <a:ext cx="38405" cy="428854"/>
          </a:xfrm>
          <a:prstGeom prst="rect">
            <a:avLst/>
          </a:prstGeom>
          <a:solidFill>
            <a:srgbClr val="000000">
              <a:alpha val="0"/>
            </a:srgbClr>
          </a:solidFill>
          <a:ln/>
        </p:spPr>
      </p:sp>
      <p:pic>
        <p:nvPicPr>
          <p:cNvPr id="47" name="Image 12" descr="preencoded.png">    </p:cNvPr>
          <p:cNvPicPr>
            <a:picLocks noChangeAspect="1"/>
          </p:cNvPicPr>
          <p:nvPr/>
        </p:nvPicPr>
        <p:blipFill>
          <a:blip r:embed="rId13"/>
          <a:srcRect l="0" r="0" t="0" b="0"/>
          <a:stretch/>
        </p:blipFill>
        <p:spPr>
          <a:xfrm>
            <a:off x="228600" y="3319272"/>
            <a:ext cx="133502" cy="133502"/>
          </a:xfrm>
          <a:prstGeom prst="rect">
            <a:avLst/>
          </a:prstGeom>
        </p:spPr>
      </p:pic>
      <p:sp>
        <p:nvSpPr>
          <p:cNvPr id="48" name="Text 33"/>
          <p:cNvSpPr txBox="1"/>
          <p:nvPr/>
        </p:nvSpPr>
        <p:spPr>
          <a:xfrm>
            <a:off x="476402" y="3286354"/>
            <a:ext cx="986638" cy="200254"/>
          </a:xfrm>
          <a:prstGeom prst="rect">
            <a:avLst/>
          </a:prstGeom>
          <a:noFill/>
          <a:ln/>
        </p:spPr>
        <p:txBody>
          <a:bodyPr wrap="square" lIns="0" tIns="0" rIns="0" bIns="0" rtlCol="0" anchor="ctr"/>
          <a:lstStyle/>
          <a:p>
            <a:pPr algn="l" indent="0" marL="0">
              <a:buNone/>
            </a:pPr>
            <a:r>
              <a:rPr lang="en-US" sz="1000" dirty="0">
                <a:solidFill>
                  <a:srgbClr val="D0D0D0"/>
                </a:solidFill>
                <a:latin typeface="Segoe UI" pitchFamily="34" charset="0"/>
                <a:ea typeface="Segoe UI" pitchFamily="34" charset="-122"/>
                <a:cs typeface="Segoe UI" pitchFamily="34" charset="-120"/>
              </a:rPr>
              <a:t>Success Report</a:t>
            </a:r>
            <a:endParaRPr lang="en-US" sz="1000" dirty="0"/>
          </a:p>
        </p:txBody>
      </p:sp>
      <p:sp>
        <p:nvSpPr>
          <p:cNvPr id="49" name="Text 34"/>
          <p:cNvSpPr txBox="1"/>
          <p:nvPr/>
        </p:nvSpPr>
        <p:spPr>
          <a:xfrm>
            <a:off x="504749" y="200254"/>
            <a:ext cx="1491386" cy="228600"/>
          </a:xfrm>
          <a:prstGeom prst="rect">
            <a:avLst/>
          </a:prstGeom>
          <a:noFill/>
          <a:ln/>
        </p:spPr>
        <p:txBody>
          <a:bodyPr wrap="square" lIns="0" tIns="0" rIns="0" bIns="0" rtlCol="0" anchor="ctr"/>
          <a:lstStyle/>
          <a:p>
            <a:pPr algn="l" indent="0" marL="0">
              <a:buNone/>
            </a:pPr>
            <a:r>
              <a:rPr lang="en-US" sz="1300" b="1" dirty="0">
                <a:solidFill>
                  <a:srgbClr val="FFFFFF"/>
                </a:solidFill>
                <a:latin typeface="Segoe UI" pitchFamily="34" charset="0"/>
                <a:ea typeface="Segoe UI" pitchFamily="34" charset="-122"/>
                <a:cs typeface="Segoe UI" pitchFamily="34" charset="-120"/>
              </a:rPr>
              <a:t>FDO Automation</a:t>
            </a:r>
            <a:endParaRPr lang="en-US" sz="1300" dirty="0"/>
          </a:p>
        </p:txBody>
      </p:sp>
      <p:sp>
        <p:nvSpPr>
          <p:cNvPr id="50" name="Text 35"/>
          <p:cNvSpPr txBox="1"/>
          <p:nvPr/>
        </p:nvSpPr>
        <p:spPr>
          <a:xfrm>
            <a:off x="190195" y="5762549"/>
            <a:ext cx="924458" cy="152705"/>
          </a:xfrm>
          <a:prstGeom prst="rect">
            <a:avLst/>
          </a:prstGeom>
          <a:noFill/>
          <a:ln/>
        </p:spPr>
        <p:txBody>
          <a:bodyPr wrap="square" lIns="0" tIns="0" rIns="0" bIns="0" rtlCol="0" anchor="ctr"/>
          <a:lstStyle/>
          <a:p>
            <a:pPr algn="l" indent="0" marL="0">
              <a:buNone/>
            </a:pPr>
            <a:r>
              <a:rPr lang="en-US" sz="900" dirty="0">
                <a:solidFill>
                  <a:srgbClr val="888888"/>
                </a:solidFill>
                <a:latin typeface="Segoe UI" pitchFamily="34" charset="0"/>
                <a:ea typeface="Segoe UI" pitchFamily="34" charset="-122"/>
                <a:cs typeface="Segoe UI" pitchFamily="34" charset="-120"/>
              </a:rPr>
              <a:t>v1.0.5-prototype</a:t>
            </a:r>
            <a:endParaRPr lang="en-US" sz="900" dirty="0"/>
          </a:p>
        </p:txBody>
      </p:sp>
      <p:sp>
        <p:nvSpPr>
          <p:cNvPr id="51" name="Text 36"/>
          <p:cNvSpPr txBox="1"/>
          <p:nvPr/>
        </p:nvSpPr>
        <p:spPr>
          <a:xfrm>
            <a:off x="190195" y="5934456"/>
            <a:ext cx="952805" cy="152705"/>
          </a:xfrm>
          <a:prstGeom prst="rect">
            <a:avLst/>
          </a:prstGeom>
          <a:noFill/>
          <a:ln/>
        </p:spPr>
        <p:txBody>
          <a:bodyPr wrap="square" lIns="0" tIns="0" rIns="0" bIns="0" rtlCol="0" anchor="ctr"/>
          <a:lstStyle/>
          <a:p>
            <a:pPr algn="l" indent="0" marL="0">
              <a:buNone/>
            </a:pPr>
            <a:r>
              <a:rPr lang="en-US" sz="900" dirty="0">
                <a:solidFill>
                  <a:srgbClr val="888888"/>
                </a:solidFill>
                <a:latin typeface="Segoe UI" pitchFamily="34" charset="0"/>
                <a:ea typeface="Segoe UI" pitchFamily="34" charset="-122"/>
                <a:cs typeface="Segoe UI" pitchFamily="34" charset="-120"/>
              </a:rPr>
              <a:t>© 2025 FDO Ops</a:t>
            </a:r>
            <a:endParaRPr lang="en-US" sz="900" dirty="0"/>
          </a:p>
        </p:txBody>
      </p:sp>
      <p:sp>
        <p:nvSpPr>
          <p:cNvPr id="52" name="Shape 37"/>
          <p:cNvSpPr/>
          <p:nvPr/>
        </p:nvSpPr>
        <p:spPr>
          <a:xfrm>
            <a:off x="0" y="6819595"/>
            <a:ext cx="12191695" cy="38405"/>
          </a:xfrm>
          <a:prstGeom prst="rect">
            <a:avLst/>
          </a:prstGeom>
          <a:solidFill>
            <a:srgbClr val="E1DFDD"/>
          </a:solidFill>
          <a:ln/>
        </p:spPr>
      </p:sp>
      <p:sp>
        <p:nvSpPr>
          <p:cNvPr id="53" name="Shape 38"/>
          <p:cNvSpPr/>
          <p:nvPr/>
        </p:nvSpPr>
        <p:spPr>
          <a:xfrm>
            <a:off x="10223906" y="-761695"/>
            <a:ext cx="1781251" cy="428854"/>
          </a:xfrm>
          <a:prstGeom prst="roundRect">
            <a:avLst>
              <a:gd name="adj" fmla="val 18953"/>
            </a:avLst>
          </a:prstGeom>
          <a:solidFill>
            <a:srgbClr val="323130"/>
          </a:solidFill>
          <a:ln/>
          <a:effectLst>
            <a:outerShdw sx="100000" sy="100000" kx="0" ky="0" algn="bl" rotWithShape="0" blurRad="114300" dist="38100" dir="5400000">
              <a:srgbClr val="000000">
                <a:alpha val="20000"/>
              </a:srgbClr>
            </a:outerShdw>
          </a:effectLst>
        </p:spPr>
      </p:sp>
      <p:pic>
        <p:nvPicPr>
          <p:cNvPr id="54" name="Image 13" descr="preencoded.png">    </p:cNvPr>
          <p:cNvPicPr>
            <a:picLocks noChangeAspect="1"/>
          </p:cNvPicPr>
          <p:nvPr/>
        </p:nvPicPr>
        <p:blipFill>
          <a:blip r:embed="rId14"/>
          <a:srcRect l="0" r="0" t="0" b="0"/>
          <a:stretch/>
        </p:blipFill>
        <p:spPr>
          <a:xfrm>
            <a:off x="10452506" y="-614477"/>
            <a:ext cx="133502" cy="133502"/>
          </a:xfrm>
          <a:prstGeom prst="rect">
            <a:avLst/>
          </a:prstGeom>
        </p:spPr>
      </p:pic>
      <p:sp>
        <p:nvSpPr>
          <p:cNvPr id="55" name="Text 39"/>
          <p:cNvSpPr txBox="1"/>
          <p:nvPr/>
        </p:nvSpPr>
        <p:spPr>
          <a:xfrm>
            <a:off x="10681106" y="-638251"/>
            <a:ext cx="1196035" cy="181051"/>
          </a:xfrm>
          <a:prstGeom prst="rect">
            <a:avLst/>
          </a:prstGeom>
          <a:noFill/>
          <a:ln/>
        </p:spPr>
        <p:txBody>
          <a:bodyPr wrap="square" lIns="0" tIns="0" rIns="0" bIns="0" rtlCol="0" anchor="ctr"/>
          <a:lstStyle/>
          <a:p>
            <a:pPr algn="l" indent="0" marL="0">
              <a:buNone/>
            </a:pPr>
            <a:r>
              <a:rPr lang="en-US" sz="1000" dirty="0">
                <a:solidFill>
                  <a:srgbClr val="FFFFFF"/>
                </a:solidFill>
                <a:latin typeface="Segoe UI" pitchFamily="34" charset="0"/>
                <a:ea typeface="Segoe UI" pitchFamily="34" charset="-122"/>
                <a:cs typeface="Segoe UI" pitchFamily="34" charset="-120"/>
              </a:rPr>
              <a:t>Workflow started...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2025-12-15T10:13:43Z</dcterms:created>
  <dcterms:modified xsi:type="dcterms:W3CDTF">2025-12-15T10:13:43Z</dcterms:modified>
</cp:coreProperties>
</file>